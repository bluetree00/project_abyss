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0F0F0"/>
                </a:solidFill>
                <a:latin typeface="맑은 고딕"/>
              </a:defRPr>
            </a:pPr>
            <a:r>
              <a:t>보스 기획서 2.0v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84D4D"/>
                </a:solidFill>
                <a:latin typeface="맑은 고딕"/>
              </a:defRPr>
            </a:pPr>
            <a:r>
              <a:t>피드백 가이드라인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B0"/>
                </a:solidFill>
                <a:latin typeface="맑은 고딕"/>
              </a:defRPr>
            </a:pPr>
            <a:r>
              <a:t>대상: 왕의 정원 파수꾼  |  2026-04-17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8174736"/>
            <a:ext cx="14630400" cy="54864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맑은 고딕"/>
              </a:defRPr>
            </a:pPr>
            <a:r>
              <a:t>총평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3167360" cy="182880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234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4D4D"/>
                </a:solidFill>
                <a:latin typeface="맑은 고딕"/>
              </a:defRPr>
            </a:pPr>
            <a:r>
              <a:t>현재 기획서는 "공격 패턴 카탈로그"이지, 보스 행동 설계서가 아님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234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0F0F0"/>
                </a:solidFill>
                <a:latin typeface="맑은 고딕"/>
              </a:defRPr>
            </a:pPr>
            <a:r>
              <a:t>보스가 공격하지 않는 시간(전체의 60~70%)에 대한 행동 설계가 전무</a:t>
            </a:r>
          </a:p>
          <a:p>
            <a:pPr>
              <a:spcAft>
                <a:spcPts val="800"/>
              </a:spcAft>
              <a:defRPr sz="1600">
                <a:solidFill>
                  <a:srgbClr val="F0F0F0"/>
                </a:solidFill>
                <a:latin typeface="맑은 고딕"/>
              </a:defRPr>
            </a:pPr>
            <a:r>
              <a:t>구체적 수치(HP, 데미지, 강인도 등)가 하나도 없어 밸런싱 및 구현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0"/>
                </a:solidFill>
                <a:latin typeface="맑은 고딕"/>
              </a:defRPr>
            </a:pPr>
            <a:r>
              <a:t>보완 요청 우선순위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114800"/>
          <a:ext cx="131673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0"/>
                <a:gridCol w="859536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순위</a:t>
                      </a:r>
                    </a:p>
                  </a:txBody>
                  <a:tcPr anchor="ctr">
                    <a:solidFill>
                      <a:srgbClr val="E84D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E84D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이유</a:t>
                      </a:r>
                    </a:p>
                  </a:txBody>
                  <a:tcPr anchor="ctr">
                    <a:solidFill>
                      <a:srgbClr val="E84D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이동/행동 설계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보스 AI의 절반 이상이 비어 있음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수치 데이터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수치 없으면 구현/밸런싱 불가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공방 리듬 시퀀스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전투 체감의 근간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페이즈별 성격 정의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2페이즈 차별화의 핵심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전투 공간 사양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패턴 사거리와 직결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기타 (반응행동, 트리거, 미결정 항목, 전환 연출)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상세 보완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365760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300" b="1">
                <a:solidFill>
                  <a:srgbClr val="F0F0F0"/>
                </a:solidFill>
                <a:latin typeface="맑은 고딕"/>
              </a:defRPr>
            </a:pPr>
            <a:r>
              <a:t>우선순위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맑은 고딕"/>
              </a:defRPr>
            </a:pPr>
            <a:r>
              <a:t>수치 데이터 전면 부재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기획서에 구체적 수치가 전부 빠져 있음. 개발자가 임의로 넣게 되고 밸런싱 책임 소재가 불명확해짐.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3167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859536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누락 항목</a:t>
                      </a:r>
                    </a:p>
                  </a:txBody>
                  <a:tcPr anchor="ctr">
                    <a:solidFill>
                      <a:srgbClr val="F09A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필요한 내용</a:t>
                      </a:r>
                    </a:p>
                  </a:txBody>
                  <a:tcPr anchor="ctr">
                    <a:solidFill>
                      <a:srgbClr val="F09A5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보스 HP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1페이즈/2페이즈 총합, 예상 클리어 타임과 함께 산출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패턴별 데미지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플레이어 HP 대비 비율 (예: 펀치 = HP의 8%)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강인도 게이지 최댓값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정수 기준 명시 (예: 100)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강인도 감소량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강공격/스킬별 차등 수치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강인도 자연 회복 속도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초당 수치 (예: 3초 미피격 시 초당 5 회복)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패턴 가중치 기본값/최댓값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패턴별 개별 설정값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가중치 회복 속도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정확한 곡선 또는 초당 수치 ("서서히"는 안 됨)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365760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300" b="1">
                <a:solidFill>
                  <a:srgbClr val="F0F0F0"/>
                </a:solidFill>
                <a:latin typeface="맑은 고딕"/>
              </a:defRPr>
            </a:pPr>
            <a:r>
              <a:t>우선순위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맑은 고딕"/>
              </a:defRPr>
            </a:pPr>
            <a:r>
              <a:t>이동/행동 설계 전면 부재 (가장 큰 문제)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보스가 공격하지 않는 시간에 대한 행동 설계가 완전히 비어 있음. 4개 영역 전부 추가 필요.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400800" cy="274320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5AA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AA0E8"/>
                </a:solidFill>
                <a:latin typeface="맑은 고딕"/>
              </a:defRPr>
            </a:pPr>
            <a:r>
              <a:t>기본 대치 행동 (Idle Combat)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대치 시 이동 방식 (서클링? 스텝? 고정?)</a:t>
            </a:r>
          </a:p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선호 교전 거리 (예: 1페 5m, 2페 3m)</a:t>
            </a:r>
          </a:p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플레이어 tracking 방식/회전 속도</a:t>
            </a:r>
          </a:p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이동 연출 (묵직한 발걸음, 지면 흔들림)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0" y="1828800"/>
            <a:ext cx="6400800" cy="274320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5A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965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AC87A"/>
                </a:solidFill>
                <a:latin typeface="맑은 고딕"/>
              </a:defRPr>
            </a:pPr>
            <a:r>
              <a:t>접근 행동 (Approach)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7744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원거리에서 거리 좁히는 방법</a:t>
            </a:r>
          </a:p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느린 위압 접근 vs 스텝 점프 vs 돌진</a:t>
            </a:r>
          </a:p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접근 중 페인트 (멈추기, 방향 전환)</a:t>
            </a:r>
          </a:p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페이즈별 접근 성향 차이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6400800" cy="274320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F09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9A56"/>
                </a:solidFill>
                <a:latin typeface="맑은 고딕"/>
              </a:defRPr>
            </a:pPr>
            <a:r>
              <a:t>공격 후 행동 (Post-Attack)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9496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각 패턴 종료 후 보스가 취하는 행동</a:t>
            </a:r>
          </a:p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후퇴? 제자리? 추격? 도발 모션?</a:t>
            </a:r>
          </a:p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이것이 곧 플레이어의 딜타임 설계</a:t>
            </a:r>
          </a:p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패턴별 후딜 테이블 필수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0" y="4846320"/>
            <a:ext cx="6400800" cy="274320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983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4D4D"/>
                </a:solidFill>
                <a:latin typeface="맑은 고딕"/>
              </a:defRPr>
            </a:pPr>
            <a:r>
              <a:t>거리 벌리기 (Disengage)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39496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파고들기 외 일반 후퇴 수단 필요</a:t>
            </a:r>
          </a:p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후퇴 후 멈추는 거리 명시</a:t>
            </a:r>
          </a:p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후퇴 후 선택 가능한 행동 분기</a:t>
            </a:r>
          </a:p>
          <a:p>
            <a:pPr>
              <a:spcAft>
                <a:spcPts val="4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페이즈별 후퇴 빈도/성향 차이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0"/>
                </a:solidFill>
                <a:latin typeface="맑은 고딕"/>
              </a:defRPr>
            </a:pPr>
            <a:r>
              <a:t>공격 후 행동 - 기획자가 채워야 할 테이블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9A56"/>
                </a:solidFill>
                <a:latin typeface="맑은 고딕"/>
              </a:defRPr>
            </a:pPr>
            <a:r>
              <a:t>이 테이블이 곧 플레이어의 딜타임 설계임. 반드시 채울 것.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316736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2743200"/>
                <a:gridCol w="310896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패턴</a:t>
                      </a:r>
                    </a:p>
                  </a:txBody>
                  <a:tcPr anchor="ctr">
                    <a:solidFill>
                      <a:srgbClr val="F09A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공격 후 행동</a:t>
                      </a:r>
                    </a:p>
                  </a:txBody>
                  <a:tcPr anchor="ctr">
                    <a:solidFill>
                      <a:srgbClr val="F09A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플레이어 딜타임</a:t>
                      </a:r>
                    </a:p>
                  </a:txBody>
                  <a:tcPr anchor="ctr">
                    <a:solidFill>
                      <a:srgbClr val="F09A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F09A5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펀치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 (제자리? 후퇴?)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내려 찍기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 (경직 유무?)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회전 킥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 (어지러움?)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돌진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중심잡기 1.5초 (유일하게 명시됨)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1.5초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돌 던지기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 (접근? 대기?)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잡아 던지기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 (추격? 도발?)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브레스 (2페)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 (과열 경직?)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땅 가르기 (2페)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 (팔 뽑기 후딜?)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365760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300" b="1">
                <a:solidFill>
                  <a:srgbClr val="F0F0F0"/>
                </a:solidFill>
                <a:latin typeface="맑은 고딕"/>
              </a:defRPr>
            </a:pPr>
            <a:r>
              <a:t>우선순위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맑은 고딕"/>
              </a:defRPr>
            </a:pPr>
            <a:r>
              <a:t>페이즈별 행동 성격 정의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현재 1페이즈 → 2페이즈 차이가 "더 빠르고, 더 넓고, 더 세게"에 그침.</a:t>
            </a:r>
            <a:br/>
            <a:r>
              <a:t>플레이어가 수치가 아닌 행동으로 "얘가 달라졌다"를 느껴야 함.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131673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983480"/>
                <a:gridCol w="498348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5AA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1페이즈 (기획자 작성)</a:t>
                      </a:r>
                    </a:p>
                  </a:txBody>
                  <a:tcPr anchor="ctr">
                    <a:solidFill>
                      <a:srgbClr val="5AA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2페이즈 (기획자 작성)</a:t>
                      </a:r>
                    </a:p>
                  </a:txBody>
                  <a:tcPr anchor="ctr">
                    <a:solidFill>
                      <a:srgbClr val="5AA0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전투 성격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예: 수호자 (대기 → 반격)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예: 포식자 (압박 → 몰아붙이기)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선호 교전 거리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접근 성향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공격 후 행동 경향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후퇴 빈도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대치 중 이동 패턴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0"/>
                          </a:solidFill>
                          <a:latin typeface="맑은 고딕"/>
                        </a:defRPr>
                      </a:pPr>
                      <a:r>
                        <a:t>???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486400"/>
            <a:ext cx="13167360" cy="228600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F0D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1234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D056"/>
                </a:solidFill>
                <a:latin typeface="맑은 고딕"/>
              </a:defRPr>
            </a:pPr>
            <a:r>
              <a:t>현재 페이즈 차이 (수치만 올린 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12648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  <a:latin typeface="맑은 고딕"/>
              </a:defRPr>
            </a:pPr>
            <a:r>
              <a:t>펀치: 60도 → 90도, 0.3초 → 0.2초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  <a:latin typeface="맑은 고딕"/>
              </a:defRPr>
            </a:pPr>
            <a:r>
              <a:t>내려 찍기: 5m → 7m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  <a:latin typeface="맑은 고딕"/>
              </a:defRPr>
            </a:pPr>
            <a:r>
              <a:t>회전 킥: 3m/s → 6m/s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  <a:latin typeface="맑은 고딕"/>
              </a:defRPr>
            </a:pPr>
            <a:r>
              <a:t>돌진: 12m/s → 18m/s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12648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4D4D"/>
                </a:solidFill>
                <a:latin typeface="맑은 고딕"/>
              </a:defRPr>
            </a:pPr>
            <a:r>
              <a:t>신규 패턴은 브레스, 땅 가르기 2개뿐</a:t>
            </a:r>
          </a:p>
          <a:p>
            <a:pPr>
              <a:spcAft>
                <a:spcPts val="400"/>
              </a:spcAft>
              <a:defRPr sz="1400">
                <a:solidFill>
                  <a:srgbClr val="E84D4D"/>
                </a:solidFill>
                <a:latin typeface="맑은 고딕"/>
              </a:defRPr>
            </a:pPr>
            <a:r>
              <a:t>나머지 전부 기존 패턴의 수치 강화</a:t>
            </a:r>
          </a:p>
          <a:p>
            <a:pPr>
              <a:spcAft>
                <a:spcPts val="400"/>
              </a:spcAft>
              <a:defRPr sz="1400">
                <a:solidFill>
                  <a:srgbClr val="E84D4D"/>
                </a:solidFill>
                <a:latin typeface="맑은 고딕"/>
              </a:defRPr>
            </a:pPr>
            <a:r>
              <a:t>플레이어 체감: "같은 놈인데 더 짜증남"</a:t>
            </a:r>
          </a:p>
          <a:p>
            <a:pPr>
              <a:spcAft>
                <a:spcPts val="400"/>
              </a:spcAft>
              <a:defRPr sz="1400">
                <a:solidFill>
                  <a:srgbClr val="E84D4D"/>
                </a:solidFill>
                <a:latin typeface="맑은 고딕"/>
              </a:defRPr>
            </a:pPr>
            <a:r>
              <a:t>필요한 체감: "다른 존재와 싸우는 느낌"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365760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300" b="1">
                <a:solidFill>
                  <a:srgbClr val="F0F0F0"/>
                </a:solidFill>
                <a:latin typeface="맑은 고딕"/>
              </a:defRPr>
            </a:pPr>
            <a:r>
              <a:t>우선순위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맑은 고딕"/>
              </a:defRPr>
            </a:pPr>
            <a:r>
              <a:t>공방 리듬 (Attack-Defense Rhythm) 설계 부재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플레이어가 "언제 때리고, 언제 피해야 하는지"가 명시되지 않음. 패턴별 시퀀스 정리 필요.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3167360" cy="137160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5A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234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AC87A"/>
                </a:solidFill>
                <a:latin typeface="맑은 고딕"/>
              </a:defRPr>
            </a:pPr>
            <a:r>
              <a:t>요청 포맷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1234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Consolas"/>
              </a:defRPr>
            </a:pPr>
            <a:r>
              <a:t>[전조 모션 Xms]  →  [공격 판정 Xms]  →  [후딜/경직 Xms]  →  [플레이어 딜타임 X초]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맑은 고딕"/>
              </a:defRPr>
            </a:pPr>
            <a:r>
              <a:t>예시 (기획자가 이런 식으로 패턴별 전부 작성할 것)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3167360" cy="73152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5AA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AA0E8"/>
                </a:solidFill>
                <a:latin typeface="맑은 고딕"/>
              </a:defRPr>
            </a:pPr>
            <a:r>
              <a:t>돌진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160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0"/>
                </a:solidFill>
                <a:latin typeface="Consolas"/>
              </a:defRPr>
            </a:pPr>
            <a:r>
              <a:t>준비 모션 0.5초  →  돌진 1.5초  →  중심잡기 1.5초  →  딜타임 1.5초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3167360" cy="73152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5A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AC87A"/>
                </a:solidFill>
                <a:latin typeface="맑은 고딕"/>
              </a:defRPr>
            </a:pPr>
            <a:r>
              <a:t>내려 찍기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074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0"/>
                </a:solidFill>
                <a:latin typeface="Consolas"/>
              </a:defRPr>
            </a:pPr>
            <a:r>
              <a:t>팔 올리기 0.6초  →  찍기 0.2초  →  충격파 0.8초  →  딜타임 0.8초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43600"/>
            <a:ext cx="13167360" cy="73152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F09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989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9A56"/>
                </a:solidFill>
                <a:latin typeface="맑은 고딕"/>
              </a:defRPr>
            </a:pPr>
            <a:r>
              <a:t>잡아 던지기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0"/>
                </a:solidFill>
                <a:latin typeface="Consolas"/>
              </a:defRPr>
            </a:pPr>
            <a:r>
              <a:t>양손 벌리기 0.8초  →  잡기 0.3초  →  던지기 연출 2.5초  →  ???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71323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4D"/>
                </a:solidFill>
                <a:latin typeface="맑은 고딕"/>
              </a:defRPr>
            </a:pPr>
            <a:r>
              <a:t>각 패턴마다 이 시퀀스가 있어야 전투 리듬이 설계된 것임.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맑은 고딕"/>
              </a:defRPr>
            </a:pPr>
            <a:r>
              <a:t>기타 보완 사항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6400800" cy="292608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F0D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D056"/>
                </a:solidFill>
                <a:latin typeface="맑은 고딕"/>
              </a:defRPr>
            </a:pPr>
            <a:r>
              <a:t>반응형 행동 설계 의도 보충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5852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차징 → 도약 (30%/60%): 왜 이 확률인지?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강인도 20% → 파고들기 (50%/80%): 근거?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3연속 피격 → 목질 강화 (40%/70%): 근거?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각 반응에 "플레이어가 느끼길 원하는 것"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한 줄씩 추가할 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188720"/>
            <a:ext cx="6400800" cy="292608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4D4D"/>
                </a:solidFill>
                <a:latin typeface="맑은 고딕"/>
              </a:defRPr>
            </a:pPr>
            <a:r>
              <a:t>파고들기 트리거 조건 불일치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737360"/>
            <a:ext cx="5852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Step 2 (p5):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"강인도가 30% 이하일 때" → 파고들기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패턴 상세 (p10):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"체력이 짧은 시간 내에 일정량 이상 깎일 때"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어느 쪽이 맞는지 확정 + 수치 구체화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6400800" cy="320040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5AA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AA0E8"/>
                </a:solidFill>
                <a:latin typeface="맑은 고딕"/>
              </a:defRPr>
            </a:pPr>
            <a:r>
              <a:t>전투 공간 사양 부재 (우선순위 #5)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5852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보스 방 크기 (가로 x 세로 또는 반경)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- 돌진 20m인데 방 크기가 안 정해져 있음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지형 특성: 평지? 장애물? 기둥?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벽 충돌 시 보스/플레이어 행동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"왕의 정원" 설정의 전투 반영 방식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- 나무/덩굴? 파괴 가능 오브젝트?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389120"/>
            <a:ext cx="6400800" cy="320040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F09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9A56"/>
                </a:solidFill>
                <a:latin typeface="맑은 고딕"/>
              </a:defRPr>
            </a:pPr>
            <a:r>
              <a:t>미결정 항목 + 페이즈 전환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937760"/>
            <a:ext cx="5852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"고민중"으로 기획서에 포함하지 말 것: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- 엇박자 선 딜레이 → 범위 확정 필요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- 전조 방식 (장판 vs 모션) → 결정 필요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- 결정 어려우면 A안/B안 비교표 제출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페이즈 전환 상세화: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- 전환 중 플레이어 공격 가능? (무적/슈아)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- 전환 완료 후 첫 행동 명시</a:t>
            </a:r>
          </a:p>
          <a:p>
            <a:pPr>
              <a:spcAft>
                <a:spcPts val="300"/>
              </a:spcAft>
              <a:defRPr sz="1300">
                <a:solidFill>
                  <a:srgbClr val="F0F0F0"/>
                </a:solidFill>
                <a:latin typeface="맑은 고딕"/>
              </a:defRPr>
            </a:pPr>
            <a:r>
              <a:t>  - HP 50% 즉시? 패턴 완료 후?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0F0"/>
                </a:solidFill>
                <a:latin typeface="맑은 고딕"/>
              </a:defRPr>
            </a:pPr>
            <a:r>
              <a:t>핵심 요청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926080"/>
            <a:ext cx="10972800" cy="3200400"/>
          </a:xfrm>
          <a:prstGeom prst="roundRect">
            <a:avLst>
              <a:gd name="adj" fmla="val 2000"/>
            </a:avLst>
          </a:prstGeom>
          <a:solidFill>
            <a:srgbClr val="22223A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0F0"/>
                </a:solidFill>
                <a:latin typeface="맑은 고딕"/>
              </a:defRPr>
            </a:pPr>
            <a:r>
              <a:t>  "보스가 공격 안 하는 시간의 60~70%를 어떻게 보내는지" 설계할 것</a:t>
            </a:r>
          </a:p>
          <a:p>
            <a:pPr>
              <a:spcAft>
                <a:spcPts val="1200"/>
              </a:spcAft>
              <a:defRPr sz="1700">
                <a:solidFill>
                  <a:srgbClr val="F0F0F0"/>
                </a:solidFill>
                <a:latin typeface="맑은 고딕"/>
              </a:defRPr>
            </a:pPr>
            <a:r>
              <a:t>  모든 패턴에 수치(데미지, 사거리, 후딜)를 숫자로 채울 것</a:t>
            </a:r>
          </a:p>
          <a:p>
            <a:pPr>
              <a:spcAft>
                <a:spcPts val="1200"/>
              </a:spcAft>
              <a:defRPr sz="1700">
                <a:solidFill>
                  <a:srgbClr val="F0F0F0"/>
                </a:solidFill>
                <a:latin typeface="맑은 고딕"/>
              </a:defRPr>
            </a:pPr>
            <a:r>
              <a:t>  패턴별 공방 리듬 시퀀스 (전조→공격→후딜→딜타임) 작성할 것</a:t>
            </a:r>
          </a:p>
          <a:p>
            <a:pPr>
              <a:spcAft>
                <a:spcPts val="1200"/>
              </a:spcAft>
              <a:defRPr sz="1700">
                <a:solidFill>
                  <a:srgbClr val="F0F0F0"/>
                </a:solidFill>
                <a:latin typeface="맑은 고딕"/>
              </a:defRPr>
            </a:pPr>
            <a:r>
              <a:t>  1페이즈/2페이즈의 행동 "성격"을 정의하고 수치 강화가 아닌 행동 차별화를 설계할 것</a:t>
            </a:r>
          </a:p>
          <a:p>
            <a:pPr>
              <a:spcAft>
                <a:spcPts val="1200"/>
              </a:spcAft>
              <a:defRPr sz="1700">
                <a:solidFill>
                  <a:srgbClr val="F0F0F0"/>
                </a:solidFill>
                <a:latin typeface="맑은 고딕"/>
              </a:defRPr>
            </a:pPr>
            <a:r>
              <a:t>  미결정 항목은 결정 후 재제출. "고민중"으로 넘기지 말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8580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4D4D"/>
                </a:solidFill>
                <a:latin typeface="맑은 고딕"/>
              </a:defRPr>
            </a:pPr>
            <a:r>
              <a:t>공격은 순간이고, 플레이어가 보스를 읽는 건 대치 중 움직임이다.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8174736"/>
            <a:ext cx="14630400" cy="54864"/>
          </a:xfrm>
          <a:prstGeom prst="roundRect">
            <a:avLst>
              <a:gd name="adj" fmla="val 2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
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D11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0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12188952" cy="1828800"/>
          </a:xfrm>
          <a:prstGeom prst="rect">
            <a:avLst/>
          </a:prstGeom>
          <a:solidFill>
            <a:srgbClr val="10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84848"/>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3218688"/>
            <a:ext cx="5760720" cy="182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0" y="3913632"/>
            <a:ext cx="5760720" cy="182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1463040"/>
            <a:ext cx="12188952" cy="1097280"/>
          </a:xfrm>
          <a:prstGeom prst="rect">
            <a:avLst/>
          </a:prstGeom>
          <a:noFill/>
        </p:spPr>
        <p:txBody>
          <a:bodyPr wrap="square">
            <a:spAutoFit/>
          </a:bodyPr>
          <a:lstStyle/>
          <a:p>
            <a:pPr algn="ctr"/>
            <a:r>
              <a:rPr sz="6400" b="1">
                <a:solidFill>
                  <a:srgbClr val="C9A84C"/>
                </a:solidFill>
                <a:latin typeface="맑은 고딕"/>
              </a:rPr>
              <a:t>RELIC FAIRY</a:t>
            </a:r>
          </a:p>
        </p:txBody>
      </p:sp>
      <p:sp>
        <p:nvSpPr>
          <p:cNvPr id="10" name="TextBox 9"/>
          <p:cNvSpPr txBox="1"/>
          <p:nvPr/>
        </p:nvSpPr>
        <p:spPr>
          <a:xfrm>
            <a:off x="0" y="2423160"/>
            <a:ext cx="12188952" cy="640080"/>
          </a:xfrm>
          <a:prstGeom prst="rect">
            <a:avLst/>
          </a:prstGeom>
          <a:noFill/>
        </p:spPr>
        <p:txBody>
          <a:bodyPr wrap="square">
            <a:spAutoFit/>
          </a:bodyPr>
          <a:lstStyle/>
          <a:p>
            <a:pPr algn="ctr"/>
            <a:r>
              <a:rPr sz="2800" b="0">
                <a:solidFill>
                  <a:srgbClr val="E8D08A"/>
                </a:solidFill>
                <a:latin typeface="맑은 고딕"/>
              </a:rPr>
              <a:t>랠릭페어리</a:t>
            </a:r>
          </a:p>
        </p:txBody>
      </p:sp>
      <p:sp>
        <p:nvSpPr>
          <p:cNvPr id="11" name="TextBox 10"/>
          <p:cNvSpPr txBox="1"/>
          <p:nvPr/>
        </p:nvSpPr>
        <p:spPr>
          <a:xfrm>
            <a:off x="0" y="3310128"/>
            <a:ext cx="12188952" cy="457200"/>
          </a:xfrm>
          <a:prstGeom prst="rect">
            <a:avLst/>
          </a:prstGeom>
          <a:noFill/>
        </p:spPr>
        <p:txBody>
          <a:bodyPr wrap="square">
            <a:spAutoFit/>
          </a:bodyPr>
          <a:lstStyle/>
          <a:p>
            <a:pPr algn="ctr"/>
            <a:r>
              <a:rPr sz="1400" b="0">
                <a:solidFill>
                  <a:srgbClr val="727A8E"/>
                </a:solidFill>
                <a:latin typeface="맑은 고딕"/>
              </a:rPr>
              <a:t>게임 기획서  |  v0.1  |  2026. 05</a:t>
            </a:r>
          </a:p>
        </p:txBody>
      </p:sp>
      <p:sp>
        <p:nvSpPr>
          <p:cNvPr id="12" name="Rectangle 11"/>
          <p:cNvSpPr/>
          <p:nvPr/>
        </p:nvSpPr>
        <p:spPr>
          <a:xfrm>
            <a:off x="21945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4315968"/>
            <a:ext cx="1920240" cy="347472"/>
          </a:xfrm>
          <a:prstGeom prst="rect">
            <a:avLst/>
          </a:prstGeom>
          <a:noFill/>
        </p:spPr>
        <p:txBody>
          <a:bodyPr wrap="square">
            <a:spAutoFit/>
          </a:bodyPr>
          <a:lstStyle/>
          <a:p>
            <a:pPr algn="ctr"/>
            <a:r>
              <a:rPr sz="1000" b="0">
                <a:solidFill>
                  <a:srgbClr val="E8D08A"/>
                </a:solidFill>
                <a:latin typeface="맑은 고딕"/>
              </a:rPr>
              <a:t>로그라이크 액션 RPG</a:t>
            </a:r>
          </a:p>
        </p:txBody>
      </p:sp>
      <p:sp>
        <p:nvSpPr>
          <p:cNvPr id="14" name="Rectangle 13"/>
          <p:cNvSpPr/>
          <p:nvPr/>
        </p:nvSpPr>
        <p:spPr>
          <a:xfrm>
            <a:off x="42519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4315968"/>
            <a:ext cx="1920240" cy="347472"/>
          </a:xfrm>
          <a:prstGeom prst="rect">
            <a:avLst/>
          </a:prstGeom>
          <a:noFill/>
        </p:spPr>
        <p:txBody>
          <a:bodyPr wrap="square">
            <a:spAutoFit/>
          </a:bodyPr>
          <a:lstStyle/>
          <a:p>
            <a:pPr algn="ctr"/>
            <a:r>
              <a:rPr sz="1000" b="0">
                <a:solidFill>
                  <a:srgbClr val="E8D08A"/>
                </a:solidFill>
                <a:latin typeface="맑은 고딕"/>
              </a:rPr>
              <a:t>모던 다크 동화</a:t>
            </a:r>
          </a:p>
        </p:txBody>
      </p:sp>
      <p:sp>
        <p:nvSpPr>
          <p:cNvPr id="16" name="Rectangle 15"/>
          <p:cNvSpPr/>
          <p:nvPr/>
        </p:nvSpPr>
        <p:spPr>
          <a:xfrm>
            <a:off x="63093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315968"/>
            <a:ext cx="1920240" cy="347472"/>
          </a:xfrm>
          <a:prstGeom prst="rect">
            <a:avLst/>
          </a:prstGeom>
          <a:noFill/>
        </p:spPr>
        <p:txBody>
          <a:bodyPr wrap="square">
            <a:spAutoFit/>
          </a:bodyPr>
          <a:lstStyle/>
          <a:p>
            <a:pPr algn="ctr"/>
            <a:r>
              <a:rPr sz="1000" b="0">
                <a:solidFill>
                  <a:srgbClr val="E8D08A"/>
                </a:solidFill>
                <a:latin typeface="맑은 고딕"/>
              </a:rPr>
              <a:t>아서왕 전설</a:t>
            </a:r>
          </a:p>
        </p:txBody>
      </p:sp>
      <p:sp>
        <p:nvSpPr>
          <p:cNvPr id="18" name="Rectangle 17"/>
          <p:cNvSpPr/>
          <p:nvPr/>
        </p:nvSpPr>
        <p:spPr>
          <a:xfrm>
            <a:off x="8366760" y="4297680"/>
            <a:ext cx="1920240" cy="347472"/>
          </a:xfrm>
          <a:prstGeom prst="rect">
            <a:avLst/>
          </a:prstGeom>
          <a:solidFill>
            <a:srgbClr val="161B2E"/>
          </a:solidFill>
          <a:ln w="12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4315968"/>
            <a:ext cx="1920240" cy="347472"/>
          </a:xfrm>
          <a:prstGeom prst="rect">
            <a:avLst/>
          </a:prstGeom>
          <a:noFill/>
        </p:spPr>
        <p:txBody>
          <a:bodyPr wrap="square">
            <a:spAutoFit/>
          </a:bodyPr>
          <a:lstStyle/>
          <a:p>
            <a:pPr algn="ctr"/>
            <a:r>
              <a:rPr sz="1000" b="0">
                <a:solidFill>
                  <a:srgbClr val="E8D08A"/>
                </a:solidFill>
                <a:latin typeface="맑은 고딕"/>
              </a:rPr>
              <a:t>PC (Steam)</a:t>
            </a:r>
          </a:p>
        </p:txBody>
      </p:sp>
      <p:sp>
        <p:nvSpPr>
          <p:cNvPr id="20" name="TextBox 19"/>
          <p:cNvSpPr txBox="1"/>
          <p:nvPr/>
        </p:nvSpPr>
        <p:spPr>
          <a:xfrm>
            <a:off x="0" y="5029200"/>
            <a:ext cx="12188952" cy="457200"/>
          </a:xfrm>
          <a:prstGeom prst="rect">
            <a:avLst/>
          </a:prstGeom>
          <a:noFill/>
        </p:spPr>
        <p:txBody>
          <a:bodyPr wrap="square">
            <a:spAutoFit/>
          </a:bodyPr>
          <a:lstStyle/>
          <a:p>
            <a:pPr algn="ctr"/>
            <a:r>
              <a:rPr sz="1300" b="0">
                <a:solidFill>
                  <a:srgbClr val="B8BECC"/>
                </a:solidFill>
                <a:latin typeface="맑은 고딕"/>
              </a:rPr>
              <a:t>"죽어도 영혼은 남는다. 멀린의 의지가 다시 불러온다."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목차</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Table of Contents</a:t>
            </a:r>
          </a:p>
        </p:txBody>
      </p:sp>
      <p:sp>
        <p:nvSpPr>
          <p:cNvPr id="6" name="Rectangle 5"/>
          <p:cNvSpPr/>
          <p:nvPr/>
        </p:nvSpPr>
        <p:spPr>
          <a:xfrm>
            <a:off x="365760" y="1005840"/>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005840"/>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70432"/>
            <a:ext cx="640080" cy="457200"/>
          </a:xfrm>
          <a:prstGeom prst="rect">
            <a:avLst/>
          </a:prstGeom>
          <a:noFill/>
        </p:spPr>
        <p:txBody>
          <a:bodyPr wrap="square">
            <a:spAutoFit/>
          </a:bodyPr>
          <a:lstStyle/>
          <a:p>
            <a:pPr algn="ctr"/>
            <a:r>
              <a:rPr sz="1600" b="1">
                <a:solidFill>
                  <a:srgbClr val="C9A84C"/>
                </a:solidFill>
                <a:latin typeface="맑은 고딕"/>
              </a:rPr>
              <a:t>01</a:t>
            </a:r>
          </a:p>
        </p:txBody>
      </p:sp>
      <p:sp>
        <p:nvSpPr>
          <p:cNvPr id="9" name="TextBox 8"/>
          <p:cNvSpPr txBox="1"/>
          <p:nvPr/>
        </p:nvSpPr>
        <p:spPr>
          <a:xfrm>
            <a:off x="1097280" y="1060704"/>
            <a:ext cx="4480560" cy="320040"/>
          </a:xfrm>
          <a:prstGeom prst="rect">
            <a:avLst/>
          </a:prstGeom>
          <a:noFill/>
        </p:spPr>
        <p:txBody>
          <a:bodyPr wrap="square">
            <a:spAutoFit/>
          </a:bodyPr>
          <a:lstStyle/>
          <a:p>
            <a:pPr algn="l"/>
            <a:r>
              <a:rPr sz="1300" b="1">
                <a:solidFill>
                  <a:srgbClr val="FFFFFF"/>
                </a:solidFill>
                <a:latin typeface="맑은 고딕"/>
              </a:rPr>
              <a:t>프로젝트 개요</a:t>
            </a:r>
          </a:p>
        </p:txBody>
      </p:sp>
      <p:sp>
        <p:nvSpPr>
          <p:cNvPr id="10" name="TextBox 9"/>
          <p:cNvSpPr txBox="1"/>
          <p:nvPr/>
        </p:nvSpPr>
        <p:spPr>
          <a:xfrm>
            <a:off x="1097280" y="1389888"/>
            <a:ext cx="4480560" cy="320040"/>
          </a:xfrm>
          <a:prstGeom prst="rect">
            <a:avLst/>
          </a:prstGeom>
          <a:noFill/>
        </p:spPr>
        <p:txBody>
          <a:bodyPr wrap="square">
            <a:spAutoFit/>
          </a:bodyPr>
          <a:lstStyle/>
          <a:p>
            <a:pPr algn="l"/>
            <a:r>
              <a:rPr sz="950" b="0">
                <a:solidFill>
                  <a:srgbClr val="B8BECC"/>
                </a:solidFill>
                <a:latin typeface="맑은 고딕"/>
              </a:rPr>
              <a:t>게임 기본 정보 · 핵심 컨셉 · 레퍼런스</a:t>
            </a:r>
          </a:p>
        </p:txBody>
      </p:sp>
      <p:sp>
        <p:nvSpPr>
          <p:cNvPr id="11" name="Rectangle 10"/>
          <p:cNvSpPr/>
          <p:nvPr/>
        </p:nvSpPr>
        <p:spPr>
          <a:xfrm>
            <a:off x="365760" y="2029968"/>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029968"/>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194560"/>
            <a:ext cx="640080" cy="457200"/>
          </a:xfrm>
          <a:prstGeom prst="rect">
            <a:avLst/>
          </a:prstGeom>
          <a:noFill/>
        </p:spPr>
        <p:txBody>
          <a:bodyPr wrap="square">
            <a:spAutoFit/>
          </a:bodyPr>
          <a:lstStyle/>
          <a:p>
            <a:pPr algn="ctr"/>
            <a:r>
              <a:rPr sz="1600" b="1">
                <a:solidFill>
                  <a:srgbClr val="C9A84C"/>
                </a:solidFill>
                <a:latin typeface="맑은 고딕"/>
              </a:rPr>
              <a:t>02</a:t>
            </a:r>
          </a:p>
        </p:txBody>
      </p:sp>
      <p:sp>
        <p:nvSpPr>
          <p:cNvPr id="14" name="TextBox 13"/>
          <p:cNvSpPr txBox="1"/>
          <p:nvPr/>
        </p:nvSpPr>
        <p:spPr>
          <a:xfrm>
            <a:off x="1097280" y="2084832"/>
            <a:ext cx="4480560" cy="320040"/>
          </a:xfrm>
          <a:prstGeom prst="rect">
            <a:avLst/>
          </a:prstGeom>
          <a:noFill/>
        </p:spPr>
        <p:txBody>
          <a:bodyPr wrap="square">
            <a:spAutoFit/>
          </a:bodyPr>
          <a:lstStyle/>
          <a:p>
            <a:pPr algn="l"/>
            <a:r>
              <a:rPr sz="1300" b="1">
                <a:solidFill>
                  <a:srgbClr val="FFFFFF"/>
                </a:solidFill>
                <a:latin typeface="맑은 고딕"/>
              </a:rPr>
              <a:t>세계관 &amp; 시나리오</a:t>
            </a:r>
          </a:p>
        </p:txBody>
      </p:sp>
      <p:sp>
        <p:nvSpPr>
          <p:cNvPr id="15" name="TextBox 14"/>
          <p:cNvSpPr txBox="1"/>
          <p:nvPr/>
        </p:nvSpPr>
        <p:spPr>
          <a:xfrm>
            <a:off x="1097280" y="2414016"/>
            <a:ext cx="4480560" cy="320040"/>
          </a:xfrm>
          <a:prstGeom prst="rect">
            <a:avLst/>
          </a:prstGeom>
          <a:noFill/>
        </p:spPr>
        <p:txBody>
          <a:bodyPr wrap="square">
            <a:spAutoFit/>
          </a:bodyPr>
          <a:lstStyle/>
          <a:p>
            <a:pPr algn="l"/>
            <a:r>
              <a:rPr sz="950" b="0">
                <a:solidFill>
                  <a:srgbClr val="B8BECC"/>
                </a:solidFill>
                <a:latin typeface="맑은 고딕"/>
              </a:rPr>
              <a:t>배경 · 핵심 인물 · 서사 아크 · 빌드업</a:t>
            </a:r>
          </a:p>
        </p:txBody>
      </p:sp>
      <p:sp>
        <p:nvSpPr>
          <p:cNvPr id="16" name="Rectangle 15"/>
          <p:cNvSpPr/>
          <p:nvPr/>
        </p:nvSpPr>
        <p:spPr>
          <a:xfrm>
            <a:off x="365760" y="3054096"/>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054096"/>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3218688"/>
            <a:ext cx="640080" cy="457200"/>
          </a:xfrm>
          <a:prstGeom prst="rect">
            <a:avLst/>
          </a:prstGeom>
          <a:noFill/>
        </p:spPr>
        <p:txBody>
          <a:bodyPr wrap="square">
            <a:spAutoFit/>
          </a:bodyPr>
          <a:lstStyle/>
          <a:p>
            <a:pPr algn="ctr"/>
            <a:r>
              <a:rPr sz="1600" b="1">
                <a:solidFill>
                  <a:srgbClr val="C9A84C"/>
                </a:solidFill>
                <a:latin typeface="맑은 고딕"/>
              </a:rPr>
              <a:t>03</a:t>
            </a:r>
          </a:p>
        </p:txBody>
      </p:sp>
      <p:sp>
        <p:nvSpPr>
          <p:cNvPr id="19" name="TextBox 18"/>
          <p:cNvSpPr txBox="1"/>
          <p:nvPr/>
        </p:nvSpPr>
        <p:spPr>
          <a:xfrm>
            <a:off x="1097280" y="3108960"/>
            <a:ext cx="4480560" cy="320040"/>
          </a:xfrm>
          <a:prstGeom prst="rect">
            <a:avLst/>
          </a:prstGeom>
          <a:noFill/>
        </p:spPr>
        <p:txBody>
          <a:bodyPr wrap="square">
            <a:spAutoFit/>
          </a:bodyPr>
          <a:lstStyle/>
          <a:p>
            <a:pPr algn="l"/>
            <a:r>
              <a:rPr sz="1300" b="1">
                <a:solidFill>
                  <a:srgbClr val="FFFFFF"/>
                </a:solidFill>
                <a:latin typeface="맑은 고딕"/>
              </a:rPr>
              <a:t>코어 게임 루프</a:t>
            </a:r>
          </a:p>
        </p:txBody>
      </p:sp>
      <p:sp>
        <p:nvSpPr>
          <p:cNvPr id="20" name="TextBox 19"/>
          <p:cNvSpPr txBox="1"/>
          <p:nvPr/>
        </p:nvSpPr>
        <p:spPr>
          <a:xfrm>
            <a:off x="1097280" y="3438144"/>
            <a:ext cx="4480560" cy="320040"/>
          </a:xfrm>
          <a:prstGeom prst="rect">
            <a:avLst/>
          </a:prstGeom>
          <a:noFill/>
        </p:spPr>
        <p:txBody>
          <a:bodyPr wrap="square">
            <a:spAutoFit/>
          </a:bodyPr>
          <a:lstStyle/>
          <a:p>
            <a:pPr algn="l"/>
            <a:r>
              <a:rPr sz="950" b="0">
                <a:solidFill>
                  <a:srgbClr val="B8BECC"/>
                </a:solidFill>
                <a:latin typeface="맑은 고딕"/>
              </a:rPr>
              <a:t>거시적/미시적 루프 · 씬 구성</a:t>
            </a:r>
          </a:p>
        </p:txBody>
      </p:sp>
      <p:sp>
        <p:nvSpPr>
          <p:cNvPr id="21" name="Rectangle 20"/>
          <p:cNvSpPr/>
          <p:nvPr/>
        </p:nvSpPr>
        <p:spPr>
          <a:xfrm>
            <a:off x="365760" y="4078224"/>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078224"/>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242816"/>
            <a:ext cx="640080" cy="457200"/>
          </a:xfrm>
          <a:prstGeom prst="rect">
            <a:avLst/>
          </a:prstGeom>
          <a:noFill/>
        </p:spPr>
        <p:txBody>
          <a:bodyPr wrap="square">
            <a:spAutoFit/>
          </a:bodyPr>
          <a:lstStyle/>
          <a:p>
            <a:pPr algn="ctr"/>
            <a:r>
              <a:rPr sz="1600" b="1">
                <a:solidFill>
                  <a:srgbClr val="C9A84C"/>
                </a:solidFill>
                <a:latin typeface="맑은 고딕"/>
              </a:rPr>
              <a:t>04</a:t>
            </a:r>
          </a:p>
        </p:txBody>
      </p:sp>
      <p:sp>
        <p:nvSpPr>
          <p:cNvPr id="24" name="TextBox 23"/>
          <p:cNvSpPr txBox="1"/>
          <p:nvPr/>
        </p:nvSpPr>
        <p:spPr>
          <a:xfrm>
            <a:off x="1097280" y="4133088"/>
            <a:ext cx="4480560" cy="320040"/>
          </a:xfrm>
          <a:prstGeom prst="rect">
            <a:avLst/>
          </a:prstGeom>
          <a:noFill/>
        </p:spPr>
        <p:txBody>
          <a:bodyPr wrap="square">
            <a:spAutoFit/>
          </a:bodyPr>
          <a:lstStyle/>
          <a:p>
            <a:pPr algn="l"/>
            <a:r>
              <a:rPr sz="1300" b="1">
                <a:solidFill>
                  <a:srgbClr val="FFFFFF"/>
                </a:solidFill>
                <a:latin typeface="맑은 고딕"/>
              </a:rPr>
              <a:t>영웅 유물 시스템</a:t>
            </a:r>
          </a:p>
        </p:txBody>
      </p:sp>
      <p:sp>
        <p:nvSpPr>
          <p:cNvPr id="25" name="TextBox 24"/>
          <p:cNvSpPr txBox="1"/>
          <p:nvPr/>
        </p:nvSpPr>
        <p:spPr>
          <a:xfrm>
            <a:off x="1097280" y="4462272"/>
            <a:ext cx="4480560" cy="320040"/>
          </a:xfrm>
          <a:prstGeom prst="rect">
            <a:avLst/>
          </a:prstGeom>
          <a:noFill/>
        </p:spPr>
        <p:txBody>
          <a:bodyPr wrap="square">
            <a:spAutoFit/>
          </a:bodyPr>
          <a:lstStyle/>
          <a:p>
            <a:pPr algn="l"/>
            <a:r>
              <a:rPr sz="950" b="0">
                <a:solidFill>
                  <a:srgbClr val="B8BECC"/>
                </a:solidFill>
                <a:latin typeface="맑은 고딕"/>
              </a:rPr>
              <a:t>5종 영웅 · 메커닉 · 해금 시스템</a:t>
            </a:r>
          </a:p>
        </p:txBody>
      </p:sp>
      <p:sp>
        <p:nvSpPr>
          <p:cNvPr id="26" name="Rectangle 25"/>
          <p:cNvSpPr/>
          <p:nvPr/>
        </p:nvSpPr>
        <p:spPr>
          <a:xfrm>
            <a:off x="365760" y="5102352"/>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102352"/>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5266944"/>
            <a:ext cx="640080" cy="457200"/>
          </a:xfrm>
          <a:prstGeom prst="rect">
            <a:avLst/>
          </a:prstGeom>
          <a:noFill/>
        </p:spPr>
        <p:txBody>
          <a:bodyPr wrap="square">
            <a:spAutoFit/>
          </a:bodyPr>
          <a:lstStyle/>
          <a:p>
            <a:pPr algn="ctr"/>
            <a:r>
              <a:rPr sz="1600" b="1">
                <a:solidFill>
                  <a:srgbClr val="C9A84C"/>
                </a:solidFill>
                <a:latin typeface="맑은 고딕"/>
              </a:rPr>
              <a:t>05</a:t>
            </a:r>
          </a:p>
        </p:txBody>
      </p:sp>
      <p:sp>
        <p:nvSpPr>
          <p:cNvPr id="29" name="TextBox 28"/>
          <p:cNvSpPr txBox="1"/>
          <p:nvPr/>
        </p:nvSpPr>
        <p:spPr>
          <a:xfrm>
            <a:off x="1097280" y="5157216"/>
            <a:ext cx="4480560" cy="320040"/>
          </a:xfrm>
          <a:prstGeom prst="rect">
            <a:avLst/>
          </a:prstGeom>
          <a:noFill/>
        </p:spPr>
        <p:txBody>
          <a:bodyPr wrap="square">
            <a:spAutoFit/>
          </a:bodyPr>
          <a:lstStyle/>
          <a:p>
            <a:pPr algn="l"/>
            <a:r>
              <a:rPr sz="1300" b="1">
                <a:solidFill>
                  <a:srgbClr val="FFFFFF"/>
                </a:solidFill>
                <a:latin typeface="맑은 고딕"/>
              </a:rPr>
              <a:t>장비 &amp; 빌드</a:t>
            </a:r>
          </a:p>
        </p:txBody>
      </p:sp>
      <p:sp>
        <p:nvSpPr>
          <p:cNvPr id="30" name="TextBox 29"/>
          <p:cNvSpPr txBox="1"/>
          <p:nvPr/>
        </p:nvSpPr>
        <p:spPr>
          <a:xfrm>
            <a:off x="1097280" y="5486400"/>
            <a:ext cx="4480560" cy="320040"/>
          </a:xfrm>
          <a:prstGeom prst="rect">
            <a:avLst/>
          </a:prstGeom>
          <a:noFill/>
        </p:spPr>
        <p:txBody>
          <a:bodyPr wrap="square">
            <a:spAutoFit/>
          </a:bodyPr>
          <a:lstStyle/>
          <a:p>
            <a:pPr algn="l"/>
            <a:r>
              <a:rPr sz="950" b="0">
                <a:solidFill>
                  <a:srgbClr val="B8BECC"/>
                </a:solidFill>
                <a:latin typeface="맑은 고딕"/>
              </a:rPr>
              <a:t>장비 구조 · 조합표 · 아이템 이중 효과</a:t>
            </a:r>
          </a:p>
        </p:txBody>
      </p:sp>
      <p:sp>
        <p:nvSpPr>
          <p:cNvPr id="31" name="Rectangle 30"/>
          <p:cNvSpPr/>
          <p:nvPr/>
        </p:nvSpPr>
        <p:spPr>
          <a:xfrm>
            <a:off x="6309360" y="1005840"/>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1005840"/>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1170432"/>
            <a:ext cx="640080" cy="457200"/>
          </a:xfrm>
          <a:prstGeom prst="rect">
            <a:avLst/>
          </a:prstGeom>
          <a:noFill/>
        </p:spPr>
        <p:txBody>
          <a:bodyPr wrap="square">
            <a:spAutoFit/>
          </a:bodyPr>
          <a:lstStyle/>
          <a:p>
            <a:pPr algn="ctr"/>
            <a:r>
              <a:rPr sz="1600" b="1">
                <a:solidFill>
                  <a:srgbClr val="C9A84C"/>
                </a:solidFill>
                <a:latin typeface="맑은 고딕"/>
              </a:rPr>
              <a:t>06</a:t>
            </a:r>
          </a:p>
        </p:txBody>
      </p:sp>
      <p:sp>
        <p:nvSpPr>
          <p:cNvPr id="34" name="TextBox 33"/>
          <p:cNvSpPr txBox="1"/>
          <p:nvPr/>
        </p:nvSpPr>
        <p:spPr>
          <a:xfrm>
            <a:off x="7040880" y="1060704"/>
            <a:ext cx="4480560" cy="320040"/>
          </a:xfrm>
          <a:prstGeom prst="rect">
            <a:avLst/>
          </a:prstGeom>
          <a:noFill/>
        </p:spPr>
        <p:txBody>
          <a:bodyPr wrap="square">
            <a:spAutoFit/>
          </a:bodyPr>
          <a:lstStyle/>
          <a:p>
            <a:pPr algn="l"/>
            <a:r>
              <a:rPr sz="1300" b="1">
                <a:solidFill>
                  <a:srgbClr val="FFFFFF"/>
                </a:solidFill>
                <a:latin typeface="맑은 고딕"/>
              </a:rPr>
              <a:t>런 내 성장</a:t>
            </a:r>
          </a:p>
        </p:txBody>
      </p:sp>
      <p:sp>
        <p:nvSpPr>
          <p:cNvPr id="35" name="TextBox 34"/>
          <p:cNvSpPr txBox="1"/>
          <p:nvPr/>
        </p:nvSpPr>
        <p:spPr>
          <a:xfrm>
            <a:off x="7040880" y="1389888"/>
            <a:ext cx="4480560" cy="320040"/>
          </a:xfrm>
          <a:prstGeom prst="rect">
            <a:avLst/>
          </a:prstGeom>
          <a:noFill/>
        </p:spPr>
        <p:txBody>
          <a:bodyPr wrap="square">
            <a:spAutoFit/>
          </a:bodyPr>
          <a:lstStyle/>
          <a:p>
            <a:pPr algn="l"/>
            <a:r>
              <a:rPr sz="950" b="0">
                <a:solidFill>
                  <a:srgbClr val="B8BECC"/>
                </a:solidFill>
                <a:latin typeface="맑은 고딕"/>
              </a:rPr>
              <a:t>스탯 레이어 · 아이템 · 시너지 · 방버프</a:t>
            </a:r>
          </a:p>
        </p:txBody>
      </p:sp>
      <p:sp>
        <p:nvSpPr>
          <p:cNvPr id="36" name="Rectangle 35"/>
          <p:cNvSpPr/>
          <p:nvPr/>
        </p:nvSpPr>
        <p:spPr>
          <a:xfrm>
            <a:off x="6309360" y="2029968"/>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2029968"/>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2194560"/>
            <a:ext cx="640080" cy="457200"/>
          </a:xfrm>
          <a:prstGeom prst="rect">
            <a:avLst/>
          </a:prstGeom>
          <a:noFill/>
        </p:spPr>
        <p:txBody>
          <a:bodyPr wrap="square">
            <a:spAutoFit/>
          </a:bodyPr>
          <a:lstStyle/>
          <a:p>
            <a:pPr algn="ctr"/>
            <a:r>
              <a:rPr sz="1600" b="1">
                <a:solidFill>
                  <a:srgbClr val="C9A84C"/>
                </a:solidFill>
                <a:latin typeface="맑은 고딕"/>
              </a:rPr>
              <a:t>07</a:t>
            </a:r>
          </a:p>
        </p:txBody>
      </p:sp>
      <p:sp>
        <p:nvSpPr>
          <p:cNvPr id="39" name="TextBox 38"/>
          <p:cNvSpPr txBox="1"/>
          <p:nvPr/>
        </p:nvSpPr>
        <p:spPr>
          <a:xfrm>
            <a:off x="7040880" y="2084832"/>
            <a:ext cx="4480560" cy="320040"/>
          </a:xfrm>
          <a:prstGeom prst="rect">
            <a:avLst/>
          </a:prstGeom>
          <a:noFill/>
        </p:spPr>
        <p:txBody>
          <a:bodyPr wrap="square">
            <a:spAutoFit/>
          </a:bodyPr>
          <a:lstStyle/>
          <a:p>
            <a:pPr algn="l"/>
            <a:r>
              <a:rPr sz="1300" b="1">
                <a:solidFill>
                  <a:srgbClr val="FFFFFF"/>
                </a:solidFill>
                <a:latin typeface="맑은 고딕"/>
              </a:rPr>
              <a:t>메타 진행</a:t>
            </a:r>
          </a:p>
        </p:txBody>
      </p:sp>
      <p:sp>
        <p:nvSpPr>
          <p:cNvPr id="40" name="TextBox 39"/>
          <p:cNvSpPr txBox="1"/>
          <p:nvPr/>
        </p:nvSpPr>
        <p:spPr>
          <a:xfrm>
            <a:off x="7040880" y="2414016"/>
            <a:ext cx="4480560" cy="320040"/>
          </a:xfrm>
          <a:prstGeom prst="rect">
            <a:avLst/>
          </a:prstGeom>
          <a:noFill/>
        </p:spPr>
        <p:txBody>
          <a:bodyPr wrap="square">
            <a:spAutoFit/>
          </a:bodyPr>
          <a:lstStyle/>
          <a:p>
            <a:pPr algn="l"/>
            <a:r>
              <a:rPr sz="950" b="0">
                <a:solidFill>
                  <a:srgbClr val="B8BECC"/>
                </a:solidFill>
                <a:latin typeface="맑은 고딕"/>
              </a:rPr>
              <a:t>재화 3종 · 멀린의 서약 · 유물 해방/각성</a:t>
            </a:r>
          </a:p>
        </p:txBody>
      </p:sp>
      <p:sp>
        <p:nvSpPr>
          <p:cNvPr id="41" name="Rectangle 40"/>
          <p:cNvSpPr/>
          <p:nvPr/>
        </p:nvSpPr>
        <p:spPr>
          <a:xfrm>
            <a:off x="6309360" y="3054096"/>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09360" y="3054096"/>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3218688"/>
            <a:ext cx="640080" cy="457200"/>
          </a:xfrm>
          <a:prstGeom prst="rect">
            <a:avLst/>
          </a:prstGeom>
          <a:noFill/>
        </p:spPr>
        <p:txBody>
          <a:bodyPr wrap="square">
            <a:spAutoFit/>
          </a:bodyPr>
          <a:lstStyle/>
          <a:p>
            <a:pPr algn="ctr"/>
            <a:r>
              <a:rPr sz="1600" b="1">
                <a:solidFill>
                  <a:srgbClr val="C9A84C"/>
                </a:solidFill>
                <a:latin typeface="맑은 고딕"/>
              </a:rPr>
              <a:t>08</a:t>
            </a:r>
          </a:p>
        </p:txBody>
      </p:sp>
      <p:sp>
        <p:nvSpPr>
          <p:cNvPr id="44" name="TextBox 43"/>
          <p:cNvSpPr txBox="1"/>
          <p:nvPr/>
        </p:nvSpPr>
        <p:spPr>
          <a:xfrm>
            <a:off x="7040880" y="3108960"/>
            <a:ext cx="4480560" cy="320040"/>
          </a:xfrm>
          <a:prstGeom prst="rect">
            <a:avLst/>
          </a:prstGeom>
          <a:noFill/>
        </p:spPr>
        <p:txBody>
          <a:bodyPr wrap="square">
            <a:spAutoFit/>
          </a:bodyPr>
          <a:lstStyle/>
          <a:p>
            <a:pPr algn="l"/>
            <a:r>
              <a:rPr sz="1300" b="1">
                <a:solidFill>
                  <a:srgbClr val="FFFFFF"/>
                </a:solidFill>
                <a:latin typeface="맑은 고딕"/>
              </a:rPr>
              <a:t>챕터 &amp; 레벨 디자인</a:t>
            </a:r>
          </a:p>
        </p:txBody>
      </p:sp>
      <p:sp>
        <p:nvSpPr>
          <p:cNvPr id="45" name="TextBox 44"/>
          <p:cNvSpPr txBox="1"/>
          <p:nvPr/>
        </p:nvSpPr>
        <p:spPr>
          <a:xfrm>
            <a:off x="7040880" y="3438144"/>
            <a:ext cx="4480560" cy="320040"/>
          </a:xfrm>
          <a:prstGeom prst="rect">
            <a:avLst/>
          </a:prstGeom>
          <a:noFill/>
        </p:spPr>
        <p:txBody>
          <a:bodyPr wrap="square">
            <a:spAutoFit/>
          </a:bodyPr>
          <a:lstStyle/>
          <a:p>
            <a:pPr algn="l"/>
            <a:r>
              <a:rPr sz="950" b="0">
                <a:solidFill>
                  <a:srgbClr val="B8BECC"/>
                </a:solidFill>
                <a:latin typeface="맑은 고딕"/>
              </a:rPr>
              <a:t>챕터 구성 · 보스 설계 · 노드 맵</a:t>
            </a:r>
          </a:p>
        </p:txBody>
      </p:sp>
      <p:sp>
        <p:nvSpPr>
          <p:cNvPr id="46" name="Rectangle 45"/>
          <p:cNvSpPr/>
          <p:nvPr/>
        </p:nvSpPr>
        <p:spPr>
          <a:xfrm>
            <a:off x="6309360" y="4078224"/>
            <a:ext cx="5486400" cy="868680"/>
          </a:xfrm>
          <a:prstGeom prst="rect">
            <a:avLst/>
          </a:prstGeom>
          <a:solidFill>
            <a:srgbClr val="161B2E"/>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078224"/>
            <a:ext cx="64008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4242816"/>
            <a:ext cx="640080" cy="457200"/>
          </a:xfrm>
          <a:prstGeom prst="rect">
            <a:avLst/>
          </a:prstGeom>
          <a:noFill/>
        </p:spPr>
        <p:txBody>
          <a:bodyPr wrap="square">
            <a:spAutoFit/>
          </a:bodyPr>
          <a:lstStyle/>
          <a:p>
            <a:pPr algn="ctr"/>
            <a:r>
              <a:rPr sz="1600" b="1">
                <a:solidFill>
                  <a:srgbClr val="C9A84C"/>
                </a:solidFill>
                <a:latin typeface="맑은 고딕"/>
              </a:rPr>
              <a:t>09</a:t>
            </a:r>
          </a:p>
        </p:txBody>
      </p:sp>
      <p:sp>
        <p:nvSpPr>
          <p:cNvPr id="49" name="TextBox 48"/>
          <p:cNvSpPr txBox="1"/>
          <p:nvPr/>
        </p:nvSpPr>
        <p:spPr>
          <a:xfrm>
            <a:off x="7040880" y="4133088"/>
            <a:ext cx="4480560" cy="320040"/>
          </a:xfrm>
          <a:prstGeom prst="rect">
            <a:avLst/>
          </a:prstGeom>
          <a:noFill/>
        </p:spPr>
        <p:txBody>
          <a:bodyPr wrap="square">
            <a:spAutoFit/>
          </a:bodyPr>
          <a:lstStyle/>
          <a:p>
            <a:pPr algn="l"/>
            <a:r>
              <a:rPr sz="1300" b="1">
                <a:solidFill>
                  <a:srgbClr val="FFFFFF"/>
                </a:solidFill>
                <a:latin typeface="맑은 고딕"/>
              </a:rPr>
              <a:t>비주얼 &amp; 톤</a:t>
            </a:r>
          </a:p>
        </p:txBody>
      </p:sp>
      <p:sp>
        <p:nvSpPr>
          <p:cNvPr id="50" name="TextBox 49"/>
          <p:cNvSpPr txBox="1"/>
          <p:nvPr/>
        </p:nvSpPr>
        <p:spPr>
          <a:xfrm>
            <a:off x="7040880" y="4462272"/>
            <a:ext cx="4480560" cy="320040"/>
          </a:xfrm>
          <a:prstGeom prst="rect">
            <a:avLst/>
          </a:prstGeom>
          <a:noFill/>
        </p:spPr>
        <p:txBody>
          <a:bodyPr wrap="square">
            <a:spAutoFit/>
          </a:bodyPr>
          <a:lstStyle/>
          <a:p>
            <a:pPr algn="l"/>
            <a:r>
              <a:rPr sz="950" b="0">
                <a:solidFill>
                  <a:srgbClr val="B8BECC"/>
                </a:solidFill>
                <a:latin typeface="맑은 고딕"/>
              </a:rPr>
              <a:t>아트 방향 · 챕터별 컬러 · UI/UX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01  프로젝트 개요</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Project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01  프로젝트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게임 기본 정보 · 핵심 컨셉 · 레퍼런스</a:t>
            </a:r>
          </a:p>
        </p:txBody>
      </p:sp>
      <p:sp>
        <p:nvSpPr>
          <p:cNvPr id="6" name="Rectangle 5"/>
          <p:cNvSpPr/>
          <p:nvPr/>
        </p:nvSpPr>
        <p:spPr>
          <a:xfrm>
            <a:off x="365760" y="960120"/>
            <a:ext cx="384048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38404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14984"/>
            <a:ext cx="3566160" cy="256032"/>
          </a:xfrm>
          <a:prstGeom prst="rect">
            <a:avLst/>
          </a:prstGeom>
          <a:noFill/>
        </p:spPr>
        <p:txBody>
          <a:bodyPr wrap="square">
            <a:spAutoFit/>
          </a:bodyPr>
          <a:lstStyle/>
          <a:p>
            <a:pPr algn="l"/>
            <a:r>
              <a:rPr sz="1200" b="1">
                <a:solidFill>
                  <a:srgbClr val="C9A84C"/>
                </a:solidFill>
                <a:latin typeface="맑은 고딕"/>
              </a:rPr>
              <a:t>게임 기본 정보</a:t>
            </a:r>
          </a:p>
        </p:txBody>
      </p:sp>
      <p:sp>
        <p:nvSpPr>
          <p:cNvPr id="9" name="Rectangle 8"/>
          <p:cNvSpPr/>
          <p:nvPr/>
        </p:nvSpPr>
        <p:spPr>
          <a:xfrm>
            <a:off x="502920" y="141732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72184"/>
            <a:ext cx="1005840" cy="256032"/>
          </a:xfrm>
          <a:prstGeom prst="rect">
            <a:avLst/>
          </a:prstGeom>
          <a:noFill/>
        </p:spPr>
        <p:txBody>
          <a:bodyPr wrap="square">
            <a:spAutoFit/>
          </a:bodyPr>
          <a:lstStyle/>
          <a:p>
            <a:pPr algn="l"/>
            <a:r>
              <a:rPr sz="950" b="1">
                <a:solidFill>
                  <a:srgbClr val="727A8E"/>
                </a:solidFill>
                <a:latin typeface="맑은 고딕"/>
              </a:rPr>
              <a:t>타이틀</a:t>
            </a:r>
          </a:p>
        </p:txBody>
      </p:sp>
      <p:sp>
        <p:nvSpPr>
          <p:cNvPr id="11" name="TextBox 10"/>
          <p:cNvSpPr txBox="1"/>
          <p:nvPr/>
        </p:nvSpPr>
        <p:spPr>
          <a:xfrm>
            <a:off x="640080" y="1709928"/>
            <a:ext cx="3291840" cy="274320"/>
          </a:xfrm>
          <a:prstGeom prst="rect">
            <a:avLst/>
          </a:prstGeom>
          <a:noFill/>
        </p:spPr>
        <p:txBody>
          <a:bodyPr wrap="square">
            <a:spAutoFit/>
          </a:bodyPr>
          <a:lstStyle/>
          <a:p>
            <a:pPr algn="l"/>
            <a:r>
              <a:rPr sz="1150" b="1">
                <a:solidFill>
                  <a:srgbClr val="FFFFFF"/>
                </a:solidFill>
                <a:latin typeface="맑은 고딕"/>
              </a:rPr>
              <a:t>랠릭페어리 (Relic Fairy)</a:t>
            </a:r>
          </a:p>
        </p:txBody>
      </p:sp>
      <p:sp>
        <p:nvSpPr>
          <p:cNvPr id="12" name="Rectangle 11"/>
          <p:cNvSpPr/>
          <p:nvPr/>
        </p:nvSpPr>
        <p:spPr>
          <a:xfrm>
            <a:off x="502920" y="224028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95144"/>
            <a:ext cx="1005840" cy="256032"/>
          </a:xfrm>
          <a:prstGeom prst="rect">
            <a:avLst/>
          </a:prstGeom>
          <a:noFill/>
        </p:spPr>
        <p:txBody>
          <a:bodyPr wrap="square">
            <a:spAutoFit/>
          </a:bodyPr>
          <a:lstStyle/>
          <a:p>
            <a:pPr algn="l"/>
            <a:r>
              <a:rPr sz="950" b="1">
                <a:solidFill>
                  <a:srgbClr val="727A8E"/>
                </a:solidFill>
                <a:latin typeface="맑은 고딕"/>
              </a:rPr>
              <a:t>장르</a:t>
            </a:r>
          </a:p>
        </p:txBody>
      </p:sp>
      <p:sp>
        <p:nvSpPr>
          <p:cNvPr id="14" name="TextBox 13"/>
          <p:cNvSpPr txBox="1"/>
          <p:nvPr/>
        </p:nvSpPr>
        <p:spPr>
          <a:xfrm>
            <a:off x="640080" y="2532888"/>
            <a:ext cx="3291840" cy="274320"/>
          </a:xfrm>
          <a:prstGeom prst="rect">
            <a:avLst/>
          </a:prstGeom>
          <a:noFill/>
        </p:spPr>
        <p:txBody>
          <a:bodyPr wrap="square">
            <a:spAutoFit/>
          </a:bodyPr>
          <a:lstStyle/>
          <a:p>
            <a:pPr algn="l"/>
            <a:r>
              <a:rPr sz="1150" b="1">
                <a:solidFill>
                  <a:srgbClr val="FFFFFF"/>
                </a:solidFill>
                <a:latin typeface="맑은 고딕"/>
              </a:rPr>
              <a:t>로그라이크 액션 RPG</a:t>
            </a:r>
          </a:p>
        </p:txBody>
      </p:sp>
      <p:sp>
        <p:nvSpPr>
          <p:cNvPr id="15" name="Rectangle 14"/>
          <p:cNvSpPr/>
          <p:nvPr/>
        </p:nvSpPr>
        <p:spPr>
          <a:xfrm>
            <a:off x="502920" y="306324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18104"/>
            <a:ext cx="1005840" cy="256032"/>
          </a:xfrm>
          <a:prstGeom prst="rect">
            <a:avLst/>
          </a:prstGeom>
          <a:noFill/>
        </p:spPr>
        <p:txBody>
          <a:bodyPr wrap="square">
            <a:spAutoFit/>
          </a:bodyPr>
          <a:lstStyle/>
          <a:p>
            <a:pPr algn="l"/>
            <a:r>
              <a:rPr sz="950" b="1">
                <a:solidFill>
                  <a:srgbClr val="727A8E"/>
                </a:solidFill>
                <a:latin typeface="맑은 고딕"/>
              </a:rPr>
              <a:t>플랫폼</a:t>
            </a:r>
          </a:p>
        </p:txBody>
      </p:sp>
      <p:sp>
        <p:nvSpPr>
          <p:cNvPr id="17" name="TextBox 16"/>
          <p:cNvSpPr txBox="1"/>
          <p:nvPr/>
        </p:nvSpPr>
        <p:spPr>
          <a:xfrm>
            <a:off x="640080" y="3355848"/>
            <a:ext cx="3291840" cy="274320"/>
          </a:xfrm>
          <a:prstGeom prst="rect">
            <a:avLst/>
          </a:prstGeom>
          <a:noFill/>
        </p:spPr>
        <p:txBody>
          <a:bodyPr wrap="square">
            <a:spAutoFit/>
          </a:bodyPr>
          <a:lstStyle/>
          <a:p>
            <a:pPr algn="l"/>
            <a:r>
              <a:rPr sz="1150" b="1">
                <a:solidFill>
                  <a:srgbClr val="FFFFFF"/>
                </a:solidFill>
                <a:latin typeface="맑은 고딕"/>
              </a:rPr>
              <a:t>PC  (Steam)</a:t>
            </a:r>
          </a:p>
        </p:txBody>
      </p:sp>
      <p:sp>
        <p:nvSpPr>
          <p:cNvPr id="18" name="Rectangle 17"/>
          <p:cNvSpPr/>
          <p:nvPr/>
        </p:nvSpPr>
        <p:spPr>
          <a:xfrm>
            <a:off x="502920" y="388620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41063"/>
            <a:ext cx="1005840" cy="256032"/>
          </a:xfrm>
          <a:prstGeom prst="rect">
            <a:avLst/>
          </a:prstGeom>
          <a:noFill/>
        </p:spPr>
        <p:txBody>
          <a:bodyPr wrap="square">
            <a:spAutoFit/>
          </a:bodyPr>
          <a:lstStyle/>
          <a:p>
            <a:pPr algn="l"/>
            <a:r>
              <a:rPr sz="950" b="1">
                <a:solidFill>
                  <a:srgbClr val="727A8E"/>
                </a:solidFill>
                <a:latin typeface="맑은 고딕"/>
              </a:rPr>
              <a:t>시점</a:t>
            </a:r>
          </a:p>
        </p:txBody>
      </p:sp>
      <p:sp>
        <p:nvSpPr>
          <p:cNvPr id="20" name="TextBox 19"/>
          <p:cNvSpPr txBox="1"/>
          <p:nvPr/>
        </p:nvSpPr>
        <p:spPr>
          <a:xfrm>
            <a:off x="640080" y="4178808"/>
            <a:ext cx="3291840" cy="274320"/>
          </a:xfrm>
          <a:prstGeom prst="rect">
            <a:avLst/>
          </a:prstGeom>
          <a:noFill/>
        </p:spPr>
        <p:txBody>
          <a:bodyPr wrap="square">
            <a:spAutoFit/>
          </a:bodyPr>
          <a:lstStyle/>
          <a:p>
            <a:pPr algn="l"/>
            <a:r>
              <a:rPr sz="1150" b="1">
                <a:solidFill>
                  <a:srgbClr val="FFFFFF"/>
                </a:solidFill>
                <a:latin typeface="맑은 고딕"/>
              </a:rPr>
              <a:t>3D 액션 (쿼터뷰)</a:t>
            </a:r>
          </a:p>
        </p:txBody>
      </p:sp>
      <p:sp>
        <p:nvSpPr>
          <p:cNvPr id="21" name="Rectangle 20"/>
          <p:cNvSpPr/>
          <p:nvPr/>
        </p:nvSpPr>
        <p:spPr>
          <a:xfrm>
            <a:off x="502920" y="4709160"/>
            <a:ext cx="3566160" cy="6858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64024"/>
            <a:ext cx="1005840" cy="256032"/>
          </a:xfrm>
          <a:prstGeom prst="rect">
            <a:avLst/>
          </a:prstGeom>
          <a:noFill/>
        </p:spPr>
        <p:txBody>
          <a:bodyPr wrap="square">
            <a:spAutoFit/>
          </a:bodyPr>
          <a:lstStyle/>
          <a:p>
            <a:pPr algn="l"/>
            <a:r>
              <a:rPr sz="950" b="1">
                <a:solidFill>
                  <a:srgbClr val="727A8E"/>
                </a:solidFill>
                <a:latin typeface="맑은 고딕"/>
              </a:rPr>
              <a:t>타깃</a:t>
            </a:r>
          </a:p>
        </p:txBody>
      </p:sp>
      <p:sp>
        <p:nvSpPr>
          <p:cNvPr id="23" name="TextBox 22"/>
          <p:cNvSpPr txBox="1"/>
          <p:nvPr/>
        </p:nvSpPr>
        <p:spPr>
          <a:xfrm>
            <a:off x="640080" y="5001768"/>
            <a:ext cx="3291840" cy="274320"/>
          </a:xfrm>
          <a:prstGeom prst="rect">
            <a:avLst/>
          </a:prstGeom>
          <a:noFill/>
        </p:spPr>
        <p:txBody>
          <a:bodyPr wrap="square">
            <a:spAutoFit/>
          </a:bodyPr>
          <a:lstStyle/>
          <a:p>
            <a:pPr algn="l"/>
            <a:r>
              <a:rPr sz="1150" b="1">
                <a:solidFill>
                  <a:srgbClr val="FFFFFF"/>
                </a:solidFill>
                <a:latin typeface="맑은 고딕"/>
              </a:rPr>
              <a:t>로그라이크 · 액션 RPG 팬</a:t>
            </a:r>
          </a:p>
        </p:txBody>
      </p:sp>
      <p:sp>
        <p:nvSpPr>
          <p:cNvPr id="24" name="Rectangle 23"/>
          <p:cNvSpPr/>
          <p:nvPr/>
        </p:nvSpPr>
        <p:spPr>
          <a:xfrm>
            <a:off x="4389120" y="960120"/>
            <a:ext cx="438912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1014984"/>
            <a:ext cx="4114800" cy="256032"/>
          </a:xfrm>
          <a:prstGeom prst="rect">
            <a:avLst/>
          </a:prstGeom>
          <a:noFill/>
        </p:spPr>
        <p:txBody>
          <a:bodyPr wrap="square">
            <a:spAutoFit/>
          </a:bodyPr>
          <a:lstStyle/>
          <a:p>
            <a:pPr algn="l"/>
            <a:r>
              <a:rPr sz="1200" b="1">
                <a:solidFill>
                  <a:srgbClr val="C9A84C"/>
                </a:solidFill>
                <a:latin typeface="맑은 고딕"/>
              </a:rPr>
              <a:t>핵심 컨셉</a:t>
            </a:r>
          </a:p>
        </p:txBody>
      </p:sp>
      <p:sp>
        <p:nvSpPr>
          <p:cNvPr id="27" name="TextBox 26"/>
          <p:cNvSpPr txBox="1"/>
          <p:nvPr/>
        </p:nvSpPr>
        <p:spPr>
          <a:xfrm>
            <a:off x="4572000" y="1417320"/>
            <a:ext cx="4023360" cy="914400"/>
          </a:xfrm>
          <a:prstGeom prst="rect">
            <a:avLst/>
          </a:prstGeom>
          <a:noFill/>
        </p:spPr>
        <p:txBody>
          <a:bodyPr wrap="square">
            <a:spAutoFit/>
          </a:bodyPr>
          <a:lstStyle/>
          <a:p>
            <a:pPr algn="l"/>
            <a:r>
              <a:rPr sz="1300" b="1">
                <a:solidFill>
                  <a:srgbClr val="E8D08A"/>
                </a:solidFill>
                <a:latin typeface="맑은 고딕"/>
              </a:rPr>
              <a:t>"죽어도 영혼은 남는다.
멀린의 의지가 다시 불러온다."</a:t>
            </a:r>
          </a:p>
        </p:txBody>
      </p:sp>
      <p:sp>
        <p:nvSpPr>
          <p:cNvPr id="28" name="TextBox 27"/>
          <p:cNvSpPr txBox="1"/>
          <p:nvPr/>
        </p:nvSpPr>
        <p:spPr>
          <a:xfrm>
            <a:off x="4572000" y="2331720"/>
            <a:ext cx="4023360" cy="1097280"/>
          </a:xfrm>
          <a:prstGeom prst="rect">
            <a:avLst/>
          </a:prstGeom>
          <a:noFill/>
        </p:spPr>
        <p:txBody>
          <a:bodyPr wrap="square">
            <a:spAutoFit/>
          </a:bodyPr>
          <a:lstStyle/>
          <a:p>
            <a:pPr algn="l"/>
            <a:r>
              <a:rPr sz="1050" b="0">
                <a:solidFill>
                  <a:srgbClr val="B8BECC"/>
                </a:solidFill>
                <a:latin typeface="맑은 고딕"/>
              </a:rPr>
              <a:t>멀린이 죽고 세계가 부패한다. 그의 잔존 의지가
신성한 영혼(주인공)을 소환하고, 주인공은
쓰러진 영웅들의 유물(육체)을 빌려 전진한다.
실패해도 돌아온다. 조금 더 강해져서.</a:t>
            </a:r>
          </a:p>
        </p:txBody>
      </p:sp>
      <p:sp>
        <p:nvSpPr>
          <p:cNvPr id="29" name="Rectangle 28"/>
          <p:cNvSpPr/>
          <p:nvPr/>
        </p:nvSpPr>
        <p:spPr>
          <a:xfrm>
            <a:off x="4389120" y="3703320"/>
            <a:ext cx="438912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0" y="37033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80" y="3758183"/>
            <a:ext cx="4114800" cy="256032"/>
          </a:xfrm>
          <a:prstGeom prst="rect">
            <a:avLst/>
          </a:prstGeom>
          <a:noFill/>
        </p:spPr>
        <p:txBody>
          <a:bodyPr wrap="square">
            <a:spAutoFit/>
          </a:bodyPr>
          <a:lstStyle/>
          <a:p>
            <a:pPr algn="l"/>
            <a:r>
              <a:rPr sz="1200" b="1">
                <a:solidFill>
                  <a:srgbClr val="C9A84C"/>
                </a:solidFill>
                <a:latin typeface="맑은 고딕"/>
              </a:rPr>
              <a:t>레퍼런스 게임</a:t>
            </a:r>
          </a:p>
        </p:txBody>
      </p:sp>
      <p:sp>
        <p:nvSpPr>
          <p:cNvPr id="32" name="Rectangle 31"/>
          <p:cNvSpPr/>
          <p:nvPr/>
        </p:nvSpPr>
        <p:spPr>
          <a:xfrm>
            <a:off x="4572000" y="416052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4197096"/>
            <a:ext cx="1371600" cy="329184"/>
          </a:xfrm>
          <a:prstGeom prst="rect">
            <a:avLst/>
          </a:prstGeom>
          <a:noFill/>
        </p:spPr>
        <p:txBody>
          <a:bodyPr wrap="square">
            <a:spAutoFit/>
          </a:bodyPr>
          <a:lstStyle/>
          <a:p>
            <a:pPr algn="l"/>
            <a:r>
              <a:rPr sz="1000" b="1">
                <a:solidFill>
                  <a:srgbClr val="C9A84C"/>
                </a:solidFill>
                <a:latin typeface="맑은 고딕"/>
              </a:rPr>
              <a:t>Hades</a:t>
            </a:r>
          </a:p>
        </p:txBody>
      </p:sp>
      <p:sp>
        <p:nvSpPr>
          <p:cNvPr id="34" name="TextBox 33"/>
          <p:cNvSpPr txBox="1"/>
          <p:nvPr/>
        </p:nvSpPr>
        <p:spPr>
          <a:xfrm>
            <a:off x="6126480" y="4233672"/>
            <a:ext cx="2377440" cy="256032"/>
          </a:xfrm>
          <a:prstGeom prst="rect">
            <a:avLst/>
          </a:prstGeom>
          <a:noFill/>
        </p:spPr>
        <p:txBody>
          <a:bodyPr wrap="square">
            <a:spAutoFit/>
          </a:bodyPr>
          <a:lstStyle/>
          <a:p>
            <a:pPr algn="l"/>
            <a:r>
              <a:rPr sz="900" b="0">
                <a:solidFill>
                  <a:srgbClr val="B8BECC"/>
                </a:solidFill>
                <a:latin typeface="맑은 고딕"/>
              </a:rPr>
              <a:t>메타 진행 구조, 실패=성장 패러다임</a:t>
            </a:r>
          </a:p>
        </p:txBody>
      </p:sp>
      <p:sp>
        <p:nvSpPr>
          <p:cNvPr id="35" name="Rectangle 34"/>
          <p:cNvSpPr/>
          <p:nvPr/>
        </p:nvSpPr>
        <p:spPr>
          <a:xfrm>
            <a:off x="4572000" y="466344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60" y="4700016"/>
            <a:ext cx="1371600" cy="329184"/>
          </a:xfrm>
          <a:prstGeom prst="rect">
            <a:avLst/>
          </a:prstGeom>
          <a:noFill/>
        </p:spPr>
        <p:txBody>
          <a:bodyPr wrap="square">
            <a:spAutoFit/>
          </a:bodyPr>
          <a:lstStyle/>
          <a:p>
            <a:pPr algn="l"/>
            <a:r>
              <a:rPr sz="1000" b="1">
                <a:solidFill>
                  <a:srgbClr val="C9A84C"/>
                </a:solidFill>
                <a:latin typeface="맑은 고딕"/>
              </a:rPr>
              <a:t>Dead Cells</a:t>
            </a:r>
          </a:p>
        </p:txBody>
      </p:sp>
      <p:sp>
        <p:nvSpPr>
          <p:cNvPr id="37" name="TextBox 36"/>
          <p:cNvSpPr txBox="1"/>
          <p:nvPr/>
        </p:nvSpPr>
        <p:spPr>
          <a:xfrm>
            <a:off x="6126480" y="4736592"/>
            <a:ext cx="2377440" cy="256032"/>
          </a:xfrm>
          <a:prstGeom prst="rect">
            <a:avLst/>
          </a:prstGeom>
          <a:noFill/>
        </p:spPr>
        <p:txBody>
          <a:bodyPr wrap="square">
            <a:spAutoFit/>
          </a:bodyPr>
          <a:lstStyle/>
          <a:p>
            <a:pPr algn="l"/>
            <a:r>
              <a:rPr sz="900" b="0">
                <a:solidFill>
                  <a:srgbClr val="B8BECC"/>
                </a:solidFill>
                <a:latin typeface="맑은 고딕"/>
              </a:rPr>
              <a:t>빠른 전투 리듬, 런 내 빌드 다양성</a:t>
            </a:r>
          </a:p>
        </p:txBody>
      </p:sp>
      <p:sp>
        <p:nvSpPr>
          <p:cNvPr id="38" name="Rectangle 37"/>
          <p:cNvSpPr/>
          <p:nvPr/>
        </p:nvSpPr>
        <p:spPr>
          <a:xfrm>
            <a:off x="4572000" y="516636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5202936"/>
            <a:ext cx="1371600" cy="329184"/>
          </a:xfrm>
          <a:prstGeom prst="rect">
            <a:avLst/>
          </a:prstGeom>
          <a:noFill/>
        </p:spPr>
        <p:txBody>
          <a:bodyPr wrap="square">
            <a:spAutoFit/>
          </a:bodyPr>
          <a:lstStyle/>
          <a:p>
            <a:pPr algn="l"/>
            <a:r>
              <a:rPr sz="1000" b="1">
                <a:solidFill>
                  <a:srgbClr val="C9A84C"/>
                </a:solidFill>
                <a:latin typeface="맑은 고딕"/>
              </a:rPr>
              <a:t>Hollow Knight</a:t>
            </a:r>
          </a:p>
        </p:txBody>
      </p:sp>
      <p:sp>
        <p:nvSpPr>
          <p:cNvPr id="40" name="TextBox 39"/>
          <p:cNvSpPr txBox="1"/>
          <p:nvPr/>
        </p:nvSpPr>
        <p:spPr>
          <a:xfrm>
            <a:off x="6126480" y="5239512"/>
            <a:ext cx="2377440" cy="256032"/>
          </a:xfrm>
          <a:prstGeom prst="rect">
            <a:avLst/>
          </a:prstGeom>
          <a:noFill/>
        </p:spPr>
        <p:txBody>
          <a:bodyPr wrap="square">
            <a:spAutoFit/>
          </a:bodyPr>
          <a:lstStyle/>
          <a:p>
            <a:pPr algn="l"/>
            <a:r>
              <a:rPr sz="900" b="0">
                <a:solidFill>
                  <a:srgbClr val="B8BECC"/>
                </a:solidFill>
                <a:latin typeface="맑은 고딕"/>
              </a:rPr>
              <a:t>다크 동화 비주얼 톤</a:t>
            </a:r>
          </a:p>
        </p:txBody>
      </p:sp>
      <p:sp>
        <p:nvSpPr>
          <p:cNvPr id="41" name="Rectangle 40"/>
          <p:cNvSpPr/>
          <p:nvPr/>
        </p:nvSpPr>
        <p:spPr>
          <a:xfrm>
            <a:off x="4572000" y="5669280"/>
            <a:ext cx="4023360" cy="420624"/>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60" y="5705856"/>
            <a:ext cx="1371600" cy="329184"/>
          </a:xfrm>
          <a:prstGeom prst="rect">
            <a:avLst/>
          </a:prstGeom>
          <a:noFill/>
        </p:spPr>
        <p:txBody>
          <a:bodyPr wrap="square">
            <a:spAutoFit/>
          </a:bodyPr>
          <a:lstStyle/>
          <a:p>
            <a:pPr algn="l"/>
            <a:r>
              <a:rPr sz="1000" b="1">
                <a:solidFill>
                  <a:srgbClr val="C9A84C"/>
                </a:solidFill>
                <a:latin typeface="맑은 고딕"/>
              </a:rPr>
              <a:t>Path of Exile</a:t>
            </a:r>
          </a:p>
        </p:txBody>
      </p:sp>
      <p:sp>
        <p:nvSpPr>
          <p:cNvPr id="43" name="TextBox 42"/>
          <p:cNvSpPr txBox="1"/>
          <p:nvPr/>
        </p:nvSpPr>
        <p:spPr>
          <a:xfrm>
            <a:off x="6126480" y="5742432"/>
            <a:ext cx="2377440" cy="256032"/>
          </a:xfrm>
          <a:prstGeom prst="rect">
            <a:avLst/>
          </a:prstGeom>
          <a:noFill/>
        </p:spPr>
        <p:txBody>
          <a:bodyPr wrap="square">
            <a:spAutoFit/>
          </a:bodyPr>
          <a:lstStyle/>
          <a:p>
            <a:pPr algn="l"/>
            <a:r>
              <a:rPr sz="900" b="0">
                <a:solidFill>
                  <a:srgbClr val="B8BECC"/>
                </a:solidFill>
                <a:latin typeface="맑은 고딕"/>
              </a:rPr>
              <a:t>스탯 레이어 깊이, 빌드 다양성</a:t>
            </a:r>
          </a:p>
        </p:txBody>
      </p:sp>
      <p:sp>
        <p:nvSpPr>
          <p:cNvPr id="44" name="Rectangle 43"/>
          <p:cNvSpPr/>
          <p:nvPr/>
        </p:nvSpPr>
        <p:spPr>
          <a:xfrm>
            <a:off x="8961120" y="960120"/>
            <a:ext cx="283464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61120" y="960120"/>
            <a:ext cx="28346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98280" y="1014984"/>
            <a:ext cx="2560320" cy="256032"/>
          </a:xfrm>
          <a:prstGeom prst="rect">
            <a:avLst/>
          </a:prstGeom>
          <a:noFill/>
        </p:spPr>
        <p:txBody>
          <a:bodyPr wrap="square">
            <a:spAutoFit/>
          </a:bodyPr>
          <a:lstStyle/>
          <a:p>
            <a:pPr algn="l"/>
            <a:r>
              <a:rPr sz="1200" b="1">
                <a:solidFill>
                  <a:srgbClr val="C9A84C"/>
                </a:solidFill>
                <a:latin typeface="맑은 고딕"/>
              </a:rPr>
              <a:t>핵심 키워드</a:t>
            </a:r>
          </a:p>
        </p:txBody>
      </p:sp>
      <p:sp>
        <p:nvSpPr>
          <p:cNvPr id="47" name="Rectangle 46"/>
          <p:cNvSpPr/>
          <p:nvPr/>
        </p:nvSpPr>
        <p:spPr>
          <a:xfrm>
            <a:off x="9098280" y="1417320"/>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98280" y="1435608"/>
            <a:ext cx="2560320" cy="256032"/>
          </a:xfrm>
          <a:prstGeom prst="rect">
            <a:avLst/>
          </a:prstGeom>
          <a:noFill/>
        </p:spPr>
        <p:txBody>
          <a:bodyPr wrap="square">
            <a:spAutoFit/>
          </a:bodyPr>
          <a:lstStyle/>
          <a:p>
            <a:pPr algn="ctr"/>
            <a:r>
              <a:rPr sz="1000" b="0">
                <a:solidFill>
                  <a:srgbClr val="E8D08A"/>
                </a:solidFill>
                <a:latin typeface="맑은 고딕"/>
              </a:rPr>
              <a:t>모던 다크 동화</a:t>
            </a:r>
          </a:p>
        </p:txBody>
      </p:sp>
      <p:sp>
        <p:nvSpPr>
          <p:cNvPr id="49" name="Rectangle 48"/>
          <p:cNvSpPr/>
          <p:nvPr/>
        </p:nvSpPr>
        <p:spPr>
          <a:xfrm>
            <a:off x="9098280" y="1764792"/>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98280" y="1783080"/>
            <a:ext cx="2560320" cy="256032"/>
          </a:xfrm>
          <a:prstGeom prst="rect">
            <a:avLst/>
          </a:prstGeom>
          <a:noFill/>
        </p:spPr>
        <p:txBody>
          <a:bodyPr wrap="square">
            <a:spAutoFit/>
          </a:bodyPr>
          <a:lstStyle/>
          <a:p>
            <a:pPr algn="ctr"/>
            <a:r>
              <a:rPr sz="1000" b="0">
                <a:solidFill>
                  <a:srgbClr val="E8D08A"/>
                </a:solidFill>
                <a:latin typeface="맑은 고딕"/>
              </a:rPr>
              <a:t>아서왕 전설</a:t>
            </a:r>
          </a:p>
        </p:txBody>
      </p:sp>
      <p:sp>
        <p:nvSpPr>
          <p:cNvPr id="51" name="Rectangle 50"/>
          <p:cNvSpPr/>
          <p:nvPr/>
        </p:nvSpPr>
        <p:spPr>
          <a:xfrm>
            <a:off x="9098280" y="2112264"/>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98280" y="2130552"/>
            <a:ext cx="2560320" cy="256032"/>
          </a:xfrm>
          <a:prstGeom prst="rect">
            <a:avLst/>
          </a:prstGeom>
          <a:noFill/>
        </p:spPr>
        <p:txBody>
          <a:bodyPr wrap="square">
            <a:spAutoFit/>
          </a:bodyPr>
          <a:lstStyle/>
          <a:p>
            <a:pPr algn="ctr"/>
            <a:r>
              <a:rPr sz="1000" b="0">
                <a:solidFill>
                  <a:srgbClr val="E8D08A"/>
                </a:solidFill>
                <a:latin typeface="맑은 고딕"/>
              </a:rPr>
              <a:t>영웅 유물</a:t>
            </a:r>
          </a:p>
        </p:txBody>
      </p:sp>
      <p:sp>
        <p:nvSpPr>
          <p:cNvPr id="53" name="Rectangle 52"/>
          <p:cNvSpPr/>
          <p:nvPr/>
        </p:nvSpPr>
        <p:spPr>
          <a:xfrm>
            <a:off x="9098280" y="2459736"/>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98280" y="2478024"/>
            <a:ext cx="2560320" cy="256032"/>
          </a:xfrm>
          <a:prstGeom prst="rect">
            <a:avLst/>
          </a:prstGeom>
          <a:noFill/>
        </p:spPr>
        <p:txBody>
          <a:bodyPr wrap="square">
            <a:spAutoFit/>
          </a:bodyPr>
          <a:lstStyle/>
          <a:p>
            <a:pPr algn="ctr"/>
            <a:r>
              <a:rPr sz="1000" b="0">
                <a:solidFill>
                  <a:srgbClr val="E8D08A"/>
                </a:solidFill>
                <a:latin typeface="맑은 고딕"/>
              </a:rPr>
              <a:t>메타 진행</a:t>
            </a:r>
          </a:p>
        </p:txBody>
      </p:sp>
      <p:sp>
        <p:nvSpPr>
          <p:cNvPr id="55" name="Rectangle 54"/>
          <p:cNvSpPr/>
          <p:nvPr/>
        </p:nvSpPr>
        <p:spPr>
          <a:xfrm>
            <a:off x="9098280" y="2807208"/>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2825496"/>
            <a:ext cx="2560320" cy="256032"/>
          </a:xfrm>
          <a:prstGeom prst="rect">
            <a:avLst/>
          </a:prstGeom>
          <a:noFill/>
        </p:spPr>
        <p:txBody>
          <a:bodyPr wrap="square">
            <a:spAutoFit/>
          </a:bodyPr>
          <a:lstStyle/>
          <a:p>
            <a:pPr algn="ctr"/>
            <a:r>
              <a:rPr sz="1000" b="0">
                <a:solidFill>
                  <a:srgbClr val="E8D08A"/>
                </a:solidFill>
                <a:latin typeface="맑은 고딕"/>
              </a:rPr>
              <a:t>빌드 다양성</a:t>
            </a:r>
          </a:p>
        </p:txBody>
      </p:sp>
      <p:sp>
        <p:nvSpPr>
          <p:cNvPr id="57" name="Rectangle 56"/>
          <p:cNvSpPr/>
          <p:nvPr/>
        </p:nvSpPr>
        <p:spPr>
          <a:xfrm>
            <a:off x="9098280" y="3154680"/>
            <a:ext cx="2560320" cy="274320"/>
          </a:xfrm>
          <a:prstGeom prst="rect">
            <a:avLst/>
          </a:prstGeom>
          <a:solidFill>
            <a:srgbClr val="1A2238"/>
          </a:solidFill>
          <a:ln w="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98280" y="3172968"/>
            <a:ext cx="2560320" cy="256032"/>
          </a:xfrm>
          <a:prstGeom prst="rect">
            <a:avLst/>
          </a:prstGeom>
          <a:noFill/>
        </p:spPr>
        <p:txBody>
          <a:bodyPr wrap="square">
            <a:spAutoFit/>
          </a:bodyPr>
          <a:lstStyle/>
          <a:p>
            <a:pPr algn="ctr"/>
            <a:r>
              <a:rPr sz="1000" b="0">
                <a:solidFill>
                  <a:srgbClr val="E8D08A"/>
                </a:solidFill>
                <a:latin typeface="맑은 고딕"/>
              </a:rPr>
              <a:t>시나리오 연동</a:t>
            </a:r>
          </a:p>
        </p:txBody>
      </p:sp>
      <p:sp>
        <p:nvSpPr>
          <p:cNvPr id="59" name="Rectangle 58"/>
          <p:cNvSpPr/>
          <p:nvPr/>
        </p:nvSpPr>
        <p:spPr>
          <a:xfrm>
            <a:off x="8961120" y="3703320"/>
            <a:ext cx="2834640" cy="26517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961120" y="3703320"/>
            <a:ext cx="28346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98280" y="3758183"/>
            <a:ext cx="2560320" cy="256032"/>
          </a:xfrm>
          <a:prstGeom prst="rect">
            <a:avLst/>
          </a:prstGeom>
          <a:noFill/>
        </p:spPr>
        <p:txBody>
          <a:bodyPr wrap="square">
            <a:spAutoFit/>
          </a:bodyPr>
          <a:lstStyle/>
          <a:p>
            <a:pPr algn="l"/>
            <a:r>
              <a:rPr sz="1200" b="1">
                <a:solidFill>
                  <a:srgbClr val="C9A84C"/>
                </a:solidFill>
                <a:latin typeface="맑은 고딕"/>
              </a:rPr>
              <a:t>장르 포지셔닝</a:t>
            </a:r>
          </a:p>
        </p:txBody>
      </p:sp>
      <p:sp>
        <p:nvSpPr>
          <p:cNvPr id="62" name="TextBox 61"/>
          <p:cNvSpPr txBox="1"/>
          <p:nvPr/>
        </p:nvSpPr>
        <p:spPr>
          <a:xfrm>
            <a:off x="9098280" y="4069080"/>
            <a:ext cx="2560320" cy="2194560"/>
          </a:xfrm>
          <a:prstGeom prst="rect">
            <a:avLst/>
          </a:prstGeom>
          <a:noFill/>
        </p:spPr>
        <p:txBody>
          <a:bodyPr wrap="square">
            <a:spAutoFit/>
          </a:bodyPr>
          <a:lstStyle/>
          <a:p>
            <a:pPr algn="ctr"/>
            <a:r>
              <a:rPr sz="1050" b="0">
                <a:solidFill>
                  <a:srgbClr val="FFFFFF"/>
                </a:solidFill>
                <a:latin typeface="맑은 고딕"/>
              </a:rPr>
              <a:t>로그라이크의
매 런 신선함
+
액션 RPG의
빌드 깊이
+
서사 연동
성장의 의미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02  세계관 &amp; 시나리오</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World &amp; Scenario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02  세계관 — 배경 &amp; 핵심 인물</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486400" cy="2560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486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212080" cy="256032"/>
          </a:xfrm>
          <a:prstGeom prst="rect">
            <a:avLst/>
          </a:prstGeom>
          <a:noFill/>
        </p:spPr>
        <p:txBody>
          <a:bodyPr wrap="square">
            <a:spAutoFit/>
          </a:bodyPr>
          <a:lstStyle/>
          <a:p>
            <a:pPr algn="l"/>
            <a:r>
              <a:rPr sz="1200" b="1">
                <a:solidFill>
                  <a:srgbClr val="C9A84C"/>
                </a:solidFill>
                <a:latin typeface="맑은 고딕"/>
              </a:rPr>
              <a:t>배경 설정</a:t>
            </a:r>
          </a:p>
        </p:txBody>
      </p:sp>
      <p:sp>
        <p:nvSpPr>
          <p:cNvPr id="8" name="TextBox 7"/>
          <p:cNvSpPr txBox="1"/>
          <p:nvPr/>
        </p:nvSpPr>
        <p:spPr>
          <a:xfrm>
            <a:off x="548640" y="1371600"/>
            <a:ext cx="5120640" cy="2011680"/>
          </a:xfrm>
          <a:prstGeom prst="rect">
            <a:avLst/>
          </a:prstGeom>
          <a:noFill/>
        </p:spPr>
        <p:txBody>
          <a:bodyPr wrap="square">
            <a:spAutoFit/>
          </a:bodyPr>
          <a:lstStyle/>
          <a:p>
            <a:pPr algn="l"/>
            <a:r>
              <a:rPr sz="1050" b="0">
                <a:solidFill>
                  <a:srgbClr val="B8BECC"/>
                </a:solidFill>
                <a:latin typeface="맑은 고딕"/>
              </a:rPr>
              <a:t>아서왕 전설의 세계. 최고의 마법사 멀린이 의문의 외부 존재에 의해 살해된다.
그의 죽음과 동시에 세계는 부패하기 시작하고, 자연·고대 존재·인간 영웅들이
차례로 잠식된다.
멀린의 잔존 의지는 사후에도 흩어지지 않고 하나의 목적으로 수렴한다.
그는 세계 너머에서 신성한 영혼(주인공)을 소환하고,
쓰러진 영웅들의 유물(육체)을 그 그릇으로 삼는다.</a:t>
            </a:r>
          </a:p>
        </p:txBody>
      </p:sp>
      <p:sp>
        <p:nvSpPr>
          <p:cNvPr id="9" name="Rectangle 8"/>
          <p:cNvSpPr/>
          <p:nvPr/>
        </p:nvSpPr>
        <p:spPr>
          <a:xfrm>
            <a:off x="365760" y="3657600"/>
            <a:ext cx="548640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657600"/>
            <a:ext cx="5486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712463"/>
            <a:ext cx="5212080" cy="256032"/>
          </a:xfrm>
          <a:prstGeom prst="rect">
            <a:avLst/>
          </a:prstGeom>
          <a:noFill/>
        </p:spPr>
        <p:txBody>
          <a:bodyPr wrap="square">
            <a:spAutoFit/>
          </a:bodyPr>
          <a:lstStyle/>
          <a:p>
            <a:pPr algn="l"/>
            <a:r>
              <a:rPr sz="1200" b="1">
                <a:solidFill>
                  <a:srgbClr val="C9A84C"/>
                </a:solidFill>
                <a:latin typeface="맑은 고딕"/>
              </a:rPr>
              <a:t>톤 &amp; 무드</a:t>
            </a:r>
          </a:p>
        </p:txBody>
      </p:sp>
      <p:sp>
        <p:nvSpPr>
          <p:cNvPr id="12" name="TextBox 11"/>
          <p:cNvSpPr txBox="1"/>
          <p:nvPr/>
        </p:nvSpPr>
        <p:spPr>
          <a:xfrm>
            <a:off x="548640" y="4069080"/>
            <a:ext cx="5120640" cy="320040"/>
          </a:xfrm>
          <a:prstGeom prst="rect">
            <a:avLst/>
          </a:prstGeom>
          <a:noFill/>
        </p:spPr>
        <p:txBody>
          <a:bodyPr wrap="square">
            <a:spAutoFit/>
          </a:bodyPr>
          <a:lstStyle/>
          <a:p>
            <a:pPr algn="l"/>
            <a:r>
              <a:rPr sz="1200" b="1">
                <a:solidFill>
                  <a:srgbClr val="C9A84C"/>
                </a:solidFill>
                <a:latin typeface="맑은 고딕"/>
              </a:rPr>
              <a:t>모던 다크 동화 (Modern Dark Fairy Tale)</a:t>
            </a:r>
          </a:p>
        </p:txBody>
      </p:sp>
      <p:sp>
        <p:nvSpPr>
          <p:cNvPr id="13" name="TextBox 12"/>
          <p:cNvSpPr txBox="1"/>
          <p:nvPr/>
        </p:nvSpPr>
        <p:spPr>
          <a:xfrm>
            <a:off x="548640" y="4434840"/>
            <a:ext cx="5120640" cy="1645920"/>
          </a:xfrm>
          <a:prstGeom prst="rect">
            <a:avLst/>
          </a:prstGeom>
          <a:noFill/>
        </p:spPr>
        <p:txBody>
          <a:bodyPr wrap="square">
            <a:spAutoFit/>
          </a:bodyPr>
          <a:lstStyle/>
          <a:p>
            <a:pPr algn="l"/>
            <a:r>
              <a:rPr sz="1050" b="0">
                <a:solidFill>
                  <a:srgbClr val="B8BECC"/>
                </a:solidFill>
                <a:latin typeface="맑은 고딕"/>
              </a:rPr>
              <a:t>한때 빛났던 동화의 페이지가 잠식되고 부패한 세계.
귀엽거나 밝지 않다. 어둡고 잔인하지만
아름다운 잔재가 남아있는 분위기.</a:t>
            </a:r>
          </a:p>
        </p:txBody>
      </p:sp>
      <p:sp>
        <p:nvSpPr>
          <p:cNvPr id="14" name="Rectangle 13"/>
          <p:cNvSpPr/>
          <p:nvPr/>
        </p:nvSpPr>
        <p:spPr>
          <a:xfrm>
            <a:off x="6080760" y="960120"/>
            <a:ext cx="1874519" cy="2468880"/>
          </a:xfrm>
          <a:prstGeom prst="rect">
            <a:avLst/>
          </a:prstGeom>
          <a:solidFill>
            <a:srgbClr val="161B2E"/>
          </a:solidFill>
          <a:ln w="18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1033272"/>
            <a:ext cx="1874519" cy="329184"/>
          </a:xfrm>
          <a:prstGeom prst="rect">
            <a:avLst/>
          </a:prstGeom>
          <a:noFill/>
        </p:spPr>
        <p:txBody>
          <a:bodyPr wrap="square">
            <a:spAutoFit/>
          </a:bodyPr>
          <a:lstStyle/>
          <a:p>
            <a:pPr algn="ctr"/>
            <a:r>
              <a:rPr sz="1300" b="1">
                <a:solidFill>
                  <a:srgbClr val="C9A84C"/>
                </a:solidFill>
                <a:latin typeface="맑은 고딕"/>
              </a:rPr>
              <a:t>멀린</a:t>
            </a:r>
          </a:p>
        </p:txBody>
      </p:sp>
      <p:sp>
        <p:nvSpPr>
          <p:cNvPr id="17" name="TextBox 16"/>
          <p:cNvSpPr txBox="1"/>
          <p:nvPr/>
        </p:nvSpPr>
        <p:spPr>
          <a:xfrm>
            <a:off x="6172200" y="1508760"/>
            <a:ext cx="1691640" cy="1828800"/>
          </a:xfrm>
          <a:prstGeom prst="rect">
            <a:avLst/>
          </a:prstGeom>
          <a:noFill/>
        </p:spPr>
        <p:txBody>
          <a:bodyPr wrap="square">
            <a:spAutoFit/>
          </a:bodyPr>
          <a:lstStyle/>
          <a:p>
            <a:pPr algn="l"/>
            <a:r>
              <a:rPr sz="950" b="0">
                <a:solidFill>
                  <a:srgbClr val="B8BECC"/>
                </a:solidFill>
                <a:latin typeface="맑은 고딕"/>
              </a:rPr>
              <a:t>사망한 마법사. 잔존 의지로 주인공을 안내.
런마다 목소리로 대화. 점점 약해짐.</a:t>
            </a:r>
          </a:p>
        </p:txBody>
      </p:sp>
      <p:sp>
        <p:nvSpPr>
          <p:cNvPr id="18" name="Rectangle 17"/>
          <p:cNvSpPr/>
          <p:nvPr/>
        </p:nvSpPr>
        <p:spPr>
          <a:xfrm>
            <a:off x="8092440" y="960120"/>
            <a:ext cx="1874519" cy="2468880"/>
          </a:xfrm>
          <a:prstGeom prst="rect">
            <a:avLst/>
          </a:prstGeom>
          <a:solidFill>
            <a:srgbClr val="161B2E"/>
          </a:solidFill>
          <a:ln w="18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1033272"/>
            <a:ext cx="1874519" cy="329184"/>
          </a:xfrm>
          <a:prstGeom prst="rect">
            <a:avLst/>
          </a:prstGeom>
          <a:noFill/>
        </p:spPr>
        <p:txBody>
          <a:bodyPr wrap="square">
            <a:spAutoFit/>
          </a:bodyPr>
          <a:lstStyle/>
          <a:p>
            <a:pPr algn="ctr"/>
            <a:r>
              <a:rPr sz="1300" b="1">
                <a:solidFill>
                  <a:srgbClr val="4AC2B8"/>
                </a:solidFill>
                <a:latin typeface="맑은 고딕"/>
              </a:rPr>
              <a:t>주인공</a:t>
            </a:r>
          </a:p>
        </p:txBody>
      </p:sp>
      <p:sp>
        <p:nvSpPr>
          <p:cNvPr id="21" name="TextBox 20"/>
          <p:cNvSpPr txBox="1"/>
          <p:nvPr/>
        </p:nvSpPr>
        <p:spPr>
          <a:xfrm>
            <a:off x="8183880" y="1508760"/>
            <a:ext cx="1691640" cy="1828800"/>
          </a:xfrm>
          <a:prstGeom prst="rect">
            <a:avLst/>
          </a:prstGeom>
          <a:noFill/>
        </p:spPr>
        <p:txBody>
          <a:bodyPr wrap="square">
            <a:spAutoFit/>
          </a:bodyPr>
          <a:lstStyle/>
          <a:p>
            <a:pPr algn="l"/>
            <a:r>
              <a:rPr sz="950" b="0">
                <a:solidFill>
                  <a:srgbClr val="B8BECC"/>
                </a:solidFill>
                <a:latin typeface="맑은 고딕"/>
              </a:rPr>
              <a:t>신성한 영혼. 영웅 유물(육체)을 빌려 전투.
사망 시 멀린이 복구 → 재도전.</a:t>
            </a:r>
          </a:p>
        </p:txBody>
      </p:sp>
      <p:sp>
        <p:nvSpPr>
          <p:cNvPr id="22" name="Rectangle 21"/>
          <p:cNvSpPr/>
          <p:nvPr/>
        </p:nvSpPr>
        <p:spPr>
          <a:xfrm>
            <a:off x="10104120" y="960120"/>
            <a:ext cx="1874519" cy="2468880"/>
          </a:xfrm>
          <a:prstGeom prst="rect">
            <a:avLst/>
          </a:prstGeom>
          <a:solidFill>
            <a:srgbClr val="161B2E"/>
          </a:solidFill>
          <a:ln w="18000">
            <a:solidFill>
              <a:srgbClr val="CC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104120" y="960120"/>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04120" y="1033272"/>
            <a:ext cx="1874519" cy="329184"/>
          </a:xfrm>
          <a:prstGeom prst="rect">
            <a:avLst/>
          </a:prstGeom>
          <a:noFill/>
        </p:spPr>
        <p:txBody>
          <a:bodyPr wrap="square">
            <a:spAutoFit/>
          </a:bodyPr>
          <a:lstStyle/>
          <a:p>
            <a:pPr algn="ctr"/>
            <a:r>
              <a:rPr sz="1300" b="1">
                <a:solidFill>
                  <a:srgbClr val="CC5555"/>
                </a:solidFill>
                <a:latin typeface="맑은 고딕"/>
              </a:rPr>
              <a:t>모드레드</a:t>
            </a:r>
          </a:p>
        </p:txBody>
      </p:sp>
      <p:sp>
        <p:nvSpPr>
          <p:cNvPr id="25" name="TextBox 24"/>
          <p:cNvSpPr txBox="1"/>
          <p:nvPr/>
        </p:nvSpPr>
        <p:spPr>
          <a:xfrm>
            <a:off x="10195560" y="1508760"/>
            <a:ext cx="1691640" cy="1828800"/>
          </a:xfrm>
          <a:prstGeom prst="rect">
            <a:avLst/>
          </a:prstGeom>
          <a:noFill/>
        </p:spPr>
        <p:txBody>
          <a:bodyPr wrap="square">
            <a:spAutoFit/>
          </a:bodyPr>
          <a:lstStyle/>
          <a:p>
            <a:pPr algn="l"/>
            <a:r>
              <a:rPr sz="950" b="0">
                <a:solidFill>
                  <a:srgbClr val="B8BECC"/>
                </a:solidFill>
                <a:latin typeface="맑은 고딕"/>
              </a:rPr>
              <a:t>3챕터 보스. 원탁의 기사이자 배신자.
리치에게 잠식된 첫 번째 영웅.</a:t>
            </a:r>
          </a:p>
        </p:txBody>
      </p:sp>
      <p:sp>
        <p:nvSpPr>
          <p:cNvPr id="26" name="Rectangle 25"/>
          <p:cNvSpPr/>
          <p:nvPr/>
        </p:nvSpPr>
        <p:spPr>
          <a:xfrm>
            <a:off x="6080760" y="3749039"/>
            <a:ext cx="1874519" cy="2468880"/>
          </a:xfrm>
          <a:prstGeom prst="rect">
            <a:avLst/>
          </a:prstGeom>
          <a:solidFill>
            <a:srgbClr val="161B2E"/>
          </a:solidFill>
          <a:ln w="18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80760" y="3749039"/>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0760" y="3822191"/>
            <a:ext cx="1874519" cy="329184"/>
          </a:xfrm>
          <a:prstGeom prst="rect">
            <a:avLst/>
          </a:prstGeom>
          <a:noFill/>
        </p:spPr>
        <p:txBody>
          <a:bodyPr wrap="square">
            <a:spAutoFit/>
          </a:bodyPr>
          <a:lstStyle/>
          <a:p>
            <a:pPr algn="ctr"/>
            <a:r>
              <a:rPr sz="1300" b="1">
                <a:solidFill>
                  <a:srgbClr val="6B3F8E"/>
                </a:solidFill>
                <a:latin typeface="맑은 고딕"/>
              </a:rPr>
              <a:t>리치</a:t>
            </a:r>
          </a:p>
        </p:txBody>
      </p:sp>
      <p:sp>
        <p:nvSpPr>
          <p:cNvPr id="29" name="TextBox 28"/>
          <p:cNvSpPr txBox="1"/>
          <p:nvPr/>
        </p:nvSpPr>
        <p:spPr>
          <a:xfrm>
            <a:off x="6172200" y="4297679"/>
            <a:ext cx="1691640" cy="1828800"/>
          </a:xfrm>
          <a:prstGeom prst="rect">
            <a:avLst/>
          </a:prstGeom>
          <a:noFill/>
        </p:spPr>
        <p:txBody>
          <a:bodyPr wrap="square">
            <a:spAutoFit/>
          </a:bodyPr>
          <a:lstStyle/>
          <a:p>
            <a:pPr algn="l"/>
            <a:r>
              <a:rPr sz="950" b="0">
                <a:solidFill>
                  <a:srgbClr val="B8BECC"/>
                </a:solidFill>
                <a:latin typeface="맑은 고딕"/>
              </a:rPr>
              <a:t>최종 보스. 멀린의 육체를 탈취한 외부 존재.
멀린의 전성기 능력을 그대로 복사.</a:t>
            </a:r>
          </a:p>
        </p:txBody>
      </p:sp>
      <p:sp>
        <p:nvSpPr>
          <p:cNvPr id="30" name="Rectangle 29"/>
          <p:cNvSpPr/>
          <p:nvPr/>
        </p:nvSpPr>
        <p:spPr>
          <a:xfrm>
            <a:off x="8092440" y="3749039"/>
            <a:ext cx="1874519" cy="2468880"/>
          </a:xfrm>
          <a:prstGeom prst="rect">
            <a:avLst/>
          </a:prstGeom>
          <a:solidFill>
            <a:srgbClr val="161B2E"/>
          </a:solidFill>
          <a:ln w="18000">
            <a:solidFill>
              <a:srgbClr val="88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92440" y="3749039"/>
            <a:ext cx="1874519"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3822191"/>
            <a:ext cx="1874519" cy="329184"/>
          </a:xfrm>
          <a:prstGeom prst="rect">
            <a:avLst/>
          </a:prstGeom>
          <a:noFill/>
        </p:spPr>
        <p:txBody>
          <a:bodyPr wrap="square">
            <a:spAutoFit/>
          </a:bodyPr>
          <a:lstStyle/>
          <a:p>
            <a:pPr algn="ctr"/>
            <a:r>
              <a:rPr sz="1300" b="1">
                <a:solidFill>
                  <a:srgbClr val="8844AA"/>
                </a:solidFill>
                <a:latin typeface="맑은 고딕"/>
              </a:rPr>
              <a:t>모르가나</a:t>
            </a:r>
          </a:p>
        </p:txBody>
      </p:sp>
      <p:sp>
        <p:nvSpPr>
          <p:cNvPr id="33" name="TextBox 32"/>
          <p:cNvSpPr txBox="1"/>
          <p:nvPr/>
        </p:nvSpPr>
        <p:spPr>
          <a:xfrm>
            <a:off x="8183880" y="4297679"/>
            <a:ext cx="1691640" cy="1828800"/>
          </a:xfrm>
          <a:prstGeom prst="rect">
            <a:avLst/>
          </a:prstGeom>
          <a:noFill/>
        </p:spPr>
        <p:txBody>
          <a:bodyPr wrap="square">
            <a:spAutoFit/>
          </a:bodyPr>
          <a:lstStyle/>
          <a:p>
            <a:pPr algn="l"/>
            <a:r>
              <a:rPr sz="950" b="0">
                <a:solidFill>
                  <a:srgbClr val="B8BECC"/>
                </a:solidFill>
                <a:latin typeface="맑은 고딕"/>
              </a:rPr>
              <a:t>포스트 엔딩 암시. 멀린의 제자이자 숙적.
리치를 통해 멀린을 도구로 삼은 진짜 배후.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02  서사 아크 — 챕터별 빌드업</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05840"/>
            <a:ext cx="2743200" cy="530352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2743200" cy="502920"/>
          </a:xfrm>
          <a:prstGeom prst="rect">
            <a:avLst/>
          </a:prstGeom>
          <a:noFill/>
        </p:spPr>
        <p:txBody>
          <a:bodyPr wrap="square">
            <a:spAutoFit/>
          </a:bodyPr>
          <a:lstStyle/>
          <a:p>
            <a:pPr algn="ctr"/>
            <a:r>
              <a:rPr sz="1200" b="1">
                <a:solidFill>
                  <a:srgbClr val="4AC2B8"/>
                </a:solidFill>
                <a:latin typeface="맑은 고딕"/>
              </a:rPr>
              <a:t>CH.1
부패의 숲</a:t>
            </a:r>
          </a:p>
        </p:txBody>
      </p:sp>
      <p:sp>
        <p:nvSpPr>
          <p:cNvPr id="8" name="TextBox 7"/>
          <p:cNvSpPr txBox="1"/>
          <p:nvPr/>
        </p:nvSpPr>
        <p:spPr>
          <a:xfrm>
            <a:off x="50292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9" name="Rectangle 8"/>
          <p:cNvSpPr/>
          <p:nvPr/>
        </p:nvSpPr>
        <p:spPr>
          <a:xfrm>
            <a:off x="50292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20240"/>
            <a:ext cx="2468880" cy="310896"/>
          </a:xfrm>
          <a:prstGeom prst="rect">
            <a:avLst/>
          </a:prstGeom>
          <a:noFill/>
        </p:spPr>
        <p:txBody>
          <a:bodyPr wrap="square">
            <a:spAutoFit/>
          </a:bodyPr>
          <a:lstStyle/>
          <a:p>
            <a:pPr algn="ctr"/>
            <a:r>
              <a:rPr sz="1000" b="1">
                <a:solidFill>
                  <a:srgbClr val="4AC2B8"/>
                </a:solidFill>
                <a:latin typeface="맑은 고딕"/>
              </a:rPr>
              <a:t>그린 나이트</a:t>
            </a:r>
          </a:p>
        </p:txBody>
      </p:sp>
      <p:sp>
        <p:nvSpPr>
          <p:cNvPr id="11" name="TextBox 10"/>
          <p:cNvSpPr txBox="1"/>
          <p:nvPr/>
        </p:nvSpPr>
        <p:spPr>
          <a:xfrm>
            <a:off x="50292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12" name="TextBox 11"/>
          <p:cNvSpPr txBox="1"/>
          <p:nvPr/>
        </p:nvSpPr>
        <p:spPr>
          <a:xfrm>
            <a:off x="502920" y="2606040"/>
            <a:ext cx="2468880" cy="731520"/>
          </a:xfrm>
          <a:prstGeom prst="rect">
            <a:avLst/>
          </a:prstGeom>
          <a:noFill/>
        </p:spPr>
        <p:txBody>
          <a:bodyPr wrap="square">
            <a:spAutoFit/>
          </a:bodyPr>
          <a:lstStyle/>
          <a:p>
            <a:pPr algn="l"/>
            <a:r>
              <a:rPr sz="1000" b="0">
                <a:solidFill>
                  <a:srgbClr val="FFFFFF"/>
                </a:solidFill>
                <a:latin typeface="맑은 고딕"/>
              </a:rPr>
              <a:t>세상이 이상하다.
원인 불명.</a:t>
            </a:r>
          </a:p>
        </p:txBody>
      </p:sp>
      <p:sp>
        <p:nvSpPr>
          <p:cNvPr id="13" name="Rectangle 12"/>
          <p:cNvSpPr/>
          <p:nvPr/>
        </p:nvSpPr>
        <p:spPr>
          <a:xfrm>
            <a:off x="50292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15" name="Rectangle 14"/>
          <p:cNvSpPr/>
          <p:nvPr/>
        </p:nvSpPr>
        <p:spPr>
          <a:xfrm>
            <a:off x="50292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86200"/>
            <a:ext cx="2286000" cy="1188720"/>
          </a:xfrm>
          <a:prstGeom prst="rect">
            <a:avLst/>
          </a:prstGeom>
          <a:noFill/>
        </p:spPr>
        <p:txBody>
          <a:bodyPr wrap="square">
            <a:spAutoFit/>
          </a:bodyPr>
          <a:lstStyle/>
          <a:p>
            <a:pPr algn="l"/>
            <a:r>
              <a:rPr sz="1000" b="0">
                <a:solidFill>
                  <a:srgbClr val="E8D08A"/>
                </a:solidFill>
                <a:latin typeface="맑은 고딕"/>
              </a:rPr>
              <a:t>"영혼이여, 근원을 찾아라."</a:t>
            </a:r>
          </a:p>
        </p:txBody>
      </p:sp>
      <p:sp>
        <p:nvSpPr>
          <p:cNvPr id="17" name="TextBox 16"/>
          <p:cNvSpPr txBox="1"/>
          <p:nvPr/>
        </p:nvSpPr>
        <p:spPr>
          <a:xfrm>
            <a:off x="310896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18" name="Rectangle 17"/>
          <p:cNvSpPr/>
          <p:nvPr/>
        </p:nvSpPr>
        <p:spPr>
          <a:xfrm>
            <a:off x="3291840" y="1005840"/>
            <a:ext cx="2743200" cy="530352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1005840"/>
            <a:ext cx="2743200" cy="502920"/>
          </a:xfrm>
          <a:prstGeom prst="rect">
            <a:avLst/>
          </a:prstGeom>
          <a:noFill/>
        </p:spPr>
        <p:txBody>
          <a:bodyPr wrap="square">
            <a:spAutoFit/>
          </a:bodyPr>
          <a:lstStyle/>
          <a:p>
            <a:pPr algn="ctr"/>
            <a:r>
              <a:rPr sz="1200" b="1">
                <a:solidFill>
                  <a:srgbClr val="C9A84C"/>
                </a:solidFill>
                <a:latin typeface="맑은 고딕"/>
              </a:rPr>
              <a:t>CH.2
용암 대지</a:t>
            </a:r>
          </a:p>
        </p:txBody>
      </p:sp>
      <p:sp>
        <p:nvSpPr>
          <p:cNvPr id="21" name="TextBox 20"/>
          <p:cNvSpPr txBox="1"/>
          <p:nvPr/>
        </p:nvSpPr>
        <p:spPr>
          <a:xfrm>
            <a:off x="342900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22" name="Rectangle 21"/>
          <p:cNvSpPr/>
          <p:nvPr/>
        </p:nvSpPr>
        <p:spPr>
          <a:xfrm>
            <a:off x="342900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1920240"/>
            <a:ext cx="2468880" cy="310896"/>
          </a:xfrm>
          <a:prstGeom prst="rect">
            <a:avLst/>
          </a:prstGeom>
          <a:noFill/>
        </p:spPr>
        <p:txBody>
          <a:bodyPr wrap="square">
            <a:spAutoFit/>
          </a:bodyPr>
          <a:lstStyle/>
          <a:p>
            <a:pPr algn="ctr"/>
            <a:r>
              <a:rPr sz="1000" b="1">
                <a:solidFill>
                  <a:srgbClr val="C9A84C"/>
                </a:solidFill>
                <a:latin typeface="맑은 고딕"/>
              </a:rPr>
              <a:t>이 드레이그 고흐</a:t>
            </a:r>
          </a:p>
        </p:txBody>
      </p:sp>
      <p:sp>
        <p:nvSpPr>
          <p:cNvPr id="24" name="TextBox 23"/>
          <p:cNvSpPr txBox="1"/>
          <p:nvPr/>
        </p:nvSpPr>
        <p:spPr>
          <a:xfrm>
            <a:off x="342900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25" name="TextBox 24"/>
          <p:cNvSpPr txBox="1"/>
          <p:nvPr/>
        </p:nvSpPr>
        <p:spPr>
          <a:xfrm>
            <a:off x="3429000" y="2606040"/>
            <a:ext cx="2468880" cy="731520"/>
          </a:xfrm>
          <a:prstGeom prst="rect">
            <a:avLst/>
          </a:prstGeom>
          <a:noFill/>
        </p:spPr>
        <p:txBody>
          <a:bodyPr wrap="square">
            <a:spAutoFit/>
          </a:bodyPr>
          <a:lstStyle/>
          <a:p>
            <a:pPr algn="l"/>
            <a:r>
              <a:rPr sz="1000" b="0">
                <a:solidFill>
                  <a:srgbClr val="FFFFFF"/>
                </a:solidFill>
                <a:latin typeface="맑은 고딕"/>
              </a:rPr>
              <a:t>고대 존재까지 잠식.
하나의 의지가 있음.</a:t>
            </a:r>
          </a:p>
        </p:txBody>
      </p:sp>
      <p:sp>
        <p:nvSpPr>
          <p:cNvPr id="26" name="Rectangle 25"/>
          <p:cNvSpPr/>
          <p:nvPr/>
        </p:nvSpPr>
        <p:spPr>
          <a:xfrm>
            <a:off x="342900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2900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28" name="Rectangle 27"/>
          <p:cNvSpPr/>
          <p:nvPr/>
        </p:nvSpPr>
        <p:spPr>
          <a:xfrm>
            <a:off x="342900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3886200"/>
            <a:ext cx="2286000" cy="1188720"/>
          </a:xfrm>
          <a:prstGeom prst="rect">
            <a:avLst/>
          </a:prstGeom>
          <a:noFill/>
        </p:spPr>
        <p:txBody>
          <a:bodyPr wrap="square">
            <a:spAutoFit/>
          </a:bodyPr>
          <a:lstStyle/>
          <a:p>
            <a:pPr algn="l"/>
            <a:r>
              <a:rPr sz="1000" b="0">
                <a:solidFill>
                  <a:srgbClr val="E8D08A"/>
                </a:solidFill>
                <a:latin typeface="맑은 고딕"/>
              </a:rPr>
              <a:t>"이 부패는 의지를 가지고 있어."</a:t>
            </a:r>
          </a:p>
        </p:txBody>
      </p:sp>
      <p:sp>
        <p:nvSpPr>
          <p:cNvPr id="30" name="TextBox 29"/>
          <p:cNvSpPr txBox="1"/>
          <p:nvPr/>
        </p:nvSpPr>
        <p:spPr>
          <a:xfrm>
            <a:off x="603504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31" name="Rectangle 30"/>
          <p:cNvSpPr/>
          <p:nvPr/>
        </p:nvSpPr>
        <p:spPr>
          <a:xfrm>
            <a:off x="6217920" y="1005840"/>
            <a:ext cx="2743200" cy="5303520"/>
          </a:xfrm>
          <a:prstGeom prst="rect">
            <a:avLst/>
          </a:prstGeom>
          <a:solidFill>
            <a:srgbClr val="161B2E"/>
          </a:solidFill>
          <a:ln w="15000">
            <a:solidFill>
              <a:srgbClr val="CC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1005840"/>
            <a:ext cx="2743200" cy="502920"/>
          </a:xfrm>
          <a:prstGeom prst="rect">
            <a:avLst/>
          </a:prstGeom>
          <a:noFill/>
        </p:spPr>
        <p:txBody>
          <a:bodyPr wrap="square">
            <a:spAutoFit/>
          </a:bodyPr>
          <a:lstStyle/>
          <a:p>
            <a:pPr algn="ctr"/>
            <a:r>
              <a:rPr sz="1200" b="1">
                <a:solidFill>
                  <a:srgbClr val="CC5555"/>
                </a:solidFill>
                <a:latin typeface="맑은 고딕"/>
              </a:rPr>
              <a:t>CH.3
잠식된 성채</a:t>
            </a:r>
          </a:p>
        </p:txBody>
      </p:sp>
      <p:sp>
        <p:nvSpPr>
          <p:cNvPr id="34" name="TextBox 33"/>
          <p:cNvSpPr txBox="1"/>
          <p:nvPr/>
        </p:nvSpPr>
        <p:spPr>
          <a:xfrm>
            <a:off x="635508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35" name="Rectangle 34"/>
          <p:cNvSpPr/>
          <p:nvPr/>
        </p:nvSpPr>
        <p:spPr>
          <a:xfrm>
            <a:off x="635508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5080" y="1920240"/>
            <a:ext cx="2468880" cy="310896"/>
          </a:xfrm>
          <a:prstGeom prst="rect">
            <a:avLst/>
          </a:prstGeom>
          <a:noFill/>
        </p:spPr>
        <p:txBody>
          <a:bodyPr wrap="square">
            <a:spAutoFit/>
          </a:bodyPr>
          <a:lstStyle/>
          <a:p>
            <a:pPr algn="ctr"/>
            <a:r>
              <a:rPr sz="1000" b="1">
                <a:solidFill>
                  <a:srgbClr val="CC5555"/>
                </a:solidFill>
                <a:latin typeface="맑은 고딕"/>
              </a:rPr>
              <a:t>모드레드</a:t>
            </a:r>
          </a:p>
        </p:txBody>
      </p:sp>
      <p:sp>
        <p:nvSpPr>
          <p:cNvPr id="37" name="TextBox 36"/>
          <p:cNvSpPr txBox="1"/>
          <p:nvPr/>
        </p:nvSpPr>
        <p:spPr>
          <a:xfrm>
            <a:off x="635508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38" name="TextBox 37"/>
          <p:cNvSpPr txBox="1"/>
          <p:nvPr/>
        </p:nvSpPr>
        <p:spPr>
          <a:xfrm>
            <a:off x="6355080" y="2606040"/>
            <a:ext cx="2468880" cy="731520"/>
          </a:xfrm>
          <a:prstGeom prst="rect">
            <a:avLst/>
          </a:prstGeom>
          <a:noFill/>
        </p:spPr>
        <p:txBody>
          <a:bodyPr wrap="square">
            <a:spAutoFit/>
          </a:bodyPr>
          <a:lstStyle/>
          <a:p>
            <a:pPr algn="l"/>
            <a:r>
              <a:rPr sz="1000" b="0">
                <a:solidFill>
                  <a:srgbClr val="FFFFFF"/>
                </a:solidFill>
                <a:latin typeface="맑은 고딕"/>
              </a:rPr>
              <a:t>영웅이 잠식됨.
복사의 흔적 발견.</a:t>
            </a:r>
          </a:p>
        </p:txBody>
      </p:sp>
      <p:sp>
        <p:nvSpPr>
          <p:cNvPr id="39" name="Rectangle 38"/>
          <p:cNvSpPr/>
          <p:nvPr/>
        </p:nvSpPr>
        <p:spPr>
          <a:xfrm>
            <a:off x="635508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41" name="Rectangle 40"/>
          <p:cNvSpPr/>
          <p:nvPr/>
        </p:nvSpPr>
        <p:spPr>
          <a:xfrm>
            <a:off x="635508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3886200"/>
            <a:ext cx="2286000" cy="1188720"/>
          </a:xfrm>
          <a:prstGeom prst="rect">
            <a:avLst/>
          </a:prstGeom>
          <a:noFill/>
        </p:spPr>
        <p:txBody>
          <a:bodyPr wrap="square">
            <a:spAutoFit/>
          </a:bodyPr>
          <a:lstStyle/>
          <a:p>
            <a:pPr algn="l"/>
            <a:r>
              <a:rPr sz="1000" b="0">
                <a:solidFill>
                  <a:srgbClr val="E8D08A"/>
                </a:solidFill>
                <a:latin typeface="맑은 고딕"/>
              </a:rPr>
              <a:t>"내 기억이 흐릿해지고 있어..."</a:t>
            </a:r>
          </a:p>
        </p:txBody>
      </p:sp>
      <p:sp>
        <p:nvSpPr>
          <p:cNvPr id="43" name="TextBox 42"/>
          <p:cNvSpPr txBox="1"/>
          <p:nvPr/>
        </p:nvSpPr>
        <p:spPr>
          <a:xfrm>
            <a:off x="8961120" y="3474720"/>
            <a:ext cx="228600" cy="365760"/>
          </a:xfrm>
          <a:prstGeom prst="rect">
            <a:avLst/>
          </a:prstGeom>
          <a:noFill/>
        </p:spPr>
        <p:txBody>
          <a:bodyPr wrap="square">
            <a:spAutoFit/>
          </a:bodyPr>
          <a:lstStyle/>
          <a:p>
            <a:pPr algn="ctr"/>
            <a:r>
              <a:rPr sz="1600" b="0">
                <a:solidFill>
                  <a:srgbClr val="2E364A"/>
                </a:solidFill>
                <a:latin typeface="맑은 고딕"/>
              </a:rPr>
              <a:t>▶</a:t>
            </a:r>
          </a:p>
        </p:txBody>
      </p:sp>
      <p:sp>
        <p:nvSpPr>
          <p:cNvPr id="44" name="Rectangle 43"/>
          <p:cNvSpPr/>
          <p:nvPr/>
        </p:nvSpPr>
        <p:spPr>
          <a:xfrm>
            <a:off x="9144000" y="1005840"/>
            <a:ext cx="2743200" cy="530352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44000" y="1005840"/>
            <a:ext cx="27432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0" y="1005840"/>
            <a:ext cx="2743200" cy="502920"/>
          </a:xfrm>
          <a:prstGeom prst="rect">
            <a:avLst/>
          </a:prstGeom>
          <a:noFill/>
        </p:spPr>
        <p:txBody>
          <a:bodyPr wrap="square">
            <a:spAutoFit/>
          </a:bodyPr>
          <a:lstStyle/>
          <a:p>
            <a:pPr algn="ctr"/>
            <a:r>
              <a:rPr sz="1200" b="1">
                <a:solidFill>
                  <a:srgbClr val="6B3F8E"/>
                </a:solidFill>
                <a:latin typeface="맑은 고딕"/>
              </a:rPr>
              <a:t>CH.4
암흑대지</a:t>
            </a:r>
          </a:p>
        </p:txBody>
      </p:sp>
      <p:sp>
        <p:nvSpPr>
          <p:cNvPr id="47" name="TextBox 46"/>
          <p:cNvSpPr txBox="1"/>
          <p:nvPr/>
        </p:nvSpPr>
        <p:spPr>
          <a:xfrm>
            <a:off x="9281160" y="1645920"/>
            <a:ext cx="548640" cy="228600"/>
          </a:xfrm>
          <a:prstGeom prst="rect">
            <a:avLst/>
          </a:prstGeom>
          <a:noFill/>
        </p:spPr>
        <p:txBody>
          <a:bodyPr wrap="square">
            <a:spAutoFit/>
          </a:bodyPr>
          <a:lstStyle/>
          <a:p>
            <a:pPr algn="l"/>
            <a:r>
              <a:rPr sz="800" b="1">
                <a:solidFill>
                  <a:srgbClr val="727A8E"/>
                </a:solidFill>
                <a:latin typeface="맑은 고딕"/>
              </a:rPr>
              <a:t>BOSS</a:t>
            </a:r>
          </a:p>
        </p:txBody>
      </p:sp>
      <p:sp>
        <p:nvSpPr>
          <p:cNvPr id="48" name="Rectangle 47"/>
          <p:cNvSpPr/>
          <p:nvPr/>
        </p:nvSpPr>
        <p:spPr>
          <a:xfrm>
            <a:off x="9281160" y="1901952"/>
            <a:ext cx="246888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81160" y="1920240"/>
            <a:ext cx="2468880" cy="310896"/>
          </a:xfrm>
          <a:prstGeom prst="rect">
            <a:avLst/>
          </a:prstGeom>
          <a:noFill/>
        </p:spPr>
        <p:txBody>
          <a:bodyPr wrap="square">
            <a:spAutoFit/>
          </a:bodyPr>
          <a:lstStyle/>
          <a:p>
            <a:pPr algn="ctr"/>
            <a:r>
              <a:rPr sz="1000" b="1">
                <a:solidFill>
                  <a:srgbClr val="6B3F8E"/>
                </a:solidFill>
                <a:latin typeface="맑은 고딕"/>
              </a:rPr>
              <a:t>리치 (멀린의 육체)</a:t>
            </a:r>
          </a:p>
        </p:txBody>
      </p:sp>
      <p:sp>
        <p:nvSpPr>
          <p:cNvPr id="50" name="TextBox 49"/>
          <p:cNvSpPr txBox="1"/>
          <p:nvPr/>
        </p:nvSpPr>
        <p:spPr>
          <a:xfrm>
            <a:off x="9281160" y="2359152"/>
            <a:ext cx="457200" cy="228600"/>
          </a:xfrm>
          <a:prstGeom prst="rect">
            <a:avLst/>
          </a:prstGeom>
          <a:noFill/>
        </p:spPr>
        <p:txBody>
          <a:bodyPr wrap="square">
            <a:spAutoFit/>
          </a:bodyPr>
          <a:lstStyle/>
          <a:p>
            <a:pPr algn="l"/>
            <a:r>
              <a:rPr sz="800" b="1">
                <a:solidFill>
                  <a:srgbClr val="727A8E"/>
                </a:solidFill>
                <a:latin typeface="맑은 고딕"/>
              </a:rPr>
              <a:t>서사</a:t>
            </a:r>
          </a:p>
        </p:txBody>
      </p:sp>
      <p:sp>
        <p:nvSpPr>
          <p:cNvPr id="51" name="TextBox 50"/>
          <p:cNvSpPr txBox="1"/>
          <p:nvPr/>
        </p:nvSpPr>
        <p:spPr>
          <a:xfrm>
            <a:off x="9281160" y="2606040"/>
            <a:ext cx="2468880" cy="731520"/>
          </a:xfrm>
          <a:prstGeom prst="rect">
            <a:avLst/>
          </a:prstGeom>
          <a:noFill/>
        </p:spPr>
        <p:txBody>
          <a:bodyPr wrap="square">
            <a:spAutoFit/>
          </a:bodyPr>
          <a:lstStyle/>
          <a:p>
            <a:pPr algn="l"/>
            <a:r>
              <a:rPr sz="1000" b="0">
                <a:solidFill>
                  <a:srgbClr val="FFFFFF"/>
                </a:solidFill>
                <a:latin typeface="맑은 고딕"/>
              </a:rPr>
              <a:t>복사체 연속전.
진실 완전히 드러남.</a:t>
            </a:r>
          </a:p>
        </p:txBody>
      </p:sp>
      <p:sp>
        <p:nvSpPr>
          <p:cNvPr id="52" name="Rectangle 51"/>
          <p:cNvSpPr/>
          <p:nvPr/>
        </p:nvSpPr>
        <p:spPr>
          <a:xfrm>
            <a:off x="9281160" y="3429000"/>
            <a:ext cx="24688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81160" y="3520440"/>
            <a:ext cx="1828800" cy="228600"/>
          </a:xfrm>
          <a:prstGeom prst="rect">
            <a:avLst/>
          </a:prstGeom>
          <a:noFill/>
        </p:spPr>
        <p:txBody>
          <a:bodyPr wrap="square">
            <a:spAutoFit/>
          </a:bodyPr>
          <a:lstStyle/>
          <a:p>
            <a:pPr algn="l"/>
            <a:r>
              <a:rPr sz="800" b="1">
                <a:solidFill>
                  <a:srgbClr val="727A8E"/>
                </a:solidFill>
                <a:latin typeface="맑은 고딕"/>
              </a:rPr>
              <a:t>멀린의 의지</a:t>
            </a:r>
          </a:p>
        </p:txBody>
      </p:sp>
      <p:sp>
        <p:nvSpPr>
          <p:cNvPr id="54" name="Rectangle 53"/>
          <p:cNvSpPr/>
          <p:nvPr/>
        </p:nvSpPr>
        <p:spPr>
          <a:xfrm>
            <a:off x="9281160" y="3794760"/>
            <a:ext cx="2468880" cy="1371600"/>
          </a:xfrm>
          <a:prstGeom prst="rect">
            <a:avLst/>
          </a:prstGeom>
          <a:solidFill>
            <a:srgbClr val="1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72600" y="3886200"/>
            <a:ext cx="2286000" cy="1188720"/>
          </a:xfrm>
          <a:prstGeom prst="rect">
            <a:avLst/>
          </a:prstGeom>
          <a:noFill/>
        </p:spPr>
        <p:txBody>
          <a:bodyPr wrap="square">
            <a:spAutoFit/>
          </a:bodyPr>
          <a:lstStyle/>
          <a:p>
            <a:pPr algn="l"/>
            <a:r>
              <a:rPr sz="1000" b="0">
                <a:solidFill>
                  <a:srgbClr val="E8D08A"/>
                </a:solidFill>
                <a:latin typeface="맑은 고딕"/>
              </a:rPr>
              <a:t>"막아줘."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03  코어 게임 루프</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Core Game 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03  코어 게임 루프</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303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5029200" cy="256032"/>
          </a:xfrm>
          <a:prstGeom prst="rect">
            <a:avLst/>
          </a:prstGeom>
          <a:noFill/>
        </p:spPr>
        <p:txBody>
          <a:bodyPr wrap="square">
            <a:spAutoFit/>
          </a:bodyPr>
          <a:lstStyle/>
          <a:p>
            <a:pPr algn="l"/>
            <a:r>
              <a:rPr sz="1200" b="1">
                <a:solidFill>
                  <a:srgbClr val="C9A84C"/>
                </a:solidFill>
                <a:latin typeface="맑은 고딕"/>
              </a:rPr>
              <a:t>거시적 루프 (Macro Loop)</a:t>
            </a:r>
          </a:p>
        </p:txBody>
      </p:sp>
      <p:sp>
        <p:nvSpPr>
          <p:cNvPr id="8" name="Rectangle 7"/>
          <p:cNvSpPr/>
          <p:nvPr/>
        </p:nvSpPr>
        <p:spPr>
          <a:xfrm>
            <a:off x="548640" y="14630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81328"/>
            <a:ext cx="3200400" cy="274320"/>
          </a:xfrm>
          <a:prstGeom prst="rect">
            <a:avLst/>
          </a:prstGeom>
          <a:noFill/>
        </p:spPr>
        <p:txBody>
          <a:bodyPr wrap="square">
            <a:spAutoFit/>
          </a:bodyPr>
          <a:lstStyle/>
          <a:p>
            <a:pPr algn="l"/>
            <a:r>
              <a:rPr sz="1200" b="1">
                <a:solidFill>
                  <a:srgbClr val="C9A84C"/>
                </a:solidFill>
                <a:latin typeface="맑은 고딕"/>
              </a:rPr>
              <a:t>허브: 멀린의 탑 잔해</a:t>
            </a:r>
          </a:p>
        </p:txBody>
      </p:sp>
      <p:sp>
        <p:nvSpPr>
          <p:cNvPr id="10" name="TextBox 9"/>
          <p:cNvSpPr txBox="1"/>
          <p:nvPr/>
        </p:nvSpPr>
        <p:spPr>
          <a:xfrm>
            <a:off x="777240" y="1755648"/>
            <a:ext cx="3200400" cy="228600"/>
          </a:xfrm>
          <a:prstGeom prst="rect">
            <a:avLst/>
          </a:prstGeom>
          <a:noFill/>
        </p:spPr>
        <p:txBody>
          <a:bodyPr wrap="square">
            <a:spAutoFit/>
          </a:bodyPr>
          <a:lstStyle/>
          <a:p>
            <a:pPr algn="l"/>
            <a:r>
              <a:rPr sz="950" b="0">
                <a:solidFill>
                  <a:srgbClr val="B8BECC"/>
                </a:solidFill>
                <a:latin typeface="맑은 고딕"/>
              </a:rPr>
              <a:t>영웅 유물 + 장비 선택</a:t>
            </a:r>
          </a:p>
        </p:txBody>
      </p:sp>
      <p:sp>
        <p:nvSpPr>
          <p:cNvPr id="11" name="TextBox 10"/>
          <p:cNvSpPr txBox="1"/>
          <p:nvPr/>
        </p:nvSpPr>
        <p:spPr>
          <a:xfrm>
            <a:off x="502920" y="20116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2" name="Rectangle 11"/>
          <p:cNvSpPr/>
          <p:nvPr/>
        </p:nvSpPr>
        <p:spPr>
          <a:xfrm>
            <a:off x="548640" y="224028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58568"/>
            <a:ext cx="3200400" cy="274320"/>
          </a:xfrm>
          <a:prstGeom prst="rect">
            <a:avLst/>
          </a:prstGeom>
          <a:noFill/>
        </p:spPr>
        <p:txBody>
          <a:bodyPr wrap="square">
            <a:spAutoFit/>
          </a:bodyPr>
          <a:lstStyle/>
          <a:p>
            <a:pPr algn="l"/>
            <a:r>
              <a:rPr sz="1200" b="1">
                <a:solidFill>
                  <a:srgbClr val="4AC2B8"/>
                </a:solidFill>
                <a:latin typeface="맑은 고딕"/>
              </a:rPr>
              <a:t>런 시작</a:t>
            </a:r>
          </a:p>
        </p:txBody>
      </p:sp>
      <p:sp>
        <p:nvSpPr>
          <p:cNvPr id="14" name="TextBox 13"/>
          <p:cNvSpPr txBox="1"/>
          <p:nvPr/>
        </p:nvSpPr>
        <p:spPr>
          <a:xfrm>
            <a:off x="777240" y="2532888"/>
            <a:ext cx="3200400" cy="228600"/>
          </a:xfrm>
          <a:prstGeom prst="rect">
            <a:avLst/>
          </a:prstGeom>
          <a:noFill/>
        </p:spPr>
        <p:txBody>
          <a:bodyPr wrap="square">
            <a:spAutoFit/>
          </a:bodyPr>
          <a:lstStyle/>
          <a:p>
            <a:pPr algn="l"/>
            <a:r>
              <a:rPr sz="950" b="0">
                <a:solidFill>
                  <a:srgbClr val="B8BECC"/>
                </a:solidFill>
                <a:latin typeface="맑은 고딕"/>
              </a:rPr>
              <a:t>챕터 탐색 시작</a:t>
            </a:r>
          </a:p>
        </p:txBody>
      </p:sp>
      <p:sp>
        <p:nvSpPr>
          <p:cNvPr id="15" name="TextBox 14"/>
          <p:cNvSpPr txBox="1"/>
          <p:nvPr/>
        </p:nvSpPr>
        <p:spPr>
          <a:xfrm>
            <a:off x="502920" y="27889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16" name="Rectangle 15"/>
          <p:cNvSpPr/>
          <p:nvPr/>
        </p:nvSpPr>
        <p:spPr>
          <a:xfrm>
            <a:off x="548640" y="301752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35808"/>
            <a:ext cx="3200400" cy="274320"/>
          </a:xfrm>
          <a:prstGeom prst="rect">
            <a:avLst/>
          </a:prstGeom>
          <a:noFill/>
        </p:spPr>
        <p:txBody>
          <a:bodyPr wrap="square">
            <a:spAutoFit/>
          </a:bodyPr>
          <a:lstStyle/>
          <a:p>
            <a:pPr algn="l"/>
            <a:r>
              <a:rPr sz="1200" b="1">
                <a:solidFill>
                  <a:srgbClr val="FFFFFF"/>
                </a:solidFill>
                <a:latin typeface="맑은 고딕"/>
              </a:rPr>
              <a:t>챕터 1~4 진행</a:t>
            </a:r>
          </a:p>
        </p:txBody>
      </p:sp>
      <p:sp>
        <p:nvSpPr>
          <p:cNvPr id="18" name="TextBox 17"/>
          <p:cNvSpPr txBox="1"/>
          <p:nvPr/>
        </p:nvSpPr>
        <p:spPr>
          <a:xfrm>
            <a:off x="777240" y="3310127"/>
            <a:ext cx="3200400" cy="228600"/>
          </a:xfrm>
          <a:prstGeom prst="rect">
            <a:avLst/>
          </a:prstGeom>
          <a:noFill/>
        </p:spPr>
        <p:txBody>
          <a:bodyPr wrap="square">
            <a:spAutoFit/>
          </a:bodyPr>
          <a:lstStyle/>
          <a:p>
            <a:pPr algn="l"/>
            <a:r>
              <a:rPr sz="950" b="0">
                <a:solidFill>
                  <a:srgbClr val="B8BECC"/>
                </a:solidFill>
                <a:latin typeface="맑은 고딕"/>
              </a:rPr>
              <a:t>방 탐색 · 전투 · 아이템</a:t>
            </a:r>
          </a:p>
        </p:txBody>
      </p:sp>
      <p:sp>
        <p:nvSpPr>
          <p:cNvPr id="19" name="TextBox 18"/>
          <p:cNvSpPr txBox="1"/>
          <p:nvPr/>
        </p:nvSpPr>
        <p:spPr>
          <a:xfrm>
            <a:off x="502920" y="356616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0" name="Rectangle 19"/>
          <p:cNvSpPr/>
          <p:nvPr/>
        </p:nvSpPr>
        <p:spPr>
          <a:xfrm>
            <a:off x="548640" y="3794760"/>
            <a:ext cx="73152" cy="502920"/>
          </a:xfrm>
          <a:prstGeom prst="rect">
            <a:avLst/>
          </a:prstGeom>
          <a:solidFill>
            <a:srgbClr val="CC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813048"/>
            <a:ext cx="3200400" cy="274320"/>
          </a:xfrm>
          <a:prstGeom prst="rect">
            <a:avLst/>
          </a:prstGeom>
          <a:noFill/>
        </p:spPr>
        <p:txBody>
          <a:bodyPr wrap="square">
            <a:spAutoFit/>
          </a:bodyPr>
          <a:lstStyle/>
          <a:p>
            <a:pPr algn="l"/>
            <a:r>
              <a:rPr sz="1200" b="1">
                <a:solidFill>
                  <a:srgbClr val="CC5555"/>
                </a:solidFill>
                <a:latin typeface="맑은 고딕"/>
              </a:rPr>
              <a:t>사망 또는 클리어</a:t>
            </a:r>
          </a:p>
        </p:txBody>
      </p:sp>
      <p:sp>
        <p:nvSpPr>
          <p:cNvPr id="22" name="TextBox 21"/>
          <p:cNvSpPr txBox="1"/>
          <p:nvPr/>
        </p:nvSpPr>
        <p:spPr>
          <a:xfrm>
            <a:off x="502920" y="43434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3" name="Rectangle 22"/>
          <p:cNvSpPr/>
          <p:nvPr/>
        </p:nvSpPr>
        <p:spPr>
          <a:xfrm>
            <a:off x="548640" y="457200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90288"/>
            <a:ext cx="3200400" cy="274320"/>
          </a:xfrm>
          <a:prstGeom prst="rect">
            <a:avLst/>
          </a:prstGeom>
          <a:noFill/>
        </p:spPr>
        <p:txBody>
          <a:bodyPr wrap="square">
            <a:spAutoFit/>
          </a:bodyPr>
          <a:lstStyle/>
          <a:p>
            <a:pPr algn="l"/>
            <a:r>
              <a:rPr sz="1200" b="1">
                <a:solidFill>
                  <a:srgbClr val="C9A84C"/>
                </a:solidFill>
                <a:latin typeface="맑은 고딕"/>
              </a:rPr>
              <a:t>허브 복귀</a:t>
            </a:r>
          </a:p>
        </p:txBody>
      </p:sp>
      <p:sp>
        <p:nvSpPr>
          <p:cNvPr id="25" name="TextBox 24"/>
          <p:cNvSpPr txBox="1"/>
          <p:nvPr/>
        </p:nvSpPr>
        <p:spPr>
          <a:xfrm>
            <a:off x="777240" y="4864608"/>
            <a:ext cx="3200400" cy="228600"/>
          </a:xfrm>
          <a:prstGeom prst="rect">
            <a:avLst/>
          </a:prstGeom>
          <a:noFill/>
        </p:spPr>
        <p:txBody>
          <a:bodyPr wrap="square">
            <a:spAutoFit/>
          </a:bodyPr>
          <a:lstStyle/>
          <a:p>
            <a:pPr algn="l"/>
            <a:r>
              <a:rPr sz="950" b="0">
                <a:solidFill>
                  <a:srgbClr val="B8BECC"/>
                </a:solidFill>
                <a:latin typeface="맑은 고딕"/>
              </a:rPr>
              <a:t>재화 소비 · 성장</a:t>
            </a:r>
          </a:p>
        </p:txBody>
      </p:sp>
      <p:sp>
        <p:nvSpPr>
          <p:cNvPr id="26" name="TextBox 25"/>
          <p:cNvSpPr txBox="1"/>
          <p:nvPr/>
        </p:nvSpPr>
        <p:spPr>
          <a:xfrm>
            <a:off x="502920" y="51206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27" name="Rectangle 26"/>
          <p:cNvSpPr/>
          <p:nvPr/>
        </p:nvSpPr>
        <p:spPr>
          <a:xfrm>
            <a:off x="548640" y="534924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67527"/>
            <a:ext cx="3200400" cy="274320"/>
          </a:xfrm>
          <a:prstGeom prst="rect">
            <a:avLst/>
          </a:prstGeom>
          <a:noFill/>
        </p:spPr>
        <p:txBody>
          <a:bodyPr wrap="square">
            <a:spAutoFit/>
          </a:bodyPr>
          <a:lstStyle/>
          <a:p>
            <a:pPr algn="l"/>
            <a:r>
              <a:rPr sz="1200" b="1">
                <a:solidFill>
                  <a:srgbClr val="4AC2B8"/>
                </a:solidFill>
                <a:latin typeface="맑은 고딕"/>
              </a:rPr>
              <a:t>강해진 영혼으로 재도전</a:t>
            </a:r>
          </a:p>
        </p:txBody>
      </p:sp>
      <p:sp>
        <p:nvSpPr>
          <p:cNvPr id="29" name="TextBox 28"/>
          <p:cNvSpPr txBox="1"/>
          <p:nvPr/>
        </p:nvSpPr>
        <p:spPr>
          <a:xfrm>
            <a:off x="777240" y="5641848"/>
            <a:ext cx="3200400" cy="228600"/>
          </a:xfrm>
          <a:prstGeom prst="rect">
            <a:avLst/>
          </a:prstGeom>
          <a:noFill/>
        </p:spPr>
        <p:txBody>
          <a:bodyPr wrap="square">
            <a:spAutoFit/>
          </a:bodyPr>
          <a:lstStyle/>
          <a:p>
            <a:pPr algn="l"/>
            <a:r>
              <a:rPr sz="950" b="0">
                <a:solidFill>
                  <a:srgbClr val="B8BECC"/>
                </a:solidFill>
                <a:latin typeface="맑은 고딕"/>
              </a:rPr>
              <a:t>반복</a:t>
            </a:r>
          </a:p>
        </p:txBody>
      </p:sp>
      <p:sp>
        <p:nvSpPr>
          <p:cNvPr id="30" name="Rectangle 29"/>
          <p:cNvSpPr/>
          <p:nvPr/>
        </p:nvSpPr>
        <p:spPr>
          <a:xfrm>
            <a:off x="5943600" y="960120"/>
            <a:ext cx="585216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960120"/>
            <a:ext cx="585216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1014984"/>
            <a:ext cx="5577840" cy="256032"/>
          </a:xfrm>
          <a:prstGeom prst="rect">
            <a:avLst/>
          </a:prstGeom>
          <a:noFill/>
        </p:spPr>
        <p:txBody>
          <a:bodyPr wrap="square">
            <a:spAutoFit/>
          </a:bodyPr>
          <a:lstStyle/>
          <a:p>
            <a:pPr algn="l"/>
            <a:r>
              <a:rPr sz="1200" b="1">
                <a:solidFill>
                  <a:srgbClr val="C9A84C"/>
                </a:solidFill>
                <a:latin typeface="맑은 고딕"/>
              </a:rPr>
              <a:t>미시적 루프 (Micro Loop — 인게임)</a:t>
            </a:r>
          </a:p>
        </p:txBody>
      </p:sp>
      <p:sp>
        <p:nvSpPr>
          <p:cNvPr id="33" name="Rectangle 32"/>
          <p:cNvSpPr/>
          <p:nvPr/>
        </p:nvSpPr>
        <p:spPr>
          <a:xfrm>
            <a:off x="6126480" y="146304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1481328"/>
            <a:ext cx="3200400" cy="274320"/>
          </a:xfrm>
          <a:prstGeom prst="rect">
            <a:avLst/>
          </a:prstGeom>
          <a:noFill/>
        </p:spPr>
        <p:txBody>
          <a:bodyPr wrap="square">
            <a:spAutoFit/>
          </a:bodyPr>
          <a:lstStyle/>
          <a:p>
            <a:pPr algn="l"/>
            <a:r>
              <a:rPr sz="1200" b="1">
                <a:solidFill>
                  <a:srgbClr val="4AC2B8"/>
                </a:solidFill>
                <a:latin typeface="맑은 고딕"/>
              </a:rPr>
              <a:t>방 입장</a:t>
            </a:r>
          </a:p>
        </p:txBody>
      </p:sp>
      <p:sp>
        <p:nvSpPr>
          <p:cNvPr id="35" name="TextBox 34"/>
          <p:cNvSpPr txBox="1"/>
          <p:nvPr/>
        </p:nvSpPr>
        <p:spPr>
          <a:xfrm>
            <a:off x="6355080" y="1755648"/>
            <a:ext cx="3200400" cy="228600"/>
          </a:xfrm>
          <a:prstGeom prst="rect">
            <a:avLst/>
          </a:prstGeom>
          <a:noFill/>
        </p:spPr>
        <p:txBody>
          <a:bodyPr wrap="square">
            <a:spAutoFit/>
          </a:bodyPr>
          <a:lstStyle/>
          <a:p>
            <a:pPr algn="l"/>
            <a:r>
              <a:rPr sz="950" b="0">
                <a:solidFill>
                  <a:srgbClr val="B8BECC"/>
                </a:solidFill>
                <a:latin typeface="맑은 고딕"/>
              </a:rPr>
              <a:t>방 버프 3~5개 중 1개 선택</a:t>
            </a:r>
          </a:p>
        </p:txBody>
      </p:sp>
      <p:sp>
        <p:nvSpPr>
          <p:cNvPr id="36" name="TextBox 35"/>
          <p:cNvSpPr txBox="1"/>
          <p:nvPr/>
        </p:nvSpPr>
        <p:spPr>
          <a:xfrm>
            <a:off x="6080760" y="201168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37" name="Rectangle 36"/>
          <p:cNvSpPr/>
          <p:nvPr/>
        </p:nvSpPr>
        <p:spPr>
          <a:xfrm>
            <a:off x="6126480" y="224028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2258568"/>
            <a:ext cx="3200400" cy="274320"/>
          </a:xfrm>
          <a:prstGeom prst="rect">
            <a:avLst/>
          </a:prstGeom>
          <a:noFill/>
        </p:spPr>
        <p:txBody>
          <a:bodyPr wrap="square">
            <a:spAutoFit/>
          </a:bodyPr>
          <a:lstStyle/>
          <a:p>
            <a:pPr algn="l"/>
            <a:r>
              <a:rPr sz="1200" b="1">
                <a:solidFill>
                  <a:srgbClr val="FFFFFF"/>
                </a:solidFill>
                <a:latin typeface="맑은 고딕"/>
              </a:rPr>
              <a:t>전투 수행</a:t>
            </a:r>
          </a:p>
        </p:txBody>
      </p:sp>
      <p:sp>
        <p:nvSpPr>
          <p:cNvPr id="39" name="TextBox 38"/>
          <p:cNvSpPr txBox="1"/>
          <p:nvPr/>
        </p:nvSpPr>
        <p:spPr>
          <a:xfrm>
            <a:off x="6355080" y="2532888"/>
            <a:ext cx="3200400" cy="228600"/>
          </a:xfrm>
          <a:prstGeom prst="rect">
            <a:avLst/>
          </a:prstGeom>
          <a:noFill/>
        </p:spPr>
        <p:txBody>
          <a:bodyPr wrap="square">
            <a:spAutoFit/>
          </a:bodyPr>
          <a:lstStyle/>
          <a:p>
            <a:pPr algn="l"/>
            <a:r>
              <a:rPr sz="950" b="0">
                <a:solidFill>
                  <a:srgbClr val="B8BECC"/>
                </a:solidFill>
                <a:latin typeface="맑은 고딕"/>
              </a:rPr>
              <a:t>영웅 메커닉 + 장비 조합 활용</a:t>
            </a:r>
          </a:p>
        </p:txBody>
      </p:sp>
      <p:sp>
        <p:nvSpPr>
          <p:cNvPr id="40" name="TextBox 39"/>
          <p:cNvSpPr txBox="1"/>
          <p:nvPr/>
        </p:nvSpPr>
        <p:spPr>
          <a:xfrm>
            <a:off x="6080760" y="278892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1" name="Rectangle 40"/>
          <p:cNvSpPr/>
          <p:nvPr/>
        </p:nvSpPr>
        <p:spPr>
          <a:xfrm>
            <a:off x="6126480" y="301752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55080" y="3035808"/>
            <a:ext cx="3200400" cy="274320"/>
          </a:xfrm>
          <a:prstGeom prst="rect">
            <a:avLst/>
          </a:prstGeom>
          <a:noFill/>
        </p:spPr>
        <p:txBody>
          <a:bodyPr wrap="square">
            <a:spAutoFit/>
          </a:bodyPr>
          <a:lstStyle/>
          <a:p>
            <a:pPr algn="l"/>
            <a:r>
              <a:rPr sz="1200" b="1">
                <a:solidFill>
                  <a:srgbClr val="C9A84C"/>
                </a:solidFill>
                <a:latin typeface="맑은 고딕"/>
              </a:rPr>
              <a:t>아이템 획득</a:t>
            </a:r>
          </a:p>
        </p:txBody>
      </p:sp>
      <p:sp>
        <p:nvSpPr>
          <p:cNvPr id="43" name="TextBox 42"/>
          <p:cNvSpPr txBox="1"/>
          <p:nvPr/>
        </p:nvSpPr>
        <p:spPr>
          <a:xfrm>
            <a:off x="6355080" y="3310127"/>
            <a:ext cx="3200400" cy="228600"/>
          </a:xfrm>
          <a:prstGeom prst="rect">
            <a:avLst/>
          </a:prstGeom>
          <a:noFill/>
        </p:spPr>
        <p:txBody>
          <a:bodyPr wrap="square">
            <a:spAutoFit/>
          </a:bodyPr>
          <a:lstStyle/>
          <a:p>
            <a:pPr algn="l"/>
            <a:r>
              <a:rPr sz="950" b="0">
                <a:solidFill>
                  <a:srgbClr val="B8BECC"/>
                </a:solidFill>
                <a:latin typeface="맑은 고딕"/>
              </a:rPr>
              <a:t>Staging → 그리드 배치 → 효과 발동</a:t>
            </a:r>
          </a:p>
        </p:txBody>
      </p:sp>
      <p:sp>
        <p:nvSpPr>
          <p:cNvPr id="44" name="TextBox 43"/>
          <p:cNvSpPr txBox="1"/>
          <p:nvPr/>
        </p:nvSpPr>
        <p:spPr>
          <a:xfrm>
            <a:off x="6080760" y="356616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5" name="Rectangle 44"/>
          <p:cNvSpPr/>
          <p:nvPr/>
        </p:nvSpPr>
        <p:spPr>
          <a:xfrm>
            <a:off x="6126480" y="3794760"/>
            <a:ext cx="73152" cy="502920"/>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3813048"/>
            <a:ext cx="3200400" cy="274320"/>
          </a:xfrm>
          <a:prstGeom prst="rect">
            <a:avLst/>
          </a:prstGeom>
          <a:noFill/>
        </p:spPr>
        <p:txBody>
          <a:bodyPr wrap="square">
            <a:spAutoFit/>
          </a:bodyPr>
          <a:lstStyle/>
          <a:p>
            <a:pPr algn="l"/>
            <a:r>
              <a:rPr sz="1200" b="1">
                <a:solidFill>
                  <a:srgbClr val="4AC2B8"/>
                </a:solidFill>
                <a:latin typeface="맑은 고딕"/>
              </a:rPr>
              <a:t>방 클리어 보상</a:t>
            </a:r>
          </a:p>
        </p:txBody>
      </p:sp>
      <p:sp>
        <p:nvSpPr>
          <p:cNvPr id="47" name="TextBox 46"/>
          <p:cNvSpPr txBox="1"/>
          <p:nvPr/>
        </p:nvSpPr>
        <p:spPr>
          <a:xfrm>
            <a:off x="6355080" y="4087368"/>
            <a:ext cx="3200400" cy="228600"/>
          </a:xfrm>
          <a:prstGeom prst="rect">
            <a:avLst/>
          </a:prstGeom>
          <a:noFill/>
        </p:spPr>
        <p:txBody>
          <a:bodyPr wrap="square">
            <a:spAutoFit/>
          </a:bodyPr>
          <a:lstStyle/>
          <a:p>
            <a:pPr algn="l"/>
            <a:r>
              <a:rPr sz="950" b="0">
                <a:solidFill>
                  <a:srgbClr val="B8BECC"/>
                </a:solidFill>
                <a:latin typeface="맑은 고딕"/>
              </a:rPr>
              <a:t>골드 · 아이템 · 봉인된 기억</a:t>
            </a:r>
          </a:p>
        </p:txBody>
      </p:sp>
      <p:sp>
        <p:nvSpPr>
          <p:cNvPr id="48" name="TextBox 47"/>
          <p:cNvSpPr txBox="1"/>
          <p:nvPr/>
        </p:nvSpPr>
        <p:spPr>
          <a:xfrm>
            <a:off x="6080760" y="434340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49" name="Rectangle 48"/>
          <p:cNvSpPr/>
          <p:nvPr/>
        </p:nvSpPr>
        <p:spPr>
          <a:xfrm>
            <a:off x="6126480" y="4572000"/>
            <a:ext cx="7315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55080" y="4590288"/>
            <a:ext cx="3200400" cy="274320"/>
          </a:xfrm>
          <a:prstGeom prst="rect">
            <a:avLst/>
          </a:prstGeom>
          <a:noFill/>
        </p:spPr>
        <p:txBody>
          <a:bodyPr wrap="square">
            <a:spAutoFit/>
          </a:bodyPr>
          <a:lstStyle/>
          <a:p>
            <a:pPr algn="l"/>
            <a:r>
              <a:rPr sz="1200" b="1">
                <a:solidFill>
                  <a:srgbClr val="FFFFFF"/>
                </a:solidFill>
                <a:latin typeface="맑은 고딕"/>
              </a:rPr>
              <a:t>노드 맵에서 선택</a:t>
            </a:r>
          </a:p>
        </p:txBody>
      </p:sp>
      <p:sp>
        <p:nvSpPr>
          <p:cNvPr id="51" name="TextBox 50"/>
          <p:cNvSpPr txBox="1"/>
          <p:nvPr/>
        </p:nvSpPr>
        <p:spPr>
          <a:xfrm>
            <a:off x="6355080" y="4864608"/>
            <a:ext cx="3200400" cy="228600"/>
          </a:xfrm>
          <a:prstGeom prst="rect">
            <a:avLst/>
          </a:prstGeom>
          <a:noFill/>
        </p:spPr>
        <p:txBody>
          <a:bodyPr wrap="square">
            <a:spAutoFit/>
          </a:bodyPr>
          <a:lstStyle/>
          <a:p>
            <a:pPr algn="l"/>
            <a:r>
              <a:rPr sz="950" b="0">
                <a:solidFill>
                  <a:srgbClr val="B8BECC"/>
                </a:solidFill>
                <a:latin typeface="맑은 고딕"/>
              </a:rPr>
              <a:t>전투방/아이템방/상점방/엘리트방</a:t>
            </a:r>
          </a:p>
        </p:txBody>
      </p:sp>
      <p:sp>
        <p:nvSpPr>
          <p:cNvPr id="52" name="TextBox 51"/>
          <p:cNvSpPr txBox="1"/>
          <p:nvPr/>
        </p:nvSpPr>
        <p:spPr>
          <a:xfrm>
            <a:off x="6080760" y="5120640"/>
            <a:ext cx="274320" cy="182880"/>
          </a:xfrm>
          <a:prstGeom prst="rect">
            <a:avLst/>
          </a:prstGeom>
          <a:noFill/>
        </p:spPr>
        <p:txBody>
          <a:bodyPr wrap="square">
            <a:spAutoFit/>
          </a:bodyPr>
          <a:lstStyle/>
          <a:p>
            <a:pPr algn="ctr"/>
            <a:r>
              <a:rPr sz="1100" b="0">
                <a:solidFill>
                  <a:srgbClr val="2E364A"/>
                </a:solidFill>
                <a:latin typeface="맑은 고딕"/>
              </a:rPr>
              <a:t>↓</a:t>
            </a:r>
          </a:p>
        </p:txBody>
      </p:sp>
      <p:sp>
        <p:nvSpPr>
          <p:cNvPr id="53" name="Rectangle 52"/>
          <p:cNvSpPr/>
          <p:nvPr/>
        </p:nvSpPr>
        <p:spPr>
          <a:xfrm>
            <a:off x="6126480" y="5349240"/>
            <a:ext cx="73152"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55080" y="5367527"/>
            <a:ext cx="3200400" cy="274320"/>
          </a:xfrm>
          <a:prstGeom prst="rect">
            <a:avLst/>
          </a:prstGeom>
          <a:noFill/>
        </p:spPr>
        <p:txBody>
          <a:bodyPr wrap="square">
            <a:spAutoFit/>
          </a:bodyPr>
          <a:lstStyle/>
          <a:p>
            <a:pPr algn="l"/>
            <a:r>
              <a:rPr sz="1200" b="1">
                <a:solidFill>
                  <a:srgbClr val="C9A84C"/>
                </a:solidFill>
                <a:latin typeface="맑은 고딕"/>
              </a:rPr>
              <a:t>보스방</a:t>
            </a:r>
          </a:p>
        </p:txBody>
      </p:sp>
      <p:sp>
        <p:nvSpPr>
          <p:cNvPr id="55" name="TextBox 54"/>
          <p:cNvSpPr txBox="1"/>
          <p:nvPr/>
        </p:nvSpPr>
        <p:spPr>
          <a:xfrm>
            <a:off x="6355080" y="5641848"/>
            <a:ext cx="3200400" cy="228600"/>
          </a:xfrm>
          <a:prstGeom prst="rect">
            <a:avLst/>
          </a:prstGeom>
          <a:noFill/>
        </p:spPr>
        <p:txBody>
          <a:bodyPr wrap="square">
            <a:spAutoFit/>
          </a:bodyPr>
          <a:lstStyle/>
          <a:p>
            <a:pPr algn="l"/>
            <a:r>
              <a:rPr sz="950" b="0">
                <a:solidFill>
                  <a:srgbClr val="B8BECC"/>
                </a:solidFill>
                <a:latin typeface="맑은 고딕"/>
              </a:rPr>
              <a:t>격파 시 유물 코어 획득 (첫 격파)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04  영웅 유물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Hero Relic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시스템 개요</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371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설계 원칙</a:t>
            </a:r>
          </a:p>
        </p:txBody>
      </p:sp>
      <p:sp>
        <p:nvSpPr>
          <p:cNvPr id="8" name="TextBox 7"/>
          <p:cNvSpPr txBox="1"/>
          <p:nvPr/>
        </p:nvSpPr>
        <p:spPr>
          <a:xfrm>
            <a:off x="548640" y="1234440"/>
            <a:ext cx="11064240" cy="411480"/>
          </a:xfrm>
          <a:prstGeom prst="rect">
            <a:avLst/>
          </a:prstGeom>
          <a:noFill/>
        </p:spPr>
        <p:txBody>
          <a:bodyPr wrap="square">
            <a:spAutoFit/>
          </a:bodyPr>
          <a:lstStyle/>
          <a:p>
            <a:pPr algn="l"/>
            <a:r>
              <a:rPr sz="1200" b="0">
                <a:solidFill>
                  <a:srgbClr val="E8D08A"/>
                </a:solidFill>
                <a:latin typeface="맑은 고딕"/>
              </a:rPr>
              <a:t>영웅의 이름은 잊혀졌다. 남은 건 유물뿐이다.  —  패시브 이름·스킬·대사로만 정체를 암시. 플레이어가 직접 유추.</a:t>
            </a:r>
          </a:p>
        </p:txBody>
      </p:sp>
      <p:sp>
        <p:nvSpPr>
          <p:cNvPr id="9" name="TextBox 8"/>
          <p:cNvSpPr txBox="1"/>
          <p:nvPr/>
        </p:nvSpPr>
        <p:spPr>
          <a:xfrm>
            <a:off x="548640" y="1691640"/>
            <a:ext cx="11064240" cy="411480"/>
          </a:xfrm>
          <a:prstGeom prst="rect">
            <a:avLst/>
          </a:prstGeom>
          <a:noFill/>
        </p:spPr>
        <p:txBody>
          <a:bodyPr wrap="square">
            <a:spAutoFit/>
          </a:bodyPr>
          <a:lstStyle/>
          <a:p>
            <a:pPr algn="l"/>
            <a:r>
              <a:rPr sz="1100" b="0">
                <a:solidFill>
                  <a:srgbClr val="B8BECC"/>
                </a:solidFill>
                <a:latin typeface="맑은 고딕"/>
              </a:rPr>
              <a:t>모든 영웅이 모든 장비 사용 가능  |  영웅마다 고유 패시브 + 고유 스킬 + 고유 메커닉 보유  |  해금형 순차 개방</a:t>
            </a:r>
          </a:p>
        </p:txBody>
      </p:sp>
      <p:sp>
        <p:nvSpPr>
          <p:cNvPr id="10" name="Rectangle 9"/>
          <p:cNvSpPr/>
          <p:nvPr/>
        </p:nvSpPr>
        <p:spPr>
          <a:xfrm>
            <a:off x="365760" y="2514600"/>
            <a:ext cx="2194560" cy="393192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569464"/>
            <a:ext cx="2194560" cy="347472"/>
          </a:xfrm>
          <a:prstGeom prst="rect">
            <a:avLst/>
          </a:prstGeom>
          <a:noFill/>
        </p:spPr>
        <p:txBody>
          <a:bodyPr wrap="square">
            <a:spAutoFit/>
          </a:bodyPr>
          <a:lstStyle/>
          <a:p>
            <a:pPr algn="ctr"/>
            <a:r>
              <a:rPr sz="1100" b="1">
                <a:solidFill>
                  <a:srgbClr val="4AC2B8"/>
                </a:solidFill>
                <a:latin typeface="맑은 고딕"/>
              </a:rPr>
              <a:t>성배의 수호자</a:t>
            </a:r>
          </a:p>
        </p:txBody>
      </p:sp>
      <p:sp>
        <p:nvSpPr>
          <p:cNvPr id="13" name="TextBox 12"/>
          <p:cNvSpPr txBox="1"/>
          <p:nvPr/>
        </p:nvSpPr>
        <p:spPr>
          <a:xfrm>
            <a:off x="502920" y="3108960"/>
            <a:ext cx="1920240" cy="274320"/>
          </a:xfrm>
          <a:prstGeom prst="rect">
            <a:avLst/>
          </a:prstGeom>
          <a:noFill/>
        </p:spPr>
        <p:txBody>
          <a:bodyPr wrap="square">
            <a:spAutoFit/>
          </a:bodyPr>
          <a:lstStyle/>
          <a:p>
            <a:pPr algn="l"/>
            <a:r>
              <a:rPr sz="1050" b="1">
                <a:solidFill>
                  <a:srgbClr val="FFFFFF"/>
                </a:solidFill>
                <a:latin typeface="맑은 고딕"/>
              </a:rPr>
              <a:t>⚔ 방어형</a:t>
            </a:r>
          </a:p>
        </p:txBody>
      </p:sp>
      <p:sp>
        <p:nvSpPr>
          <p:cNvPr id="14" name="Rectangle 13"/>
          <p:cNvSpPr/>
          <p:nvPr/>
        </p:nvSpPr>
        <p:spPr>
          <a:xfrm>
            <a:off x="50292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16" name="Rectangle 15"/>
          <p:cNvSpPr/>
          <p:nvPr/>
        </p:nvSpPr>
        <p:spPr>
          <a:xfrm>
            <a:off x="50292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813048"/>
            <a:ext cx="1920240" cy="274320"/>
          </a:xfrm>
          <a:prstGeom prst="rect">
            <a:avLst/>
          </a:prstGeom>
          <a:noFill/>
        </p:spPr>
        <p:txBody>
          <a:bodyPr wrap="square">
            <a:spAutoFit/>
          </a:bodyPr>
          <a:lstStyle/>
          <a:p>
            <a:pPr algn="ctr"/>
            <a:r>
              <a:rPr sz="1050" b="1">
                <a:solidFill>
                  <a:srgbClr val="4AC2B8"/>
                </a:solidFill>
                <a:latin typeface="맑은 고딕"/>
              </a:rPr>
              <a:t>신성 게이지</a:t>
            </a:r>
          </a:p>
        </p:txBody>
      </p:sp>
      <p:sp>
        <p:nvSpPr>
          <p:cNvPr id="18" name="TextBox 17"/>
          <p:cNvSpPr txBox="1"/>
          <p:nvPr/>
        </p:nvSpPr>
        <p:spPr>
          <a:xfrm>
            <a:off x="475488" y="4251960"/>
            <a:ext cx="1965960" cy="320040"/>
          </a:xfrm>
          <a:prstGeom prst="rect">
            <a:avLst/>
          </a:prstGeom>
          <a:noFill/>
        </p:spPr>
        <p:txBody>
          <a:bodyPr wrap="square">
            <a:spAutoFit/>
          </a:bodyPr>
          <a:lstStyle/>
          <a:p>
            <a:pPr algn="l"/>
            <a:r>
              <a:rPr sz="850" b="0">
                <a:solidFill>
                  <a:srgbClr val="B8BECC"/>
                </a:solidFill>
                <a:latin typeface="맑은 고딕"/>
              </a:rPr>
              <a:t>HP 150 / ATK 80 / DEF 40</a:t>
            </a:r>
          </a:p>
        </p:txBody>
      </p:sp>
      <p:sp>
        <p:nvSpPr>
          <p:cNvPr id="19" name="Rectangle 18"/>
          <p:cNvSpPr/>
          <p:nvPr/>
        </p:nvSpPr>
        <p:spPr>
          <a:xfrm>
            <a:off x="50292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230368"/>
            <a:ext cx="1920240" cy="310896"/>
          </a:xfrm>
          <a:prstGeom prst="rect">
            <a:avLst/>
          </a:prstGeom>
          <a:noFill/>
        </p:spPr>
        <p:txBody>
          <a:bodyPr wrap="square">
            <a:spAutoFit/>
          </a:bodyPr>
          <a:lstStyle/>
          <a:p>
            <a:pPr algn="ctr"/>
            <a:r>
              <a:rPr sz="950" b="0">
                <a:solidFill>
                  <a:srgbClr val="E8D08A"/>
                </a:solidFill>
                <a:latin typeface="맑은 고딕"/>
              </a:rPr>
              <a:t>해금: 기본 제공</a:t>
            </a:r>
          </a:p>
        </p:txBody>
      </p:sp>
      <p:sp>
        <p:nvSpPr>
          <p:cNvPr id="21" name="Rectangle 20"/>
          <p:cNvSpPr/>
          <p:nvPr/>
        </p:nvSpPr>
        <p:spPr>
          <a:xfrm>
            <a:off x="2697479" y="2514600"/>
            <a:ext cx="2194560" cy="3931920"/>
          </a:xfrm>
          <a:prstGeom prst="rect">
            <a:avLst/>
          </a:prstGeom>
          <a:solidFill>
            <a:srgbClr val="161B2E"/>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97479"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7479" y="2569464"/>
            <a:ext cx="2194560" cy="347472"/>
          </a:xfrm>
          <a:prstGeom prst="rect">
            <a:avLst/>
          </a:prstGeom>
          <a:noFill/>
        </p:spPr>
        <p:txBody>
          <a:bodyPr wrap="square">
            <a:spAutoFit/>
          </a:bodyPr>
          <a:lstStyle/>
          <a:p>
            <a:pPr algn="ctr"/>
            <a:r>
              <a:rPr sz="1100" b="1">
                <a:solidFill>
                  <a:srgbClr val="C9A84C"/>
                </a:solidFill>
                <a:latin typeface="맑은 고딕"/>
              </a:rPr>
              <a:t>원탁의 균열</a:t>
            </a:r>
          </a:p>
        </p:txBody>
      </p:sp>
      <p:sp>
        <p:nvSpPr>
          <p:cNvPr id="24" name="TextBox 23"/>
          <p:cNvSpPr txBox="1"/>
          <p:nvPr/>
        </p:nvSpPr>
        <p:spPr>
          <a:xfrm>
            <a:off x="2834639" y="3108960"/>
            <a:ext cx="1920240" cy="274320"/>
          </a:xfrm>
          <a:prstGeom prst="rect">
            <a:avLst/>
          </a:prstGeom>
          <a:noFill/>
        </p:spPr>
        <p:txBody>
          <a:bodyPr wrap="square">
            <a:spAutoFit/>
          </a:bodyPr>
          <a:lstStyle/>
          <a:p>
            <a:pPr algn="l"/>
            <a:r>
              <a:rPr sz="1050" b="1">
                <a:solidFill>
                  <a:srgbClr val="FFFFFF"/>
                </a:solidFill>
                <a:latin typeface="맑은 고딕"/>
              </a:rPr>
              <a:t>⚡ 공격형</a:t>
            </a:r>
          </a:p>
        </p:txBody>
      </p:sp>
      <p:sp>
        <p:nvSpPr>
          <p:cNvPr id="25" name="Rectangle 24"/>
          <p:cNvSpPr/>
          <p:nvPr/>
        </p:nvSpPr>
        <p:spPr>
          <a:xfrm>
            <a:off x="2834639"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39"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27" name="Rectangle 26"/>
          <p:cNvSpPr/>
          <p:nvPr/>
        </p:nvSpPr>
        <p:spPr>
          <a:xfrm>
            <a:off x="2834639"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39" y="3813048"/>
            <a:ext cx="1920240" cy="274320"/>
          </a:xfrm>
          <a:prstGeom prst="rect">
            <a:avLst/>
          </a:prstGeom>
          <a:noFill/>
        </p:spPr>
        <p:txBody>
          <a:bodyPr wrap="square">
            <a:spAutoFit/>
          </a:bodyPr>
          <a:lstStyle/>
          <a:p>
            <a:pPr algn="ctr"/>
            <a:r>
              <a:rPr sz="1050" b="1">
                <a:solidFill>
                  <a:srgbClr val="C9A84C"/>
                </a:solidFill>
                <a:latin typeface="맑은 고딕"/>
              </a:rPr>
              <a:t>콤보 게이지</a:t>
            </a:r>
          </a:p>
        </p:txBody>
      </p:sp>
      <p:sp>
        <p:nvSpPr>
          <p:cNvPr id="29" name="TextBox 28"/>
          <p:cNvSpPr txBox="1"/>
          <p:nvPr/>
        </p:nvSpPr>
        <p:spPr>
          <a:xfrm>
            <a:off x="2807208" y="4251960"/>
            <a:ext cx="1965960" cy="320040"/>
          </a:xfrm>
          <a:prstGeom prst="rect">
            <a:avLst/>
          </a:prstGeom>
          <a:noFill/>
        </p:spPr>
        <p:txBody>
          <a:bodyPr wrap="square">
            <a:spAutoFit/>
          </a:bodyPr>
          <a:lstStyle/>
          <a:p>
            <a:pPr algn="l"/>
            <a:r>
              <a:rPr sz="850" b="0">
                <a:solidFill>
                  <a:srgbClr val="B8BECC"/>
                </a:solidFill>
                <a:latin typeface="맑은 고딕"/>
              </a:rPr>
              <a:t>HP 120 / ATK 110 / DEF 20</a:t>
            </a:r>
          </a:p>
        </p:txBody>
      </p:sp>
      <p:sp>
        <p:nvSpPr>
          <p:cNvPr id="30" name="Rectangle 29"/>
          <p:cNvSpPr/>
          <p:nvPr/>
        </p:nvSpPr>
        <p:spPr>
          <a:xfrm>
            <a:off x="2834639"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39" y="5230368"/>
            <a:ext cx="1920240" cy="310896"/>
          </a:xfrm>
          <a:prstGeom prst="rect">
            <a:avLst/>
          </a:prstGeom>
          <a:noFill/>
        </p:spPr>
        <p:txBody>
          <a:bodyPr wrap="square">
            <a:spAutoFit/>
          </a:bodyPr>
          <a:lstStyle/>
          <a:p>
            <a:pPr algn="ctr"/>
            <a:r>
              <a:rPr sz="950" b="0">
                <a:solidFill>
                  <a:srgbClr val="E8D08A"/>
                </a:solidFill>
                <a:latin typeface="맑은 고딕"/>
              </a:rPr>
              <a:t>해금: 기억 ×3</a:t>
            </a:r>
          </a:p>
        </p:txBody>
      </p:sp>
      <p:sp>
        <p:nvSpPr>
          <p:cNvPr id="32" name="Rectangle 31"/>
          <p:cNvSpPr/>
          <p:nvPr/>
        </p:nvSpPr>
        <p:spPr>
          <a:xfrm>
            <a:off x="5029200" y="2514600"/>
            <a:ext cx="2194560" cy="3931920"/>
          </a:xfrm>
          <a:prstGeom prst="rect">
            <a:avLst/>
          </a:prstGeom>
          <a:solidFill>
            <a:srgbClr val="161B2E"/>
          </a:solidFill>
          <a:ln w="150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0" y="2569464"/>
            <a:ext cx="2194560" cy="347472"/>
          </a:xfrm>
          <a:prstGeom prst="rect">
            <a:avLst/>
          </a:prstGeom>
          <a:noFill/>
        </p:spPr>
        <p:txBody>
          <a:bodyPr wrap="square">
            <a:spAutoFit/>
          </a:bodyPr>
          <a:lstStyle/>
          <a:p>
            <a:pPr algn="ctr"/>
            <a:r>
              <a:rPr sz="1100" b="1">
                <a:solidFill>
                  <a:srgbClr val="FFFFFF"/>
                </a:solidFill>
                <a:latin typeface="맑은 고딕"/>
              </a:rPr>
              <a:t>여정의 창</a:t>
            </a:r>
          </a:p>
        </p:txBody>
      </p:sp>
      <p:sp>
        <p:nvSpPr>
          <p:cNvPr id="35" name="TextBox 34"/>
          <p:cNvSpPr txBox="1"/>
          <p:nvPr/>
        </p:nvSpPr>
        <p:spPr>
          <a:xfrm>
            <a:off x="5166360" y="3108960"/>
            <a:ext cx="1920240" cy="274320"/>
          </a:xfrm>
          <a:prstGeom prst="rect">
            <a:avLst/>
          </a:prstGeom>
          <a:noFill/>
        </p:spPr>
        <p:txBody>
          <a:bodyPr wrap="square">
            <a:spAutoFit/>
          </a:bodyPr>
          <a:lstStyle/>
          <a:p>
            <a:pPr algn="l"/>
            <a:r>
              <a:rPr sz="1050" b="1">
                <a:solidFill>
                  <a:srgbClr val="FFFFFF"/>
                </a:solidFill>
                <a:latin typeface="맑은 고딕"/>
              </a:rPr>
              <a:t>🏃 돌진형</a:t>
            </a:r>
          </a:p>
        </p:txBody>
      </p:sp>
      <p:sp>
        <p:nvSpPr>
          <p:cNvPr id="36" name="Rectangle 35"/>
          <p:cNvSpPr/>
          <p:nvPr/>
        </p:nvSpPr>
        <p:spPr>
          <a:xfrm>
            <a:off x="516636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6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38" name="Rectangle 37"/>
          <p:cNvSpPr/>
          <p:nvPr/>
        </p:nvSpPr>
        <p:spPr>
          <a:xfrm>
            <a:off x="516636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60" y="3813048"/>
            <a:ext cx="1920240" cy="274320"/>
          </a:xfrm>
          <a:prstGeom prst="rect">
            <a:avLst/>
          </a:prstGeom>
          <a:noFill/>
        </p:spPr>
        <p:txBody>
          <a:bodyPr wrap="square">
            <a:spAutoFit/>
          </a:bodyPr>
          <a:lstStyle/>
          <a:p>
            <a:pPr algn="ctr"/>
            <a:r>
              <a:rPr sz="1050" b="1">
                <a:solidFill>
                  <a:srgbClr val="FFFFFF"/>
                </a:solidFill>
                <a:latin typeface="맑은 고딕"/>
              </a:rPr>
              <a:t>여정 스택</a:t>
            </a:r>
          </a:p>
        </p:txBody>
      </p:sp>
      <p:sp>
        <p:nvSpPr>
          <p:cNvPr id="40" name="TextBox 39"/>
          <p:cNvSpPr txBox="1"/>
          <p:nvPr/>
        </p:nvSpPr>
        <p:spPr>
          <a:xfrm>
            <a:off x="5138928" y="4251960"/>
            <a:ext cx="1965960" cy="320040"/>
          </a:xfrm>
          <a:prstGeom prst="rect">
            <a:avLst/>
          </a:prstGeom>
          <a:noFill/>
        </p:spPr>
        <p:txBody>
          <a:bodyPr wrap="square">
            <a:spAutoFit/>
          </a:bodyPr>
          <a:lstStyle/>
          <a:p>
            <a:pPr algn="l"/>
            <a:r>
              <a:rPr sz="850" b="0">
                <a:solidFill>
                  <a:srgbClr val="B8BECC"/>
                </a:solidFill>
                <a:latin typeface="맑은 고딕"/>
              </a:rPr>
              <a:t>HP 135 / ATK 95 / DEF 30</a:t>
            </a:r>
          </a:p>
        </p:txBody>
      </p:sp>
      <p:sp>
        <p:nvSpPr>
          <p:cNvPr id="41" name="Rectangle 40"/>
          <p:cNvSpPr/>
          <p:nvPr/>
        </p:nvSpPr>
        <p:spPr>
          <a:xfrm>
            <a:off x="516636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5230368"/>
            <a:ext cx="1920240" cy="310896"/>
          </a:xfrm>
          <a:prstGeom prst="rect">
            <a:avLst/>
          </a:prstGeom>
          <a:noFill/>
        </p:spPr>
        <p:txBody>
          <a:bodyPr wrap="square">
            <a:spAutoFit/>
          </a:bodyPr>
          <a:lstStyle/>
          <a:p>
            <a:pPr algn="ctr"/>
            <a:r>
              <a:rPr sz="950" b="0">
                <a:solidFill>
                  <a:srgbClr val="E8D08A"/>
                </a:solidFill>
                <a:latin typeface="맑은 고딕"/>
              </a:rPr>
              <a:t>해금: 기억 ×5</a:t>
            </a:r>
          </a:p>
        </p:txBody>
      </p:sp>
      <p:sp>
        <p:nvSpPr>
          <p:cNvPr id="43" name="Rectangle 42"/>
          <p:cNvSpPr/>
          <p:nvPr/>
        </p:nvSpPr>
        <p:spPr>
          <a:xfrm>
            <a:off x="7360919" y="2514600"/>
            <a:ext cx="2194560" cy="3931920"/>
          </a:xfrm>
          <a:prstGeom prst="rect">
            <a:avLst/>
          </a:prstGeom>
          <a:solidFill>
            <a:srgbClr val="161B2E"/>
          </a:solidFill>
          <a:ln w="15000">
            <a:solidFill>
              <a:srgbClr val="FFB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60919"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0919" y="2569464"/>
            <a:ext cx="2194560" cy="347472"/>
          </a:xfrm>
          <a:prstGeom prst="rect">
            <a:avLst/>
          </a:prstGeom>
          <a:noFill/>
        </p:spPr>
        <p:txBody>
          <a:bodyPr wrap="square">
            <a:spAutoFit/>
          </a:bodyPr>
          <a:lstStyle/>
          <a:p>
            <a:pPr algn="ctr"/>
            <a:r>
              <a:rPr sz="1100" b="1">
                <a:solidFill>
                  <a:srgbClr val="FFB840"/>
                </a:solidFill>
                <a:latin typeface="맑은 고딕"/>
              </a:rPr>
              <a:t>태양의 서약</a:t>
            </a:r>
          </a:p>
        </p:txBody>
      </p:sp>
      <p:sp>
        <p:nvSpPr>
          <p:cNvPr id="46" name="TextBox 45"/>
          <p:cNvSpPr txBox="1"/>
          <p:nvPr/>
        </p:nvSpPr>
        <p:spPr>
          <a:xfrm>
            <a:off x="7498079" y="3108960"/>
            <a:ext cx="1920240" cy="274320"/>
          </a:xfrm>
          <a:prstGeom prst="rect">
            <a:avLst/>
          </a:prstGeom>
          <a:noFill/>
        </p:spPr>
        <p:txBody>
          <a:bodyPr wrap="square">
            <a:spAutoFit/>
          </a:bodyPr>
          <a:lstStyle/>
          <a:p>
            <a:pPr algn="l"/>
            <a:r>
              <a:rPr sz="1050" b="1">
                <a:solidFill>
                  <a:srgbClr val="FFFFFF"/>
                </a:solidFill>
                <a:latin typeface="맑은 고딕"/>
              </a:rPr>
              <a:t>💪 중전사형</a:t>
            </a:r>
          </a:p>
        </p:txBody>
      </p:sp>
      <p:sp>
        <p:nvSpPr>
          <p:cNvPr id="47" name="Rectangle 46"/>
          <p:cNvSpPr/>
          <p:nvPr/>
        </p:nvSpPr>
        <p:spPr>
          <a:xfrm>
            <a:off x="7498079"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79"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49" name="Rectangle 48"/>
          <p:cNvSpPr/>
          <p:nvPr/>
        </p:nvSpPr>
        <p:spPr>
          <a:xfrm>
            <a:off x="7498079"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98079" y="3813048"/>
            <a:ext cx="1920240" cy="274320"/>
          </a:xfrm>
          <a:prstGeom prst="rect">
            <a:avLst/>
          </a:prstGeom>
          <a:noFill/>
        </p:spPr>
        <p:txBody>
          <a:bodyPr wrap="square">
            <a:spAutoFit/>
          </a:bodyPr>
          <a:lstStyle/>
          <a:p>
            <a:pPr algn="ctr"/>
            <a:r>
              <a:rPr sz="1050" b="1">
                <a:solidFill>
                  <a:srgbClr val="FFB840"/>
                </a:solidFill>
                <a:latin typeface="맑은 고딕"/>
              </a:rPr>
              <a:t>태양 타이머</a:t>
            </a:r>
          </a:p>
        </p:txBody>
      </p:sp>
      <p:sp>
        <p:nvSpPr>
          <p:cNvPr id="51" name="TextBox 50"/>
          <p:cNvSpPr txBox="1"/>
          <p:nvPr/>
        </p:nvSpPr>
        <p:spPr>
          <a:xfrm>
            <a:off x="7470647" y="4251960"/>
            <a:ext cx="1965960" cy="320040"/>
          </a:xfrm>
          <a:prstGeom prst="rect">
            <a:avLst/>
          </a:prstGeom>
          <a:noFill/>
        </p:spPr>
        <p:txBody>
          <a:bodyPr wrap="square">
            <a:spAutoFit/>
          </a:bodyPr>
          <a:lstStyle/>
          <a:p>
            <a:pPr algn="l"/>
            <a:r>
              <a:rPr sz="850" b="0">
                <a:solidFill>
                  <a:srgbClr val="B8BECC"/>
                </a:solidFill>
                <a:latin typeface="맑은 고딕"/>
              </a:rPr>
              <a:t>HP 140 / ATK 105 / DEF 35</a:t>
            </a:r>
          </a:p>
        </p:txBody>
      </p:sp>
      <p:sp>
        <p:nvSpPr>
          <p:cNvPr id="52" name="Rectangle 51"/>
          <p:cNvSpPr/>
          <p:nvPr/>
        </p:nvSpPr>
        <p:spPr>
          <a:xfrm>
            <a:off x="7498079"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79" y="5230368"/>
            <a:ext cx="1920240" cy="310896"/>
          </a:xfrm>
          <a:prstGeom prst="rect">
            <a:avLst/>
          </a:prstGeom>
          <a:noFill/>
        </p:spPr>
        <p:txBody>
          <a:bodyPr wrap="square">
            <a:spAutoFit/>
          </a:bodyPr>
          <a:lstStyle/>
          <a:p>
            <a:pPr algn="ctr"/>
            <a:r>
              <a:rPr sz="950" b="0">
                <a:solidFill>
                  <a:srgbClr val="E8D08A"/>
                </a:solidFill>
                <a:latin typeface="맑은 고딕"/>
              </a:rPr>
              <a:t>해금: 기억 ×8</a:t>
            </a:r>
          </a:p>
        </p:txBody>
      </p:sp>
      <p:sp>
        <p:nvSpPr>
          <p:cNvPr id="54" name="Rectangle 53"/>
          <p:cNvSpPr/>
          <p:nvPr/>
        </p:nvSpPr>
        <p:spPr>
          <a:xfrm>
            <a:off x="9692640" y="2514600"/>
            <a:ext cx="2194560" cy="393192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92640" y="2514600"/>
            <a:ext cx="219456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692640" y="2569464"/>
            <a:ext cx="2194560" cy="347472"/>
          </a:xfrm>
          <a:prstGeom prst="rect">
            <a:avLst/>
          </a:prstGeom>
          <a:noFill/>
        </p:spPr>
        <p:txBody>
          <a:bodyPr wrap="square">
            <a:spAutoFit/>
          </a:bodyPr>
          <a:lstStyle/>
          <a:p>
            <a:pPr algn="ctr"/>
            <a:r>
              <a:rPr sz="1100" b="1">
                <a:solidFill>
                  <a:srgbClr val="6B3F8E"/>
                </a:solidFill>
                <a:latin typeface="맑은 고딕"/>
              </a:rPr>
              <a:t>비련의 화살</a:t>
            </a:r>
          </a:p>
        </p:txBody>
      </p:sp>
      <p:sp>
        <p:nvSpPr>
          <p:cNvPr id="57" name="TextBox 56"/>
          <p:cNvSpPr txBox="1"/>
          <p:nvPr/>
        </p:nvSpPr>
        <p:spPr>
          <a:xfrm>
            <a:off x="9829800" y="3108960"/>
            <a:ext cx="1920240" cy="274320"/>
          </a:xfrm>
          <a:prstGeom prst="rect">
            <a:avLst/>
          </a:prstGeom>
          <a:noFill/>
        </p:spPr>
        <p:txBody>
          <a:bodyPr wrap="square">
            <a:spAutoFit/>
          </a:bodyPr>
          <a:lstStyle/>
          <a:p>
            <a:pPr algn="l"/>
            <a:r>
              <a:rPr sz="1050" b="1">
                <a:solidFill>
                  <a:srgbClr val="FFFFFF"/>
                </a:solidFill>
                <a:latin typeface="맑은 고딕"/>
              </a:rPr>
              <a:t>🎯 원거리형</a:t>
            </a:r>
          </a:p>
        </p:txBody>
      </p:sp>
      <p:sp>
        <p:nvSpPr>
          <p:cNvPr id="58" name="Rectangle 57"/>
          <p:cNvSpPr/>
          <p:nvPr/>
        </p:nvSpPr>
        <p:spPr>
          <a:xfrm>
            <a:off x="9829800" y="3474720"/>
            <a:ext cx="192024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29800" y="3566160"/>
            <a:ext cx="1920240" cy="201168"/>
          </a:xfrm>
          <a:prstGeom prst="rect">
            <a:avLst/>
          </a:prstGeom>
          <a:noFill/>
        </p:spPr>
        <p:txBody>
          <a:bodyPr wrap="square">
            <a:spAutoFit/>
          </a:bodyPr>
          <a:lstStyle/>
          <a:p>
            <a:pPr algn="l"/>
            <a:r>
              <a:rPr sz="850" b="1">
                <a:solidFill>
                  <a:srgbClr val="727A8E"/>
                </a:solidFill>
                <a:latin typeface="맑은 고딕"/>
              </a:rPr>
              <a:t>고유 메커닉</a:t>
            </a:r>
          </a:p>
        </p:txBody>
      </p:sp>
      <p:sp>
        <p:nvSpPr>
          <p:cNvPr id="60" name="Rectangle 59"/>
          <p:cNvSpPr/>
          <p:nvPr/>
        </p:nvSpPr>
        <p:spPr>
          <a:xfrm>
            <a:off x="9829800" y="3794760"/>
            <a:ext cx="1920240" cy="310896"/>
          </a:xfrm>
          <a:prstGeom prst="rect">
            <a:avLst/>
          </a:prstGeom>
          <a:solidFill>
            <a:srgbClr val="1A20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29800" y="3813048"/>
            <a:ext cx="1920240" cy="274320"/>
          </a:xfrm>
          <a:prstGeom prst="rect">
            <a:avLst/>
          </a:prstGeom>
          <a:noFill/>
        </p:spPr>
        <p:txBody>
          <a:bodyPr wrap="square">
            <a:spAutoFit/>
          </a:bodyPr>
          <a:lstStyle/>
          <a:p>
            <a:pPr algn="ctr"/>
            <a:r>
              <a:rPr sz="1050" b="1">
                <a:solidFill>
                  <a:srgbClr val="6B3F8E"/>
                </a:solidFill>
                <a:latin typeface="맑은 고딕"/>
              </a:rPr>
              <a:t>거리 시스템</a:t>
            </a:r>
          </a:p>
        </p:txBody>
      </p:sp>
      <p:sp>
        <p:nvSpPr>
          <p:cNvPr id="62" name="TextBox 61"/>
          <p:cNvSpPr txBox="1"/>
          <p:nvPr/>
        </p:nvSpPr>
        <p:spPr>
          <a:xfrm>
            <a:off x="9802367" y="4251960"/>
            <a:ext cx="1965960" cy="320040"/>
          </a:xfrm>
          <a:prstGeom prst="rect">
            <a:avLst/>
          </a:prstGeom>
          <a:noFill/>
        </p:spPr>
        <p:txBody>
          <a:bodyPr wrap="square">
            <a:spAutoFit/>
          </a:bodyPr>
          <a:lstStyle/>
          <a:p>
            <a:pPr algn="l"/>
            <a:r>
              <a:rPr sz="850" b="0">
                <a:solidFill>
                  <a:srgbClr val="B8BECC"/>
                </a:solidFill>
                <a:latin typeface="맑은 고딕"/>
              </a:rPr>
              <a:t>HP 100 / ATK 115 / DEF 15</a:t>
            </a:r>
          </a:p>
        </p:txBody>
      </p:sp>
      <p:sp>
        <p:nvSpPr>
          <p:cNvPr id="63" name="Rectangle 62"/>
          <p:cNvSpPr/>
          <p:nvPr/>
        </p:nvSpPr>
        <p:spPr>
          <a:xfrm>
            <a:off x="9829800" y="5212080"/>
            <a:ext cx="192024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29800" y="5230368"/>
            <a:ext cx="1920240" cy="310896"/>
          </a:xfrm>
          <a:prstGeom prst="rect">
            <a:avLst/>
          </a:prstGeom>
          <a:noFill/>
        </p:spPr>
        <p:txBody>
          <a:bodyPr wrap="square">
            <a:spAutoFit/>
          </a:bodyPr>
          <a:lstStyle/>
          <a:p>
            <a:pPr algn="ctr"/>
            <a:r>
              <a:rPr sz="950" b="0">
                <a:solidFill>
                  <a:srgbClr val="E8D08A"/>
                </a:solidFill>
                <a:latin typeface="맑은 고딕"/>
              </a:rPr>
              <a:t>해금: 기억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성배의 수호자  [갈라하드 암시]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방어형 / 초보 친화 / 진입장벽 낮음</a:t>
            </a:r>
          </a:p>
        </p:txBody>
      </p:sp>
      <p:sp>
        <p:nvSpPr>
          <p:cNvPr id="6" name="Rectangle 5"/>
          <p:cNvSpPr/>
          <p:nvPr/>
        </p:nvSpPr>
        <p:spPr>
          <a:xfrm>
            <a:off x="0" y="0"/>
            <a:ext cx="12188952" cy="54864"/>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274320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6012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14984"/>
            <a:ext cx="2468880" cy="256032"/>
          </a:xfrm>
          <a:prstGeom prst="rect">
            <a:avLst/>
          </a:prstGeom>
          <a:noFill/>
        </p:spPr>
        <p:txBody>
          <a:bodyPr wrap="square">
            <a:spAutoFit/>
          </a:bodyPr>
          <a:lstStyle/>
          <a:p>
            <a:pPr algn="l"/>
            <a:r>
              <a:rPr sz="1200" b="1">
                <a:solidFill>
                  <a:srgbClr val="4AC2B8"/>
                </a:solidFill>
                <a:latin typeface="맑은 고딕"/>
              </a:rPr>
              <a:t>기본 스탯</a:t>
            </a:r>
          </a:p>
        </p:txBody>
      </p:sp>
      <p:sp>
        <p:nvSpPr>
          <p:cNvPr id="10" name="Rectangle 9"/>
          <p:cNvSpPr/>
          <p:nvPr/>
        </p:nvSpPr>
        <p:spPr>
          <a:xfrm>
            <a:off x="502920"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94360" cy="347472"/>
          </a:xfrm>
          <a:prstGeom prst="rect">
            <a:avLst/>
          </a:prstGeom>
          <a:noFill/>
        </p:spPr>
        <p:txBody>
          <a:bodyPr wrap="square">
            <a:spAutoFit/>
          </a:bodyPr>
          <a:lstStyle/>
          <a:p>
            <a:pPr algn="ctr"/>
            <a:r>
              <a:rPr sz="1500" b="1">
                <a:solidFill>
                  <a:srgbClr val="4AC2B8"/>
                </a:solidFill>
                <a:latin typeface="맑은 고딕"/>
              </a:rPr>
              <a:t>150</a:t>
            </a:r>
          </a:p>
        </p:txBody>
      </p:sp>
      <p:sp>
        <p:nvSpPr>
          <p:cNvPr id="12" name="TextBox 11"/>
          <p:cNvSpPr txBox="1"/>
          <p:nvPr/>
        </p:nvSpPr>
        <p:spPr>
          <a:xfrm>
            <a:off x="502920" y="1737360"/>
            <a:ext cx="594360" cy="256032"/>
          </a:xfrm>
          <a:prstGeom prst="rect">
            <a:avLst/>
          </a:prstGeom>
          <a:noFill/>
        </p:spPr>
        <p:txBody>
          <a:bodyPr wrap="square">
            <a:spAutoFit/>
          </a:bodyPr>
          <a:lstStyle/>
          <a:p>
            <a:pPr algn="ctr"/>
            <a:r>
              <a:rPr sz="800" b="0">
                <a:solidFill>
                  <a:srgbClr val="727A8E"/>
                </a:solidFill>
                <a:latin typeface="맑은 고딕"/>
              </a:rPr>
              <a:t>HP</a:t>
            </a:r>
          </a:p>
        </p:txBody>
      </p:sp>
      <p:sp>
        <p:nvSpPr>
          <p:cNvPr id="13" name="Rectangle 12"/>
          <p:cNvSpPr/>
          <p:nvPr/>
        </p:nvSpPr>
        <p:spPr>
          <a:xfrm>
            <a:off x="1161288"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1417320"/>
            <a:ext cx="594360" cy="347472"/>
          </a:xfrm>
          <a:prstGeom prst="rect">
            <a:avLst/>
          </a:prstGeom>
          <a:noFill/>
        </p:spPr>
        <p:txBody>
          <a:bodyPr wrap="square">
            <a:spAutoFit/>
          </a:bodyPr>
          <a:lstStyle/>
          <a:p>
            <a:pPr algn="ctr"/>
            <a:r>
              <a:rPr sz="1500" b="1">
                <a:solidFill>
                  <a:srgbClr val="4AC2B8"/>
                </a:solidFill>
                <a:latin typeface="맑은 고딕"/>
              </a:rPr>
              <a:t>80</a:t>
            </a:r>
          </a:p>
        </p:txBody>
      </p:sp>
      <p:sp>
        <p:nvSpPr>
          <p:cNvPr id="15" name="TextBox 14"/>
          <p:cNvSpPr txBox="1"/>
          <p:nvPr/>
        </p:nvSpPr>
        <p:spPr>
          <a:xfrm>
            <a:off x="1161288" y="1737360"/>
            <a:ext cx="594360" cy="256032"/>
          </a:xfrm>
          <a:prstGeom prst="rect">
            <a:avLst/>
          </a:prstGeom>
          <a:noFill/>
        </p:spPr>
        <p:txBody>
          <a:bodyPr wrap="square">
            <a:spAutoFit/>
          </a:bodyPr>
          <a:lstStyle/>
          <a:p>
            <a:pPr algn="ctr"/>
            <a:r>
              <a:rPr sz="800" b="0">
                <a:solidFill>
                  <a:srgbClr val="727A8E"/>
                </a:solidFill>
                <a:latin typeface="맑은 고딕"/>
              </a:rPr>
              <a:t>ATK</a:t>
            </a:r>
          </a:p>
        </p:txBody>
      </p:sp>
      <p:sp>
        <p:nvSpPr>
          <p:cNvPr id="16" name="Rectangle 15"/>
          <p:cNvSpPr/>
          <p:nvPr/>
        </p:nvSpPr>
        <p:spPr>
          <a:xfrm>
            <a:off x="1819656"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19656" y="1417320"/>
            <a:ext cx="594360" cy="347472"/>
          </a:xfrm>
          <a:prstGeom prst="rect">
            <a:avLst/>
          </a:prstGeom>
          <a:noFill/>
        </p:spPr>
        <p:txBody>
          <a:bodyPr wrap="square">
            <a:spAutoFit/>
          </a:bodyPr>
          <a:lstStyle/>
          <a:p>
            <a:pPr algn="ctr"/>
            <a:r>
              <a:rPr sz="1500" b="1">
                <a:solidFill>
                  <a:srgbClr val="4AC2B8"/>
                </a:solidFill>
                <a:latin typeface="맑은 고딕"/>
              </a:rPr>
              <a:t>40</a:t>
            </a:r>
          </a:p>
        </p:txBody>
      </p:sp>
      <p:sp>
        <p:nvSpPr>
          <p:cNvPr id="18" name="TextBox 17"/>
          <p:cNvSpPr txBox="1"/>
          <p:nvPr/>
        </p:nvSpPr>
        <p:spPr>
          <a:xfrm>
            <a:off x="1819656" y="1737360"/>
            <a:ext cx="594360" cy="256032"/>
          </a:xfrm>
          <a:prstGeom prst="rect">
            <a:avLst/>
          </a:prstGeom>
          <a:noFill/>
        </p:spPr>
        <p:txBody>
          <a:bodyPr wrap="square">
            <a:spAutoFit/>
          </a:bodyPr>
          <a:lstStyle/>
          <a:p>
            <a:pPr algn="ctr"/>
            <a:r>
              <a:rPr sz="800" b="0">
                <a:solidFill>
                  <a:srgbClr val="727A8E"/>
                </a:solidFill>
                <a:latin typeface="맑은 고딕"/>
              </a:rPr>
              <a:t>DEF</a:t>
            </a:r>
          </a:p>
        </p:txBody>
      </p:sp>
      <p:sp>
        <p:nvSpPr>
          <p:cNvPr id="19" name="Rectangle 18"/>
          <p:cNvSpPr/>
          <p:nvPr/>
        </p:nvSpPr>
        <p:spPr>
          <a:xfrm>
            <a:off x="2478024"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78024" y="1417320"/>
            <a:ext cx="594360" cy="347472"/>
          </a:xfrm>
          <a:prstGeom prst="rect">
            <a:avLst/>
          </a:prstGeom>
          <a:noFill/>
        </p:spPr>
        <p:txBody>
          <a:bodyPr wrap="square">
            <a:spAutoFit/>
          </a:bodyPr>
          <a:lstStyle/>
          <a:p>
            <a:pPr algn="ctr"/>
            <a:r>
              <a:rPr sz="1500" b="1">
                <a:solidFill>
                  <a:srgbClr val="4AC2B8"/>
                </a:solidFill>
                <a:latin typeface="맑은 고딕"/>
              </a:rPr>
              <a:t>×1.0</a:t>
            </a:r>
          </a:p>
        </p:txBody>
      </p:sp>
      <p:sp>
        <p:nvSpPr>
          <p:cNvPr id="21" name="TextBox 20"/>
          <p:cNvSpPr txBox="1"/>
          <p:nvPr/>
        </p:nvSpPr>
        <p:spPr>
          <a:xfrm>
            <a:off x="2478024" y="1737360"/>
            <a:ext cx="594360" cy="256032"/>
          </a:xfrm>
          <a:prstGeom prst="rect">
            <a:avLst/>
          </a:prstGeom>
          <a:noFill/>
        </p:spPr>
        <p:txBody>
          <a:bodyPr wrap="square">
            <a:spAutoFit/>
          </a:bodyPr>
          <a:lstStyle/>
          <a:p>
            <a:pPr algn="ctr"/>
            <a:r>
              <a:rPr sz="800" b="0">
                <a:solidFill>
                  <a:srgbClr val="727A8E"/>
                </a:solidFill>
                <a:latin typeface="맑은 고딕"/>
              </a:rPr>
              <a:t>SPD</a:t>
            </a:r>
          </a:p>
        </p:txBody>
      </p:sp>
      <p:sp>
        <p:nvSpPr>
          <p:cNvPr id="22" name="Rectangle 21"/>
          <p:cNvSpPr/>
          <p:nvPr/>
        </p:nvSpPr>
        <p:spPr>
          <a:xfrm>
            <a:off x="365760" y="2651760"/>
            <a:ext cx="274320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65176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706624"/>
            <a:ext cx="2468880" cy="256032"/>
          </a:xfrm>
          <a:prstGeom prst="rect">
            <a:avLst/>
          </a:prstGeom>
          <a:noFill/>
        </p:spPr>
        <p:txBody>
          <a:bodyPr wrap="square">
            <a:spAutoFit/>
          </a:bodyPr>
          <a:lstStyle/>
          <a:p>
            <a:pPr algn="l"/>
            <a:r>
              <a:rPr sz="1200" b="1">
                <a:solidFill>
                  <a:srgbClr val="4AC2B8"/>
                </a:solidFill>
                <a:latin typeface="맑은 고딕"/>
              </a:rPr>
              <a:t>고유 패시브</a:t>
            </a:r>
          </a:p>
        </p:txBody>
      </p:sp>
      <p:sp>
        <p:nvSpPr>
          <p:cNvPr id="25" name="Rectangle 24"/>
          <p:cNvSpPr/>
          <p:nvPr/>
        </p:nvSpPr>
        <p:spPr>
          <a:xfrm>
            <a:off x="502920" y="30906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18103"/>
            <a:ext cx="2194560" cy="237744"/>
          </a:xfrm>
          <a:prstGeom prst="rect">
            <a:avLst/>
          </a:prstGeom>
          <a:noFill/>
        </p:spPr>
        <p:txBody>
          <a:bodyPr wrap="square">
            <a:spAutoFit/>
          </a:bodyPr>
          <a:lstStyle/>
          <a:p>
            <a:pPr algn="l"/>
            <a:r>
              <a:rPr sz="1000" b="1">
                <a:solidFill>
                  <a:srgbClr val="4AC2B8"/>
                </a:solidFill>
                <a:latin typeface="맑은 고딕"/>
              </a:rPr>
              <a:t>성스러운 방패</a:t>
            </a:r>
          </a:p>
        </p:txBody>
      </p:sp>
      <p:sp>
        <p:nvSpPr>
          <p:cNvPr id="27" name="TextBox 26"/>
          <p:cNvSpPr txBox="1"/>
          <p:nvPr/>
        </p:nvSpPr>
        <p:spPr>
          <a:xfrm>
            <a:off x="640080" y="3364991"/>
            <a:ext cx="2194560" cy="256032"/>
          </a:xfrm>
          <a:prstGeom prst="rect">
            <a:avLst/>
          </a:prstGeom>
          <a:noFill/>
        </p:spPr>
        <p:txBody>
          <a:bodyPr wrap="square">
            <a:spAutoFit/>
          </a:bodyPr>
          <a:lstStyle/>
          <a:p>
            <a:pPr algn="l"/>
            <a:r>
              <a:rPr sz="850" b="0">
                <a:solidFill>
                  <a:srgbClr val="B8BECC"/>
                </a:solidFill>
                <a:latin typeface="맑은 고딕"/>
              </a:rPr>
              <a:t>방어 시 받은 피해의 30%를 전방 적에게 반사</a:t>
            </a:r>
          </a:p>
        </p:txBody>
      </p:sp>
      <p:sp>
        <p:nvSpPr>
          <p:cNvPr id="28" name="Rectangle 27"/>
          <p:cNvSpPr/>
          <p:nvPr/>
        </p:nvSpPr>
        <p:spPr>
          <a:xfrm>
            <a:off x="502920" y="37764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803904"/>
            <a:ext cx="2194560" cy="237744"/>
          </a:xfrm>
          <a:prstGeom prst="rect">
            <a:avLst/>
          </a:prstGeom>
          <a:noFill/>
        </p:spPr>
        <p:txBody>
          <a:bodyPr wrap="square">
            <a:spAutoFit/>
          </a:bodyPr>
          <a:lstStyle/>
          <a:p>
            <a:pPr algn="l"/>
            <a:r>
              <a:rPr sz="1000" b="1">
                <a:solidFill>
                  <a:srgbClr val="4AC2B8"/>
                </a:solidFill>
                <a:latin typeface="맑은 고딕"/>
              </a:rPr>
              <a:t>아버지의 죄</a:t>
            </a:r>
          </a:p>
        </p:txBody>
      </p:sp>
      <p:sp>
        <p:nvSpPr>
          <p:cNvPr id="30" name="TextBox 29"/>
          <p:cNvSpPr txBox="1"/>
          <p:nvPr/>
        </p:nvSpPr>
        <p:spPr>
          <a:xfrm>
            <a:off x="640080" y="4050791"/>
            <a:ext cx="2194560" cy="256032"/>
          </a:xfrm>
          <a:prstGeom prst="rect">
            <a:avLst/>
          </a:prstGeom>
          <a:noFill/>
        </p:spPr>
        <p:txBody>
          <a:bodyPr wrap="square">
            <a:spAutoFit/>
          </a:bodyPr>
          <a:lstStyle/>
          <a:p>
            <a:pPr algn="l"/>
            <a:r>
              <a:rPr sz="850" b="0">
                <a:solidFill>
                  <a:srgbClr val="B8BECC"/>
                </a:solidFill>
                <a:latin typeface="맑은 고딕"/>
              </a:rPr>
              <a:t>피격 시 신성 게이지 +15 / 방어 성공 시 +25 충전</a:t>
            </a:r>
          </a:p>
        </p:txBody>
      </p:sp>
      <p:sp>
        <p:nvSpPr>
          <p:cNvPr id="31" name="Rectangle 30"/>
          <p:cNvSpPr/>
          <p:nvPr/>
        </p:nvSpPr>
        <p:spPr>
          <a:xfrm>
            <a:off x="3291840" y="960120"/>
            <a:ext cx="438912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29000" y="1014984"/>
            <a:ext cx="4114800" cy="256032"/>
          </a:xfrm>
          <a:prstGeom prst="rect">
            <a:avLst/>
          </a:prstGeom>
          <a:noFill/>
        </p:spPr>
        <p:txBody>
          <a:bodyPr wrap="square">
            <a:spAutoFit/>
          </a:bodyPr>
          <a:lstStyle/>
          <a:p>
            <a:pPr algn="l"/>
            <a:r>
              <a:rPr sz="1200" b="1">
                <a:solidFill>
                  <a:srgbClr val="4AC2B8"/>
                </a:solidFill>
                <a:latin typeface="맑은 고딕"/>
              </a:rPr>
              <a:t>고유 스킬</a:t>
            </a:r>
          </a:p>
        </p:txBody>
      </p:sp>
      <p:sp>
        <p:nvSpPr>
          <p:cNvPr id="34" name="TextBox 33"/>
          <p:cNvSpPr txBox="1"/>
          <p:nvPr/>
        </p:nvSpPr>
        <p:spPr>
          <a:xfrm>
            <a:off x="3474720" y="1298448"/>
            <a:ext cx="2743200" cy="320040"/>
          </a:xfrm>
          <a:prstGeom prst="rect">
            <a:avLst/>
          </a:prstGeom>
          <a:noFill/>
        </p:spPr>
        <p:txBody>
          <a:bodyPr wrap="square">
            <a:spAutoFit/>
          </a:bodyPr>
          <a:lstStyle/>
          <a:p>
            <a:pPr algn="l"/>
            <a:r>
              <a:rPr sz="1300" b="1">
                <a:solidFill>
                  <a:srgbClr val="4AC2B8"/>
                </a:solidFill>
                <a:latin typeface="맑은 고딕"/>
              </a:rPr>
              <a:t>성배의 빛</a:t>
            </a:r>
          </a:p>
        </p:txBody>
      </p:sp>
      <p:sp>
        <p:nvSpPr>
          <p:cNvPr id="35" name="TextBox 34"/>
          <p:cNvSpPr txBox="1"/>
          <p:nvPr/>
        </p:nvSpPr>
        <p:spPr>
          <a:xfrm>
            <a:off x="6309360" y="1371600"/>
            <a:ext cx="1188720" cy="228600"/>
          </a:xfrm>
          <a:prstGeom prst="rect">
            <a:avLst/>
          </a:prstGeom>
          <a:noFill/>
        </p:spPr>
        <p:txBody>
          <a:bodyPr wrap="square">
            <a:spAutoFit/>
          </a:bodyPr>
          <a:lstStyle/>
          <a:p>
            <a:pPr algn="r"/>
            <a:r>
              <a:rPr sz="900" b="0">
                <a:solidFill>
                  <a:srgbClr val="727A8E"/>
                </a:solidFill>
                <a:latin typeface="맑은 고딕"/>
              </a:rPr>
              <a:t>쿨다운 18초</a:t>
            </a:r>
          </a:p>
        </p:txBody>
      </p:sp>
      <p:sp>
        <p:nvSpPr>
          <p:cNvPr id="36" name="TextBox 35"/>
          <p:cNvSpPr txBox="1"/>
          <p:nvPr/>
        </p:nvSpPr>
        <p:spPr>
          <a:xfrm>
            <a:off x="3474720" y="1664208"/>
            <a:ext cx="4023360" cy="749808"/>
          </a:xfrm>
          <a:prstGeom prst="rect">
            <a:avLst/>
          </a:prstGeom>
          <a:noFill/>
        </p:spPr>
        <p:txBody>
          <a:bodyPr wrap="square">
            <a:spAutoFit/>
          </a:bodyPr>
          <a:lstStyle/>
          <a:p>
            <a:pPr algn="l"/>
            <a:r>
              <a:rPr sz="1000" b="0">
                <a:solidFill>
                  <a:srgbClr val="B8BECC"/>
                </a:solidFill>
                <a:latin typeface="맑은 고딕"/>
              </a:rPr>
              <a:t>전방 4m 범위 신성 폭발. 피해 공격력 ×180%
게이지 30 이상 시 범위 +50%, 피해 +50%</a:t>
            </a:r>
          </a:p>
        </p:txBody>
      </p:sp>
      <p:sp>
        <p:nvSpPr>
          <p:cNvPr id="37" name="Rectangle 36"/>
          <p:cNvSpPr/>
          <p:nvPr/>
        </p:nvSpPr>
        <p:spPr>
          <a:xfrm>
            <a:off x="3291840" y="2651760"/>
            <a:ext cx="438912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91840" y="265176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29000" y="2706624"/>
            <a:ext cx="4114800" cy="256032"/>
          </a:xfrm>
          <a:prstGeom prst="rect">
            <a:avLst/>
          </a:prstGeom>
          <a:noFill/>
        </p:spPr>
        <p:txBody>
          <a:bodyPr wrap="square">
            <a:spAutoFit/>
          </a:bodyPr>
          <a:lstStyle/>
          <a:p>
            <a:pPr algn="l"/>
            <a:r>
              <a:rPr sz="1200" b="1">
                <a:solidFill>
                  <a:srgbClr val="4AC2B8"/>
                </a:solidFill>
                <a:latin typeface="맑은 고딕"/>
              </a:rPr>
              <a:t>고유 메커닉 — 신성 게이지</a:t>
            </a:r>
          </a:p>
        </p:txBody>
      </p:sp>
      <p:sp>
        <p:nvSpPr>
          <p:cNvPr id="40" name="TextBox 39"/>
          <p:cNvSpPr txBox="1"/>
          <p:nvPr/>
        </p:nvSpPr>
        <p:spPr>
          <a:xfrm>
            <a:off x="3474720" y="3090672"/>
            <a:ext cx="4023360" cy="347472"/>
          </a:xfrm>
          <a:prstGeom prst="rect">
            <a:avLst/>
          </a:prstGeom>
          <a:noFill/>
        </p:spPr>
        <p:txBody>
          <a:bodyPr wrap="square">
            <a:spAutoFit/>
          </a:bodyPr>
          <a:lstStyle/>
          <a:p>
            <a:pPr algn="l"/>
            <a:r>
              <a:rPr sz="1000" b="0">
                <a:solidFill>
                  <a:srgbClr val="FFFFFF"/>
                </a:solidFill>
                <a:latin typeface="맑은 고딕"/>
              </a:rPr>
              <a:t>▸  최대 게이지: 100</a:t>
            </a:r>
          </a:p>
        </p:txBody>
      </p:sp>
      <p:sp>
        <p:nvSpPr>
          <p:cNvPr id="41" name="TextBox 40"/>
          <p:cNvSpPr txBox="1"/>
          <p:nvPr/>
        </p:nvSpPr>
        <p:spPr>
          <a:xfrm>
            <a:off x="3474720" y="3493008"/>
            <a:ext cx="4023360" cy="347472"/>
          </a:xfrm>
          <a:prstGeom prst="rect">
            <a:avLst/>
          </a:prstGeom>
          <a:noFill/>
        </p:spPr>
        <p:txBody>
          <a:bodyPr wrap="square">
            <a:spAutoFit/>
          </a:bodyPr>
          <a:lstStyle/>
          <a:p>
            <a:pPr algn="l"/>
            <a:r>
              <a:rPr sz="1000" b="0">
                <a:solidFill>
                  <a:srgbClr val="FFFFFF"/>
                </a:solidFill>
                <a:latin typeface="맑은 고딕"/>
              </a:rPr>
              <a:t>▸  피격 +15 / 방어성공 +25 / 스킬 사용 +20</a:t>
            </a:r>
          </a:p>
        </p:txBody>
      </p:sp>
      <p:sp>
        <p:nvSpPr>
          <p:cNvPr id="42" name="TextBox 41"/>
          <p:cNvSpPr txBox="1"/>
          <p:nvPr/>
        </p:nvSpPr>
        <p:spPr>
          <a:xfrm>
            <a:off x="3474720" y="3895344"/>
            <a:ext cx="4023360" cy="347472"/>
          </a:xfrm>
          <a:prstGeom prst="rect">
            <a:avLst/>
          </a:prstGeom>
          <a:noFill/>
        </p:spPr>
        <p:txBody>
          <a:bodyPr wrap="square">
            <a:spAutoFit/>
          </a:bodyPr>
          <a:lstStyle/>
          <a:p>
            <a:pPr algn="l"/>
            <a:r>
              <a:rPr sz="1000" b="0">
                <a:solidFill>
                  <a:srgbClr val="FFFFFF"/>
                </a:solidFill>
                <a:latin typeface="맑은 고딕"/>
              </a:rPr>
              <a:t>▸  만충 시: 5초 무적 + 공격력 150%</a:t>
            </a:r>
          </a:p>
        </p:txBody>
      </p:sp>
      <p:sp>
        <p:nvSpPr>
          <p:cNvPr id="43" name="TextBox 42"/>
          <p:cNvSpPr txBox="1"/>
          <p:nvPr/>
        </p:nvSpPr>
        <p:spPr>
          <a:xfrm>
            <a:off x="3474720" y="4297680"/>
            <a:ext cx="4023360" cy="347472"/>
          </a:xfrm>
          <a:prstGeom prst="rect">
            <a:avLst/>
          </a:prstGeom>
          <a:noFill/>
        </p:spPr>
        <p:txBody>
          <a:bodyPr wrap="square">
            <a:spAutoFit/>
          </a:bodyPr>
          <a:lstStyle/>
          <a:p>
            <a:pPr algn="l"/>
            <a:r>
              <a:rPr sz="1000" b="0">
                <a:solidFill>
                  <a:srgbClr val="FFFFFF"/>
                </a:solidFill>
                <a:latin typeface="맑은 고딕"/>
              </a:rPr>
              <a:t>▸  이후 쿨다운: 30초</a:t>
            </a:r>
          </a:p>
        </p:txBody>
      </p:sp>
      <p:sp>
        <p:nvSpPr>
          <p:cNvPr id="44" name="Rectangle 43"/>
          <p:cNvSpPr/>
          <p:nvPr/>
        </p:nvSpPr>
        <p:spPr>
          <a:xfrm>
            <a:off x="7863840" y="960120"/>
            <a:ext cx="3931920" cy="3703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863840" y="960120"/>
            <a:ext cx="3931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01000" y="1014984"/>
            <a:ext cx="3657600" cy="256032"/>
          </a:xfrm>
          <a:prstGeom prst="rect">
            <a:avLst/>
          </a:prstGeom>
          <a:noFill/>
        </p:spPr>
        <p:txBody>
          <a:bodyPr wrap="square">
            <a:spAutoFit/>
          </a:bodyPr>
          <a:lstStyle/>
          <a:p>
            <a:pPr algn="l"/>
            <a:r>
              <a:rPr sz="1200" b="1">
                <a:solidFill>
                  <a:srgbClr val="4AC2B8"/>
                </a:solidFill>
                <a:latin typeface="맑은 고딕"/>
              </a:rPr>
              <a:t>메커닉 변형 아이템</a:t>
            </a:r>
          </a:p>
        </p:txBody>
      </p:sp>
      <p:sp>
        <p:nvSpPr>
          <p:cNvPr id="47" name="Rectangle 46"/>
          <p:cNvSpPr/>
          <p:nvPr/>
        </p:nvSpPr>
        <p:spPr>
          <a:xfrm>
            <a:off x="8046720" y="141732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46720" y="141732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83879" y="1463040"/>
            <a:ext cx="3291840" cy="256032"/>
          </a:xfrm>
          <a:prstGeom prst="rect">
            <a:avLst/>
          </a:prstGeom>
          <a:noFill/>
        </p:spPr>
        <p:txBody>
          <a:bodyPr wrap="square">
            <a:spAutoFit/>
          </a:bodyPr>
          <a:lstStyle/>
          <a:p>
            <a:pPr algn="l"/>
            <a:r>
              <a:rPr sz="1100" b="1">
                <a:solidFill>
                  <a:srgbClr val="C9A84C"/>
                </a:solidFill>
                <a:latin typeface="맑은 고딕"/>
              </a:rPr>
              <a:t>죄의 대가</a:t>
            </a:r>
          </a:p>
        </p:txBody>
      </p:sp>
      <p:sp>
        <p:nvSpPr>
          <p:cNvPr id="50" name="TextBox 49"/>
          <p:cNvSpPr txBox="1"/>
          <p:nvPr/>
        </p:nvSpPr>
        <p:spPr>
          <a:xfrm>
            <a:off x="8183879" y="1828800"/>
            <a:ext cx="3291840" cy="347472"/>
          </a:xfrm>
          <a:prstGeom prst="rect">
            <a:avLst/>
          </a:prstGeom>
          <a:noFill/>
        </p:spPr>
        <p:txBody>
          <a:bodyPr wrap="square">
            <a:spAutoFit/>
          </a:bodyPr>
          <a:lstStyle/>
          <a:p>
            <a:pPr algn="l"/>
            <a:r>
              <a:rPr sz="950" b="0">
                <a:solidFill>
                  <a:srgbClr val="B8BECC"/>
                </a:solidFill>
                <a:latin typeface="맑은 고딕"/>
              </a:rPr>
              <a:t>공격 시 게이지 +8 → 공격형 전환</a:t>
            </a:r>
          </a:p>
        </p:txBody>
      </p:sp>
      <p:sp>
        <p:nvSpPr>
          <p:cNvPr id="51" name="Rectangle 50"/>
          <p:cNvSpPr/>
          <p:nvPr/>
        </p:nvSpPr>
        <p:spPr>
          <a:xfrm>
            <a:off x="8046720" y="246888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46720" y="246888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3879" y="2514600"/>
            <a:ext cx="3291840" cy="256032"/>
          </a:xfrm>
          <a:prstGeom prst="rect">
            <a:avLst/>
          </a:prstGeom>
          <a:noFill/>
        </p:spPr>
        <p:txBody>
          <a:bodyPr wrap="square">
            <a:spAutoFit/>
          </a:bodyPr>
          <a:lstStyle/>
          <a:p>
            <a:pPr algn="l"/>
            <a:r>
              <a:rPr sz="1100" b="1">
                <a:solidFill>
                  <a:srgbClr val="C9A84C"/>
                </a:solidFill>
                <a:latin typeface="맑은 고딕"/>
              </a:rPr>
              <a:t>성배의 축복</a:t>
            </a:r>
          </a:p>
        </p:txBody>
      </p:sp>
      <p:sp>
        <p:nvSpPr>
          <p:cNvPr id="54" name="TextBox 53"/>
          <p:cNvSpPr txBox="1"/>
          <p:nvPr/>
        </p:nvSpPr>
        <p:spPr>
          <a:xfrm>
            <a:off x="8183879" y="2880360"/>
            <a:ext cx="3291840" cy="347472"/>
          </a:xfrm>
          <a:prstGeom prst="rect">
            <a:avLst/>
          </a:prstGeom>
          <a:noFill/>
        </p:spPr>
        <p:txBody>
          <a:bodyPr wrap="square">
            <a:spAutoFit/>
          </a:bodyPr>
          <a:lstStyle/>
          <a:p>
            <a:pPr algn="l"/>
            <a:r>
              <a:rPr sz="950" b="0">
                <a:solidFill>
                  <a:srgbClr val="B8BECC"/>
                </a:solidFill>
                <a:latin typeface="맑은 고딕"/>
              </a:rPr>
              <a:t>50마다 소폭 발동 → 지속형</a:t>
            </a:r>
          </a:p>
        </p:txBody>
      </p:sp>
      <p:sp>
        <p:nvSpPr>
          <p:cNvPr id="55" name="Rectangle 54"/>
          <p:cNvSpPr/>
          <p:nvPr/>
        </p:nvSpPr>
        <p:spPr>
          <a:xfrm>
            <a:off x="8046720" y="3520439"/>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46720" y="3520439"/>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83879" y="3566159"/>
            <a:ext cx="3291840" cy="256032"/>
          </a:xfrm>
          <a:prstGeom prst="rect">
            <a:avLst/>
          </a:prstGeom>
          <a:noFill/>
        </p:spPr>
        <p:txBody>
          <a:bodyPr wrap="square">
            <a:spAutoFit/>
          </a:bodyPr>
          <a:lstStyle/>
          <a:p>
            <a:pPr algn="l"/>
            <a:r>
              <a:rPr sz="1100" b="1">
                <a:solidFill>
                  <a:srgbClr val="C9A84C"/>
                </a:solidFill>
                <a:latin typeface="맑은 고딕"/>
              </a:rPr>
              <a:t>순교의 서약</a:t>
            </a:r>
          </a:p>
        </p:txBody>
      </p:sp>
      <p:sp>
        <p:nvSpPr>
          <p:cNvPr id="58" name="TextBox 57"/>
          <p:cNvSpPr txBox="1"/>
          <p:nvPr/>
        </p:nvSpPr>
        <p:spPr>
          <a:xfrm>
            <a:off x="8183879" y="3931920"/>
            <a:ext cx="3291840" cy="347472"/>
          </a:xfrm>
          <a:prstGeom prst="rect">
            <a:avLst/>
          </a:prstGeom>
          <a:noFill/>
        </p:spPr>
        <p:txBody>
          <a:bodyPr wrap="square">
            <a:spAutoFit/>
          </a:bodyPr>
          <a:lstStyle/>
          <a:p>
            <a:pPr algn="l"/>
            <a:r>
              <a:rPr sz="950" b="0">
                <a:solidFill>
                  <a:srgbClr val="B8BECC"/>
                </a:solidFill>
                <a:latin typeface="맑은 고딕"/>
              </a:rPr>
              <a:t>만충 효과 5초 → 10초</a:t>
            </a:r>
          </a:p>
        </p:txBody>
      </p:sp>
      <p:sp>
        <p:nvSpPr>
          <p:cNvPr id="59" name="Rectangle 58"/>
          <p:cNvSpPr/>
          <p:nvPr/>
        </p:nvSpPr>
        <p:spPr>
          <a:xfrm>
            <a:off x="365760" y="4800600"/>
            <a:ext cx="7132320" cy="16459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5760" y="4800600"/>
            <a:ext cx="71323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4855464"/>
            <a:ext cx="6858000" cy="256032"/>
          </a:xfrm>
          <a:prstGeom prst="rect">
            <a:avLst/>
          </a:prstGeom>
          <a:noFill/>
        </p:spPr>
        <p:txBody>
          <a:bodyPr wrap="square">
            <a:spAutoFit/>
          </a:bodyPr>
          <a:lstStyle/>
          <a:p>
            <a:pPr algn="l"/>
            <a:r>
              <a:rPr sz="1200" b="1">
                <a:solidFill>
                  <a:srgbClr val="4AC2B8"/>
                </a:solidFill>
                <a:latin typeface="맑은 고딕"/>
              </a:rPr>
              <a:t>해금 시 출력 대사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04  영웅 유물 — 태양의 서약  [가웨인 암시]</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04672"/>
            <a:ext cx="11247120" cy="274320"/>
          </a:xfrm>
          <a:prstGeom prst="rect">
            <a:avLst/>
          </a:prstGeom>
          <a:noFill/>
        </p:spPr>
        <p:txBody>
          <a:bodyPr wrap="square">
            <a:spAutoFit/>
          </a:bodyPr>
          <a:lstStyle/>
          <a:p>
            <a:pPr algn="l"/>
            <a:r>
              <a:rPr sz="1200" b="0">
                <a:solidFill>
                  <a:srgbClr val="B8BECC"/>
                </a:solidFill>
                <a:latin typeface="맑은 고딕"/>
              </a:rPr>
              <a:t>중전사형 / 타이밍 집중 / 버스트 딜러</a:t>
            </a:r>
          </a:p>
        </p:txBody>
      </p:sp>
      <p:sp>
        <p:nvSpPr>
          <p:cNvPr id="6" name="Rectangle 5"/>
          <p:cNvSpPr/>
          <p:nvPr/>
        </p:nvSpPr>
        <p:spPr>
          <a:xfrm>
            <a:off x="0" y="0"/>
            <a:ext cx="12188952" cy="54864"/>
          </a:xfrm>
          <a:prstGeom prst="rect">
            <a:avLst/>
          </a:prstGeom>
          <a:solidFill>
            <a:srgbClr val="FFB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274320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6012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14984"/>
            <a:ext cx="2468880" cy="256032"/>
          </a:xfrm>
          <a:prstGeom prst="rect">
            <a:avLst/>
          </a:prstGeom>
          <a:noFill/>
        </p:spPr>
        <p:txBody>
          <a:bodyPr wrap="square">
            <a:spAutoFit/>
          </a:bodyPr>
          <a:lstStyle/>
          <a:p>
            <a:pPr algn="l"/>
            <a:r>
              <a:rPr sz="1200" b="1">
                <a:solidFill>
                  <a:srgbClr val="FFB840"/>
                </a:solidFill>
                <a:latin typeface="맑은 고딕"/>
              </a:rPr>
              <a:t>기본 스탯</a:t>
            </a:r>
          </a:p>
        </p:txBody>
      </p:sp>
      <p:sp>
        <p:nvSpPr>
          <p:cNvPr id="10" name="Rectangle 9"/>
          <p:cNvSpPr/>
          <p:nvPr/>
        </p:nvSpPr>
        <p:spPr>
          <a:xfrm>
            <a:off x="502920"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417320"/>
            <a:ext cx="594360" cy="347472"/>
          </a:xfrm>
          <a:prstGeom prst="rect">
            <a:avLst/>
          </a:prstGeom>
          <a:noFill/>
        </p:spPr>
        <p:txBody>
          <a:bodyPr wrap="square">
            <a:spAutoFit/>
          </a:bodyPr>
          <a:lstStyle/>
          <a:p>
            <a:pPr algn="ctr"/>
            <a:r>
              <a:rPr sz="1500" b="1">
                <a:solidFill>
                  <a:srgbClr val="FFB840"/>
                </a:solidFill>
                <a:latin typeface="맑은 고딕"/>
              </a:rPr>
              <a:t>140</a:t>
            </a:r>
          </a:p>
        </p:txBody>
      </p:sp>
      <p:sp>
        <p:nvSpPr>
          <p:cNvPr id="12" name="TextBox 11"/>
          <p:cNvSpPr txBox="1"/>
          <p:nvPr/>
        </p:nvSpPr>
        <p:spPr>
          <a:xfrm>
            <a:off x="502920" y="1737360"/>
            <a:ext cx="594360" cy="256032"/>
          </a:xfrm>
          <a:prstGeom prst="rect">
            <a:avLst/>
          </a:prstGeom>
          <a:noFill/>
        </p:spPr>
        <p:txBody>
          <a:bodyPr wrap="square">
            <a:spAutoFit/>
          </a:bodyPr>
          <a:lstStyle/>
          <a:p>
            <a:pPr algn="ctr"/>
            <a:r>
              <a:rPr sz="800" b="0">
                <a:solidFill>
                  <a:srgbClr val="727A8E"/>
                </a:solidFill>
                <a:latin typeface="맑은 고딕"/>
              </a:rPr>
              <a:t>HP</a:t>
            </a:r>
          </a:p>
        </p:txBody>
      </p:sp>
      <p:sp>
        <p:nvSpPr>
          <p:cNvPr id="13" name="Rectangle 12"/>
          <p:cNvSpPr/>
          <p:nvPr/>
        </p:nvSpPr>
        <p:spPr>
          <a:xfrm>
            <a:off x="1161288"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1417320"/>
            <a:ext cx="594360" cy="347472"/>
          </a:xfrm>
          <a:prstGeom prst="rect">
            <a:avLst/>
          </a:prstGeom>
          <a:noFill/>
        </p:spPr>
        <p:txBody>
          <a:bodyPr wrap="square">
            <a:spAutoFit/>
          </a:bodyPr>
          <a:lstStyle/>
          <a:p>
            <a:pPr algn="ctr"/>
            <a:r>
              <a:rPr sz="1500" b="1">
                <a:solidFill>
                  <a:srgbClr val="FFB840"/>
                </a:solidFill>
                <a:latin typeface="맑은 고딕"/>
              </a:rPr>
              <a:t>105</a:t>
            </a:r>
          </a:p>
        </p:txBody>
      </p:sp>
      <p:sp>
        <p:nvSpPr>
          <p:cNvPr id="15" name="TextBox 14"/>
          <p:cNvSpPr txBox="1"/>
          <p:nvPr/>
        </p:nvSpPr>
        <p:spPr>
          <a:xfrm>
            <a:off x="1161288" y="1737360"/>
            <a:ext cx="594360" cy="256032"/>
          </a:xfrm>
          <a:prstGeom prst="rect">
            <a:avLst/>
          </a:prstGeom>
          <a:noFill/>
        </p:spPr>
        <p:txBody>
          <a:bodyPr wrap="square">
            <a:spAutoFit/>
          </a:bodyPr>
          <a:lstStyle/>
          <a:p>
            <a:pPr algn="ctr"/>
            <a:r>
              <a:rPr sz="800" b="0">
                <a:solidFill>
                  <a:srgbClr val="727A8E"/>
                </a:solidFill>
                <a:latin typeface="맑은 고딕"/>
              </a:rPr>
              <a:t>ATK</a:t>
            </a:r>
          </a:p>
        </p:txBody>
      </p:sp>
      <p:sp>
        <p:nvSpPr>
          <p:cNvPr id="16" name="Rectangle 15"/>
          <p:cNvSpPr/>
          <p:nvPr/>
        </p:nvSpPr>
        <p:spPr>
          <a:xfrm>
            <a:off x="1819656"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19656" y="1417320"/>
            <a:ext cx="594360" cy="347472"/>
          </a:xfrm>
          <a:prstGeom prst="rect">
            <a:avLst/>
          </a:prstGeom>
          <a:noFill/>
        </p:spPr>
        <p:txBody>
          <a:bodyPr wrap="square">
            <a:spAutoFit/>
          </a:bodyPr>
          <a:lstStyle/>
          <a:p>
            <a:pPr algn="ctr"/>
            <a:r>
              <a:rPr sz="1500" b="1">
                <a:solidFill>
                  <a:srgbClr val="FFB840"/>
                </a:solidFill>
                <a:latin typeface="맑은 고딕"/>
              </a:rPr>
              <a:t>35</a:t>
            </a:r>
          </a:p>
        </p:txBody>
      </p:sp>
      <p:sp>
        <p:nvSpPr>
          <p:cNvPr id="18" name="TextBox 17"/>
          <p:cNvSpPr txBox="1"/>
          <p:nvPr/>
        </p:nvSpPr>
        <p:spPr>
          <a:xfrm>
            <a:off x="1819656" y="1737360"/>
            <a:ext cx="594360" cy="256032"/>
          </a:xfrm>
          <a:prstGeom prst="rect">
            <a:avLst/>
          </a:prstGeom>
          <a:noFill/>
        </p:spPr>
        <p:txBody>
          <a:bodyPr wrap="square">
            <a:spAutoFit/>
          </a:bodyPr>
          <a:lstStyle/>
          <a:p>
            <a:pPr algn="ctr"/>
            <a:r>
              <a:rPr sz="800" b="0">
                <a:solidFill>
                  <a:srgbClr val="727A8E"/>
                </a:solidFill>
                <a:latin typeface="맑은 고딕"/>
              </a:rPr>
              <a:t>DEF</a:t>
            </a:r>
          </a:p>
        </p:txBody>
      </p:sp>
      <p:sp>
        <p:nvSpPr>
          <p:cNvPr id="19" name="Rectangle 18"/>
          <p:cNvSpPr/>
          <p:nvPr/>
        </p:nvSpPr>
        <p:spPr>
          <a:xfrm>
            <a:off x="2478024" y="1371600"/>
            <a:ext cx="594360" cy="77724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78024" y="1417320"/>
            <a:ext cx="594360" cy="347472"/>
          </a:xfrm>
          <a:prstGeom prst="rect">
            <a:avLst/>
          </a:prstGeom>
          <a:noFill/>
        </p:spPr>
        <p:txBody>
          <a:bodyPr wrap="square">
            <a:spAutoFit/>
          </a:bodyPr>
          <a:lstStyle/>
          <a:p>
            <a:pPr algn="ctr"/>
            <a:r>
              <a:rPr sz="1500" b="1">
                <a:solidFill>
                  <a:srgbClr val="FFB840"/>
                </a:solidFill>
                <a:latin typeface="맑은 고딕"/>
              </a:rPr>
              <a:t>×0.85</a:t>
            </a:r>
          </a:p>
        </p:txBody>
      </p:sp>
      <p:sp>
        <p:nvSpPr>
          <p:cNvPr id="21" name="TextBox 20"/>
          <p:cNvSpPr txBox="1"/>
          <p:nvPr/>
        </p:nvSpPr>
        <p:spPr>
          <a:xfrm>
            <a:off x="2478024" y="1737360"/>
            <a:ext cx="594360" cy="256032"/>
          </a:xfrm>
          <a:prstGeom prst="rect">
            <a:avLst/>
          </a:prstGeom>
          <a:noFill/>
        </p:spPr>
        <p:txBody>
          <a:bodyPr wrap="square">
            <a:spAutoFit/>
          </a:bodyPr>
          <a:lstStyle/>
          <a:p>
            <a:pPr algn="ctr"/>
            <a:r>
              <a:rPr sz="800" b="0">
                <a:solidFill>
                  <a:srgbClr val="727A8E"/>
                </a:solidFill>
                <a:latin typeface="맑은 고딕"/>
              </a:rPr>
              <a:t>SPD</a:t>
            </a:r>
          </a:p>
        </p:txBody>
      </p:sp>
      <p:sp>
        <p:nvSpPr>
          <p:cNvPr id="22" name="Rectangle 21"/>
          <p:cNvSpPr/>
          <p:nvPr/>
        </p:nvSpPr>
        <p:spPr>
          <a:xfrm>
            <a:off x="365760" y="2651760"/>
            <a:ext cx="274320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65176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706624"/>
            <a:ext cx="2468880" cy="256032"/>
          </a:xfrm>
          <a:prstGeom prst="rect">
            <a:avLst/>
          </a:prstGeom>
          <a:noFill/>
        </p:spPr>
        <p:txBody>
          <a:bodyPr wrap="square">
            <a:spAutoFit/>
          </a:bodyPr>
          <a:lstStyle/>
          <a:p>
            <a:pPr algn="l"/>
            <a:r>
              <a:rPr sz="1200" b="1">
                <a:solidFill>
                  <a:srgbClr val="FFB840"/>
                </a:solidFill>
                <a:latin typeface="맑은 고딕"/>
              </a:rPr>
              <a:t>고유 패시브</a:t>
            </a:r>
          </a:p>
        </p:txBody>
      </p:sp>
      <p:sp>
        <p:nvSpPr>
          <p:cNvPr id="25" name="Rectangle 24"/>
          <p:cNvSpPr/>
          <p:nvPr/>
        </p:nvSpPr>
        <p:spPr>
          <a:xfrm>
            <a:off x="502920" y="30906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18103"/>
            <a:ext cx="2194560" cy="237744"/>
          </a:xfrm>
          <a:prstGeom prst="rect">
            <a:avLst/>
          </a:prstGeom>
          <a:noFill/>
        </p:spPr>
        <p:txBody>
          <a:bodyPr wrap="square">
            <a:spAutoFit/>
          </a:bodyPr>
          <a:lstStyle/>
          <a:p>
            <a:pPr algn="l"/>
            <a:r>
              <a:rPr sz="1000" b="1">
                <a:solidFill>
                  <a:srgbClr val="FFB840"/>
                </a:solidFill>
                <a:latin typeface="맑은 고딕"/>
              </a:rPr>
              <a:t>정오의 서약</a:t>
            </a:r>
          </a:p>
        </p:txBody>
      </p:sp>
      <p:sp>
        <p:nvSpPr>
          <p:cNvPr id="27" name="TextBox 26"/>
          <p:cNvSpPr txBox="1"/>
          <p:nvPr/>
        </p:nvSpPr>
        <p:spPr>
          <a:xfrm>
            <a:off x="640080" y="3364991"/>
            <a:ext cx="2194560" cy="256032"/>
          </a:xfrm>
          <a:prstGeom prst="rect">
            <a:avLst/>
          </a:prstGeom>
          <a:noFill/>
        </p:spPr>
        <p:txBody>
          <a:bodyPr wrap="square">
            <a:spAutoFit/>
          </a:bodyPr>
          <a:lstStyle/>
          <a:p>
            <a:pPr algn="l"/>
            <a:r>
              <a:rPr sz="850" b="0">
                <a:solidFill>
                  <a:srgbClr val="B8BECC"/>
                </a:solidFill>
                <a:latin typeface="맑은 고딕"/>
              </a:rPr>
              <a:t>태양 타이머 강화 구간에서 공격력 +200%</a:t>
            </a:r>
          </a:p>
        </p:txBody>
      </p:sp>
      <p:sp>
        <p:nvSpPr>
          <p:cNvPr id="28" name="Rectangle 27"/>
          <p:cNvSpPr/>
          <p:nvPr/>
        </p:nvSpPr>
        <p:spPr>
          <a:xfrm>
            <a:off x="502920" y="3776472"/>
            <a:ext cx="246888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803904"/>
            <a:ext cx="2194560" cy="237744"/>
          </a:xfrm>
          <a:prstGeom prst="rect">
            <a:avLst/>
          </a:prstGeom>
          <a:noFill/>
        </p:spPr>
        <p:txBody>
          <a:bodyPr wrap="square">
            <a:spAutoFit/>
          </a:bodyPr>
          <a:lstStyle/>
          <a:p>
            <a:pPr algn="l"/>
            <a:r>
              <a:rPr sz="1000" b="1">
                <a:solidFill>
                  <a:srgbClr val="FFB840"/>
                </a:solidFill>
                <a:latin typeface="맑은 고딕"/>
              </a:rPr>
              <a:t>명예의 기사</a:t>
            </a:r>
          </a:p>
        </p:txBody>
      </p:sp>
      <p:sp>
        <p:nvSpPr>
          <p:cNvPr id="30" name="TextBox 29"/>
          <p:cNvSpPr txBox="1"/>
          <p:nvPr/>
        </p:nvSpPr>
        <p:spPr>
          <a:xfrm>
            <a:off x="640080" y="4050791"/>
            <a:ext cx="2194560" cy="256032"/>
          </a:xfrm>
          <a:prstGeom prst="rect">
            <a:avLst/>
          </a:prstGeom>
          <a:noFill/>
        </p:spPr>
        <p:txBody>
          <a:bodyPr wrap="square">
            <a:spAutoFit/>
          </a:bodyPr>
          <a:lstStyle/>
          <a:p>
            <a:pPr algn="l"/>
            <a:r>
              <a:rPr sz="850" b="0">
                <a:solidFill>
                  <a:srgbClr val="B8BECC"/>
                </a:solidFill>
                <a:latin typeface="맑은 고딕"/>
              </a:rPr>
              <a:t>HP 50% 이상 시 방어력 +25%, 받는 피해 -10%</a:t>
            </a:r>
          </a:p>
        </p:txBody>
      </p:sp>
      <p:sp>
        <p:nvSpPr>
          <p:cNvPr id="31" name="Rectangle 30"/>
          <p:cNvSpPr/>
          <p:nvPr/>
        </p:nvSpPr>
        <p:spPr>
          <a:xfrm>
            <a:off x="3291840" y="960120"/>
            <a:ext cx="4389120" cy="15544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91840" y="96012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29000" y="1014984"/>
            <a:ext cx="4114800" cy="256032"/>
          </a:xfrm>
          <a:prstGeom prst="rect">
            <a:avLst/>
          </a:prstGeom>
          <a:noFill/>
        </p:spPr>
        <p:txBody>
          <a:bodyPr wrap="square">
            <a:spAutoFit/>
          </a:bodyPr>
          <a:lstStyle/>
          <a:p>
            <a:pPr algn="l"/>
            <a:r>
              <a:rPr sz="1200" b="1">
                <a:solidFill>
                  <a:srgbClr val="FFB840"/>
                </a:solidFill>
                <a:latin typeface="맑은 고딕"/>
              </a:rPr>
              <a:t>고유 스킬</a:t>
            </a:r>
          </a:p>
        </p:txBody>
      </p:sp>
      <p:sp>
        <p:nvSpPr>
          <p:cNvPr id="34" name="TextBox 33"/>
          <p:cNvSpPr txBox="1"/>
          <p:nvPr/>
        </p:nvSpPr>
        <p:spPr>
          <a:xfrm>
            <a:off x="3474720" y="1298448"/>
            <a:ext cx="2743200" cy="320040"/>
          </a:xfrm>
          <a:prstGeom prst="rect">
            <a:avLst/>
          </a:prstGeom>
          <a:noFill/>
        </p:spPr>
        <p:txBody>
          <a:bodyPr wrap="square">
            <a:spAutoFit/>
          </a:bodyPr>
          <a:lstStyle/>
          <a:p>
            <a:pPr algn="l"/>
            <a:r>
              <a:rPr sz="1300" b="1">
                <a:solidFill>
                  <a:srgbClr val="FFB840"/>
                </a:solidFill>
                <a:latin typeface="맑은 고딕"/>
              </a:rPr>
              <a:t>태양의 강타</a:t>
            </a:r>
          </a:p>
        </p:txBody>
      </p:sp>
      <p:sp>
        <p:nvSpPr>
          <p:cNvPr id="35" name="TextBox 34"/>
          <p:cNvSpPr txBox="1"/>
          <p:nvPr/>
        </p:nvSpPr>
        <p:spPr>
          <a:xfrm>
            <a:off x="6309360" y="1371600"/>
            <a:ext cx="1188720" cy="228600"/>
          </a:xfrm>
          <a:prstGeom prst="rect">
            <a:avLst/>
          </a:prstGeom>
          <a:noFill/>
        </p:spPr>
        <p:txBody>
          <a:bodyPr wrap="square">
            <a:spAutoFit/>
          </a:bodyPr>
          <a:lstStyle/>
          <a:p>
            <a:pPr algn="r"/>
            <a:r>
              <a:rPr sz="900" b="0">
                <a:solidFill>
                  <a:srgbClr val="727A8E"/>
                </a:solidFill>
                <a:latin typeface="맑은 고딕"/>
              </a:rPr>
              <a:t>쿨다운 20초</a:t>
            </a:r>
          </a:p>
        </p:txBody>
      </p:sp>
      <p:sp>
        <p:nvSpPr>
          <p:cNvPr id="36" name="TextBox 35"/>
          <p:cNvSpPr txBox="1"/>
          <p:nvPr/>
        </p:nvSpPr>
        <p:spPr>
          <a:xfrm>
            <a:off x="3474720" y="1664208"/>
            <a:ext cx="4023360" cy="749808"/>
          </a:xfrm>
          <a:prstGeom prst="rect">
            <a:avLst/>
          </a:prstGeom>
          <a:noFill/>
        </p:spPr>
        <p:txBody>
          <a:bodyPr wrap="square">
            <a:spAutoFit/>
          </a:bodyPr>
          <a:lstStyle/>
          <a:p>
            <a:pPr algn="l"/>
            <a:r>
              <a:rPr sz="1000" b="0">
                <a:solidFill>
                  <a:srgbClr val="B8BECC"/>
                </a:solidFill>
                <a:latin typeface="맑은 고딕"/>
              </a:rPr>
              <a:t>전방 3m 광역 내리찍기. 피해 공격력 ×250%
강화 구간 사용 시 피해 +100%, 범위 +80%</a:t>
            </a:r>
          </a:p>
        </p:txBody>
      </p:sp>
      <p:sp>
        <p:nvSpPr>
          <p:cNvPr id="37" name="Rectangle 36"/>
          <p:cNvSpPr/>
          <p:nvPr/>
        </p:nvSpPr>
        <p:spPr>
          <a:xfrm>
            <a:off x="3291840" y="2651760"/>
            <a:ext cx="4389120" cy="20116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91840" y="2651760"/>
            <a:ext cx="43891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29000" y="2706624"/>
            <a:ext cx="4114800" cy="256032"/>
          </a:xfrm>
          <a:prstGeom prst="rect">
            <a:avLst/>
          </a:prstGeom>
          <a:noFill/>
        </p:spPr>
        <p:txBody>
          <a:bodyPr wrap="square">
            <a:spAutoFit/>
          </a:bodyPr>
          <a:lstStyle/>
          <a:p>
            <a:pPr algn="l"/>
            <a:r>
              <a:rPr sz="1200" b="1">
                <a:solidFill>
                  <a:srgbClr val="FFB840"/>
                </a:solidFill>
                <a:latin typeface="맑은 고딕"/>
              </a:rPr>
              <a:t>고유 메커닉 — 태양 타이머</a:t>
            </a:r>
          </a:p>
        </p:txBody>
      </p:sp>
      <p:sp>
        <p:nvSpPr>
          <p:cNvPr id="40" name="TextBox 39"/>
          <p:cNvSpPr txBox="1"/>
          <p:nvPr/>
        </p:nvSpPr>
        <p:spPr>
          <a:xfrm>
            <a:off x="3474720" y="3090672"/>
            <a:ext cx="4023360" cy="347472"/>
          </a:xfrm>
          <a:prstGeom prst="rect">
            <a:avLst/>
          </a:prstGeom>
          <a:noFill/>
        </p:spPr>
        <p:txBody>
          <a:bodyPr wrap="square">
            <a:spAutoFit/>
          </a:bodyPr>
          <a:lstStyle/>
          <a:p>
            <a:pPr algn="l"/>
            <a:r>
              <a:rPr sz="1000" b="0">
                <a:solidFill>
                  <a:srgbClr val="FFFFFF"/>
                </a:solidFill>
                <a:latin typeface="맑은 고딕"/>
              </a:rPr>
              <a:t>▸  강화 구간 20초: 공격력 +200%, 방어 +30%</a:t>
            </a:r>
          </a:p>
        </p:txBody>
      </p:sp>
      <p:sp>
        <p:nvSpPr>
          <p:cNvPr id="41" name="TextBox 40"/>
          <p:cNvSpPr txBox="1"/>
          <p:nvPr/>
        </p:nvSpPr>
        <p:spPr>
          <a:xfrm>
            <a:off x="3474720" y="3493008"/>
            <a:ext cx="4023360" cy="347472"/>
          </a:xfrm>
          <a:prstGeom prst="rect">
            <a:avLst/>
          </a:prstGeom>
          <a:noFill/>
        </p:spPr>
        <p:txBody>
          <a:bodyPr wrap="square">
            <a:spAutoFit/>
          </a:bodyPr>
          <a:lstStyle/>
          <a:p>
            <a:pPr algn="l"/>
            <a:r>
              <a:rPr sz="1000" b="0">
                <a:solidFill>
                  <a:srgbClr val="FFFFFF"/>
                </a:solidFill>
                <a:latin typeface="맑은 고딕"/>
              </a:rPr>
              <a:t>▸  약화 구간 15초: 공격력 -20%</a:t>
            </a:r>
          </a:p>
        </p:txBody>
      </p:sp>
      <p:sp>
        <p:nvSpPr>
          <p:cNvPr id="42" name="TextBox 41"/>
          <p:cNvSpPr txBox="1"/>
          <p:nvPr/>
        </p:nvSpPr>
        <p:spPr>
          <a:xfrm>
            <a:off x="3474720" y="3895344"/>
            <a:ext cx="4023360" cy="347472"/>
          </a:xfrm>
          <a:prstGeom prst="rect">
            <a:avLst/>
          </a:prstGeom>
          <a:noFill/>
        </p:spPr>
        <p:txBody>
          <a:bodyPr wrap="square">
            <a:spAutoFit/>
          </a:bodyPr>
          <a:lstStyle/>
          <a:p>
            <a:pPr algn="l"/>
            <a:r>
              <a:rPr sz="1000" b="0">
                <a:solidFill>
                  <a:srgbClr val="FFFFFF"/>
                </a:solidFill>
                <a:latin typeface="맑은 고딕"/>
              </a:rPr>
              <a:t>▸  전략: 강화=공세 / 약화=회피·준비</a:t>
            </a:r>
          </a:p>
        </p:txBody>
      </p:sp>
      <p:sp>
        <p:nvSpPr>
          <p:cNvPr id="43" name="Rectangle 42"/>
          <p:cNvSpPr/>
          <p:nvPr/>
        </p:nvSpPr>
        <p:spPr>
          <a:xfrm>
            <a:off x="7863840" y="960120"/>
            <a:ext cx="3931920" cy="37033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863840" y="960120"/>
            <a:ext cx="39319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01000" y="1014984"/>
            <a:ext cx="3657600" cy="256032"/>
          </a:xfrm>
          <a:prstGeom prst="rect">
            <a:avLst/>
          </a:prstGeom>
          <a:noFill/>
        </p:spPr>
        <p:txBody>
          <a:bodyPr wrap="square">
            <a:spAutoFit/>
          </a:bodyPr>
          <a:lstStyle/>
          <a:p>
            <a:pPr algn="l"/>
            <a:r>
              <a:rPr sz="1200" b="1">
                <a:solidFill>
                  <a:srgbClr val="FFB840"/>
                </a:solidFill>
                <a:latin typeface="맑은 고딕"/>
              </a:rPr>
              <a:t>메커닉 변형 아이템</a:t>
            </a:r>
          </a:p>
        </p:txBody>
      </p:sp>
      <p:sp>
        <p:nvSpPr>
          <p:cNvPr id="46" name="Rectangle 45"/>
          <p:cNvSpPr/>
          <p:nvPr/>
        </p:nvSpPr>
        <p:spPr>
          <a:xfrm>
            <a:off x="8046720" y="141732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46720" y="141732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83879" y="1463040"/>
            <a:ext cx="3291840" cy="256032"/>
          </a:xfrm>
          <a:prstGeom prst="rect">
            <a:avLst/>
          </a:prstGeom>
          <a:noFill/>
        </p:spPr>
        <p:txBody>
          <a:bodyPr wrap="square">
            <a:spAutoFit/>
          </a:bodyPr>
          <a:lstStyle/>
          <a:p>
            <a:pPr algn="l"/>
            <a:r>
              <a:rPr sz="1100" b="1">
                <a:solidFill>
                  <a:srgbClr val="C9A84C"/>
                </a:solidFill>
                <a:latin typeface="맑은 고딕"/>
              </a:rPr>
              <a:t>영원한 정오</a:t>
            </a:r>
          </a:p>
        </p:txBody>
      </p:sp>
      <p:sp>
        <p:nvSpPr>
          <p:cNvPr id="49" name="TextBox 48"/>
          <p:cNvSpPr txBox="1"/>
          <p:nvPr/>
        </p:nvSpPr>
        <p:spPr>
          <a:xfrm>
            <a:off x="8183879" y="1828800"/>
            <a:ext cx="3291840" cy="347472"/>
          </a:xfrm>
          <a:prstGeom prst="rect">
            <a:avLst/>
          </a:prstGeom>
          <a:noFill/>
        </p:spPr>
        <p:txBody>
          <a:bodyPr wrap="square">
            <a:spAutoFit/>
          </a:bodyPr>
          <a:lstStyle/>
          <a:p>
            <a:pPr algn="l"/>
            <a:r>
              <a:rPr sz="950" b="0">
                <a:solidFill>
                  <a:srgbClr val="B8BECC"/>
                </a:solidFill>
                <a:latin typeface="맑은 고딕"/>
              </a:rPr>
              <a:t>타이머 고정 → 지속 딜 빌드</a:t>
            </a:r>
          </a:p>
        </p:txBody>
      </p:sp>
      <p:sp>
        <p:nvSpPr>
          <p:cNvPr id="50" name="Rectangle 49"/>
          <p:cNvSpPr/>
          <p:nvPr/>
        </p:nvSpPr>
        <p:spPr>
          <a:xfrm>
            <a:off x="8046720" y="2468880"/>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46720" y="2468880"/>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83879" y="2514600"/>
            <a:ext cx="3291840" cy="256032"/>
          </a:xfrm>
          <a:prstGeom prst="rect">
            <a:avLst/>
          </a:prstGeom>
          <a:noFill/>
        </p:spPr>
        <p:txBody>
          <a:bodyPr wrap="square">
            <a:spAutoFit/>
          </a:bodyPr>
          <a:lstStyle/>
          <a:p>
            <a:pPr algn="l"/>
            <a:r>
              <a:rPr sz="1100" b="1">
                <a:solidFill>
                  <a:srgbClr val="C9A84C"/>
                </a:solidFill>
                <a:latin typeface="맑은 고딕"/>
              </a:rPr>
              <a:t>일몰의 역설</a:t>
            </a:r>
          </a:p>
        </p:txBody>
      </p:sp>
      <p:sp>
        <p:nvSpPr>
          <p:cNvPr id="53" name="TextBox 52"/>
          <p:cNvSpPr txBox="1"/>
          <p:nvPr/>
        </p:nvSpPr>
        <p:spPr>
          <a:xfrm>
            <a:off x="8183879" y="2880360"/>
            <a:ext cx="3291840" cy="347472"/>
          </a:xfrm>
          <a:prstGeom prst="rect">
            <a:avLst/>
          </a:prstGeom>
          <a:noFill/>
        </p:spPr>
        <p:txBody>
          <a:bodyPr wrap="square">
            <a:spAutoFit/>
          </a:bodyPr>
          <a:lstStyle/>
          <a:p>
            <a:pPr algn="l"/>
            <a:r>
              <a:rPr sz="950" b="0">
                <a:solidFill>
                  <a:srgbClr val="B8BECC"/>
                </a:solidFill>
                <a:latin typeface="맑은 고딕"/>
              </a:rPr>
              <a:t>약화 구간도 강화 50% 적용</a:t>
            </a:r>
          </a:p>
        </p:txBody>
      </p:sp>
      <p:sp>
        <p:nvSpPr>
          <p:cNvPr id="54" name="Rectangle 53"/>
          <p:cNvSpPr/>
          <p:nvPr/>
        </p:nvSpPr>
        <p:spPr>
          <a:xfrm>
            <a:off x="8046720" y="3520439"/>
            <a:ext cx="3566160" cy="86868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46720" y="3520439"/>
            <a:ext cx="3566160" cy="347472"/>
          </a:xfrm>
          <a:prstGeom prst="rect">
            <a:avLst/>
          </a:prstGeom>
          <a:solidFill>
            <a:srgbClr val="2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83879" y="3566159"/>
            <a:ext cx="3291840" cy="256032"/>
          </a:xfrm>
          <a:prstGeom prst="rect">
            <a:avLst/>
          </a:prstGeom>
          <a:noFill/>
        </p:spPr>
        <p:txBody>
          <a:bodyPr wrap="square">
            <a:spAutoFit/>
          </a:bodyPr>
          <a:lstStyle/>
          <a:p>
            <a:pPr algn="l"/>
            <a:r>
              <a:rPr sz="1100" b="1">
                <a:solidFill>
                  <a:srgbClr val="C9A84C"/>
                </a:solidFill>
                <a:latin typeface="맑은 고딕"/>
              </a:rPr>
              <a:t>태양의 분노</a:t>
            </a:r>
          </a:p>
        </p:txBody>
      </p:sp>
      <p:sp>
        <p:nvSpPr>
          <p:cNvPr id="57" name="TextBox 56"/>
          <p:cNvSpPr txBox="1"/>
          <p:nvPr/>
        </p:nvSpPr>
        <p:spPr>
          <a:xfrm>
            <a:off x="8183879" y="3931920"/>
            <a:ext cx="3291840" cy="347472"/>
          </a:xfrm>
          <a:prstGeom prst="rect">
            <a:avLst/>
          </a:prstGeom>
          <a:noFill/>
        </p:spPr>
        <p:txBody>
          <a:bodyPr wrap="square">
            <a:spAutoFit/>
          </a:bodyPr>
          <a:lstStyle/>
          <a:p>
            <a:pPr algn="l"/>
            <a:r>
              <a:rPr sz="950" b="0">
                <a:solidFill>
                  <a:srgbClr val="B8BECC"/>
                </a:solidFill>
                <a:latin typeface="맑은 고딕"/>
              </a:rPr>
              <a:t>피격 시 강화 타이머 +3초</a:t>
            </a:r>
          </a:p>
        </p:txBody>
      </p:sp>
      <p:sp>
        <p:nvSpPr>
          <p:cNvPr id="58" name="Rectangle 57"/>
          <p:cNvSpPr/>
          <p:nvPr/>
        </p:nvSpPr>
        <p:spPr>
          <a:xfrm>
            <a:off x="365760" y="4800600"/>
            <a:ext cx="7132320" cy="16459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65760" y="4800600"/>
            <a:ext cx="71323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 y="4855464"/>
            <a:ext cx="6858000" cy="256032"/>
          </a:xfrm>
          <a:prstGeom prst="rect">
            <a:avLst/>
          </a:prstGeom>
          <a:noFill/>
        </p:spPr>
        <p:txBody>
          <a:bodyPr wrap="square">
            <a:spAutoFit/>
          </a:bodyPr>
          <a:lstStyle/>
          <a:p>
            <a:pPr algn="l"/>
            <a:r>
              <a:rPr sz="1200" b="1">
                <a:solidFill>
                  <a:srgbClr val="FFB840"/>
                </a:solidFill>
                <a:latin typeface="맑은 고딕"/>
              </a:rPr>
              <a:t>해금 시 출력 대사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05  장비 &amp; 빌드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Equipment &amp; Build 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05  장비 &amp; 빌드 — 조합표 &amp; 아이템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77724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77724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7498079" cy="256032"/>
          </a:xfrm>
          <a:prstGeom prst="rect">
            <a:avLst/>
          </a:prstGeom>
          <a:noFill/>
        </p:spPr>
        <p:txBody>
          <a:bodyPr wrap="square">
            <a:spAutoFit/>
          </a:bodyPr>
          <a:lstStyle/>
          <a:p>
            <a:pPr algn="l"/>
            <a:r>
              <a:rPr sz="1200" b="1">
                <a:solidFill>
                  <a:srgbClr val="C9A84C"/>
                </a:solidFill>
                <a:latin typeface="맑은 고딕"/>
              </a:rPr>
              <a:t>영웅 × 장비 시너지 조합표</a:t>
            </a:r>
          </a:p>
        </p:txBody>
      </p:sp>
      <p:sp>
        <p:nvSpPr>
          <p:cNvPr id="8" name="Rectangle 7"/>
          <p:cNvSpPr/>
          <p:nvPr/>
        </p:nvSpPr>
        <p:spPr>
          <a:xfrm>
            <a:off x="502920" y="1417320"/>
            <a:ext cx="173736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53896"/>
            <a:ext cx="1591056" cy="676656"/>
          </a:xfrm>
          <a:prstGeom prst="rect">
            <a:avLst/>
          </a:prstGeom>
          <a:noFill/>
        </p:spPr>
        <p:txBody>
          <a:bodyPr wrap="square">
            <a:spAutoFit/>
          </a:bodyPr>
          <a:lstStyle/>
          <a:p>
            <a:pPr algn="ctr"/>
            <a:r>
              <a:rPr sz="1000" b="1">
                <a:solidFill>
                  <a:srgbClr val="C9A84C"/>
                </a:solidFill>
                <a:latin typeface="맑은 고딕"/>
              </a:rPr>
              <a:t>영웅 유물</a:t>
            </a:r>
          </a:p>
        </p:txBody>
      </p:sp>
      <p:sp>
        <p:nvSpPr>
          <p:cNvPr id="10" name="Rectangle 9"/>
          <p:cNvSpPr/>
          <p:nvPr/>
        </p:nvSpPr>
        <p:spPr>
          <a:xfrm>
            <a:off x="224028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13432" y="1453896"/>
            <a:ext cx="950976" cy="676656"/>
          </a:xfrm>
          <a:prstGeom prst="rect">
            <a:avLst/>
          </a:prstGeom>
          <a:noFill/>
        </p:spPr>
        <p:txBody>
          <a:bodyPr wrap="square">
            <a:spAutoFit/>
          </a:bodyPr>
          <a:lstStyle/>
          <a:p>
            <a:pPr algn="ctr"/>
            <a:r>
              <a:rPr sz="1000" b="1">
                <a:solidFill>
                  <a:srgbClr val="C9A84C"/>
                </a:solidFill>
                <a:latin typeface="맑은 고딕"/>
              </a:rPr>
              <a:t>카타나</a:t>
            </a:r>
          </a:p>
        </p:txBody>
      </p:sp>
      <p:sp>
        <p:nvSpPr>
          <p:cNvPr id="12" name="Rectangle 11"/>
          <p:cNvSpPr/>
          <p:nvPr/>
        </p:nvSpPr>
        <p:spPr>
          <a:xfrm>
            <a:off x="333756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453896"/>
            <a:ext cx="950976" cy="676656"/>
          </a:xfrm>
          <a:prstGeom prst="rect">
            <a:avLst/>
          </a:prstGeom>
          <a:noFill/>
        </p:spPr>
        <p:txBody>
          <a:bodyPr wrap="square">
            <a:spAutoFit/>
          </a:bodyPr>
          <a:lstStyle/>
          <a:p>
            <a:pPr algn="ctr"/>
            <a:r>
              <a:rPr sz="1000" b="1">
                <a:solidFill>
                  <a:srgbClr val="C9A84C"/>
                </a:solidFill>
                <a:latin typeface="맑은 고딕"/>
              </a:rPr>
              <a:t>대검</a:t>
            </a:r>
          </a:p>
        </p:txBody>
      </p:sp>
      <p:sp>
        <p:nvSpPr>
          <p:cNvPr id="14" name="Rectangle 13"/>
          <p:cNvSpPr/>
          <p:nvPr/>
        </p:nvSpPr>
        <p:spPr>
          <a:xfrm>
            <a:off x="443484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453896"/>
            <a:ext cx="950976" cy="676656"/>
          </a:xfrm>
          <a:prstGeom prst="rect">
            <a:avLst/>
          </a:prstGeom>
          <a:noFill/>
        </p:spPr>
        <p:txBody>
          <a:bodyPr wrap="square">
            <a:spAutoFit/>
          </a:bodyPr>
          <a:lstStyle/>
          <a:p>
            <a:pPr algn="ctr"/>
            <a:r>
              <a:rPr sz="1000" b="1">
                <a:solidFill>
                  <a:srgbClr val="C9A84C"/>
                </a:solidFill>
                <a:latin typeface="맑은 고딕"/>
              </a:rPr>
              <a:t>창</a:t>
            </a:r>
          </a:p>
        </p:txBody>
      </p:sp>
      <p:sp>
        <p:nvSpPr>
          <p:cNvPr id="16" name="Rectangle 15"/>
          <p:cNvSpPr/>
          <p:nvPr/>
        </p:nvSpPr>
        <p:spPr>
          <a:xfrm>
            <a:off x="553212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1453896"/>
            <a:ext cx="950976" cy="676656"/>
          </a:xfrm>
          <a:prstGeom prst="rect">
            <a:avLst/>
          </a:prstGeom>
          <a:noFill/>
        </p:spPr>
        <p:txBody>
          <a:bodyPr wrap="square">
            <a:spAutoFit/>
          </a:bodyPr>
          <a:lstStyle/>
          <a:p>
            <a:pPr algn="ctr"/>
            <a:r>
              <a:rPr sz="1000" b="1">
                <a:solidFill>
                  <a:srgbClr val="C9A84C"/>
                </a:solidFill>
                <a:latin typeface="맑은 고딕"/>
              </a:rPr>
              <a:t>활</a:t>
            </a:r>
          </a:p>
        </p:txBody>
      </p:sp>
      <p:sp>
        <p:nvSpPr>
          <p:cNvPr id="18" name="Rectangle 17"/>
          <p:cNvSpPr/>
          <p:nvPr/>
        </p:nvSpPr>
        <p:spPr>
          <a:xfrm>
            <a:off x="6629400" y="1417320"/>
            <a:ext cx="1097280" cy="74980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1453896"/>
            <a:ext cx="950976" cy="676656"/>
          </a:xfrm>
          <a:prstGeom prst="rect">
            <a:avLst/>
          </a:prstGeom>
          <a:noFill/>
        </p:spPr>
        <p:txBody>
          <a:bodyPr wrap="square">
            <a:spAutoFit/>
          </a:bodyPr>
          <a:lstStyle/>
          <a:p>
            <a:pPr algn="ctr"/>
            <a:r>
              <a:rPr sz="1000" b="1">
                <a:solidFill>
                  <a:srgbClr val="C9A84C"/>
                </a:solidFill>
                <a:latin typeface="맑은 고딕"/>
              </a:rPr>
              <a:t>검+방패</a:t>
            </a:r>
          </a:p>
        </p:txBody>
      </p:sp>
      <p:sp>
        <p:nvSpPr>
          <p:cNvPr id="20" name="Rectangle 19"/>
          <p:cNvSpPr/>
          <p:nvPr/>
        </p:nvSpPr>
        <p:spPr>
          <a:xfrm>
            <a:off x="502920" y="2167128"/>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203704"/>
            <a:ext cx="1591056" cy="676656"/>
          </a:xfrm>
          <a:prstGeom prst="rect">
            <a:avLst/>
          </a:prstGeom>
          <a:noFill/>
        </p:spPr>
        <p:txBody>
          <a:bodyPr wrap="square">
            <a:spAutoFit/>
          </a:bodyPr>
          <a:lstStyle/>
          <a:p>
            <a:pPr algn="ctr"/>
            <a:r>
              <a:rPr sz="950" b="0">
                <a:solidFill>
                  <a:srgbClr val="FFFFFF"/>
                </a:solidFill>
                <a:latin typeface="맑은 고딕"/>
              </a:rPr>
              <a:t>성배의 수호자</a:t>
            </a:r>
          </a:p>
        </p:txBody>
      </p:sp>
      <p:sp>
        <p:nvSpPr>
          <p:cNvPr id="22" name="Rectangle 21"/>
          <p:cNvSpPr/>
          <p:nvPr/>
        </p:nvSpPr>
        <p:spPr>
          <a:xfrm>
            <a:off x="224028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13432" y="2203704"/>
            <a:ext cx="950976" cy="676656"/>
          </a:xfrm>
          <a:prstGeom prst="rect">
            <a:avLst/>
          </a:prstGeom>
          <a:noFill/>
        </p:spPr>
        <p:txBody>
          <a:bodyPr wrap="square">
            <a:spAutoFit/>
          </a:bodyPr>
          <a:lstStyle/>
          <a:p>
            <a:pPr algn="ctr"/>
            <a:r>
              <a:rPr sz="950" b="0">
                <a:solidFill>
                  <a:srgbClr val="B8BECC"/>
                </a:solidFill>
                <a:latin typeface="맑은 고딕"/>
              </a:rPr>
              <a:t>보통</a:t>
            </a:r>
          </a:p>
        </p:txBody>
      </p:sp>
      <p:sp>
        <p:nvSpPr>
          <p:cNvPr id="24" name="Rectangle 23"/>
          <p:cNvSpPr/>
          <p:nvPr/>
        </p:nvSpPr>
        <p:spPr>
          <a:xfrm>
            <a:off x="333756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0712" y="2203704"/>
            <a:ext cx="950976" cy="676656"/>
          </a:xfrm>
          <a:prstGeom prst="rect">
            <a:avLst/>
          </a:prstGeom>
          <a:noFill/>
        </p:spPr>
        <p:txBody>
          <a:bodyPr wrap="square">
            <a:spAutoFit/>
          </a:bodyPr>
          <a:lstStyle/>
          <a:p>
            <a:pPr algn="ctr"/>
            <a:r>
              <a:rPr sz="950" b="0">
                <a:solidFill>
                  <a:srgbClr val="B8BECC"/>
                </a:solidFill>
                <a:latin typeface="맑은 고딕"/>
              </a:rPr>
              <a:t>탱딜★</a:t>
            </a:r>
          </a:p>
        </p:txBody>
      </p:sp>
      <p:sp>
        <p:nvSpPr>
          <p:cNvPr id="26" name="Rectangle 25"/>
          <p:cNvSpPr/>
          <p:nvPr/>
        </p:nvSpPr>
        <p:spPr>
          <a:xfrm>
            <a:off x="443484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2203704"/>
            <a:ext cx="950976" cy="676656"/>
          </a:xfrm>
          <a:prstGeom prst="rect">
            <a:avLst/>
          </a:prstGeom>
          <a:noFill/>
        </p:spPr>
        <p:txBody>
          <a:bodyPr wrap="square">
            <a:spAutoFit/>
          </a:bodyPr>
          <a:lstStyle/>
          <a:p>
            <a:pPr algn="ctr"/>
            <a:r>
              <a:rPr sz="950" b="0">
                <a:solidFill>
                  <a:srgbClr val="B8BECC"/>
                </a:solidFill>
                <a:latin typeface="맑은 고딕"/>
              </a:rPr>
              <a:t>표준</a:t>
            </a:r>
          </a:p>
        </p:txBody>
      </p:sp>
      <p:sp>
        <p:nvSpPr>
          <p:cNvPr id="28" name="Rectangle 27"/>
          <p:cNvSpPr/>
          <p:nvPr/>
        </p:nvSpPr>
        <p:spPr>
          <a:xfrm>
            <a:off x="553212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05272" y="2203704"/>
            <a:ext cx="950976" cy="676656"/>
          </a:xfrm>
          <a:prstGeom prst="rect">
            <a:avLst/>
          </a:prstGeom>
          <a:noFill/>
        </p:spPr>
        <p:txBody>
          <a:bodyPr wrap="square">
            <a:spAutoFit/>
          </a:bodyPr>
          <a:lstStyle/>
          <a:p>
            <a:pPr algn="ctr"/>
            <a:r>
              <a:rPr sz="950" b="0">
                <a:solidFill>
                  <a:srgbClr val="B8BECC"/>
                </a:solidFill>
                <a:latin typeface="맑은 고딕"/>
              </a:rPr>
              <a:t>지연</a:t>
            </a:r>
          </a:p>
        </p:txBody>
      </p:sp>
      <p:sp>
        <p:nvSpPr>
          <p:cNvPr id="30" name="Rectangle 29"/>
          <p:cNvSpPr/>
          <p:nvPr/>
        </p:nvSpPr>
        <p:spPr>
          <a:xfrm>
            <a:off x="6629400" y="2167128"/>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2203704"/>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32" name="Rectangle 31"/>
          <p:cNvSpPr/>
          <p:nvPr/>
        </p:nvSpPr>
        <p:spPr>
          <a:xfrm>
            <a:off x="502920" y="2916936"/>
            <a:ext cx="173736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2953512"/>
            <a:ext cx="1591056" cy="676656"/>
          </a:xfrm>
          <a:prstGeom prst="rect">
            <a:avLst/>
          </a:prstGeom>
          <a:noFill/>
        </p:spPr>
        <p:txBody>
          <a:bodyPr wrap="square">
            <a:spAutoFit/>
          </a:bodyPr>
          <a:lstStyle/>
          <a:p>
            <a:pPr algn="ctr"/>
            <a:r>
              <a:rPr sz="950" b="0">
                <a:solidFill>
                  <a:srgbClr val="FFFFFF"/>
                </a:solidFill>
                <a:latin typeface="맑은 고딕"/>
              </a:rPr>
              <a:t>원탁의 균열</a:t>
            </a:r>
          </a:p>
        </p:txBody>
      </p:sp>
      <p:sp>
        <p:nvSpPr>
          <p:cNvPr id="34" name="Rectangle 33"/>
          <p:cNvSpPr/>
          <p:nvPr/>
        </p:nvSpPr>
        <p:spPr>
          <a:xfrm>
            <a:off x="224028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13432" y="2953512"/>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36" name="Rectangle 35"/>
          <p:cNvSpPr/>
          <p:nvPr/>
        </p:nvSpPr>
        <p:spPr>
          <a:xfrm>
            <a:off x="333756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10712" y="2953512"/>
            <a:ext cx="950976" cy="676656"/>
          </a:xfrm>
          <a:prstGeom prst="rect">
            <a:avLst/>
          </a:prstGeom>
          <a:noFill/>
        </p:spPr>
        <p:txBody>
          <a:bodyPr wrap="square">
            <a:spAutoFit/>
          </a:bodyPr>
          <a:lstStyle/>
          <a:p>
            <a:pPr algn="ctr"/>
            <a:r>
              <a:rPr sz="950" b="0">
                <a:solidFill>
                  <a:srgbClr val="B8BECC"/>
                </a:solidFill>
                <a:latin typeface="맑은 고딕"/>
              </a:rPr>
              <a:t>고위험★</a:t>
            </a:r>
          </a:p>
        </p:txBody>
      </p:sp>
      <p:sp>
        <p:nvSpPr>
          <p:cNvPr id="38" name="Rectangle 37"/>
          <p:cNvSpPr/>
          <p:nvPr/>
        </p:nvSpPr>
        <p:spPr>
          <a:xfrm>
            <a:off x="443484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07992" y="2953512"/>
            <a:ext cx="950976" cy="676656"/>
          </a:xfrm>
          <a:prstGeom prst="rect">
            <a:avLst/>
          </a:prstGeom>
          <a:noFill/>
        </p:spPr>
        <p:txBody>
          <a:bodyPr wrap="square">
            <a:spAutoFit/>
          </a:bodyPr>
          <a:lstStyle/>
          <a:p>
            <a:pPr algn="ctr"/>
            <a:r>
              <a:rPr sz="950" b="0">
                <a:solidFill>
                  <a:srgbClr val="B8BECC"/>
                </a:solidFill>
                <a:latin typeface="맑은 고딕"/>
              </a:rPr>
              <a:t>콤보★</a:t>
            </a:r>
          </a:p>
        </p:txBody>
      </p:sp>
      <p:sp>
        <p:nvSpPr>
          <p:cNvPr id="40" name="Rectangle 39"/>
          <p:cNvSpPr/>
          <p:nvPr/>
        </p:nvSpPr>
        <p:spPr>
          <a:xfrm>
            <a:off x="553212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05272" y="2953512"/>
            <a:ext cx="950976" cy="676656"/>
          </a:xfrm>
          <a:prstGeom prst="rect">
            <a:avLst/>
          </a:prstGeom>
          <a:noFill/>
        </p:spPr>
        <p:txBody>
          <a:bodyPr wrap="square">
            <a:spAutoFit/>
          </a:bodyPr>
          <a:lstStyle/>
          <a:p>
            <a:pPr algn="ctr"/>
            <a:r>
              <a:rPr sz="950" b="0">
                <a:solidFill>
                  <a:srgbClr val="B8BECC"/>
                </a:solidFill>
                <a:latin typeface="맑은 고딕"/>
              </a:rPr>
              <a:t>안전딜</a:t>
            </a:r>
          </a:p>
        </p:txBody>
      </p:sp>
      <p:sp>
        <p:nvSpPr>
          <p:cNvPr id="42" name="Rectangle 41"/>
          <p:cNvSpPr/>
          <p:nvPr/>
        </p:nvSpPr>
        <p:spPr>
          <a:xfrm>
            <a:off x="6629400" y="2916936"/>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02552" y="2953512"/>
            <a:ext cx="950976" cy="676656"/>
          </a:xfrm>
          <a:prstGeom prst="rect">
            <a:avLst/>
          </a:prstGeom>
          <a:noFill/>
        </p:spPr>
        <p:txBody>
          <a:bodyPr wrap="square">
            <a:spAutoFit/>
          </a:bodyPr>
          <a:lstStyle/>
          <a:p>
            <a:pPr algn="ctr"/>
            <a:r>
              <a:rPr sz="950" b="0">
                <a:solidFill>
                  <a:srgbClr val="B8BECC"/>
                </a:solidFill>
                <a:latin typeface="맑은 고딕"/>
              </a:rPr>
              <a:t>방어콤보</a:t>
            </a:r>
          </a:p>
        </p:txBody>
      </p:sp>
      <p:sp>
        <p:nvSpPr>
          <p:cNvPr id="44" name="Rectangle 43"/>
          <p:cNvSpPr/>
          <p:nvPr/>
        </p:nvSpPr>
        <p:spPr>
          <a:xfrm>
            <a:off x="502920" y="3666744"/>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3703320"/>
            <a:ext cx="1591056" cy="676656"/>
          </a:xfrm>
          <a:prstGeom prst="rect">
            <a:avLst/>
          </a:prstGeom>
          <a:noFill/>
        </p:spPr>
        <p:txBody>
          <a:bodyPr wrap="square">
            <a:spAutoFit/>
          </a:bodyPr>
          <a:lstStyle/>
          <a:p>
            <a:pPr algn="ctr"/>
            <a:r>
              <a:rPr sz="950" b="0">
                <a:solidFill>
                  <a:srgbClr val="FFFFFF"/>
                </a:solidFill>
                <a:latin typeface="맑은 고딕"/>
              </a:rPr>
              <a:t>여정의 창</a:t>
            </a:r>
          </a:p>
        </p:txBody>
      </p:sp>
      <p:sp>
        <p:nvSpPr>
          <p:cNvPr id="46" name="Rectangle 45"/>
          <p:cNvSpPr/>
          <p:nvPr/>
        </p:nvSpPr>
        <p:spPr>
          <a:xfrm>
            <a:off x="224028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13432" y="3703320"/>
            <a:ext cx="950976" cy="676656"/>
          </a:xfrm>
          <a:prstGeom prst="rect">
            <a:avLst/>
          </a:prstGeom>
          <a:noFill/>
        </p:spPr>
        <p:txBody>
          <a:bodyPr wrap="square">
            <a:spAutoFit/>
          </a:bodyPr>
          <a:lstStyle/>
          <a:p>
            <a:pPr algn="ctr"/>
            <a:r>
              <a:rPr sz="950" b="0">
                <a:solidFill>
                  <a:srgbClr val="B8BECC"/>
                </a:solidFill>
                <a:latin typeface="맑은 고딕"/>
              </a:rPr>
              <a:t>빠른누적</a:t>
            </a:r>
          </a:p>
        </p:txBody>
      </p:sp>
      <p:sp>
        <p:nvSpPr>
          <p:cNvPr id="48" name="Rectangle 47"/>
          <p:cNvSpPr/>
          <p:nvPr/>
        </p:nvSpPr>
        <p:spPr>
          <a:xfrm>
            <a:off x="333756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10712" y="3703320"/>
            <a:ext cx="950976" cy="676656"/>
          </a:xfrm>
          <a:prstGeom prst="rect">
            <a:avLst/>
          </a:prstGeom>
          <a:noFill/>
        </p:spPr>
        <p:txBody>
          <a:bodyPr wrap="square">
            <a:spAutoFit/>
          </a:bodyPr>
          <a:lstStyle/>
          <a:p>
            <a:pPr algn="ctr"/>
            <a:r>
              <a:rPr sz="950" b="0">
                <a:solidFill>
                  <a:srgbClr val="B8BECC"/>
                </a:solidFill>
                <a:latin typeface="맑은 고딕"/>
              </a:rPr>
              <a:t>보스킬★</a:t>
            </a:r>
          </a:p>
        </p:txBody>
      </p:sp>
      <p:sp>
        <p:nvSpPr>
          <p:cNvPr id="50" name="Rectangle 49"/>
          <p:cNvSpPr/>
          <p:nvPr/>
        </p:nvSpPr>
        <p:spPr>
          <a:xfrm>
            <a:off x="443484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07992" y="3703320"/>
            <a:ext cx="950976" cy="676656"/>
          </a:xfrm>
          <a:prstGeom prst="rect">
            <a:avLst/>
          </a:prstGeom>
          <a:noFill/>
        </p:spPr>
        <p:txBody>
          <a:bodyPr wrap="square">
            <a:spAutoFit/>
          </a:bodyPr>
          <a:lstStyle/>
          <a:p>
            <a:pPr algn="ctr"/>
            <a:r>
              <a:rPr sz="950" b="0">
                <a:solidFill>
                  <a:srgbClr val="B8BECC"/>
                </a:solidFill>
                <a:latin typeface="맑은 고딕"/>
              </a:rPr>
              <a:t>시너지★★</a:t>
            </a:r>
          </a:p>
        </p:txBody>
      </p:sp>
      <p:sp>
        <p:nvSpPr>
          <p:cNvPr id="52" name="Rectangle 51"/>
          <p:cNvSpPr/>
          <p:nvPr/>
        </p:nvSpPr>
        <p:spPr>
          <a:xfrm>
            <a:off x="553212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05272" y="3703320"/>
            <a:ext cx="950976" cy="676656"/>
          </a:xfrm>
          <a:prstGeom prst="rect">
            <a:avLst/>
          </a:prstGeom>
          <a:noFill/>
        </p:spPr>
        <p:txBody>
          <a:bodyPr wrap="square">
            <a:spAutoFit/>
          </a:bodyPr>
          <a:lstStyle/>
          <a:p>
            <a:pPr algn="ctr"/>
            <a:r>
              <a:rPr sz="950" b="0">
                <a:solidFill>
                  <a:srgbClr val="B8BECC"/>
                </a:solidFill>
                <a:latin typeface="맑은 고딕"/>
              </a:rPr>
              <a:t>안전</a:t>
            </a:r>
          </a:p>
        </p:txBody>
      </p:sp>
      <p:sp>
        <p:nvSpPr>
          <p:cNvPr id="54" name="Rectangle 53"/>
          <p:cNvSpPr/>
          <p:nvPr/>
        </p:nvSpPr>
        <p:spPr>
          <a:xfrm>
            <a:off x="6629400" y="3666744"/>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02552" y="3703320"/>
            <a:ext cx="950976" cy="676656"/>
          </a:xfrm>
          <a:prstGeom prst="rect">
            <a:avLst/>
          </a:prstGeom>
          <a:noFill/>
        </p:spPr>
        <p:txBody>
          <a:bodyPr wrap="square">
            <a:spAutoFit/>
          </a:bodyPr>
          <a:lstStyle/>
          <a:p>
            <a:pPr algn="ctr"/>
            <a:r>
              <a:rPr sz="950" b="0">
                <a:solidFill>
                  <a:srgbClr val="B8BECC"/>
                </a:solidFill>
                <a:latin typeface="맑은 고딕"/>
              </a:rPr>
              <a:t>균형형</a:t>
            </a:r>
          </a:p>
        </p:txBody>
      </p:sp>
      <p:sp>
        <p:nvSpPr>
          <p:cNvPr id="56" name="Rectangle 55"/>
          <p:cNvSpPr/>
          <p:nvPr/>
        </p:nvSpPr>
        <p:spPr>
          <a:xfrm>
            <a:off x="502920" y="4416552"/>
            <a:ext cx="173736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6072" y="4453128"/>
            <a:ext cx="1591056" cy="676656"/>
          </a:xfrm>
          <a:prstGeom prst="rect">
            <a:avLst/>
          </a:prstGeom>
          <a:noFill/>
        </p:spPr>
        <p:txBody>
          <a:bodyPr wrap="square">
            <a:spAutoFit/>
          </a:bodyPr>
          <a:lstStyle/>
          <a:p>
            <a:pPr algn="ctr"/>
            <a:r>
              <a:rPr sz="950" b="0">
                <a:solidFill>
                  <a:srgbClr val="FFFFFF"/>
                </a:solidFill>
                <a:latin typeface="맑은 고딕"/>
              </a:rPr>
              <a:t>태양의 서약</a:t>
            </a:r>
          </a:p>
        </p:txBody>
      </p:sp>
      <p:sp>
        <p:nvSpPr>
          <p:cNvPr id="58" name="Rectangle 57"/>
          <p:cNvSpPr/>
          <p:nvPr/>
        </p:nvSpPr>
        <p:spPr>
          <a:xfrm>
            <a:off x="224028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13432" y="4453128"/>
            <a:ext cx="950976" cy="676656"/>
          </a:xfrm>
          <a:prstGeom prst="rect">
            <a:avLst/>
          </a:prstGeom>
          <a:noFill/>
        </p:spPr>
        <p:txBody>
          <a:bodyPr wrap="square">
            <a:spAutoFit/>
          </a:bodyPr>
          <a:lstStyle/>
          <a:p>
            <a:pPr algn="ctr"/>
            <a:r>
              <a:rPr sz="950" b="0">
                <a:solidFill>
                  <a:srgbClr val="B8BECC"/>
                </a:solidFill>
                <a:latin typeface="맑은 고딕"/>
              </a:rPr>
              <a:t>연속딜</a:t>
            </a:r>
          </a:p>
        </p:txBody>
      </p:sp>
      <p:sp>
        <p:nvSpPr>
          <p:cNvPr id="60" name="Rectangle 59"/>
          <p:cNvSpPr/>
          <p:nvPr/>
        </p:nvSpPr>
        <p:spPr>
          <a:xfrm>
            <a:off x="333756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10712" y="4453128"/>
            <a:ext cx="950976" cy="676656"/>
          </a:xfrm>
          <a:prstGeom prst="rect">
            <a:avLst/>
          </a:prstGeom>
          <a:noFill/>
        </p:spPr>
        <p:txBody>
          <a:bodyPr wrap="square">
            <a:spAutoFit/>
          </a:bodyPr>
          <a:lstStyle/>
          <a:p>
            <a:pPr algn="ctr"/>
            <a:r>
              <a:rPr sz="950" b="0">
                <a:solidFill>
                  <a:srgbClr val="B8BECC"/>
                </a:solidFill>
                <a:latin typeface="맑은 고딕"/>
              </a:rPr>
              <a:t>버스트★</a:t>
            </a:r>
          </a:p>
        </p:txBody>
      </p:sp>
      <p:sp>
        <p:nvSpPr>
          <p:cNvPr id="62" name="Rectangle 61"/>
          <p:cNvSpPr/>
          <p:nvPr/>
        </p:nvSpPr>
        <p:spPr>
          <a:xfrm>
            <a:off x="443484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07992" y="4453128"/>
            <a:ext cx="950976" cy="676656"/>
          </a:xfrm>
          <a:prstGeom prst="rect">
            <a:avLst/>
          </a:prstGeom>
          <a:noFill/>
        </p:spPr>
        <p:txBody>
          <a:bodyPr wrap="square">
            <a:spAutoFit/>
          </a:bodyPr>
          <a:lstStyle/>
          <a:p>
            <a:pPr algn="ctr"/>
            <a:r>
              <a:rPr sz="950" b="0">
                <a:solidFill>
                  <a:srgbClr val="B8BECC"/>
                </a:solidFill>
                <a:latin typeface="맑은 고딕"/>
              </a:rPr>
              <a:t>돌진버스트</a:t>
            </a:r>
          </a:p>
        </p:txBody>
      </p:sp>
      <p:sp>
        <p:nvSpPr>
          <p:cNvPr id="64" name="Rectangle 63"/>
          <p:cNvSpPr/>
          <p:nvPr/>
        </p:nvSpPr>
        <p:spPr>
          <a:xfrm>
            <a:off x="553212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05272" y="4453128"/>
            <a:ext cx="950976" cy="676656"/>
          </a:xfrm>
          <a:prstGeom prst="rect">
            <a:avLst/>
          </a:prstGeom>
          <a:noFill/>
        </p:spPr>
        <p:txBody>
          <a:bodyPr wrap="square">
            <a:spAutoFit/>
          </a:bodyPr>
          <a:lstStyle/>
          <a:p>
            <a:pPr algn="ctr"/>
            <a:r>
              <a:rPr sz="950" b="0">
                <a:solidFill>
                  <a:srgbClr val="B8BECC"/>
                </a:solidFill>
                <a:latin typeface="맑은 고딕"/>
              </a:rPr>
              <a:t>원거리</a:t>
            </a:r>
          </a:p>
        </p:txBody>
      </p:sp>
      <p:sp>
        <p:nvSpPr>
          <p:cNvPr id="66" name="Rectangle 65"/>
          <p:cNvSpPr/>
          <p:nvPr/>
        </p:nvSpPr>
        <p:spPr>
          <a:xfrm>
            <a:off x="6629400" y="4416552"/>
            <a:ext cx="1097280" cy="74980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02552" y="4453128"/>
            <a:ext cx="950976" cy="676656"/>
          </a:xfrm>
          <a:prstGeom prst="rect">
            <a:avLst/>
          </a:prstGeom>
          <a:noFill/>
        </p:spPr>
        <p:txBody>
          <a:bodyPr wrap="square">
            <a:spAutoFit/>
          </a:bodyPr>
          <a:lstStyle/>
          <a:p>
            <a:pPr algn="ctr"/>
            <a:r>
              <a:rPr sz="950" b="0">
                <a:solidFill>
                  <a:srgbClr val="B8BECC"/>
                </a:solidFill>
                <a:latin typeface="맑은 고딕"/>
              </a:rPr>
              <a:t>방어유지★</a:t>
            </a:r>
          </a:p>
        </p:txBody>
      </p:sp>
      <p:sp>
        <p:nvSpPr>
          <p:cNvPr id="68" name="Rectangle 67"/>
          <p:cNvSpPr/>
          <p:nvPr/>
        </p:nvSpPr>
        <p:spPr>
          <a:xfrm>
            <a:off x="502920" y="5166359"/>
            <a:ext cx="173736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76072" y="5202936"/>
            <a:ext cx="1591056" cy="676656"/>
          </a:xfrm>
          <a:prstGeom prst="rect">
            <a:avLst/>
          </a:prstGeom>
          <a:noFill/>
        </p:spPr>
        <p:txBody>
          <a:bodyPr wrap="square">
            <a:spAutoFit/>
          </a:bodyPr>
          <a:lstStyle/>
          <a:p>
            <a:pPr algn="ctr"/>
            <a:r>
              <a:rPr sz="950" b="0">
                <a:solidFill>
                  <a:srgbClr val="FFFFFF"/>
                </a:solidFill>
                <a:latin typeface="맑은 고딕"/>
              </a:rPr>
              <a:t>비련의 화살</a:t>
            </a:r>
          </a:p>
        </p:txBody>
      </p:sp>
      <p:sp>
        <p:nvSpPr>
          <p:cNvPr id="70" name="Rectangle 69"/>
          <p:cNvSpPr/>
          <p:nvPr/>
        </p:nvSpPr>
        <p:spPr>
          <a:xfrm>
            <a:off x="224028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313432" y="5202936"/>
            <a:ext cx="950976" cy="676656"/>
          </a:xfrm>
          <a:prstGeom prst="rect">
            <a:avLst/>
          </a:prstGeom>
          <a:noFill/>
        </p:spPr>
        <p:txBody>
          <a:bodyPr wrap="square">
            <a:spAutoFit/>
          </a:bodyPr>
          <a:lstStyle/>
          <a:p>
            <a:pPr algn="ctr"/>
            <a:r>
              <a:rPr sz="950" b="0">
                <a:solidFill>
                  <a:srgbClr val="B8BECC"/>
                </a:solidFill>
                <a:latin typeface="맑은 고딕"/>
              </a:rPr>
              <a:t>위험</a:t>
            </a:r>
          </a:p>
        </p:txBody>
      </p:sp>
      <p:sp>
        <p:nvSpPr>
          <p:cNvPr id="72" name="Rectangle 71"/>
          <p:cNvSpPr/>
          <p:nvPr/>
        </p:nvSpPr>
        <p:spPr>
          <a:xfrm>
            <a:off x="333756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10712" y="5202936"/>
            <a:ext cx="950976" cy="676656"/>
          </a:xfrm>
          <a:prstGeom prst="rect">
            <a:avLst/>
          </a:prstGeom>
          <a:noFill/>
        </p:spPr>
        <p:txBody>
          <a:bodyPr wrap="square">
            <a:spAutoFit/>
          </a:bodyPr>
          <a:lstStyle/>
          <a:p>
            <a:pPr algn="ctr"/>
            <a:r>
              <a:rPr sz="950" b="0">
                <a:solidFill>
                  <a:srgbClr val="B8BECC"/>
                </a:solidFill>
                <a:latin typeface="맑은 고딕"/>
              </a:rPr>
              <a:t>최고위험</a:t>
            </a:r>
          </a:p>
        </p:txBody>
      </p:sp>
      <p:sp>
        <p:nvSpPr>
          <p:cNvPr id="74" name="Rectangle 73"/>
          <p:cNvSpPr/>
          <p:nvPr/>
        </p:nvSpPr>
        <p:spPr>
          <a:xfrm>
            <a:off x="443484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07992" y="5202936"/>
            <a:ext cx="950976" cy="676656"/>
          </a:xfrm>
          <a:prstGeom prst="rect">
            <a:avLst/>
          </a:prstGeom>
          <a:noFill/>
        </p:spPr>
        <p:txBody>
          <a:bodyPr wrap="square">
            <a:spAutoFit/>
          </a:bodyPr>
          <a:lstStyle/>
          <a:p>
            <a:pPr algn="ctr"/>
            <a:r>
              <a:rPr sz="950" b="0">
                <a:solidFill>
                  <a:srgbClr val="B8BECC"/>
                </a:solidFill>
                <a:latin typeface="맑은 고딕"/>
              </a:rPr>
              <a:t>히트앤런</a:t>
            </a:r>
          </a:p>
        </p:txBody>
      </p:sp>
      <p:sp>
        <p:nvSpPr>
          <p:cNvPr id="76" name="Rectangle 75"/>
          <p:cNvSpPr/>
          <p:nvPr/>
        </p:nvSpPr>
        <p:spPr>
          <a:xfrm>
            <a:off x="553212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05272" y="5202936"/>
            <a:ext cx="950976" cy="676656"/>
          </a:xfrm>
          <a:prstGeom prst="rect">
            <a:avLst/>
          </a:prstGeom>
          <a:noFill/>
        </p:spPr>
        <p:txBody>
          <a:bodyPr wrap="square">
            <a:spAutoFit/>
          </a:bodyPr>
          <a:lstStyle/>
          <a:p>
            <a:pPr algn="ctr"/>
            <a:r>
              <a:rPr sz="950" b="0">
                <a:solidFill>
                  <a:srgbClr val="B8BECC"/>
                </a:solidFill>
                <a:latin typeface="맑은 고딕"/>
              </a:rPr>
              <a:t>최적★★</a:t>
            </a:r>
          </a:p>
        </p:txBody>
      </p:sp>
      <p:sp>
        <p:nvSpPr>
          <p:cNvPr id="78" name="Rectangle 77"/>
          <p:cNvSpPr/>
          <p:nvPr/>
        </p:nvSpPr>
        <p:spPr>
          <a:xfrm>
            <a:off x="6629400" y="5166359"/>
            <a:ext cx="1097280" cy="74980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702552" y="5202936"/>
            <a:ext cx="950976" cy="676656"/>
          </a:xfrm>
          <a:prstGeom prst="rect">
            <a:avLst/>
          </a:prstGeom>
          <a:noFill/>
        </p:spPr>
        <p:txBody>
          <a:bodyPr wrap="square">
            <a:spAutoFit/>
          </a:bodyPr>
          <a:lstStyle/>
          <a:p>
            <a:pPr algn="ctr"/>
            <a:r>
              <a:rPr sz="950" b="0">
                <a:solidFill>
                  <a:srgbClr val="B8BECC"/>
                </a:solidFill>
                <a:latin typeface="맑은 고딕"/>
              </a:rPr>
              <a:t>방어방지</a:t>
            </a:r>
          </a:p>
        </p:txBody>
      </p:sp>
      <p:sp>
        <p:nvSpPr>
          <p:cNvPr id="80" name="Rectangle 79"/>
          <p:cNvSpPr/>
          <p:nvPr/>
        </p:nvSpPr>
        <p:spPr>
          <a:xfrm>
            <a:off x="8366760" y="960120"/>
            <a:ext cx="3474720" cy="27432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366760" y="96012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503920" y="1014984"/>
            <a:ext cx="3200400" cy="256032"/>
          </a:xfrm>
          <a:prstGeom prst="rect">
            <a:avLst/>
          </a:prstGeom>
          <a:noFill/>
        </p:spPr>
        <p:txBody>
          <a:bodyPr wrap="square">
            <a:spAutoFit/>
          </a:bodyPr>
          <a:lstStyle/>
          <a:p>
            <a:pPr algn="l"/>
            <a:r>
              <a:rPr sz="1200" b="1">
                <a:solidFill>
                  <a:srgbClr val="C9A84C"/>
                </a:solidFill>
                <a:latin typeface="맑은 고딕"/>
              </a:rPr>
              <a:t>아이템 이중 효과 구조</a:t>
            </a:r>
          </a:p>
        </p:txBody>
      </p:sp>
      <p:sp>
        <p:nvSpPr>
          <p:cNvPr id="83" name="Rectangle 82"/>
          <p:cNvSpPr/>
          <p:nvPr/>
        </p:nvSpPr>
        <p:spPr>
          <a:xfrm>
            <a:off x="8549640" y="1417320"/>
            <a:ext cx="3108960" cy="210312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549640" y="1463040"/>
            <a:ext cx="3108960" cy="320040"/>
          </a:xfrm>
          <a:prstGeom prst="rect">
            <a:avLst/>
          </a:prstGeom>
          <a:noFill/>
        </p:spPr>
        <p:txBody>
          <a:bodyPr wrap="square">
            <a:spAutoFit/>
          </a:bodyPr>
          <a:lstStyle/>
          <a:p>
            <a:pPr algn="ctr"/>
            <a:r>
              <a:rPr sz="1100" b="1">
                <a:solidFill>
                  <a:srgbClr val="C9A84C"/>
                </a:solidFill>
                <a:latin typeface="맑은 고딕"/>
              </a:rPr>
              <a:t>[ 분노의 맹세 ]</a:t>
            </a:r>
          </a:p>
        </p:txBody>
      </p:sp>
      <p:sp>
        <p:nvSpPr>
          <p:cNvPr id="85" name="Rectangle 84"/>
          <p:cNvSpPr/>
          <p:nvPr/>
        </p:nvSpPr>
        <p:spPr>
          <a:xfrm>
            <a:off x="8549640" y="1783080"/>
            <a:ext cx="31089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686800" y="1847088"/>
            <a:ext cx="1097280" cy="228600"/>
          </a:xfrm>
          <a:prstGeom prst="rect">
            <a:avLst/>
          </a:prstGeom>
          <a:noFill/>
        </p:spPr>
        <p:txBody>
          <a:bodyPr wrap="square">
            <a:spAutoFit/>
          </a:bodyPr>
          <a:lstStyle/>
          <a:p>
            <a:pPr algn="l"/>
            <a:r>
              <a:rPr sz="900" b="1">
                <a:solidFill>
                  <a:srgbClr val="727A8E"/>
                </a:solidFill>
                <a:latin typeface="맑은 고딕"/>
              </a:rPr>
              <a:t>기본 효과</a:t>
            </a:r>
          </a:p>
        </p:txBody>
      </p:sp>
      <p:sp>
        <p:nvSpPr>
          <p:cNvPr id="87" name="TextBox 86"/>
          <p:cNvSpPr txBox="1"/>
          <p:nvPr/>
        </p:nvSpPr>
        <p:spPr>
          <a:xfrm>
            <a:off x="8686800" y="2084831"/>
            <a:ext cx="2743200" cy="256032"/>
          </a:xfrm>
          <a:prstGeom prst="rect">
            <a:avLst/>
          </a:prstGeom>
          <a:noFill/>
        </p:spPr>
        <p:txBody>
          <a:bodyPr wrap="square">
            <a:spAutoFit/>
          </a:bodyPr>
          <a:lstStyle/>
          <a:p>
            <a:pPr algn="l"/>
            <a:r>
              <a:rPr sz="1100" b="0">
                <a:solidFill>
                  <a:srgbClr val="FFFFFF"/>
                </a:solidFill>
                <a:latin typeface="맑은 고딕"/>
              </a:rPr>
              <a:t>공격력 +10%</a:t>
            </a:r>
          </a:p>
        </p:txBody>
      </p:sp>
      <p:sp>
        <p:nvSpPr>
          <p:cNvPr id="88" name="Rectangle 87"/>
          <p:cNvSpPr/>
          <p:nvPr/>
        </p:nvSpPr>
        <p:spPr>
          <a:xfrm>
            <a:off x="8549640" y="2377440"/>
            <a:ext cx="31089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86800" y="2441448"/>
            <a:ext cx="2286000" cy="228600"/>
          </a:xfrm>
          <a:prstGeom prst="rect">
            <a:avLst/>
          </a:prstGeom>
          <a:noFill/>
        </p:spPr>
        <p:txBody>
          <a:bodyPr wrap="square">
            <a:spAutoFit/>
          </a:bodyPr>
          <a:lstStyle/>
          <a:p>
            <a:pPr algn="l"/>
            <a:r>
              <a:rPr sz="900" b="1">
                <a:solidFill>
                  <a:srgbClr val="C9A84C"/>
                </a:solidFill>
                <a:latin typeface="맑은 고딕"/>
              </a:rPr>
              <a:t>원탁의 균열 친화</a:t>
            </a:r>
          </a:p>
        </p:txBody>
      </p:sp>
      <p:sp>
        <p:nvSpPr>
          <p:cNvPr id="90" name="TextBox 89"/>
          <p:cNvSpPr txBox="1"/>
          <p:nvPr/>
        </p:nvSpPr>
        <p:spPr>
          <a:xfrm>
            <a:off x="8686800" y="2679192"/>
            <a:ext cx="2743200" cy="256032"/>
          </a:xfrm>
          <a:prstGeom prst="rect">
            <a:avLst/>
          </a:prstGeom>
          <a:noFill/>
        </p:spPr>
        <p:txBody>
          <a:bodyPr wrap="square">
            <a:spAutoFit/>
          </a:bodyPr>
          <a:lstStyle/>
          <a:p>
            <a:pPr algn="l"/>
            <a:r>
              <a:rPr sz="1050" b="0">
                <a:solidFill>
                  <a:srgbClr val="4AC2B8"/>
                </a:solidFill>
                <a:latin typeface="맑은 고딕"/>
              </a:rPr>
              <a:t>피격 시 콤보 게이지 +3</a:t>
            </a:r>
          </a:p>
        </p:txBody>
      </p:sp>
      <p:sp>
        <p:nvSpPr>
          <p:cNvPr id="91" name="Rectangle 90"/>
          <p:cNvSpPr/>
          <p:nvPr/>
        </p:nvSpPr>
        <p:spPr>
          <a:xfrm>
            <a:off x="8366760" y="3886200"/>
            <a:ext cx="3474720" cy="24688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366760" y="3886200"/>
            <a:ext cx="34747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503920" y="3941063"/>
            <a:ext cx="3200400" cy="256032"/>
          </a:xfrm>
          <a:prstGeom prst="rect">
            <a:avLst/>
          </a:prstGeom>
          <a:noFill/>
        </p:spPr>
        <p:txBody>
          <a:bodyPr wrap="square">
            <a:spAutoFit/>
          </a:bodyPr>
          <a:lstStyle/>
          <a:p>
            <a:pPr algn="l"/>
            <a:r>
              <a:rPr sz="1200" b="1">
                <a:solidFill>
                  <a:srgbClr val="C9A84C"/>
                </a:solidFill>
                <a:latin typeface="맑은 고딕"/>
              </a:rPr>
              <a:t>아이템 등급 &amp; 드롭률</a:t>
            </a:r>
          </a:p>
        </p:txBody>
      </p:sp>
      <p:sp>
        <p:nvSpPr>
          <p:cNvPr id="94" name="Rectangle 93"/>
          <p:cNvSpPr/>
          <p:nvPr/>
        </p:nvSpPr>
        <p:spPr>
          <a:xfrm>
            <a:off x="8549640" y="4343400"/>
            <a:ext cx="731520" cy="384048"/>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549640" y="4398264"/>
            <a:ext cx="731520" cy="274320"/>
          </a:xfrm>
          <a:prstGeom prst="rect">
            <a:avLst/>
          </a:prstGeom>
          <a:noFill/>
        </p:spPr>
        <p:txBody>
          <a:bodyPr wrap="square">
            <a:spAutoFit/>
          </a:bodyPr>
          <a:lstStyle/>
          <a:p>
            <a:pPr algn="ctr"/>
            <a:r>
              <a:rPr sz="850" b="1">
                <a:solidFill>
                  <a:srgbClr val="0D111A"/>
                </a:solidFill>
                <a:latin typeface="맑은 고딕"/>
              </a:rPr>
              <a:t>Common</a:t>
            </a:r>
          </a:p>
        </p:txBody>
      </p:sp>
      <p:sp>
        <p:nvSpPr>
          <p:cNvPr id="96" name="TextBox 95"/>
          <p:cNvSpPr txBox="1"/>
          <p:nvPr/>
        </p:nvSpPr>
        <p:spPr>
          <a:xfrm>
            <a:off x="9372600" y="4398264"/>
            <a:ext cx="640080" cy="274320"/>
          </a:xfrm>
          <a:prstGeom prst="rect">
            <a:avLst/>
          </a:prstGeom>
          <a:noFill/>
        </p:spPr>
        <p:txBody>
          <a:bodyPr wrap="square">
            <a:spAutoFit/>
          </a:bodyPr>
          <a:lstStyle/>
          <a:p>
            <a:pPr algn="ctr"/>
            <a:r>
              <a:rPr sz="1100" b="1">
                <a:solidFill>
                  <a:srgbClr val="888888"/>
                </a:solidFill>
                <a:latin typeface="맑은 고딕"/>
              </a:rPr>
              <a:t>55%</a:t>
            </a:r>
          </a:p>
        </p:txBody>
      </p:sp>
      <p:sp>
        <p:nvSpPr>
          <p:cNvPr id="97" name="TextBox 96"/>
          <p:cNvSpPr txBox="1"/>
          <p:nvPr/>
        </p:nvSpPr>
        <p:spPr>
          <a:xfrm>
            <a:off x="10058400" y="4434840"/>
            <a:ext cx="1645920" cy="228600"/>
          </a:xfrm>
          <a:prstGeom prst="rect">
            <a:avLst/>
          </a:prstGeom>
          <a:noFill/>
        </p:spPr>
        <p:txBody>
          <a:bodyPr wrap="square">
            <a:spAutoFit/>
          </a:bodyPr>
          <a:lstStyle/>
          <a:p>
            <a:pPr algn="l"/>
            <a:r>
              <a:rPr sz="900" b="0">
                <a:solidFill>
                  <a:srgbClr val="B8BECC"/>
                </a:solidFill>
                <a:latin typeface="맑은 고딕"/>
              </a:rPr>
              <a:t>범용 스탯</a:t>
            </a:r>
          </a:p>
        </p:txBody>
      </p:sp>
      <p:sp>
        <p:nvSpPr>
          <p:cNvPr id="98" name="Rectangle 97"/>
          <p:cNvSpPr/>
          <p:nvPr/>
        </p:nvSpPr>
        <p:spPr>
          <a:xfrm>
            <a:off x="8549640" y="4818888"/>
            <a:ext cx="731520" cy="38404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549640" y="4873751"/>
            <a:ext cx="731520" cy="274320"/>
          </a:xfrm>
          <a:prstGeom prst="rect">
            <a:avLst/>
          </a:prstGeom>
          <a:noFill/>
        </p:spPr>
        <p:txBody>
          <a:bodyPr wrap="square">
            <a:spAutoFit/>
          </a:bodyPr>
          <a:lstStyle/>
          <a:p>
            <a:pPr algn="ctr"/>
            <a:r>
              <a:rPr sz="850" b="1">
                <a:solidFill>
                  <a:srgbClr val="0D111A"/>
                </a:solidFill>
                <a:latin typeface="맑은 고딕"/>
              </a:rPr>
              <a:t>Rare</a:t>
            </a:r>
          </a:p>
        </p:txBody>
      </p:sp>
      <p:sp>
        <p:nvSpPr>
          <p:cNvPr id="100" name="TextBox 99"/>
          <p:cNvSpPr txBox="1"/>
          <p:nvPr/>
        </p:nvSpPr>
        <p:spPr>
          <a:xfrm>
            <a:off x="9372600" y="4873751"/>
            <a:ext cx="640080" cy="274320"/>
          </a:xfrm>
          <a:prstGeom prst="rect">
            <a:avLst/>
          </a:prstGeom>
          <a:noFill/>
        </p:spPr>
        <p:txBody>
          <a:bodyPr wrap="square">
            <a:spAutoFit/>
          </a:bodyPr>
          <a:lstStyle/>
          <a:p>
            <a:pPr algn="ctr"/>
            <a:r>
              <a:rPr sz="1100" b="1">
                <a:solidFill>
                  <a:srgbClr val="4AC2B8"/>
                </a:solidFill>
                <a:latin typeface="맑은 고딕"/>
              </a:rPr>
              <a:t>30%</a:t>
            </a:r>
          </a:p>
        </p:txBody>
      </p:sp>
      <p:sp>
        <p:nvSpPr>
          <p:cNvPr id="101" name="TextBox 100"/>
          <p:cNvSpPr txBox="1"/>
          <p:nvPr/>
        </p:nvSpPr>
        <p:spPr>
          <a:xfrm>
            <a:off x="10058400" y="4910327"/>
            <a:ext cx="1645920" cy="228600"/>
          </a:xfrm>
          <a:prstGeom prst="rect">
            <a:avLst/>
          </a:prstGeom>
          <a:noFill/>
        </p:spPr>
        <p:txBody>
          <a:bodyPr wrap="square">
            <a:spAutoFit/>
          </a:bodyPr>
          <a:lstStyle/>
          <a:p>
            <a:pPr algn="l"/>
            <a:r>
              <a:rPr sz="900" b="0">
                <a:solidFill>
                  <a:srgbClr val="B8BECC"/>
                </a:solidFill>
                <a:latin typeface="맑은 고딕"/>
              </a:rPr>
              <a:t>조건부 + 친화</a:t>
            </a:r>
          </a:p>
        </p:txBody>
      </p:sp>
      <p:sp>
        <p:nvSpPr>
          <p:cNvPr id="102" name="Rectangle 101"/>
          <p:cNvSpPr/>
          <p:nvPr/>
        </p:nvSpPr>
        <p:spPr>
          <a:xfrm>
            <a:off x="8549640" y="5294376"/>
            <a:ext cx="731520" cy="38404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549640" y="5349240"/>
            <a:ext cx="731520" cy="274320"/>
          </a:xfrm>
          <a:prstGeom prst="rect">
            <a:avLst/>
          </a:prstGeom>
          <a:noFill/>
        </p:spPr>
        <p:txBody>
          <a:bodyPr wrap="square">
            <a:spAutoFit/>
          </a:bodyPr>
          <a:lstStyle/>
          <a:p>
            <a:pPr algn="ctr"/>
            <a:r>
              <a:rPr sz="850" b="1">
                <a:solidFill>
                  <a:srgbClr val="0D111A"/>
                </a:solidFill>
                <a:latin typeface="맑은 고딕"/>
              </a:rPr>
              <a:t>Epic</a:t>
            </a:r>
          </a:p>
        </p:txBody>
      </p:sp>
      <p:sp>
        <p:nvSpPr>
          <p:cNvPr id="104" name="TextBox 103"/>
          <p:cNvSpPr txBox="1"/>
          <p:nvPr/>
        </p:nvSpPr>
        <p:spPr>
          <a:xfrm>
            <a:off x="9372600" y="5349240"/>
            <a:ext cx="640080" cy="274320"/>
          </a:xfrm>
          <a:prstGeom prst="rect">
            <a:avLst/>
          </a:prstGeom>
          <a:noFill/>
        </p:spPr>
        <p:txBody>
          <a:bodyPr wrap="square">
            <a:spAutoFit/>
          </a:bodyPr>
          <a:lstStyle/>
          <a:p>
            <a:pPr algn="ctr"/>
            <a:r>
              <a:rPr sz="1100" b="1">
                <a:solidFill>
                  <a:srgbClr val="6B3F8E"/>
                </a:solidFill>
                <a:latin typeface="맑은 고딕"/>
              </a:rPr>
              <a:t>12%</a:t>
            </a:r>
          </a:p>
        </p:txBody>
      </p:sp>
      <p:sp>
        <p:nvSpPr>
          <p:cNvPr id="105" name="TextBox 104"/>
          <p:cNvSpPr txBox="1"/>
          <p:nvPr/>
        </p:nvSpPr>
        <p:spPr>
          <a:xfrm>
            <a:off x="10058400" y="5385816"/>
            <a:ext cx="1645920" cy="228600"/>
          </a:xfrm>
          <a:prstGeom prst="rect">
            <a:avLst/>
          </a:prstGeom>
          <a:noFill/>
        </p:spPr>
        <p:txBody>
          <a:bodyPr wrap="square">
            <a:spAutoFit/>
          </a:bodyPr>
          <a:lstStyle/>
          <a:p>
            <a:pPr algn="l"/>
            <a:r>
              <a:rPr sz="900" b="0">
                <a:solidFill>
                  <a:srgbClr val="B8BECC"/>
                </a:solidFill>
                <a:latin typeface="맑은 고딕"/>
              </a:rPr>
              <a:t>메커닉 변형</a:t>
            </a:r>
          </a:p>
        </p:txBody>
      </p:sp>
      <p:sp>
        <p:nvSpPr>
          <p:cNvPr id="106" name="Rectangle 105"/>
          <p:cNvSpPr/>
          <p:nvPr/>
        </p:nvSpPr>
        <p:spPr>
          <a:xfrm>
            <a:off x="8549640" y="5769864"/>
            <a:ext cx="73152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549640" y="5824728"/>
            <a:ext cx="731520" cy="274320"/>
          </a:xfrm>
          <a:prstGeom prst="rect">
            <a:avLst/>
          </a:prstGeom>
          <a:noFill/>
        </p:spPr>
        <p:txBody>
          <a:bodyPr wrap="square">
            <a:spAutoFit/>
          </a:bodyPr>
          <a:lstStyle/>
          <a:p>
            <a:pPr algn="ctr"/>
            <a:r>
              <a:rPr sz="850" b="1">
                <a:solidFill>
                  <a:srgbClr val="0D111A"/>
                </a:solidFill>
                <a:latin typeface="맑은 고딕"/>
              </a:rPr>
              <a:t>Legendary</a:t>
            </a:r>
          </a:p>
        </p:txBody>
      </p:sp>
      <p:sp>
        <p:nvSpPr>
          <p:cNvPr id="108" name="TextBox 107"/>
          <p:cNvSpPr txBox="1"/>
          <p:nvPr/>
        </p:nvSpPr>
        <p:spPr>
          <a:xfrm>
            <a:off x="9372600" y="5824728"/>
            <a:ext cx="640080" cy="274320"/>
          </a:xfrm>
          <a:prstGeom prst="rect">
            <a:avLst/>
          </a:prstGeom>
          <a:noFill/>
        </p:spPr>
        <p:txBody>
          <a:bodyPr wrap="square">
            <a:spAutoFit/>
          </a:bodyPr>
          <a:lstStyle/>
          <a:p>
            <a:pPr algn="ctr"/>
            <a:r>
              <a:rPr sz="1100" b="1">
                <a:solidFill>
                  <a:srgbClr val="C9A84C"/>
                </a:solidFill>
                <a:latin typeface="맑은 고딕"/>
              </a:rPr>
              <a:t>3%</a:t>
            </a:r>
          </a:p>
        </p:txBody>
      </p:sp>
      <p:sp>
        <p:nvSpPr>
          <p:cNvPr id="109" name="TextBox 108"/>
          <p:cNvSpPr txBox="1"/>
          <p:nvPr/>
        </p:nvSpPr>
        <p:spPr>
          <a:xfrm>
            <a:off x="10058400" y="5861304"/>
            <a:ext cx="1645920" cy="228600"/>
          </a:xfrm>
          <a:prstGeom prst="rect">
            <a:avLst/>
          </a:prstGeom>
          <a:noFill/>
        </p:spPr>
        <p:txBody>
          <a:bodyPr wrap="square">
            <a:spAutoFit/>
          </a:bodyPr>
          <a:lstStyle/>
          <a:p>
            <a:pPr algn="l"/>
            <a:r>
              <a:rPr sz="900" b="0">
                <a:solidFill>
                  <a:srgbClr val="B8BECC"/>
                </a:solidFill>
                <a:latin typeface="맑은 고딕"/>
              </a:rPr>
              <a:t>빌드 전환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06 · 07  성장 시스템</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Growth System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06  런 내 성장 — 스탯 레이어 &amp; 시너지</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502920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5029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4754880" cy="256032"/>
          </a:xfrm>
          <a:prstGeom prst="rect">
            <a:avLst/>
          </a:prstGeom>
          <a:noFill/>
        </p:spPr>
        <p:txBody>
          <a:bodyPr wrap="square">
            <a:spAutoFit/>
          </a:bodyPr>
          <a:lstStyle/>
          <a:p>
            <a:pPr algn="l"/>
            <a:r>
              <a:rPr sz="1200" b="1">
                <a:solidFill>
                  <a:srgbClr val="C9A84C"/>
                </a:solidFill>
                <a:latin typeface="맑은 고딕"/>
              </a:rPr>
              <a:t>스탯 레이어 구조 (7단계 합산)</a:t>
            </a:r>
          </a:p>
        </p:txBody>
      </p:sp>
      <p:sp>
        <p:nvSpPr>
          <p:cNvPr id="8" name="Rectangle 7"/>
          <p:cNvSpPr/>
          <p:nvPr/>
        </p:nvSpPr>
        <p:spPr>
          <a:xfrm>
            <a:off x="548640" y="1417320"/>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73152" cy="5669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1188720" cy="256032"/>
          </a:xfrm>
          <a:prstGeom prst="rect">
            <a:avLst/>
          </a:prstGeom>
          <a:noFill/>
        </p:spPr>
        <p:txBody>
          <a:bodyPr wrap="square">
            <a:spAutoFit/>
          </a:bodyPr>
          <a:lstStyle/>
          <a:p>
            <a:pPr algn="l"/>
            <a:r>
              <a:rPr sz="1100" b="1">
                <a:solidFill>
                  <a:srgbClr val="C9A84C"/>
                </a:solidFill>
                <a:latin typeface="맑은 고딕"/>
              </a:rPr>
              <a:t>① 기본</a:t>
            </a:r>
          </a:p>
        </p:txBody>
      </p:sp>
      <p:sp>
        <p:nvSpPr>
          <p:cNvPr id="11" name="TextBox 10"/>
          <p:cNvSpPr txBox="1"/>
          <p:nvPr/>
        </p:nvSpPr>
        <p:spPr>
          <a:xfrm>
            <a:off x="2057400" y="1508760"/>
            <a:ext cx="3017520" cy="256032"/>
          </a:xfrm>
          <a:prstGeom prst="rect">
            <a:avLst/>
          </a:prstGeom>
          <a:noFill/>
        </p:spPr>
        <p:txBody>
          <a:bodyPr wrap="square">
            <a:spAutoFit/>
          </a:bodyPr>
          <a:lstStyle/>
          <a:p>
            <a:pPr algn="l"/>
            <a:r>
              <a:rPr sz="1050" b="0">
                <a:solidFill>
                  <a:srgbClr val="B8BECC"/>
                </a:solidFill>
                <a:latin typeface="맑은 고딕"/>
              </a:rPr>
              <a:t>영웅 유물 기본 스탯</a:t>
            </a:r>
          </a:p>
        </p:txBody>
      </p:sp>
      <p:sp>
        <p:nvSpPr>
          <p:cNvPr id="12" name="Rectangle 11"/>
          <p:cNvSpPr/>
          <p:nvPr/>
        </p:nvSpPr>
        <p:spPr>
          <a:xfrm>
            <a:off x="548640" y="2093976"/>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093976"/>
            <a:ext cx="73152" cy="56692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167128"/>
            <a:ext cx="1188720" cy="256032"/>
          </a:xfrm>
          <a:prstGeom prst="rect">
            <a:avLst/>
          </a:prstGeom>
          <a:noFill/>
        </p:spPr>
        <p:txBody>
          <a:bodyPr wrap="square">
            <a:spAutoFit/>
          </a:bodyPr>
          <a:lstStyle/>
          <a:p>
            <a:pPr algn="l"/>
            <a:r>
              <a:rPr sz="1100" b="1">
                <a:solidFill>
                  <a:srgbClr val="4AC2B8"/>
                </a:solidFill>
                <a:latin typeface="맑은 고딕"/>
              </a:rPr>
              <a:t>② 서약</a:t>
            </a:r>
          </a:p>
        </p:txBody>
      </p:sp>
      <p:sp>
        <p:nvSpPr>
          <p:cNvPr id="15" name="TextBox 14"/>
          <p:cNvSpPr txBox="1"/>
          <p:nvPr/>
        </p:nvSpPr>
        <p:spPr>
          <a:xfrm>
            <a:off x="2057400" y="2185416"/>
            <a:ext cx="3017520" cy="256032"/>
          </a:xfrm>
          <a:prstGeom prst="rect">
            <a:avLst/>
          </a:prstGeom>
          <a:noFill/>
        </p:spPr>
        <p:txBody>
          <a:bodyPr wrap="square">
            <a:spAutoFit/>
          </a:bodyPr>
          <a:lstStyle/>
          <a:p>
            <a:pPr algn="l"/>
            <a:r>
              <a:rPr sz="1050" b="0">
                <a:solidFill>
                  <a:srgbClr val="B8BECC"/>
                </a:solidFill>
                <a:latin typeface="맑은 고딕"/>
              </a:rPr>
              <a:t>멀린의 서약 영구 보너스</a:t>
            </a:r>
          </a:p>
        </p:txBody>
      </p:sp>
      <p:sp>
        <p:nvSpPr>
          <p:cNvPr id="16" name="Rectangle 15"/>
          <p:cNvSpPr/>
          <p:nvPr/>
        </p:nvSpPr>
        <p:spPr>
          <a:xfrm>
            <a:off x="548640" y="2770632"/>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770632"/>
            <a:ext cx="73152" cy="56692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843784"/>
            <a:ext cx="1188720" cy="256032"/>
          </a:xfrm>
          <a:prstGeom prst="rect">
            <a:avLst/>
          </a:prstGeom>
          <a:noFill/>
        </p:spPr>
        <p:txBody>
          <a:bodyPr wrap="square">
            <a:spAutoFit/>
          </a:bodyPr>
          <a:lstStyle/>
          <a:p>
            <a:pPr algn="l"/>
            <a:r>
              <a:rPr sz="1100" b="1">
                <a:solidFill>
                  <a:srgbClr val="6B3F8E"/>
                </a:solidFill>
                <a:latin typeface="맑은 고딕"/>
              </a:rPr>
              <a:t>③ 각성</a:t>
            </a:r>
          </a:p>
        </p:txBody>
      </p:sp>
      <p:sp>
        <p:nvSpPr>
          <p:cNvPr id="19" name="TextBox 18"/>
          <p:cNvSpPr txBox="1"/>
          <p:nvPr/>
        </p:nvSpPr>
        <p:spPr>
          <a:xfrm>
            <a:off x="2057400" y="2862072"/>
            <a:ext cx="3017520" cy="256032"/>
          </a:xfrm>
          <a:prstGeom prst="rect">
            <a:avLst/>
          </a:prstGeom>
          <a:noFill/>
        </p:spPr>
        <p:txBody>
          <a:bodyPr wrap="square">
            <a:spAutoFit/>
          </a:bodyPr>
          <a:lstStyle/>
          <a:p>
            <a:pPr algn="l"/>
            <a:r>
              <a:rPr sz="1050" b="0">
                <a:solidFill>
                  <a:srgbClr val="B8BECC"/>
                </a:solidFill>
                <a:latin typeface="맑은 고딕"/>
              </a:rPr>
              <a:t>유물 각성 효과</a:t>
            </a:r>
          </a:p>
        </p:txBody>
      </p:sp>
      <p:sp>
        <p:nvSpPr>
          <p:cNvPr id="20" name="Rectangle 19"/>
          <p:cNvSpPr/>
          <p:nvPr/>
        </p:nvSpPr>
        <p:spPr>
          <a:xfrm>
            <a:off x="548640" y="3447287"/>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447287"/>
            <a:ext cx="7315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520439"/>
            <a:ext cx="1188720" cy="256032"/>
          </a:xfrm>
          <a:prstGeom prst="rect">
            <a:avLst/>
          </a:prstGeom>
          <a:noFill/>
        </p:spPr>
        <p:txBody>
          <a:bodyPr wrap="square">
            <a:spAutoFit/>
          </a:bodyPr>
          <a:lstStyle/>
          <a:p>
            <a:pPr algn="l"/>
            <a:r>
              <a:rPr sz="1100" b="1">
                <a:solidFill>
                  <a:srgbClr val="FFFFFF"/>
                </a:solidFill>
                <a:latin typeface="맑은 고딕"/>
              </a:rPr>
              <a:t>④ 장비</a:t>
            </a:r>
          </a:p>
        </p:txBody>
      </p:sp>
      <p:sp>
        <p:nvSpPr>
          <p:cNvPr id="23" name="TextBox 22"/>
          <p:cNvSpPr txBox="1"/>
          <p:nvPr/>
        </p:nvSpPr>
        <p:spPr>
          <a:xfrm>
            <a:off x="2057400" y="3538727"/>
            <a:ext cx="3017520" cy="256032"/>
          </a:xfrm>
          <a:prstGeom prst="rect">
            <a:avLst/>
          </a:prstGeom>
          <a:noFill/>
        </p:spPr>
        <p:txBody>
          <a:bodyPr wrap="square">
            <a:spAutoFit/>
          </a:bodyPr>
          <a:lstStyle/>
          <a:p>
            <a:pPr algn="l"/>
            <a:r>
              <a:rPr sz="1050" b="0">
                <a:solidFill>
                  <a:srgbClr val="B8BECC"/>
                </a:solidFill>
                <a:latin typeface="맑은 고딕"/>
              </a:rPr>
              <a:t>선택한 장비 스탯</a:t>
            </a:r>
          </a:p>
        </p:txBody>
      </p:sp>
      <p:sp>
        <p:nvSpPr>
          <p:cNvPr id="24" name="Rectangle 23"/>
          <p:cNvSpPr/>
          <p:nvPr/>
        </p:nvSpPr>
        <p:spPr>
          <a:xfrm>
            <a:off x="548640" y="4123944"/>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23944"/>
            <a:ext cx="73152" cy="56692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197096"/>
            <a:ext cx="1188720" cy="256032"/>
          </a:xfrm>
          <a:prstGeom prst="rect">
            <a:avLst/>
          </a:prstGeom>
          <a:noFill/>
        </p:spPr>
        <p:txBody>
          <a:bodyPr wrap="square">
            <a:spAutoFit/>
          </a:bodyPr>
          <a:lstStyle/>
          <a:p>
            <a:pPr algn="l"/>
            <a:r>
              <a:rPr sz="1100" b="1">
                <a:solidFill>
                  <a:srgbClr val="C9A84C"/>
                </a:solidFill>
                <a:latin typeface="맑은 고딕"/>
              </a:rPr>
              <a:t>⑤ 아이템</a:t>
            </a:r>
          </a:p>
        </p:txBody>
      </p:sp>
      <p:sp>
        <p:nvSpPr>
          <p:cNvPr id="27" name="TextBox 26"/>
          <p:cNvSpPr txBox="1"/>
          <p:nvPr/>
        </p:nvSpPr>
        <p:spPr>
          <a:xfrm>
            <a:off x="2057400" y="4215383"/>
            <a:ext cx="3017520" cy="256032"/>
          </a:xfrm>
          <a:prstGeom prst="rect">
            <a:avLst/>
          </a:prstGeom>
          <a:noFill/>
        </p:spPr>
        <p:txBody>
          <a:bodyPr wrap="square">
            <a:spAutoFit/>
          </a:bodyPr>
          <a:lstStyle/>
          <a:p>
            <a:pPr algn="l"/>
            <a:r>
              <a:rPr sz="1050" b="0">
                <a:solidFill>
                  <a:srgbClr val="B8BECC"/>
                </a:solidFill>
                <a:latin typeface="맑은 고딕"/>
              </a:rPr>
              <a:t>그리드 배치 아이템 합산</a:t>
            </a:r>
          </a:p>
        </p:txBody>
      </p:sp>
      <p:sp>
        <p:nvSpPr>
          <p:cNvPr id="28" name="Rectangle 27"/>
          <p:cNvSpPr/>
          <p:nvPr/>
        </p:nvSpPr>
        <p:spPr>
          <a:xfrm>
            <a:off x="548640" y="4800600"/>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800600"/>
            <a:ext cx="73152" cy="56692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873752"/>
            <a:ext cx="1188720" cy="256032"/>
          </a:xfrm>
          <a:prstGeom prst="rect">
            <a:avLst/>
          </a:prstGeom>
          <a:noFill/>
        </p:spPr>
        <p:txBody>
          <a:bodyPr wrap="square">
            <a:spAutoFit/>
          </a:bodyPr>
          <a:lstStyle/>
          <a:p>
            <a:pPr algn="l"/>
            <a:r>
              <a:rPr sz="1100" b="1">
                <a:solidFill>
                  <a:srgbClr val="4AC2B8"/>
                </a:solidFill>
                <a:latin typeface="맑은 고딕"/>
              </a:rPr>
              <a:t>⑥ 방버프</a:t>
            </a:r>
          </a:p>
        </p:txBody>
      </p:sp>
      <p:sp>
        <p:nvSpPr>
          <p:cNvPr id="31" name="TextBox 30"/>
          <p:cNvSpPr txBox="1"/>
          <p:nvPr/>
        </p:nvSpPr>
        <p:spPr>
          <a:xfrm>
            <a:off x="2057400" y="4892040"/>
            <a:ext cx="3017520" cy="256032"/>
          </a:xfrm>
          <a:prstGeom prst="rect">
            <a:avLst/>
          </a:prstGeom>
          <a:noFill/>
        </p:spPr>
        <p:txBody>
          <a:bodyPr wrap="square">
            <a:spAutoFit/>
          </a:bodyPr>
          <a:lstStyle/>
          <a:p>
            <a:pPr algn="l"/>
            <a:r>
              <a:rPr sz="1050" b="0">
                <a:solidFill>
                  <a:srgbClr val="B8BECC"/>
                </a:solidFill>
                <a:latin typeface="맑은 고딕"/>
              </a:rPr>
              <a:t>현재 활성 방버프</a:t>
            </a:r>
          </a:p>
        </p:txBody>
      </p:sp>
      <p:sp>
        <p:nvSpPr>
          <p:cNvPr id="32" name="Rectangle 31"/>
          <p:cNvSpPr/>
          <p:nvPr/>
        </p:nvSpPr>
        <p:spPr>
          <a:xfrm>
            <a:off x="548640" y="5477255"/>
            <a:ext cx="466344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477255"/>
            <a:ext cx="73152" cy="56692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50407"/>
            <a:ext cx="1188720" cy="256032"/>
          </a:xfrm>
          <a:prstGeom prst="rect">
            <a:avLst/>
          </a:prstGeom>
          <a:noFill/>
        </p:spPr>
        <p:txBody>
          <a:bodyPr wrap="square">
            <a:spAutoFit/>
          </a:bodyPr>
          <a:lstStyle/>
          <a:p>
            <a:pPr algn="l"/>
            <a:r>
              <a:rPr sz="1100" b="1">
                <a:solidFill>
                  <a:srgbClr val="6B3F8E"/>
                </a:solidFill>
                <a:latin typeface="맑은 고딕"/>
              </a:rPr>
              <a:t>⑦ 시너지</a:t>
            </a:r>
          </a:p>
        </p:txBody>
      </p:sp>
      <p:sp>
        <p:nvSpPr>
          <p:cNvPr id="35" name="TextBox 34"/>
          <p:cNvSpPr txBox="1"/>
          <p:nvPr/>
        </p:nvSpPr>
        <p:spPr>
          <a:xfrm>
            <a:off x="2057400" y="5568695"/>
            <a:ext cx="3017520" cy="256032"/>
          </a:xfrm>
          <a:prstGeom prst="rect">
            <a:avLst/>
          </a:prstGeom>
          <a:noFill/>
        </p:spPr>
        <p:txBody>
          <a:bodyPr wrap="square">
            <a:spAutoFit/>
          </a:bodyPr>
          <a:lstStyle/>
          <a:p>
            <a:pPr algn="l"/>
            <a:r>
              <a:rPr sz="1050" b="0">
                <a:solidFill>
                  <a:srgbClr val="B8BECC"/>
                </a:solidFill>
                <a:latin typeface="맑은 고딕"/>
              </a:rPr>
              <a:t>그리드 시너지 Always/조건부</a:t>
            </a:r>
          </a:p>
        </p:txBody>
      </p:sp>
      <p:sp>
        <p:nvSpPr>
          <p:cNvPr id="36" name="Rectangle 35"/>
          <p:cNvSpPr/>
          <p:nvPr/>
        </p:nvSpPr>
        <p:spPr>
          <a:xfrm>
            <a:off x="5669280" y="960120"/>
            <a:ext cx="292608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0" y="960120"/>
            <a:ext cx="29260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06440" y="1014984"/>
            <a:ext cx="2651760" cy="256032"/>
          </a:xfrm>
          <a:prstGeom prst="rect">
            <a:avLst/>
          </a:prstGeom>
          <a:noFill/>
        </p:spPr>
        <p:txBody>
          <a:bodyPr wrap="square">
            <a:spAutoFit/>
          </a:bodyPr>
          <a:lstStyle/>
          <a:p>
            <a:pPr algn="l"/>
            <a:r>
              <a:rPr sz="1200" b="1">
                <a:solidFill>
                  <a:srgbClr val="C9A84C"/>
                </a:solidFill>
                <a:latin typeface="맑은 고딕"/>
              </a:rPr>
              <a:t>방 버프 시스템</a:t>
            </a:r>
          </a:p>
        </p:txBody>
      </p:sp>
      <p:sp>
        <p:nvSpPr>
          <p:cNvPr id="39" name="TextBox 38"/>
          <p:cNvSpPr txBox="1"/>
          <p:nvPr/>
        </p:nvSpPr>
        <p:spPr>
          <a:xfrm>
            <a:off x="5852160" y="1371600"/>
            <a:ext cx="2560320" cy="320040"/>
          </a:xfrm>
          <a:prstGeom prst="rect">
            <a:avLst/>
          </a:prstGeom>
          <a:noFill/>
        </p:spPr>
        <p:txBody>
          <a:bodyPr wrap="square">
            <a:spAutoFit/>
          </a:bodyPr>
          <a:lstStyle/>
          <a:p>
            <a:pPr algn="l"/>
            <a:r>
              <a:rPr sz="1000" b="0">
                <a:solidFill>
                  <a:srgbClr val="B8BECC"/>
                </a:solidFill>
                <a:latin typeface="맑은 고딕"/>
              </a:rPr>
              <a:t>방 입장 시 3~5개 중 1개 선택</a:t>
            </a:r>
          </a:p>
        </p:txBody>
      </p:sp>
      <p:sp>
        <p:nvSpPr>
          <p:cNvPr id="40" name="Rectangle 39"/>
          <p:cNvSpPr/>
          <p:nvPr/>
        </p:nvSpPr>
        <p:spPr>
          <a:xfrm>
            <a:off x="5852160" y="1828800"/>
            <a:ext cx="256032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9320" y="1901952"/>
            <a:ext cx="777240" cy="256032"/>
          </a:xfrm>
          <a:prstGeom prst="rect">
            <a:avLst/>
          </a:prstGeom>
          <a:noFill/>
        </p:spPr>
        <p:txBody>
          <a:bodyPr wrap="square">
            <a:spAutoFit/>
          </a:bodyPr>
          <a:lstStyle/>
          <a:p>
            <a:pPr algn="l"/>
            <a:r>
              <a:rPr sz="1100" b="1">
                <a:solidFill>
                  <a:srgbClr val="727A8E"/>
                </a:solidFill>
                <a:latin typeface="맑은 고딕"/>
              </a:rPr>
              <a:t>Tier 1</a:t>
            </a:r>
          </a:p>
        </p:txBody>
      </p:sp>
      <p:sp>
        <p:nvSpPr>
          <p:cNvPr id="42" name="TextBox 41"/>
          <p:cNvSpPr txBox="1"/>
          <p:nvPr/>
        </p:nvSpPr>
        <p:spPr>
          <a:xfrm>
            <a:off x="6812280" y="1920240"/>
            <a:ext cx="914400" cy="228600"/>
          </a:xfrm>
          <a:prstGeom prst="rect">
            <a:avLst/>
          </a:prstGeom>
          <a:noFill/>
        </p:spPr>
        <p:txBody>
          <a:bodyPr wrap="square">
            <a:spAutoFit/>
          </a:bodyPr>
          <a:lstStyle/>
          <a:p>
            <a:pPr algn="l"/>
            <a:r>
              <a:rPr sz="950" b="0">
                <a:solidFill>
                  <a:srgbClr val="B8BECC"/>
                </a:solidFill>
                <a:latin typeface="맑은 고딕"/>
              </a:rPr>
              <a:t>3방 지속</a:t>
            </a:r>
          </a:p>
        </p:txBody>
      </p:sp>
      <p:sp>
        <p:nvSpPr>
          <p:cNvPr id="43" name="TextBox 42"/>
          <p:cNvSpPr txBox="1"/>
          <p:nvPr/>
        </p:nvSpPr>
        <p:spPr>
          <a:xfrm>
            <a:off x="7772400" y="1901952"/>
            <a:ext cx="502920" cy="256032"/>
          </a:xfrm>
          <a:prstGeom prst="rect">
            <a:avLst/>
          </a:prstGeom>
          <a:noFill/>
        </p:spPr>
        <p:txBody>
          <a:bodyPr wrap="square">
            <a:spAutoFit/>
          </a:bodyPr>
          <a:lstStyle/>
          <a:p>
            <a:pPr algn="ctr"/>
            <a:r>
              <a:rPr sz="1100" b="1">
                <a:solidFill>
                  <a:srgbClr val="727A8E"/>
                </a:solidFill>
                <a:latin typeface="맑은 고딕"/>
              </a:rPr>
              <a:t>×1.0</a:t>
            </a:r>
          </a:p>
        </p:txBody>
      </p:sp>
      <p:sp>
        <p:nvSpPr>
          <p:cNvPr id="44" name="Rectangle 43"/>
          <p:cNvSpPr/>
          <p:nvPr/>
        </p:nvSpPr>
        <p:spPr>
          <a:xfrm>
            <a:off x="5852160" y="2514600"/>
            <a:ext cx="256032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89320" y="2587752"/>
            <a:ext cx="777240" cy="256032"/>
          </a:xfrm>
          <a:prstGeom prst="rect">
            <a:avLst/>
          </a:prstGeom>
          <a:noFill/>
        </p:spPr>
        <p:txBody>
          <a:bodyPr wrap="square">
            <a:spAutoFit/>
          </a:bodyPr>
          <a:lstStyle/>
          <a:p>
            <a:pPr algn="l"/>
            <a:r>
              <a:rPr sz="1100" b="1">
                <a:solidFill>
                  <a:srgbClr val="4AC2B8"/>
                </a:solidFill>
                <a:latin typeface="맑은 고딕"/>
              </a:rPr>
              <a:t>Tier 2</a:t>
            </a:r>
          </a:p>
        </p:txBody>
      </p:sp>
      <p:sp>
        <p:nvSpPr>
          <p:cNvPr id="46" name="TextBox 45"/>
          <p:cNvSpPr txBox="1"/>
          <p:nvPr/>
        </p:nvSpPr>
        <p:spPr>
          <a:xfrm>
            <a:off x="6812280" y="2606040"/>
            <a:ext cx="914400" cy="228600"/>
          </a:xfrm>
          <a:prstGeom prst="rect">
            <a:avLst/>
          </a:prstGeom>
          <a:noFill/>
        </p:spPr>
        <p:txBody>
          <a:bodyPr wrap="square">
            <a:spAutoFit/>
          </a:bodyPr>
          <a:lstStyle/>
          <a:p>
            <a:pPr algn="l"/>
            <a:r>
              <a:rPr sz="950" b="0">
                <a:solidFill>
                  <a:srgbClr val="B8BECC"/>
                </a:solidFill>
                <a:latin typeface="맑은 고딕"/>
              </a:rPr>
              <a:t>4방 지속</a:t>
            </a:r>
          </a:p>
        </p:txBody>
      </p:sp>
      <p:sp>
        <p:nvSpPr>
          <p:cNvPr id="47" name="TextBox 46"/>
          <p:cNvSpPr txBox="1"/>
          <p:nvPr/>
        </p:nvSpPr>
        <p:spPr>
          <a:xfrm>
            <a:off x="7772400" y="2587752"/>
            <a:ext cx="502920" cy="256032"/>
          </a:xfrm>
          <a:prstGeom prst="rect">
            <a:avLst/>
          </a:prstGeom>
          <a:noFill/>
        </p:spPr>
        <p:txBody>
          <a:bodyPr wrap="square">
            <a:spAutoFit/>
          </a:bodyPr>
          <a:lstStyle/>
          <a:p>
            <a:pPr algn="ctr"/>
            <a:r>
              <a:rPr sz="1100" b="1">
                <a:solidFill>
                  <a:srgbClr val="4AC2B8"/>
                </a:solidFill>
                <a:latin typeface="맑은 고딕"/>
              </a:rPr>
              <a:t>×1.5</a:t>
            </a:r>
          </a:p>
        </p:txBody>
      </p:sp>
      <p:sp>
        <p:nvSpPr>
          <p:cNvPr id="48" name="Rectangle 47"/>
          <p:cNvSpPr/>
          <p:nvPr/>
        </p:nvSpPr>
        <p:spPr>
          <a:xfrm>
            <a:off x="5852160" y="3200400"/>
            <a:ext cx="2560320" cy="56692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89320" y="3273552"/>
            <a:ext cx="777240" cy="256032"/>
          </a:xfrm>
          <a:prstGeom prst="rect">
            <a:avLst/>
          </a:prstGeom>
          <a:noFill/>
        </p:spPr>
        <p:txBody>
          <a:bodyPr wrap="square">
            <a:spAutoFit/>
          </a:bodyPr>
          <a:lstStyle/>
          <a:p>
            <a:pPr algn="l"/>
            <a:r>
              <a:rPr sz="1100" b="1">
                <a:solidFill>
                  <a:srgbClr val="C9A84C"/>
                </a:solidFill>
                <a:latin typeface="맑은 고딕"/>
              </a:rPr>
              <a:t>Tier 3</a:t>
            </a:r>
          </a:p>
        </p:txBody>
      </p:sp>
      <p:sp>
        <p:nvSpPr>
          <p:cNvPr id="50" name="TextBox 49"/>
          <p:cNvSpPr txBox="1"/>
          <p:nvPr/>
        </p:nvSpPr>
        <p:spPr>
          <a:xfrm>
            <a:off x="6812280" y="3291840"/>
            <a:ext cx="914400" cy="228600"/>
          </a:xfrm>
          <a:prstGeom prst="rect">
            <a:avLst/>
          </a:prstGeom>
          <a:noFill/>
        </p:spPr>
        <p:txBody>
          <a:bodyPr wrap="square">
            <a:spAutoFit/>
          </a:bodyPr>
          <a:lstStyle/>
          <a:p>
            <a:pPr algn="l"/>
            <a:r>
              <a:rPr sz="950" b="0">
                <a:solidFill>
                  <a:srgbClr val="B8BECC"/>
                </a:solidFill>
                <a:latin typeface="맑은 고딕"/>
              </a:rPr>
              <a:t>5방 지속</a:t>
            </a:r>
          </a:p>
        </p:txBody>
      </p:sp>
      <p:sp>
        <p:nvSpPr>
          <p:cNvPr id="51" name="TextBox 50"/>
          <p:cNvSpPr txBox="1"/>
          <p:nvPr/>
        </p:nvSpPr>
        <p:spPr>
          <a:xfrm>
            <a:off x="7772400" y="3273552"/>
            <a:ext cx="502920" cy="256032"/>
          </a:xfrm>
          <a:prstGeom prst="rect">
            <a:avLst/>
          </a:prstGeom>
          <a:noFill/>
        </p:spPr>
        <p:txBody>
          <a:bodyPr wrap="square">
            <a:spAutoFit/>
          </a:bodyPr>
          <a:lstStyle/>
          <a:p>
            <a:pPr algn="ctr"/>
            <a:r>
              <a:rPr sz="1100" b="1">
                <a:solidFill>
                  <a:srgbClr val="C9A84C"/>
                </a:solidFill>
                <a:latin typeface="맑은 고딕"/>
              </a:rPr>
              <a:t>×2.0</a:t>
            </a:r>
          </a:p>
        </p:txBody>
      </p:sp>
      <p:sp>
        <p:nvSpPr>
          <p:cNvPr id="52" name="Rectangle 51"/>
          <p:cNvSpPr/>
          <p:nvPr/>
        </p:nvSpPr>
        <p:spPr>
          <a:xfrm>
            <a:off x="5852160" y="4023360"/>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2160" y="4114800"/>
            <a:ext cx="2560320" cy="274320"/>
          </a:xfrm>
          <a:prstGeom prst="rect">
            <a:avLst/>
          </a:prstGeom>
          <a:noFill/>
        </p:spPr>
        <p:txBody>
          <a:bodyPr wrap="square">
            <a:spAutoFit/>
          </a:bodyPr>
          <a:lstStyle/>
          <a:p>
            <a:pPr algn="l"/>
            <a:r>
              <a:rPr sz="900" b="0">
                <a:solidFill>
                  <a:srgbClr val="B8BECC"/>
                </a:solidFill>
                <a:latin typeface="맑은 고딕"/>
              </a:rPr>
              <a:t>최대 10슬롯 (초과 시 오래된 버프 제거)</a:t>
            </a:r>
          </a:p>
        </p:txBody>
      </p:sp>
      <p:sp>
        <p:nvSpPr>
          <p:cNvPr id="54" name="Rectangle 53"/>
          <p:cNvSpPr/>
          <p:nvPr/>
        </p:nvSpPr>
        <p:spPr>
          <a:xfrm>
            <a:off x="5852160" y="4480560"/>
            <a:ext cx="2560320" cy="502920"/>
          </a:xfrm>
          <a:prstGeom prst="rect">
            <a:avLst/>
          </a:prstGeom>
          <a:solidFill>
            <a:srgbClr val="1A22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20" y="4526280"/>
            <a:ext cx="2286000" cy="411480"/>
          </a:xfrm>
          <a:prstGeom prst="rect">
            <a:avLst/>
          </a:prstGeom>
          <a:noFill/>
        </p:spPr>
        <p:txBody>
          <a:bodyPr wrap="square">
            <a:spAutoFit/>
          </a:bodyPr>
          <a:lstStyle/>
          <a:p>
            <a:pPr algn="l"/>
            <a:r>
              <a:rPr sz="950" b="0">
                <a:solidFill>
                  <a:srgbClr val="4AC2B8"/>
                </a:solidFill>
                <a:latin typeface="맑은 고딕"/>
              </a:rPr>
              <a:t>보스 처치 시
전체 버프 Tier +1 승급 + 지속 리셋</a:t>
            </a:r>
          </a:p>
        </p:txBody>
      </p:sp>
      <p:sp>
        <p:nvSpPr>
          <p:cNvPr id="56" name="Rectangle 55"/>
          <p:cNvSpPr/>
          <p:nvPr/>
        </p:nvSpPr>
        <p:spPr>
          <a:xfrm>
            <a:off x="8778240" y="960120"/>
            <a:ext cx="3017520" cy="539496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778240" y="960120"/>
            <a:ext cx="3017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15400" y="1014984"/>
            <a:ext cx="2743200" cy="256032"/>
          </a:xfrm>
          <a:prstGeom prst="rect">
            <a:avLst/>
          </a:prstGeom>
          <a:noFill/>
        </p:spPr>
        <p:txBody>
          <a:bodyPr wrap="square">
            <a:spAutoFit/>
          </a:bodyPr>
          <a:lstStyle/>
          <a:p>
            <a:pPr algn="l"/>
            <a:r>
              <a:rPr sz="1200" b="1">
                <a:solidFill>
                  <a:srgbClr val="C9A84C"/>
                </a:solidFill>
                <a:latin typeface="맑은 고딕"/>
              </a:rPr>
              <a:t>그리드 시너지 트리거</a:t>
            </a:r>
          </a:p>
        </p:txBody>
      </p:sp>
      <p:sp>
        <p:nvSpPr>
          <p:cNvPr id="59" name="Rectangle 58"/>
          <p:cNvSpPr/>
          <p:nvPr/>
        </p:nvSpPr>
        <p:spPr>
          <a:xfrm>
            <a:off x="8961120" y="1417320"/>
            <a:ext cx="2651760" cy="1371600"/>
          </a:xfrm>
          <a:prstGeom prst="rect">
            <a:avLst/>
          </a:prstGeom>
          <a:solidFill>
            <a:srgbClr val="1E243A"/>
          </a:solidFill>
          <a:ln w="15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961120" y="1508760"/>
            <a:ext cx="2651760" cy="411480"/>
          </a:xfrm>
          <a:prstGeom prst="rect">
            <a:avLst/>
          </a:prstGeom>
          <a:noFill/>
        </p:spPr>
        <p:txBody>
          <a:bodyPr wrap="square">
            <a:spAutoFit/>
          </a:bodyPr>
          <a:lstStyle/>
          <a:p>
            <a:pPr algn="ctr"/>
            <a:r>
              <a:rPr sz="1600" b="1">
                <a:solidFill>
                  <a:srgbClr val="C9A84C"/>
                </a:solidFill>
                <a:latin typeface="맑은 고딕"/>
              </a:rPr>
              <a:t>Always</a:t>
            </a:r>
          </a:p>
        </p:txBody>
      </p:sp>
      <p:sp>
        <p:nvSpPr>
          <p:cNvPr id="61" name="TextBox 60"/>
          <p:cNvSpPr txBox="1"/>
          <p:nvPr/>
        </p:nvSpPr>
        <p:spPr>
          <a:xfrm>
            <a:off x="9098280" y="1965960"/>
            <a:ext cx="2377440" cy="685800"/>
          </a:xfrm>
          <a:prstGeom prst="rect">
            <a:avLst/>
          </a:prstGeom>
          <a:noFill/>
        </p:spPr>
        <p:txBody>
          <a:bodyPr wrap="square">
            <a:spAutoFit/>
          </a:bodyPr>
          <a:lstStyle/>
          <a:p>
            <a:pPr algn="l"/>
            <a:r>
              <a:rPr sz="1000" b="0">
                <a:solidFill>
                  <a:srgbClr val="B8BECC"/>
                </a:solidFill>
                <a:latin typeface="맑은 고딕"/>
              </a:rPr>
              <a:t>그리드 완성 즉시
스탯 영구 반영</a:t>
            </a:r>
          </a:p>
        </p:txBody>
      </p:sp>
      <p:sp>
        <p:nvSpPr>
          <p:cNvPr id="62" name="Rectangle 61"/>
          <p:cNvSpPr/>
          <p:nvPr/>
        </p:nvSpPr>
        <p:spPr>
          <a:xfrm>
            <a:off x="8961120" y="2990088"/>
            <a:ext cx="2651760" cy="1371600"/>
          </a:xfrm>
          <a:prstGeom prst="rect">
            <a:avLst/>
          </a:prstGeom>
          <a:solidFill>
            <a:srgbClr val="1E243A"/>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961120" y="3081528"/>
            <a:ext cx="2651760" cy="411480"/>
          </a:xfrm>
          <a:prstGeom prst="rect">
            <a:avLst/>
          </a:prstGeom>
          <a:noFill/>
        </p:spPr>
        <p:txBody>
          <a:bodyPr wrap="square">
            <a:spAutoFit/>
          </a:bodyPr>
          <a:lstStyle/>
          <a:p>
            <a:pPr algn="ctr"/>
            <a:r>
              <a:rPr sz="1600" b="1">
                <a:solidFill>
                  <a:srgbClr val="4AC2B8"/>
                </a:solidFill>
                <a:latin typeface="맑은 고딕"/>
              </a:rPr>
              <a:t>OnHit</a:t>
            </a:r>
          </a:p>
        </p:txBody>
      </p:sp>
      <p:sp>
        <p:nvSpPr>
          <p:cNvPr id="64" name="TextBox 63"/>
          <p:cNvSpPr txBox="1"/>
          <p:nvPr/>
        </p:nvSpPr>
        <p:spPr>
          <a:xfrm>
            <a:off x="9098280" y="3538728"/>
            <a:ext cx="2377440" cy="685800"/>
          </a:xfrm>
          <a:prstGeom prst="rect">
            <a:avLst/>
          </a:prstGeom>
          <a:noFill/>
        </p:spPr>
        <p:txBody>
          <a:bodyPr wrap="square">
            <a:spAutoFit/>
          </a:bodyPr>
          <a:lstStyle/>
          <a:p>
            <a:pPr algn="l"/>
            <a:r>
              <a:rPr sz="1000" b="0">
                <a:solidFill>
                  <a:srgbClr val="B8BECC"/>
                </a:solidFill>
                <a:latin typeface="맑은 고딕"/>
              </a:rPr>
              <a:t>공격 적중 시 스택 누적
최대 스택까지, duration 유지</a:t>
            </a:r>
          </a:p>
        </p:txBody>
      </p:sp>
      <p:sp>
        <p:nvSpPr>
          <p:cNvPr id="65" name="Rectangle 64"/>
          <p:cNvSpPr/>
          <p:nvPr/>
        </p:nvSpPr>
        <p:spPr>
          <a:xfrm>
            <a:off x="8961120" y="4562856"/>
            <a:ext cx="2651760" cy="1371600"/>
          </a:xfrm>
          <a:prstGeom prst="rect">
            <a:avLst/>
          </a:prstGeom>
          <a:solidFill>
            <a:srgbClr val="1E243A"/>
          </a:solidFill>
          <a:ln w="15000">
            <a:solidFill>
              <a:srgbClr val="CC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961120" y="4654296"/>
            <a:ext cx="2651760" cy="411480"/>
          </a:xfrm>
          <a:prstGeom prst="rect">
            <a:avLst/>
          </a:prstGeom>
          <a:noFill/>
        </p:spPr>
        <p:txBody>
          <a:bodyPr wrap="square">
            <a:spAutoFit/>
          </a:bodyPr>
          <a:lstStyle/>
          <a:p>
            <a:pPr algn="ctr"/>
            <a:r>
              <a:rPr sz="1600" b="1">
                <a:solidFill>
                  <a:srgbClr val="CC5555"/>
                </a:solidFill>
                <a:latin typeface="맑은 고딕"/>
              </a:rPr>
              <a:t>OnLowHp</a:t>
            </a:r>
          </a:p>
        </p:txBody>
      </p:sp>
      <p:sp>
        <p:nvSpPr>
          <p:cNvPr id="67" name="TextBox 66"/>
          <p:cNvSpPr txBox="1"/>
          <p:nvPr/>
        </p:nvSpPr>
        <p:spPr>
          <a:xfrm>
            <a:off x="9098280" y="5111496"/>
            <a:ext cx="2377440" cy="685800"/>
          </a:xfrm>
          <a:prstGeom prst="rect">
            <a:avLst/>
          </a:prstGeom>
          <a:noFill/>
        </p:spPr>
        <p:txBody>
          <a:bodyPr wrap="square">
            <a:spAutoFit/>
          </a:bodyPr>
          <a:lstStyle/>
          <a:p>
            <a:pPr algn="l"/>
            <a:r>
              <a:rPr sz="1000" b="0">
                <a:solidFill>
                  <a:srgbClr val="B8BECC"/>
                </a:solidFill>
                <a:latin typeface="맑은 고딕"/>
              </a:rPr>
              <a:t>HP ≤ threshold
조건 만족 시 활성화</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메타 진행 — 재화 3종 &amp; 성장 구조</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3749039" cy="3200400"/>
          </a:xfrm>
          <a:prstGeom prst="rect">
            <a:avLst/>
          </a:prstGeom>
          <a:solidFill>
            <a:srgbClr val="161B2E"/>
          </a:solidFill>
          <a:ln w="200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3749039"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05840"/>
            <a:ext cx="3749039" cy="411480"/>
          </a:xfrm>
          <a:prstGeom prst="rect">
            <a:avLst/>
          </a:prstGeom>
          <a:noFill/>
        </p:spPr>
        <p:txBody>
          <a:bodyPr wrap="square">
            <a:spAutoFit/>
          </a:bodyPr>
          <a:lstStyle/>
          <a:p>
            <a:pPr algn="ctr"/>
            <a:r>
              <a:rPr sz="1500" b="1">
                <a:solidFill>
                  <a:srgbClr val="C9A84C"/>
                </a:solidFill>
                <a:latin typeface="맑은 고딕"/>
              </a:rPr>
              <a:t>영혼의 잔재</a:t>
            </a:r>
          </a:p>
        </p:txBody>
      </p:sp>
      <p:sp>
        <p:nvSpPr>
          <p:cNvPr id="8" name="TextBox 7"/>
          <p:cNvSpPr txBox="1"/>
          <p:nvPr/>
        </p:nvSpPr>
        <p:spPr>
          <a:xfrm>
            <a:off x="365760" y="1508760"/>
            <a:ext cx="3749039" cy="731520"/>
          </a:xfrm>
          <a:prstGeom prst="rect">
            <a:avLst/>
          </a:prstGeom>
          <a:noFill/>
        </p:spPr>
        <p:txBody>
          <a:bodyPr wrap="square">
            <a:spAutoFit/>
          </a:bodyPr>
          <a:lstStyle/>
          <a:p>
            <a:pPr algn="ctr"/>
            <a:r>
              <a:rPr sz="3600" b="0">
                <a:solidFill>
                  <a:srgbClr val="C9A84C"/>
                </a:solidFill>
                <a:latin typeface="맑은 고딕"/>
              </a:rPr>
              <a:t>◈</a:t>
            </a:r>
          </a:p>
        </p:txBody>
      </p:sp>
      <p:sp>
        <p:nvSpPr>
          <p:cNvPr id="9" name="TextBox 8"/>
          <p:cNvSpPr txBox="1"/>
          <p:nvPr/>
        </p:nvSpPr>
        <p:spPr>
          <a:xfrm>
            <a:off x="365760" y="2286000"/>
            <a:ext cx="3749039" cy="274320"/>
          </a:xfrm>
          <a:prstGeom prst="rect">
            <a:avLst/>
          </a:prstGeom>
          <a:noFill/>
        </p:spPr>
        <p:txBody>
          <a:bodyPr wrap="square">
            <a:spAutoFit/>
          </a:bodyPr>
          <a:lstStyle/>
          <a:p>
            <a:pPr algn="ctr"/>
            <a:r>
              <a:rPr sz="1000" b="0">
                <a:solidFill>
                  <a:srgbClr val="E8D08A"/>
                </a:solidFill>
                <a:latin typeface="맑은 고딕"/>
              </a:rPr>
              <a:t>★ 풍부</a:t>
            </a:r>
          </a:p>
        </p:txBody>
      </p:sp>
      <p:sp>
        <p:nvSpPr>
          <p:cNvPr id="10" name="Rectangle 9"/>
          <p:cNvSpPr/>
          <p:nvPr/>
        </p:nvSpPr>
        <p:spPr>
          <a:xfrm>
            <a:off x="548640" y="2606040"/>
            <a:ext cx="33832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97480"/>
            <a:ext cx="640080" cy="228600"/>
          </a:xfrm>
          <a:prstGeom prst="rect">
            <a:avLst/>
          </a:prstGeom>
          <a:noFill/>
        </p:spPr>
        <p:txBody>
          <a:bodyPr wrap="square">
            <a:spAutoFit/>
          </a:bodyPr>
          <a:lstStyle/>
          <a:p>
            <a:pPr algn="l"/>
            <a:r>
              <a:rPr sz="850" b="1">
                <a:solidFill>
                  <a:srgbClr val="727A8E"/>
                </a:solidFill>
                <a:latin typeface="맑은 고딕"/>
              </a:rPr>
              <a:t>획득</a:t>
            </a:r>
          </a:p>
        </p:txBody>
      </p:sp>
      <p:sp>
        <p:nvSpPr>
          <p:cNvPr id="12" name="TextBox 11"/>
          <p:cNvSpPr txBox="1"/>
          <p:nvPr/>
        </p:nvSpPr>
        <p:spPr>
          <a:xfrm>
            <a:off x="1280160" y="2697480"/>
            <a:ext cx="2651760" cy="274320"/>
          </a:xfrm>
          <a:prstGeom prst="rect">
            <a:avLst/>
          </a:prstGeom>
          <a:noFill/>
        </p:spPr>
        <p:txBody>
          <a:bodyPr wrap="square">
            <a:spAutoFit/>
          </a:bodyPr>
          <a:lstStyle/>
          <a:p>
            <a:pPr algn="l"/>
            <a:r>
              <a:rPr sz="950" b="0">
                <a:solidFill>
                  <a:srgbClr val="B8BECC"/>
                </a:solidFill>
                <a:latin typeface="맑은 고딕"/>
              </a:rPr>
              <a:t>매 방 클리어 · 보스 처치</a:t>
            </a:r>
          </a:p>
        </p:txBody>
      </p:sp>
      <p:sp>
        <p:nvSpPr>
          <p:cNvPr id="13" name="TextBox 12"/>
          <p:cNvSpPr txBox="1"/>
          <p:nvPr/>
        </p:nvSpPr>
        <p:spPr>
          <a:xfrm>
            <a:off x="548640" y="3035808"/>
            <a:ext cx="640080" cy="228600"/>
          </a:xfrm>
          <a:prstGeom prst="rect">
            <a:avLst/>
          </a:prstGeom>
          <a:noFill/>
        </p:spPr>
        <p:txBody>
          <a:bodyPr wrap="square">
            <a:spAutoFit/>
          </a:bodyPr>
          <a:lstStyle/>
          <a:p>
            <a:pPr algn="l"/>
            <a:r>
              <a:rPr sz="850" b="1">
                <a:solidFill>
                  <a:srgbClr val="C9A84C"/>
                </a:solidFill>
                <a:latin typeface="맑은 고딕"/>
              </a:rPr>
              <a:t>소비</a:t>
            </a:r>
          </a:p>
        </p:txBody>
      </p:sp>
      <p:sp>
        <p:nvSpPr>
          <p:cNvPr id="14" name="TextBox 13"/>
          <p:cNvSpPr txBox="1"/>
          <p:nvPr/>
        </p:nvSpPr>
        <p:spPr>
          <a:xfrm>
            <a:off x="1280160" y="3017520"/>
            <a:ext cx="2651760" cy="457200"/>
          </a:xfrm>
          <a:prstGeom prst="rect">
            <a:avLst/>
          </a:prstGeom>
          <a:noFill/>
        </p:spPr>
        <p:txBody>
          <a:bodyPr wrap="square">
            <a:spAutoFit/>
          </a:bodyPr>
          <a:lstStyle/>
          <a:p>
            <a:pPr algn="l"/>
            <a:r>
              <a:rPr sz="1000" b="1">
                <a:solidFill>
                  <a:srgbClr val="FFFFFF"/>
                </a:solidFill>
                <a:latin typeface="맑은 고딕"/>
              </a:rPr>
              <a:t>멀린의 서약
영구 스탯 강화</a:t>
            </a:r>
          </a:p>
        </p:txBody>
      </p:sp>
      <p:sp>
        <p:nvSpPr>
          <p:cNvPr id="15" name="Rectangle 14"/>
          <p:cNvSpPr/>
          <p:nvPr/>
        </p:nvSpPr>
        <p:spPr>
          <a:xfrm>
            <a:off x="4297680" y="960120"/>
            <a:ext cx="3749039" cy="3200400"/>
          </a:xfrm>
          <a:prstGeom prst="rect">
            <a:avLst/>
          </a:prstGeom>
          <a:solidFill>
            <a:srgbClr val="161B2E"/>
          </a:solidFill>
          <a:ln w="20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960120"/>
            <a:ext cx="3749039"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1005840"/>
            <a:ext cx="3749039" cy="411480"/>
          </a:xfrm>
          <a:prstGeom prst="rect">
            <a:avLst/>
          </a:prstGeom>
          <a:noFill/>
        </p:spPr>
        <p:txBody>
          <a:bodyPr wrap="square">
            <a:spAutoFit/>
          </a:bodyPr>
          <a:lstStyle/>
          <a:p>
            <a:pPr algn="ctr"/>
            <a:r>
              <a:rPr sz="1500" b="1">
                <a:solidFill>
                  <a:srgbClr val="4AC2B8"/>
                </a:solidFill>
                <a:latin typeface="맑은 고딕"/>
              </a:rPr>
              <a:t>봉인된 기억</a:t>
            </a:r>
          </a:p>
        </p:txBody>
      </p:sp>
      <p:sp>
        <p:nvSpPr>
          <p:cNvPr id="18" name="TextBox 17"/>
          <p:cNvSpPr txBox="1"/>
          <p:nvPr/>
        </p:nvSpPr>
        <p:spPr>
          <a:xfrm>
            <a:off x="4297680" y="1508760"/>
            <a:ext cx="3749039" cy="731520"/>
          </a:xfrm>
          <a:prstGeom prst="rect">
            <a:avLst/>
          </a:prstGeom>
          <a:noFill/>
        </p:spPr>
        <p:txBody>
          <a:bodyPr wrap="square">
            <a:spAutoFit/>
          </a:bodyPr>
          <a:lstStyle/>
          <a:p>
            <a:pPr algn="ctr"/>
            <a:r>
              <a:rPr sz="3600" b="0">
                <a:solidFill>
                  <a:srgbClr val="4AC2B8"/>
                </a:solidFill>
                <a:latin typeface="맑은 고딕"/>
              </a:rPr>
              <a:t>◉</a:t>
            </a:r>
          </a:p>
        </p:txBody>
      </p:sp>
      <p:sp>
        <p:nvSpPr>
          <p:cNvPr id="19" name="TextBox 18"/>
          <p:cNvSpPr txBox="1"/>
          <p:nvPr/>
        </p:nvSpPr>
        <p:spPr>
          <a:xfrm>
            <a:off x="4297680" y="2286000"/>
            <a:ext cx="3749039" cy="274320"/>
          </a:xfrm>
          <a:prstGeom prst="rect">
            <a:avLst/>
          </a:prstGeom>
          <a:noFill/>
        </p:spPr>
        <p:txBody>
          <a:bodyPr wrap="square">
            <a:spAutoFit/>
          </a:bodyPr>
          <a:lstStyle/>
          <a:p>
            <a:pPr algn="ctr"/>
            <a:r>
              <a:rPr sz="1000" b="0">
                <a:solidFill>
                  <a:srgbClr val="E8D08A"/>
                </a:solidFill>
                <a:latin typeface="맑은 고딕"/>
              </a:rPr>
              <a:t>★★★ 희귀</a:t>
            </a:r>
          </a:p>
        </p:txBody>
      </p:sp>
      <p:sp>
        <p:nvSpPr>
          <p:cNvPr id="20" name="Rectangle 19"/>
          <p:cNvSpPr/>
          <p:nvPr/>
        </p:nvSpPr>
        <p:spPr>
          <a:xfrm>
            <a:off x="4480560" y="2606040"/>
            <a:ext cx="33832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2697480"/>
            <a:ext cx="640080" cy="228600"/>
          </a:xfrm>
          <a:prstGeom prst="rect">
            <a:avLst/>
          </a:prstGeom>
          <a:noFill/>
        </p:spPr>
        <p:txBody>
          <a:bodyPr wrap="square">
            <a:spAutoFit/>
          </a:bodyPr>
          <a:lstStyle/>
          <a:p>
            <a:pPr algn="l"/>
            <a:r>
              <a:rPr sz="850" b="1">
                <a:solidFill>
                  <a:srgbClr val="727A8E"/>
                </a:solidFill>
                <a:latin typeface="맑은 고딕"/>
              </a:rPr>
              <a:t>획득</a:t>
            </a:r>
          </a:p>
        </p:txBody>
      </p:sp>
      <p:sp>
        <p:nvSpPr>
          <p:cNvPr id="22" name="TextBox 21"/>
          <p:cNvSpPr txBox="1"/>
          <p:nvPr/>
        </p:nvSpPr>
        <p:spPr>
          <a:xfrm>
            <a:off x="5212080" y="2697480"/>
            <a:ext cx="2651760" cy="274320"/>
          </a:xfrm>
          <a:prstGeom prst="rect">
            <a:avLst/>
          </a:prstGeom>
          <a:noFill/>
        </p:spPr>
        <p:txBody>
          <a:bodyPr wrap="square">
            <a:spAutoFit/>
          </a:bodyPr>
          <a:lstStyle/>
          <a:p>
            <a:pPr algn="l"/>
            <a:r>
              <a:rPr sz="950" b="0">
                <a:solidFill>
                  <a:srgbClr val="B8BECC"/>
                </a:solidFill>
                <a:latin typeface="맑은 고딕"/>
              </a:rPr>
              <a:t>드문 방 보상 · 챕터 보스</a:t>
            </a:r>
          </a:p>
        </p:txBody>
      </p:sp>
      <p:sp>
        <p:nvSpPr>
          <p:cNvPr id="23" name="TextBox 22"/>
          <p:cNvSpPr txBox="1"/>
          <p:nvPr/>
        </p:nvSpPr>
        <p:spPr>
          <a:xfrm>
            <a:off x="4480560" y="3035808"/>
            <a:ext cx="640080" cy="228600"/>
          </a:xfrm>
          <a:prstGeom prst="rect">
            <a:avLst/>
          </a:prstGeom>
          <a:noFill/>
        </p:spPr>
        <p:txBody>
          <a:bodyPr wrap="square">
            <a:spAutoFit/>
          </a:bodyPr>
          <a:lstStyle/>
          <a:p>
            <a:pPr algn="l"/>
            <a:r>
              <a:rPr sz="850" b="1">
                <a:solidFill>
                  <a:srgbClr val="4AC2B8"/>
                </a:solidFill>
                <a:latin typeface="맑은 고딕"/>
              </a:rPr>
              <a:t>소비</a:t>
            </a:r>
          </a:p>
        </p:txBody>
      </p:sp>
      <p:sp>
        <p:nvSpPr>
          <p:cNvPr id="24" name="TextBox 23"/>
          <p:cNvSpPr txBox="1"/>
          <p:nvPr/>
        </p:nvSpPr>
        <p:spPr>
          <a:xfrm>
            <a:off x="5212080" y="3017520"/>
            <a:ext cx="2651760" cy="457200"/>
          </a:xfrm>
          <a:prstGeom prst="rect">
            <a:avLst/>
          </a:prstGeom>
          <a:noFill/>
        </p:spPr>
        <p:txBody>
          <a:bodyPr wrap="square">
            <a:spAutoFit/>
          </a:bodyPr>
          <a:lstStyle/>
          <a:p>
            <a:pPr algn="l"/>
            <a:r>
              <a:rPr sz="1000" b="1">
                <a:solidFill>
                  <a:srgbClr val="FFFFFF"/>
                </a:solidFill>
                <a:latin typeface="맑은 고딕"/>
              </a:rPr>
              <a:t>유물 해방
새 영웅 언락</a:t>
            </a:r>
          </a:p>
        </p:txBody>
      </p:sp>
      <p:sp>
        <p:nvSpPr>
          <p:cNvPr id="25" name="Rectangle 24"/>
          <p:cNvSpPr/>
          <p:nvPr/>
        </p:nvSpPr>
        <p:spPr>
          <a:xfrm>
            <a:off x="8229600" y="960120"/>
            <a:ext cx="3749039" cy="3200400"/>
          </a:xfrm>
          <a:prstGeom prst="rect">
            <a:avLst/>
          </a:prstGeom>
          <a:solidFill>
            <a:srgbClr val="161B2E"/>
          </a:solidFill>
          <a:ln w="20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960120"/>
            <a:ext cx="3749039"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1005840"/>
            <a:ext cx="3749039" cy="411480"/>
          </a:xfrm>
          <a:prstGeom prst="rect">
            <a:avLst/>
          </a:prstGeom>
          <a:noFill/>
        </p:spPr>
        <p:txBody>
          <a:bodyPr wrap="square">
            <a:spAutoFit/>
          </a:bodyPr>
          <a:lstStyle/>
          <a:p>
            <a:pPr algn="ctr"/>
            <a:r>
              <a:rPr sz="1500" b="1">
                <a:solidFill>
                  <a:srgbClr val="6B3F8E"/>
                </a:solidFill>
                <a:latin typeface="맑은 고딕"/>
              </a:rPr>
              <a:t>유물 코어</a:t>
            </a:r>
          </a:p>
        </p:txBody>
      </p:sp>
      <p:sp>
        <p:nvSpPr>
          <p:cNvPr id="28" name="TextBox 27"/>
          <p:cNvSpPr txBox="1"/>
          <p:nvPr/>
        </p:nvSpPr>
        <p:spPr>
          <a:xfrm>
            <a:off x="8229600" y="1508760"/>
            <a:ext cx="3749039" cy="731520"/>
          </a:xfrm>
          <a:prstGeom prst="rect">
            <a:avLst/>
          </a:prstGeom>
          <a:noFill/>
        </p:spPr>
        <p:txBody>
          <a:bodyPr wrap="square">
            <a:spAutoFit/>
          </a:bodyPr>
          <a:lstStyle/>
          <a:p>
            <a:pPr algn="ctr"/>
            <a:r>
              <a:rPr sz="3600" b="0">
                <a:solidFill>
                  <a:srgbClr val="6B3F8E"/>
                </a:solidFill>
                <a:latin typeface="맑은 고딕"/>
              </a:rPr>
              <a:t>✦</a:t>
            </a:r>
          </a:p>
        </p:txBody>
      </p:sp>
      <p:sp>
        <p:nvSpPr>
          <p:cNvPr id="29" name="TextBox 28"/>
          <p:cNvSpPr txBox="1"/>
          <p:nvPr/>
        </p:nvSpPr>
        <p:spPr>
          <a:xfrm>
            <a:off x="8229600" y="2286000"/>
            <a:ext cx="3749039" cy="274320"/>
          </a:xfrm>
          <a:prstGeom prst="rect">
            <a:avLst/>
          </a:prstGeom>
          <a:noFill/>
        </p:spPr>
        <p:txBody>
          <a:bodyPr wrap="square">
            <a:spAutoFit/>
          </a:bodyPr>
          <a:lstStyle/>
          <a:p>
            <a:pPr algn="ctr"/>
            <a:r>
              <a:rPr sz="1000" b="0">
                <a:solidFill>
                  <a:srgbClr val="E8D08A"/>
                </a:solidFill>
                <a:latin typeface="맑은 고딕"/>
              </a:rPr>
              <a:t>★★★★★ 극희귀</a:t>
            </a:r>
          </a:p>
        </p:txBody>
      </p:sp>
      <p:sp>
        <p:nvSpPr>
          <p:cNvPr id="30" name="Rectangle 29"/>
          <p:cNvSpPr/>
          <p:nvPr/>
        </p:nvSpPr>
        <p:spPr>
          <a:xfrm>
            <a:off x="8412480" y="2606040"/>
            <a:ext cx="338328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2697480"/>
            <a:ext cx="640080" cy="228600"/>
          </a:xfrm>
          <a:prstGeom prst="rect">
            <a:avLst/>
          </a:prstGeom>
          <a:noFill/>
        </p:spPr>
        <p:txBody>
          <a:bodyPr wrap="square">
            <a:spAutoFit/>
          </a:bodyPr>
          <a:lstStyle/>
          <a:p>
            <a:pPr algn="l"/>
            <a:r>
              <a:rPr sz="850" b="1">
                <a:solidFill>
                  <a:srgbClr val="727A8E"/>
                </a:solidFill>
                <a:latin typeface="맑은 고딕"/>
              </a:rPr>
              <a:t>획득</a:t>
            </a:r>
          </a:p>
        </p:txBody>
      </p:sp>
      <p:sp>
        <p:nvSpPr>
          <p:cNvPr id="32" name="TextBox 31"/>
          <p:cNvSpPr txBox="1"/>
          <p:nvPr/>
        </p:nvSpPr>
        <p:spPr>
          <a:xfrm>
            <a:off x="9144000" y="2697480"/>
            <a:ext cx="2651760" cy="274320"/>
          </a:xfrm>
          <a:prstGeom prst="rect">
            <a:avLst/>
          </a:prstGeom>
          <a:noFill/>
        </p:spPr>
        <p:txBody>
          <a:bodyPr wrap="square">
            <a:spAutoFit/>
          </a:bodyPr>
          <a:lstStyle/>
          <a:p>
            <a:pPr algn="l"/>
            <a:r>
              <a:rPr sz="950" b="0">
                <a:solidFill>
                  <a:srgbClr val="B8BECC"/>
                </a:solidFill>
                <a:latin typeface="맑은 고딕"/>
              </a:rPr>
              <a:t>보스 첫 격파 시에만</a:t>
            </a:r>
          </a:p>
        </p:txBody>
      </p:sp>
      <p:sp>
        <p:nvSpPr>
          <p:cNvPr id="33" name="TextBox 32"/>
          <p:cNvSpPr txBox="1"/>
          <p:nvPr/>
        </p:nvSpPr>
        <p:spPr>
          <a:xfrm>
            <a:off x="8412480" y="3035808"/>
            <a:ext cx="640080" cy="228600"/>
          </a:xfrm>
          <a:prstGeom prst="rect">
            <a:avLst/>
          </a:prstGeom>
          <a:noFill/>
        </p:spPr>
        <p:txBody>
          <a:bodyPr wrap="square">
            <a:spAutoFit/>
          </a:bodyPr>
          <a:lstStyle/>
          <a:p>
            <a:pPr algn="l"/>
            <a:r>
              <a:rPr sz="850" b="1">
                <a:solidFill>
                  <a:srgbClr val="6B3F8E"/>
                </a:solidFill>
                <a:latin typeface="맑은 고딕"/>
              </a:rPr>
              <a:t>소비</a:t>
            </a:r>
          </a:p>
        </p:txBody>
      </p:sp>
      <p:sp>
        <p:nvSpPr>
          <p:cNvPr id="34" name="TextBox 33"/>
          <p:cNvSpPr txBox="1"/>
          <p:nvPr/>
        </p:nvSpPr>
        <p:spPr>
          <a:xfrm>
            <a:off x="9144000" y="3017520"/>
            <a:ext cx="2651760" cy="457200"/>
          </a:xfrm>
          <a:prstGeom prst="rect">
            <a:avLst/>
          </a:prstGeom>
          <a:noFill/>
        </p:spPr>
        <p:txBody>
          <a:bodyPr wrap="square">
            <a:spAutoFit/>
          </a:bodyPr>
          <a:lstStyle/>
          <a:p>
            <a:pPr algn="l"/>
            <a:r>
              <a:rPr sz="1000" b="1">
                <a:solidFill>
                  <a:srgbClr val="FFFFFF"/>
                </a:solidFill>
                <a:latin typeface="맑은 고딕"/>
              </a:rPr>
              <a:t>유물 각성
메커닉 심화</a:t>
            </a:r>
          </a:p>
        </p:txBody>
      </p:sp>
      <p:sp>
        <p:nvSpPr>
          <p:cNvPr id="35" name="Rectangle 34"/>
          <p:cNvSpPr/>
          <p:nvPr/>
        </p:nvSpPr>
        <p:spPr>
          <a:xfrm>
            <a:off x="365760" y="4343400"/>
            <a:ext cx="7132320" cy="21031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4343400"/>
            <a:ext cx="71323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398264"/>
            <a:ext cx="6858000" cy="256032"/>
          </a:xfrm>
          <a:prstGeom prst="rect">
            <a:avLst/>
          </a:prstGeom>
          <a:noFill/>
        </p:spPr>
        <p:txBody>
          <a:bodyPr wrap="square">
            <a:spAutoFit/>
          </a:bodyPr>
          <a:lstStyle/>
          <a:p>
            <a:pPr algn="l"/>
            <a:r>
              <a:rPr sz="1200" b="1">
                <a:solidFill>
                  <a:srgbClr val="C9A84C"/>
                </a:solidFill>
                <a:latin typeface="맑은 고딕"/>
              </a:rPr>
              <a:t>런당 평균 획득량</a:t>
            </a:r>
          </a:p>
        </p:txBody>
      </p:sp>
      <p:sp>
        <p:nvSpPr>
          <p:cNvPr id="38" name="Rectangle 37"/>
          <p:cNvSpPr/>
          <p:nvPr/>
        </p:nvSpPr>
        <p:spPr>
          <a:xfrm>
            <a:off x="548640" y="4773168"/>
            <a:ext cx="1828800" cy="45720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4809744"/>
            <a:ext cx="1682496" cy="384048"/>
          </a:xfrm>
          <a:prstGeom prst="rect">
            <a:avLst/>
          </a:prstGeom>
          <a:noFill/>
        </p:spPr>
        <p:txBody>
          <a:bodyPr wrap="square">
            <a:spAutoFit/>
          </a:bodyPr>
          <a:lstStyle/>
          <a:p>
            <a:pPr algn="ctr"/>
            <a:r>
              <a:rPr sz="1000" b="1">
                <a:solidFill>
                  <a:srgbClr val="C9A84C"/>
                </a:solidFill>
                <a:latin typeface="맑은 고딕"/>
              </a:rPr>
              <a:t>재화</a:t>
            </a:r>
          </a:p>
        </p:txBody>
      </p:sp>
      <p:sp>
        <p:nvSpPr>
          <p:cNvPr id="40" name="Rectangle 39"/>
          <p:cNvSpPr/>
          <p:nvPr/>
        </p:nvSpPr>
        <p:spPr>
          <a:xfrm>
            <a:off x="2377440" y="4773168"/>
            <a:ext cx="1280160" cy="45720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50592" y="4809744"/>
            <a:ext cx="1133856" cy="384048"/>
          </a:xfrm>
          <a:prstGeom prst="rect">
            <a:avLst/>
          </a:prstGeom>
          <a:noFill/>
        </p:spPr>
        <p:txBody>
          <a:bodyPr wrap="square">
            <a:spAutoFit/>
          </a:bodyPr>
          <a:lstStyle/>
          <a:p>
            <a:pPr algn="ctr"/>
            <a:r>
              <a:rPr sz="1000" b="1">
                <a:solidFill>
                  <a:srgbClr val="C9A84C"/>
                </a:solidFill>
                <a:latin typeface="맑은 고딕"/>
              </a:rPr>
              <a:t>CH.1 클리어</a:t>
            </a:r>
          </a:p>
        </p:txBody>
      </p:sp>
      <p:sp>
        <p:nvSpPr>
          <p:cNvPr id="42" name="Rectangle 41"/>
          <p:cNvSpPr/>
          <p:nvPr/>
        </p:nvSpPr>
        <p:spPr>
          <a:xfrm>
            <a:off x="3657600" y="4773168"/>
            <a:ext cx="1280160" cy="45720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30752" y="4809744"/>
            <a:ext cx="1133856" cy="384048"/>
          </a:xfrm>
          <a:prstGeom prst="rect">
            <a:avLst/>
          </a:prstGeom>
          <a:noFill/>
        </p:spPr>
        <p:txBody>
          <a:bodyPr wrap="square">
            <a:spAutoFit/>
          </a:bodyPr>
          <a:lstStyle/>
          <a:p>
            <a:pPr algn="ctr"/>
            <a:r>
              <a:rPr sz="1000" b="1">
                <a:solidFill>
                  <a:srgbClr val="C9A84C"/>
                </a:solidFill>
                <a:latin typeface="맑은 고딕"/>
              </a:rPr>
              <a:t>CH.2 클리어</a:t>
            </a:r>
          </a:p>
        </p:txBody>
      </p:sp>
      <p:sp>
        <p:nvSpPr>
          <p:cNvPr id="44" name="Rectangle 43"/>
          <p:cNvSpPr/>
          <p:nvPr/>
        </p:nvSpPr>
        <p:spPr>
          <a:xfrm>
            <a:off x="4937760" y="4773168"/>
            <a:ext cx="1280160" cy="45720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10912" y="4809744"/>
            <a:ext cx="1133856" cy="384048"/>
          </a:xfrm>
          <a:prstGeom prst="rect">
            <a:avLst/>
          </a:prstGeom>
          <a:noFill/>
        </p:spPr>
        <p:txBody>
          <a:bodyPr wrap="square">
            <a:spAutoFit/>
          </a:bodyPr>
          <a:lstStyle/>
          <a:p>
            <a:pPr algn="ctr"/>
            <a:r>
              <a:rPr sz="1000" b="1">
                <a:solidFill>
                  <a:srgbClr val="C9A84C"/>
                </a:solidFill>
                <a:latin typeface="맑은 고딕"/>
              </a:rPr>
              <a:t>CH.3 클리어</a:t>
            </a:r>
          </a:p>
        </p:txBody>
      </p:sp>
      <p:sp>
        <p:nvSpPr>
          <p:cNvPr id="46" name="Rectangle 45"/>
          <p:cNvSpPr/>
          <p:nvPr/>
        </p:nvSpPr>
        <p:spPr>
          <a:xfrm>
            <a:off x="6217920" y="4773168"/>
            <a:ext cx="1280160" cy="457200"/>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91072" y="4809744"/>
            <a:ext cx="1133856" cy="384048"/>
          </a:xfrm>
          <a:prstGeom prst="rect">
            <a:avLst/>
          </a:prstGeom>
          <a:noFill/>
        </p:spPr>
        <p:txBody>
          <a:bodyPr wrap="square">
            <a:spAutoFit/>
          </a:bodyPr>
          <a:lstStyle/>
          <a:p>
            <a:pPr algn="ctr"/>
            <a:r>
              <a:rPr sz="1000" b="1">
                <a:solidFill>
                  <a:srgbClr val="C9A84C"/>
                </a:solidFill>
                <a:latin typeface="맑은 고딕"/>
              </a:rPr>
              <a:t>CH.4 클리어</a:t>
            </a:r>
          </a:p>
        </p:txBody>
      </p:sp>
      <p:sp>
        <p:nvSpPr>
          <p:cNvPr id="48" name="Rectangle 47"/>
          <p:cNvSpPr/>
          <p:nvPr/>
        </p:nvSpPr>
        <p:spPr>
          <a:xfrm>
            <a:off x="548640" y="5230368"/>
            <a:ext cx="182880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 y="5266944"/>
            <a:ext cx="1682496" cy="384048"/>
          </a:xfrm>
          <a:prstGeom prst="rect">
            <a:avLst/>
          </a:prstGeom>
          <a:noFill/>
        </p:spPr>
        <p:txBody>
          <a:bodyPr wrap="square">
            <a:spAutoFit/>
          </a:bodyPr>
          <a:lstStyle/>
          <a:p>
            <a:pPr algn="ctr"/>
            <a:r>
              <a:rPr sz="950" b="0">
                <a:solidFill>
                  <a:srgbClr val="FFFFFF"/>
                </a:solidFill>
                <a:latin typeface="맑은 고딕"/>
              </a:rPr>
              <a:t>영혼의 잔재</a:t>
            </a:r>
          </a:p>
        </p:txBody>
      </p:sp>
      <p:sp>
        <p:nvSpPr>
          <p:cNvPr id="50" name="Rectangle 49"/>
          <p:cNvSpPr/>
          <p:nvPr/>
        </p:nvSpPr>
        <p:spPr>
          <a:xfrm>
            <a:off x="2377440" y="52303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450592" y="5266944"/>
            <a:ext cx="1133856" cy="384048"/>
          </a:xfrm>
          <a:prstGeom prst="rect">
            <a:avLst/>
          </a:prstGeom>
          <a:noFill/>
        </p:spPr>
        <p:txBody>
          <a:bodyPr wrap="square">
            <a:spAutoFit/>
          </a:bodyPr>
          <a:lstStyle/>
          <a:p>
            <a:pPr algn="ctr"/>
            <a:r>
              <a:rPr sz="950" b="0">
                <a:solidFill>
                  <a:srgbClr val="B8BECC"/>
                </a:solidFill>
                <a:latin typeface="맑은 고딕"/>
              </a:rPr>
              <a:t>400~600</a:t>
            </a:r>
          </a:p>
        </p:txBody>
      </p:sp>
      <p:sp>
        <p:nvSpPr>
          <p:cNvPr id="52" name="Rectangle 51"/>
          <p:cNvSpPr/>
          <p:nvPr/>
        </p:nvSpPr>
        <p:spPr>
          <a:xfrm>
            <a:off x="3657600" y="52303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30752" y="5266944"/>
            <a:ext cx="1133856" cy="384048"/>
          </a:xfrm>
          <a:prstGeom prst="rect">
            <a:avLst/>
          </a:prstGeom>
          <a:noFill/>
        </p:spPr>
        <p:txBody>
          <a:bodyPr wrap="square">
            <a:spAutoFit/>
          </a:bodyPr>
          <a:lstStyle/>
          <a:p>
            <a:pPr algn="ctr"/>
            <a:r>
              <a:rPr sz="950" b="0">
                <a:solidFill>
                  <a:srgbClr val="B8BECC"/>
                </a:solidFill>
                <a:latin typeface="맑은 고딕"/>
              </a:rPr>
              <a:t>700~900</a:t>
            </a:r>
          </a:p>
        </p:txBody>
      </p:sp>
      <p:sp>
        <p:nvSpPr>
          <p:cNvPr id="54" name="Rectangle 53"/>
          <p:cNvSpPr/>
          <p:nvPr/>
        </p:nvSpPr>
        <p:spPr>
          <a:xfrm>
            <a:off x="4937760" y="52303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10912" y="5266944"/>
            <a:ext cx="1133856" cy="384048"/>
          </a:xfrm>
          <a:prstGeom prst="rect">
            <a:avLst/>
          </a:prstGeom>
          <a:noFill/>
        </p:spPr>
        <p:txBody>
          <a:bodyPr wrap="square">
            <a:spAutoFit/>
          </a:bodyPr>
          <a:lstStyle/>
          <a:p>
            <a:pPr algn="ctr"/>
            <a:r>
              <a:rPr sz="950" b="0">
                <a:solidFill>
                  <a:srgbClr val="B8BECC"/>
                </a:solidFill>
                <a:latin typeface="맑은 고딕"/>
              </a:rPr>
              <a:t>900~1,100</a:t>
            </a:r>
          </a:p>
        </p:txBody>
      </p:sp>
      <p:sp>
        <p:nvSpPr>
          <p:cNvPr id="56" name="Rectangle 55"/>
          <p:cNvSpPr/>
          <p:nvPr/>
        </p:nvSpPr>
        <p:spPr>
          <a:xfrm>
            <a:off x="6217920" y="52303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91072" y="5266944"/>
            <a:ext cx="1133856" cy="384048"/>
          </a:xfrm>
          <a:prstGeom prst="rect">
            <a:avLst/>
          </a:prstGeom>
          <a:noFill/>
        </p:spPr>
        <p:txBody>
          <a:bodyPr wrap="square">
            <a:spAutoFit/>
          </a:bodyPr>
          <a:lstStyle/>
          <a:p>
            <a:pPr algn="ctr"/>
            <a:r>
              <a:rPr sz="950" b="0">
                <a:solidFill>
                  <a:srgbClr val="B8BECC"/>
                </a:solidFill>
                <a:latin typeface="맑은 고딕"/>
              </a:rPr>
              <a:t>1,200~1,500</a:t>
            </a:r>
          </a:p>
        </p:txBody>
      </p:sp>
      <p:sp>
        <p:nvSpPr>
          <p:cNvPr id="58" name="Rectangle 57"/>
          <p:cNvSpPr/>
          <p:nvPr/>
        </p:nvSpPr>
        <p:spPr>
          <a:xfrm>
            <a:off x="548640" y="5687568"/>
            <a:ext cx="1828800" cy="45720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 y="5724144"/>
            <a:ext cx="1682496" cy="384048"/>
          </a:xfrm>
          <a:prstGeom prst="rect">
            <a:avLst/>
          </a:prstGeom>
          <a:noFill/>
        </p:spPr>
        <p:txBody>
          <a:bodyPr wrap="square">
            <a:spAutoFit/>
          </a:bodyPr>
          <a:lstStyle/>
          <a:p>
            <a:pPr algn="ctr"/>
            <a:r>
              <a:rPr sz="950" b="0">
                <a:solidFill>
                  <a:srgbClr val="FFFFFF"/>
                </a:solidFill>
                <a:latin typeface="맑은 고딕"/>
              </a:rPr>
              <a:t>봉인된 기억</a:t>
            </a:r>
          </a:p>
        </p:txBody>
      </p:sp>
      <p:sp>
        <p:nvSpPr>
          <p:cNvPr id="60" name="Rectangle 59"/>
          <p:cNvSpPr/>
          <p:nvPr/>
        </p:nvSpPr>
        <p:spPr>
          <a:xfrm>
            <a:off x="2377440" y="5687568"/>
            <a:ext cx="1280160" cy="45720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450592" y="5724144"/>
            <a:ext cx="1133856" cy="384048"/>
          </a:xfrm>
          <a:prstGeom prst="rect">
            <a:avLst/>
          </a:prstGeom>
          <a:noFill/>
        </p:spPr>
        <p:txBody>
          <a:bodyPr wrap="square">
            <a:spAutoFit/>
          </a:bodyPr>
          <a:lstStyle/>
          <a:p>
            <a:pPr algn="ctr"/>
            <a:r>
              <a:rPr sz="950" b="0">
                <a:solidFill>
                  <a:srgbClr val="B8BECC"/>
                </a:solidFill>
                <a:latin typeface="맑은 고딕"/>
              </a:rPr>
              <a:t>0~1</a:t>
            </a:r>
          </a:p>
        </p:txBody>
      </p:sp>
      <p:sp>
        <p:nvSpPr>
          <p:cNvPr id="62" name="Rectangle 61"/>
          <p:cNvSpPr/>
          <p:nvPr/>
        </p:nvSpPr>
        <p:spPr>
          <a:xfrm>
            <a:off x="3657600" y="5687568"/>
            <a:ext cx="1280160" cy="45720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730752" y="5724144"/>
            <a:ext cx="1133856" cy="384048"/>
          </a:xfrm>
          <a:prstGeom prst="rect">
            <a:avLst/>
          </a:prstGeom>
          <a:noFill/>
        </p:spPr>
        <p:txBody>
          <a:bodyPr wrap="square">
            <a:spAutoFit/>
          </a:bodyPr>
          <a:lstStyle/>
          <a:p>
            <a:pPr algn="ctr"/>
            <a:r>
              <a:rPr sz="950" b="0">
                <a:solidFill>
                  <a:srgbClr val="B8BECC"/>
                </a:solidFill>
                <a:latin typeface="맑은 고딕"/>
              </a:rPr>
              <a:t>0~1</a:t>
            </a:r>
          </a:p>
        </p:txBody>
      </p:sp>
      <p:sp>
        <p:nvSpPr>
          <p:cNvPr id="64" name="Rectangle 63"/>
          <p:cNvSpPr/>
          <p:nvPr/>
        </p:nvSpPr>
        <p:spPr>
          <a:xfrm>
            <a:off x="4937760" y="5687568"/>
            <a:ext cx="1280160" cy="45720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0912" y="5724144"/>
            <a:ext cx="1133856" cy="384048"/>
          </a:xfrm>
          <a:prstGeom prst="rect">
            <a:avLst/>
          </a:prstGeom>
          <a:noFill/>
        </p:spPr>
        <p:txBody>
          <a:bodyPr wrap="square">
            <a:spAutoFit/>
          </a:bodyPr>
          <a:lstStyle/>
          <a:p>
            <a:pPr algn="ctr"/>
            <a:r>
              <a:rPr sz="950" b="0">
                <a:solidFill>
                  <a:srgbClr val="B8BECC"/>
                </a:solidFill>
                <a:latin typeface="맑은 고딕"/>
              </a:rPr>
              <a:t>1~2</a:t>
            </a:r>
          </a:p>
        </p:txBody>
      </p:sp>
      <p:sp>
        <p:nvSpPr>
          <p:cNvPr id="66" name="Rectangle 65"/>
          <p:cNvSpPr/>
          <p:nvPr/>
        </p:nvSpPr>
        <p:spPr>
          <a:xfrm>
            <a:off x="6217920" y="5687568"/>
            <a:ext cx="1280160" cy="457200"/>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91072" y="5724144"/>
            <a:ext cx="1133856" cy="384048"/>
          </a:xfrm>
          <a:prstGeom prst="rect">
            <a:avLst/>
          </a:prstGeom>
          <a:noFill/>
        </p:spPr>
        <p:txBody>
          <a:bodyPr wrap="square">
            <a:spAutoFit/>
          </a:bodyPr>
          <a:lstStyle/>
          <a:p>
            <a:pPr algn="ctr"/>
            <a:r>
              <a:rPr sz="950" b="0">
                <a:solidFill>
                  <a:srgbClr val="B8BECC"/>
                </a:solidFill>
                <a:latin typeface="맑은 고딕"/>
              </a:rPr>
              <a:t>1~2</a:t>
            </a:r>
          </a:p>
        </p:txBody>
      </p:sp>
      <p:sp>
        <p:nvSpPr>
          <p:cNvPr id="68" name="Rectangle 67"/>
          <p:cNvSpPr/>
          <p:nvPr/>
        </p:nvSpPr>
        <p:spPr>
          <a:xfrm>
            <a:off x="548640" y="6144768"/>
            <a:ext cx="182880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6181344"/>
            <a:ext cx="1682496" cy="384048"/>
          </a:xfrm>
          <a:prstGeom prst="rect">
            <a:avLst/>
          </a:prstGeom>
          <a:noFill/>
        </p:spPr>
        <p:txBody>
          <a:bodyPr wrap="square">
            <a:spAutoFit/>
          </a:bodyPr>
          <a:lstStyle/>
          <a:p>
            <a:pPr algn="ctr"/>
            <a:r>
              <a:rPr sz="950" b="0">
                <a:solidFill>
                  <a:srgbClr val="FFFFFF"/>
                </a:solidFill>
                <a:latin typeface="맑은 고딕"/>
              </a:rPr>
              <a:t>유물 코어</a:t>
            </a:r>
          </a:p>
        </p:txBody>
      </p:sp>
      <p:sp>
        <p:nvSpPr>
          <p:cNvPr id="70" name="Rectangle 69"/>
          <p:cNvSpPr/>
          <p:nvPr/>
        </p:nvSpPr>
        <p:spPr>
          <a:xfrm>
            <a:off x="2377440" y="61447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450592" y="6181344"/>
            <a:ext cx="1133856" cy="384048"/>
          </a:xfrm>
          <a:prstGeom prst="rect">
            <a:avLst/>
          </a:prstGeom>
          <a:noFill/>
        </p:spPr>
        <p:txBody>
          <a:bodyPr wrap="square">
            <a:spAutoFit/>
          </a:bodyPr>
          <a:lstStyle/>
          <a:p>
            <a:pPr algn="ctr"/>
            <a:r>
              <a:rPr sz="950" b="0">
                <a:solidFill>
                  <a:srgbClr val="B8BECC"/>
                </a:solidFill>
                <a:latin typeface="맑은 고딕"/>
              </a:rPr>
              <a:t>0~1</a:t>
            </a:r>
          </a:p>
        </p:txBody>
      </p:sp>
      <p:sp>
        <p:nvSpPr>
          <p:cNvPr id="72" name="Rectangle 71"/>
          <p:cNvSpPr/>
          <p:nvPr/>
        </p:nvSpPr>
        <p:spPr>
          <a:xfrm>
            <a:off x="3657600" y="61447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30752" y="6181344"/>
            <a:ext cx="1133856" cy="384048"/>
          </a:xfrm>
          <a:prstGeom prst="rect">
            <a:avLst/>
          </a:prstGeom>
          <a:noFill/>
        </p:spPr>
        <p:txBody>
          <a:bodyPr wrap="square">
            <a:spAutoFit/>
          </a:bodyPr>
          <a:lstStyle/>
          <a:p>
            <a:pPr algn="ctr"/>
            <a:r>
              <a:rPr sz="950" b="0">
                <a:solidFill>
                  <a:srgbClr val="B8BECC"/>
                </a:solidFill>
                <a:latin typeface="맑은 고딕"/>
              </a:rPr>
              <a:t>0~1</a:t>
            </a:r>
          </a:p>
        </p:txBody>
      </p:sp>
      <p:sp>
        <p:nvSpPr>
          <p:cNvPr id="74" name="Rectangle 73"/>
          <p:cNvSpPr/>
          <p:nvPr/>
        </p:nvSpPr>
        <p:spPr>
          <a:xfrm>
            <a:off x="4937760" y="61447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010912" y="6181344"/>
            <a:ext cx="1133856" cy="384048"/>
          </a:xfrm>
          <a:prstGeom prst="rect">
            <a:avLst/>
          </a:prstGeom>
          <a:noFill/>
        </p:spPr>
        <p:txBody>
          <a:bodyPr wrap="square">
            <a:spAutoFit/>
          </a:bodyPr>
          <a:lstStyle/>
          <a:p>
            <a:pPr algn="ctr"/>
            <a:r>
              <a:rPr sz="950" b="0">
                <a:solidFill>
                  <a:srgbClr val="B8BECC"/>
                </a:solidFill>
                <a:latin typeface="맑은 고딕"/>
              </a:rPr>
              <a:t>0~1</a:t>
            </a:r>
          </a:p>
        </p:txBody>
      </p:sp>
      <p:sp>
        <p:nvSpPr>
          <p:cNvPr id="76" name="Rectangle 75"/>
          <p:cNvSpPr/>
          <p:nvPr/>
        </p:nvSpPr>
        <p:spPr>
          <a:xfrm>
            <a:off x="6217920" y="6144768"/>
            <a:ext cx="1280160" cy="457200"/>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91072" y="6181344"/>
            <a:ext cx="1133856" cy="384048"/>
          </a:xfrm>
          <a:prstGeom prst="rect">
            <a:avLst/>
          </a:prstGeom>
          <a:noFill/>
        </p:spPr>
        <p:txBody>
          <a:bodyPr wrap="square">
            <a:spAutoFit/>
          </a:bodyPr>
          <a:lstStyle/>
          <a:p>
            <a:pPr algn="ctr"/>
            <a:r>
              <a:rPr sz="950" b="0">
                <a:solidFill>
                  <a:srgbClr val="B8BECC"/>
                </a:solidFill>
                <a:latin typeface="맑은 고딕"/>
              </a:rPr>
              <a:t>0~1</a:t>
            </a:r>
          </a:p>
        </p:txBody>
      </p:sp>
      <p:sp>
        <p:nvSpPr>
          <p:cNvPr id="78" name="Rectangle 77"/>
          <p:cNvSpPr/>
          <p:nvPr/>
        </p:nvSpPr>
        <p:spPr>
          <a:xfrm>
            <a:off x="7772400" y="4343400"/>
            <a:ext cx="4114800" cy="21031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772400" y="4343400"/>
            <a:ext cx="41148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909560" y="4398264"/>
            <a:ext cx="3840480" cy="256032"/>
          </a:xfrm>
          <a:prstGeom prst="rect">
            <a:avLst/>
          </a:prstGeom>
          <a:noFill/>
        </p:spPr>
        <p:txBody>
          <a:bodyPr wrap="square">
            <a:spAutoFit/>
          </a:bodyPr>
          <a:lstStyle/>
          <a:p>
            <a:pPr algn="l"/>
            <a:r>
              <a:rPr sz="1200" b="1">
                <a:solidFill>
                  <a:srgbClr val="C9A84C"/>
                </a:solidFill>
                <a:latin typeface="맑은 고딕"/>
              </a:rPr>
              <a:t>성장 시간대</a:t>
            </a:r>
          </a:p>
        </p:txBody>
      </p:sp>
      <p:sp>
        <p:nvSpPr>
          <p:cNvPr id="81" name="Rectangle 80"/>
          <p:cNvSpPr/>
          <p:nvPr/>
        </p:nvSpPr>
        <p:spPr>
          <a:xfrm>
            <a:off x="7955279" y="4754880"/>
            <a:ext cx="1051560" cy="329184"/>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955279" y="4791456"/>
            <a:ext cx="1051560" cy="256032"/>
          </a:xfrm>
          <a:prstGeom prst="rect">
            <a:avLst/>
          </a:prstGeom>
          <a:noFill/>
        </p:spPr>
        <p:txBody>
          <a:bodyPr wrap="square">
            <a:spAutoFit/>
          </a:bodyPr>
          <a:lstStyle/>
          <a:p>
            <a:pPr algn="ctr"/>
            <a:r>
              <a:rPr sz="850" b="1">
                <a:solidFill>
                  <a:srgbClr val="0D111A"/>
                </a:solidFill>
                <a:latin typeface="맑은 고딕"/>
              </a:rPr>
              <a:t>1~10런</a:t>
            </a:r>
          </a:p>
        </p:txBody>
      </p:sp>
      <p:sp>
        <p:nvSpPr>
          <p:cNvPr id="83" name="TextBox 82"/>
          <p:cNvSpPr txBox="1"/>
          <p:nvPr/>
        </p:nvSpPr>
        <p:spPr>
          <a:xfrm>
            <a:off x="9098280" y="4809744"/>
            <a:ext cx="2560320" cy="228600"/>
          </a:xfrm>
          <a:prstGeom prst="rect">
            <a:avLst/>
          </a:prstGeom>
          <a:noFill/>
        </p:spPr>
        <p:txBody>
          <a:bodyPr wrap="square">
            <a:spAutoFit/>
          </a:bodyPr>
          <a:lstStyle/>
          <a:p>
            <a:pPr algn="l"/>
            <a:r>
              <a:rPr sz="950" b="0">
                <a:solidFill>
                  <a:srgbClr val="B8BECC"/>
                </a:solidFill>
                <a:latin typeface="맑은 고딕"/>
              </a:rPr>
              <a:t>서약 생존 안정화</a:t>
            </a:r>
          </a:p>
        </p:txBody>
      </p:sp>
      <p:sp>
        <p:nvSpPr>
          <p:cNvPr id="84" name="Rectangle 83"/>
          <p:cNvSpPr/>
          <p:nvPr/>
        </p:nvSpPr>
        <p:spPr>
          <a:xfrm>
            <a:off x="7955279" y="5166360"/>
            <a:ext cx="1051560" cy="32918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55279" y="5202936"/>
            <a:ext cx="1051560" cy="256032"/>
          </a:xfrm>
          <a:prstGeom prst="rect">
            <a:avLst/>
          </a:prstGeom>
          <a:noFill/>
        </p:spPr>
        <p:txBody>
          <a:bodyPr wrap="square">
            <a:spAutoFit/>
          </a:bodyPr>
          <a:lstStyle/>
          <a:p>
            <a:pPr algn="ctr"/>
            <a:r>
              <a:rPr sz="850" b="1">
                <a:solidFill>
                  <a:srgbClr val="0D111A"/>
                </a:solidFill>
                <a:latin typeface="맑은 고딕"/>
              </a:rPr>
              <a:t>10~30런</a:t>
            </a:r>
          </a:p>
        </p:txBody>
      </p:sp>
      <p:sp>
        <p:nvSpPr>
          <p:cNvPr id="86" name="TextBox 85"/>
          <p:cNvSpPr txBox="1"/>
          <p:nvPr/>
        </p:nvSpPr>
        <p:spPr>
          <a:xfrm>
            <a:off x="9098280" y="5221224"/>
            <a:ext cx="2560320" cy="228600"/>
          </a:xfrm>
          <a:prstGeom prst="rect">
            <a:avLst/>
          </a:prstGeom>
          <a:noFill/>
        </p:spPr>
        <p:txBody>
          <a:bodyPr wrap="square">
            <a:spAutoFit/>
          </a:bodyPr>
          <a:lstStyle/>
          <a:p>
            <a:pPr algn="l"/>
            <a:r>
              <a:rPr sz="950" b="0">
                <a:solidFill>
                  <a:srgbClr val="B8BECC"/>
                </a:solidFill>
                <a:latin typeface="맑은 고딕"/>
              </a:rPr>
              <a:t>유물 해방 + 서약 확장</a:t>
            </a:r>
          </a:p>
        </p:txBody>
      </p:sp>
      <p:sp>
        <p:nvSpPr>
          <p:cNvPr id="87" name="Rectangle 86"/>
          <p:cNvSpPr/>
          <p:nvPr/>
        </p:nvSpPr>
        <p:spPr>
          <a:xfrm>
            <a:off x="7955279" y="5577840"/>
            <a:ext cx="1051560" cy="329184"/>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955279" y="5614416"/>
            <a:ext cx="1051560" cy="256032"/>
          </a:xfrm>
          <a:prstGeom prst="rect">
            <a:avLst/>
          </a:prstGeom>
          <a:noFill/>
        </p:spPr>
        <p:txBody>
          <a:bodyPr wrap="square">
            <a:spAutoFit/>
          </a:bodyPr>
          <a:lstStyle/>
          <a:p>
            <a:pPr algn="ctr"/>
            <a:r>
              <a:rPr sz="850" b="1">
                <a:solidFill>
                  <a:srgbClr val="0D111A"/>
                </a:solidFill>
                <a:latin typeface="맑은 고딕"/>
              </a:rPr>
              <a:t>30~50런</a:t>
            </a:r>
          </a:p>
        </p:txBody>
      </p:sp>
      <p:sp>
        <p:nvSpPr>
          <p:cNvPr id="89" name="TextBox 88"/>
          <p:cNvSpPr txBox="1"/>
          <p:nvPr/>
        </p:nvSpPr>
        <p:spPr>
          <a:xfrm>
            <a:off x="9098280" y="5632704"/>
            <a:ext cx="2560320" cy="228600"/>
          </a:xfrm>
          <a:prstGeom prst="rect">
            <a:avLst/>
          </a:prstGeom>
          <a:noFill/>
        </p:spPr>
        <p:txBody>
          <a:bodyPr wrap="square">
            <a:spAutoFit/>
          </a:bodyPr>
          <a:lstStyle/>
          <a:p>
            <a:pPr algn="l"/>
            <a:r>
              <a:rPr sz="950" b="0">
                <a:solidFill>
                  <a:srgbClr val="B8BECC"/>
                </a:solidFill>
                <a:latin typeface="맑은 고딕"/>
              </a:rPr>
              <a:t>유물 각성 시작</a:t>
            </a:r>
          </a:p>
        </p:txBody>
      </p:sp>
      <p:sp>
        <p:nvSpPr>
          <p:cNvPr id="90" name="Rectangle 89"/>
          <p:cNvSpPr/>
          <p:nvPr/>
        </p:nvSpPr>
        <p:spPr>
          <a:xfrm>
            <a:off x="7955279" y="5989320"/>
            <a:ext cx="1051560"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955279" y="6025896"/>
            <a:ext cx="1051560" cy="256032"/>
          </a:xfrm>
          <a:prstGeom prst="rect">
            <a:avLst/>
          </a:prstGeom>
          <a:noFill/>
        </p:spPr>
        <p:txBody>
          <a:bodyPr wrap="square">
            <a:spAutoFit/>
          </a:bodyPr>
          <a:lstStyle/>
          <a:p>
            <a:pPr algn="ctr"/>
            <a:r>
              <a:rPr sz="850" b="1">
                <a:solidFill>
                  <a:srgbClr val="0D111A"/>
                </a:solidFill>
                <a:latin typeface="맑은 고딕"/>
              </a:rPr>
              <a:t>50런+</a:t>
            </a:r>
          </a:p>
        </p:txBody>
      </p:sp>
      <p:sp>
        <p:nvSpPr>
          <p:cNvPr id="92" name="TextBox 91"/>
          <p:cNvSpPr txBox="1"/>
          <p:nvPr/>
        </p:nvSpPr>
        <p:spPr>
          <a:xfrm>
            <a:off x="9098280" y="6044184"/>
            <a:ext cx="2560320" cy="228600"/>
          </a:xfrm>
          <a:prstGeom prst="rect">
            <a:avLst/>
          </a:prstGeom>
          <a:noFill/>
        </p:spPr>
        <p:txBody>
          <a:bodyPr wrap="square">
            <a:spAutoFit/>
          </a:bodyPr>
          <a:lstStyle/>
          <a:p>
            <a:pPr algn="l"/>
            <a:r>
              <a:rPr sz="950" b="0">
                <a:solidFill>
                  <a:srgbClr val="B8BECC"/>
                </a:solidFill>
                <a:latin typeface="맑은 고딕"/>
              </a:rPr>
              <a:t>전체 각성 · 챌린지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07  멀린의 서약 — 영구 강화 항목 &amp; 비용</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73152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구조 설명</a:t>
            </a:r>
          </a:p>
        </p:txBody>
      </p:sp>
      <p:sp>
        <p:nvSpPr>
          <p:cNvPr id="8" name="TextBox 7"/>
          <p:cNvSpPr txBox="1"/>
          <p:nvPr/>
        </p:nvSpPr>
        <p:spPr>
          <a:xfrm>
            <a:off x="548640" y="1097280"/>
            <a:ext cx="11064240" cy="411480"/>
          </a:xfrm>
          <a:prstGeom prst="rect">
            <a:avLst/>
          </a:prstGeom>
          <a:noFill/>
        </p:spPr>
        <p:txBody>
          <a:bodyPr wrap="square">
            <a:spAutoFit/>
          </a:bodyPr>
          <a:lstStyle/>
          <a:p>
            <a:pPr algn="l"/>
            <a:r>
              <a:rPr sz="1100" b="0">
                <a:solidFill>
                  <a:srgbClr val="B8BECC"/>
                </a:solidFill>
                <a:latin typeface="맑은 고딕"/>
              </a:rPr>
              <a:t>6개 슬롯  |  각 슬롯마다 좌(적색) / 우(청색) 중 선택  |  언제든 리셋 가능 (소비 잔재 전액 환급)  |  Tier 1~5, 비용 2배씩 증가</a:t>
            </a:r>
          </a:p>
        </p:txBody>
      </p:sp>
      <p:sp>
        <p:nvSpPr>
          <p:cNvPr id="9" name="Rectangle 8"/>
          <p:cNvSpPr/>
          <p:nvPr/>
        </p:nvSpPr>
        <p:spPr>
          <a:xfrm>
            <a:off x="365760" y="1874519"/>
            <a:ext cx="1371600" cy="6583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911095"/>
            <a:ext cx="1225296" cy="585216"/>
          </a:xfrm>
          <a:prstGeom prst="rect">
            <a:avLst/>
          </a:prstGeom>
          <a:noFill/>
        </p:spPr>
        <p:txBody>
          <a:bodyPr wrap="square">
            <a:spAutoFit/>
          </a:bodyPr>
          <a:lstStyle/>
          <a:p>
            <a:pPr algn="ctr"/>
            <a:r>
              <a:rPr sz="1000" b="1">
                <a:solidFill>
                  <a:srgbClr val="C9A84C"/>
                </a:solidFill>
                <a:latin typeface="맑은 고딕"/>
              </a:rPr>
              <a:t>슬롯</a:t>
            </a:r>
          </a:p>
        </p:txBody>
      </p:sp>
      <p:sp>
        <p:nvSpPr>
          <p:cNvPr id="11" name="Rectangle 10"/>
          <p:cNvSpPr/>
          <p:nvPr/>
        </p:nvSpPr>
        <p:spPr>
          <a:xfrm>
            <a:off x="1737360" y="1874519"/>
            <a:ext cx="2926080" cy="6583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10512" y="1911095"/>
            <a:ext cx="2779776" cy="585216"/>
          </a:xfrm>
          <a:prstGeom prst="rect">
            <a:avLst/>
          </a:prstGeom>
          <a:noFill/>
        </p:spPr>
        <p:txBody>
          <a:bodyPr wrap="square">
            <a:spAutoFit/>
          </a:bodyPr>
          <a:lstStyle/>
          <a:p>
            <a:pPr algn="ctr"/>
            <a:r>
              <a:rPr sz="1000" b="1">
                <a:solidFill>
                  <a:srgbClr val="C9A84C"/>
                </a:solidFill>
                <a:latin typeface="맑은 고딕"/>
              </a:rPr>
              <a:t>좌 선택 (적색)</a:t>
            </a:r>
          </a:p>
        </p:txBody>
      </p:sp>
      <p:sp>
        <p:nvSpPr>
          <p:cNvPr id="13" name="Rectangle 12"/>
          <p:cNvSpPr/>
          <p:nvPr/>
        </p:nvSpPr>
        <p:spPr>
          <a:xfrm>
            <a:off x="4663440" y="1874519"/>
            <a:ext cx="2926080" cy="6583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36592" y="1911095"/>
            <a:ext cx="2779776" cy="585216"/>
          </a:xfrm>
          <a:prstGeom prst="rect">
            <a:avLst/>
          </a:prstGeom>
          <a:noFill/>
        </p:spPr>
        <p:txBody>
          <a:bodyPr wrap="square">
            <a:spAutoFit/>
          </a:bodyPr>
          <a:lstStyle/>
          <a:p>
            <a:pPr algn="ctr"/>
            <a:r>
              <a:rPr sz="1000" b="1">
                <a:solidFill>
                  <a:srgbClr val="C9A84C"/>
                </a:solidFill>
                <a:latin typeface="맑은 고딕"/>
              </a:rPr>
              <a:t>우 선택 (청색)</a:t>
            </a:r>
          </a:p>
        </p:txBody>
      </p:sp>
      <p:sp>
        <p:nvSpPr>
          <p:cNvPr id="15" name="Rectangle 14"/>
          <p:cNvSpPr/>
          <p:nvPr/>
        </p:nvSpPr>
        <p:spPr>
          <a:xfrm>
            <a:off x="7589520" y="1874519"/>
            <a:ext cx="1097280" cy="6583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62672" y="1911095"/>
            <a:ext cx="950976" cy="585216"/>
          </a:xfrm>
          <a:prstGeom prst="rect">
            <a:avLst/>
          </a:prstGeom>
          <a:noFill/>
        </p:spPr>
        <p:txBody>
          <a:bodyPr wrap="square">
            <a:spAutoFit/>
          </a:bodyPr>
          <a:lstStyle/>
          <a:p>
            <a:pPr algn="ctr"/>
            <a:r>
              <a:rPr sz="1000" b="1">
                <a:solidFill>
                  <a:srgbClr val="C9A84C"/>
                </a:solidFill>
                <a:latin typeface="맑은 고딕"/>
              </a:rPr>
              <a:t>Tier 1 비용</a:t>
            </a:r>
          </a:p>
        </p:txBody>
      </p:sp>
      <p:sp>
        <p:nvSpPr>
          <p:cNvPr id="17" name="Rectangle 16"/>
          <p:cNvSpPr/>
          <p:nvPr/>
        </p:nvSpPr>
        <p:spPr>
          <a:xfrm>
            <a:off x="8686800" y="1874519"/>
            <a:ext cx="1097280" cy="6583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9952" y="1911095"/>
            <a:ext cx="950976" cy="585216"/>
          </a:xfrm>
          <a:prstGeom prst="rect">
            <a:avLst/>
          </a:prstGeom>
          <a:noFill/>
        </p:spPr>
        <p:txBody>
          <a:bodyPr wrap="square">
            <a:spAutoFit/>
          </a:bodyPr>
          <a:lstStyle/>
          <a:p>
            <a:pPr algn="ctr"/>
            <a:r>
              <a:rPr sz="1000" b="1">
                <a:solidFill>
                  <a:srgbClr val="C9A84C"/>
                </a:solidFill>
                <a:latin typeface="맑은 고딕"/>
              </a:rPr>
              <a:t>Tier 5 비용</a:t>
            </a:r>
          </a:p>
        </p:txBody>
      </p:sp>
      <p:sp>
        <p:nvSpPr>
          <p:cNvPr id="19" name="Rectangle 18"/>
          <p:cNvSpPr/>
          <p:nvPr/>
        </p:nvSpPr>
        <p:spPr>
          <a:xfrm>
            <a:off x="9784080" y="1874519"/>
            <a:ext cx="1371600" cy="6583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57232" y="1911095"/>
            <a:ext cx="1225296" cy="585216"/>
          </a:xfrm>
          <a:prstGeom prst="rect">
            <a:avLst/>
          </a:prstGeom>
          <a:noFill/>
        </p:spPr>
        <p:txBody>
          <a:bodyPr wrap="square">
            <a:spAutoFit/>
          </a:bodyPr>
          <a:lstStyle/>
          <a:p>
            <a:pPr algn="ctr"/>
            <a:r>
              <a:rPr sz="1000" b="1">
                <a:solidFill>
                  <a:srgbClr val="C9A84C"/>
                </a:solidFill>
                <a:latin typeface="맑은 고딕"/>
              </a:rPr>
              <a:t>합계 비용</a:t>
            </a:r>
          </a:p>
        </p:txBody>
      </p:sp>
      <p:sp>
        <p:nvSpPr>
          <p:cNvPr id="21" name="Rectangle 20"/>
          <p:cNvSpPr/>
          <p:nvPr/>
        </p:nvSpPr>
        <p:spPr>
          <a:xfrm>
            <a:off x="365760" y="2532887"/>
            <a:ext cx="137160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2569463"/>
            <a:ext cx="1225296" cy="585216"/>
          </a:xfrm>
          <a:prstGeom prst="rect">
            <a:avLst/>
          </a:prstGeom>
          <a:noFill/>
        </p:spPr>
        <p:txBody>
          <a:bodyPr wrap="square">
            <a:spAutoFit/>
          </a:bodyPr>
          <a:lstStyle/>
          <a:p>
            <a:pPr algn="ctr"/>
            <a:r>
              <a:rPr sz="950" b="0">
                <a:solidFill>
                  <a:srgbClr val="FFFFFF"/>
                </a:solidFill>
                <a:latin typeface="맑은 고딕"/>
              </a:rPr>
              <a:t>생존</a:t>
            </a:r>
          </a:p>
        </p:txBody>
      </p:sp>
      <p:sp>
        <p:nvSpPr>
          <p:cNvPr id="23" name="Rectangle 22"/>
          <p:cNvSpPr/>
          <p:nvPr/>
        </p:nvSpPr>
        <p:spPr>
          <a:xfrm>
            <a:off x="1737360" y="2532887"/>
            <a:ext cx="29260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10512" y="2569463"/>
            <a:ext cx="2779776" cy="585216"/>
          </a:xfrm>
          <a:prstGeom prst="rect">
            <a:avLst/>
          </a:prstGeom>
          <a:noFill/>
        </p:spPr>
        <p:txBody>
          <a:bodyPr wrap="square">
            <a:spAutoFit/>
          </a:bodyPr>
          <a:lstStyle/>
          <a:p>
            <a:pPr algn="ctr"/>
            <a:r>
              <a:rPr sz="950" b="0">
                <a:solidFill>
                  <a:srgbClr val="B8BECC"/>
                </a:solidFill>
                <a:latin typeface="맑은 고딕"/>
              </a:rPr>
              <a:t>MaxHP +15/Tier</a:t>
            </a:r>
          </a:p>
        </p:txBody>
      </p:sp>
      <p:sp>
        <p:nvSpPr>
          <p:cNvPr id="25" name="Rectangle 24"/>
          <p:cNvSpPr/>
          <p:nvPr/>
        </p:nvSpPr>
        <p:spPr>
          <a:xfrm>
            <a:off x="4663440" y="2532887"/>
            <a:ext cx="29260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36592" y="2569463"/>
            <a:ext cx="2779776" cy="585216"/>
          </a:xfrm>
          <a:prstGeom prst="rect">
            <a:avLst/>
          </a:prstGeom>
          <a:noFill/>
        </p:spPr>
        <p:txBody>
          <a:bodyPr wrap="square">
            <a:spAutoFit/>
          </a:bodyPr>
          <a:lstStyle/>
          <a:p>
            <a:pPr algn="ctr"/>
            <a:r>
              <a:rPr sz="950" b="0">
                <a:solidFill>
                  <a:srgbClr val="B8BECC"/>
                </a:solidFill>
                <a:latin typeface="맑은 고딕"/>
              </a:rPr>
              <a:t>피격 시 HP 1% 회복</a:t>
            </a:r>
          </a:p>
        </p:txBody>
      </p:sp>
      <p:sp>
        <p:nvSpPr>
          <p:cNvPr id="27" name="Rectangle 26"/>
          <p:cNvSpPr/>
          <p:nvPr/>
        </p:nvSpPr>
        <p:spPr>
          <a:xfrm>
            <a:off x="7589520" y="2532887"/>
            <a:ext cx="10972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62672" y="2569463"/>
            <a:ext cx="950976" cy="585216"/>
          </a:xfrm>
          <a:prstGeom prst="rect">
            <a:avLst/>
          </a:prstGeom>
          <a:noFill/>
        </p:spPr>
        <p:txBody>
          <a:bodyPr wrap="square">
            <a:spAutoFit/>
          </a:bodyPr>
          <a:lstStyle/>
          <a:p>
            <a:pPr algn="ctr"/>
            <a:r>
              <a:rPr sz="950" b="0">
                <a:solidFill>
                  <a:srgbClr val="B8BECC"/>
                </a:solidFill>
                <a:latin typeface="맑은 고딕"/>
              </a:rPr>
              <a:t>100</a:t>
            </a:r>
          </a:p>
        </p:txBody>
      </p:sp>
      <p:sp>
        <p:nvSpPr>
          <p:cNvPr id="29" name="Rectangle 28"/>
          <p:cNvSpPr/>
          <p:nvPr/>
        </p:nvSpPr>
        <p:spPr>
          <a:xfrm>
            <a:off x="8686800" y="2532887"/>
            <a:ext cx="10972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9952" y="2569463"/>
            <a:ext cx="950976" cy="585216"/>
          </a:xfrm>
          <a:prstGeom prst="rect">
            <a:avLst/>
          </a:prstGeom>
          <a:noFill/>
        </p:spPr>
        <p:txBody>
          <a:bodyPr wrap="square">
            <a:spAutoFit/>
          </a:bodyPr>
          <a:lstStyle/>
          <a:p>
            <a:pPr algn="ctr"/>
            <a:r>
              <a:rPr sz="950" b="0">
                <a:solidFill>
                  <a:srgbClr val="B8BECC"/>
                </a:solidFill>
                <a:latin typeface="맑은 고딕"/>
              </a:rPr>
              <a:t>1,600</a:t>
            </a:r>
          </a:p>
        </p:txBody>
      </p:sp>
      <p:sp>
        <p:nvSpPr>
          <p:cNvPr id="31" name="Rectangle 30"/>
          <p:cNvSpPr/>
          <p:nvPr/>
        </p:nvSpPr>
        <p:spPr>
          <a:xfrm>
            <a:off x="9784080" y="2532887"/>
            <a:ext cx="137160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57232" y="2569463"/>
            <a:ext cx="1225296" cy="585216"/>
          </a:xfrm>
          <a:prstGeom prst="rect">
            <a:avLst/>
          </a:prstGeom>
          <a:noFill/>
        </p:spPr>
        <p:txBody>
          <a:bodyPr wrap="square">
            <a:spAutoFit/>
          </a:bodyPr>
          <a:lstStyle/>
          <a:p>
            <a:pPr algn="ctr"/>
            <a:r>
              <a:rPr sz="950" b="0">
                <a:solidFill>
                  <a:srgbClr val="B8BECC"/>
                </a:solidFill>
                <a:latin typeface="맑은 고딕"/>
              </a:rPr>
              <a:t>3,100</a:t>
            </a:r>
          </a:p>
        </p:txBody>
      </p:sp>
      <p:sp>
        <p:nvSpPr>
          <p:cNvPr id="33" name="Rectangle 32"/>
          <p:cNvSpPr/>
          <p:nvPr/>
        </p:nvSpPr>
        <p:spPr>
          <a:xfrm>
            <a:off x="365760" y="3191256"/>
            <a:ext cx="137160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3227832"/>
            <a:ext cx="1225296" cy="585216"/>
          </a:xfrm>
          <a:prstGeom prst="rect">
            <a:avLst/>
          </a:prstGeom>
          <a:noFill/>
        </p:spPr>
        <p:txBody>
          <a:bodyPr wrap="square">
            <a:spAutoFit/>
          </a:bodyPr>
          <a:lstStyle/>
          <a:p>
            <a:pPr algn="ctr"/>
            <a:r>
              <a:rPr sz="950" b="0">
                <a:solidFill>
                  <a:srgbClr val="FFFFFF"/>
                </a:solidFill>
                <a:latin typeface="맑은 고딕"/>
              </a:rPr>
              <a:t>공격</a:t>
            </a:r>
          </a:p>
        </p:txBody>
      </p:sp>
      <p:sp>
        <p:nvSpPr>
          <p:cNvPr id="35" name="Rectangle 34"/>
          <p:cNvSpPr/>
          <p:nvPr/>
        </p:nvSpPr>
        <p:spPr>
          <a:xfrm>
            <a:off x="1737360" y="3191256"/>
            <a:ext cx="29260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10512" y="3227832"/>
            <a:ext cx="2779776" cy="585216"/>
          </a:xfrm>
          <a:prstGeom prst="rect">
            <a:avLst/>
          </a:prstGeom>
          <a:noFill/>
        </p:spPr>
        <p:txBody>
          <a:bodyPr wrap="square">
            <a:spAutoFit/>
          </a:bodyPr>
          <a:lstStyle/>
          <a:p>
            <a:pPr algn="ctr"/>
            <a:r>
              <a:rPr sz="950" b="0">
                <a:solidFill>
                  <a:srgbClr val="B8BECC"/>
                </a:solidFill>
                <a:latin typeface="맑은 고딕"/>
              </a:rPr>
              <a:t>기본 공격력 +5%/Tier</a:t>
            </a:r>
          </a:p>
        </p:txBody>
      </p:sp>
      <p:sp>
        <p:nvSpPr>
          <p:cNvPr id="37" name="Rectangle 36"/>
          <p:cNvSpPr/>
          <p:nvPr/>
        </p:nvSpPr>
        <p:spPr>
          <a:xfrm>
            <a:off x="4663440" y="3191256"/>
            <a:ext cx="29260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36592" y="3227832"/>
            <a:ext cx="2779776" cy="585216"/>
          </a:xfrm>
          <a:prstGeom prst="rect">
            <a:avLst/>
          </a:prstGeom>
          <a:noFill/>
        </p:spPr>
        <p:txBody>
          <a:bodyPr wrap="square">
            <a:spAutoFit/>
          </a:bodyPr>
          <a:lstStyle/>
          <a:p>
            <a:pPr algn="ctr"/>
            <a:r>
              <a:rPr sz="950" b="0">
                <a:solidFill>
                  <a:srgbClr val="B8BECC"/>
                </a:solidFill>
                <a:latin typeface="맑은 고딕"/>
              </a:rPr>
              <a:t>치명타율 +2%/Tier</a:t>
            </a:r>
          </a:p>
        </p:txBody>
      </p:sp>
      <p:sp>
        <p:nvSpPr>
          <p:cNvPr id="39" name="Rectangle 38"/>
          <p:cNvSpPr/>
          <p:nvPr/>
        </p:nvSpPr>
        <p:spPr>
          <a:xfrm>
            <a:off x="7589520" y="3191256"/>
            <a:ext cx="10972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62672" y="3227832"/>
            <a:ext cx="950976" cy="585216"/>
          </a:xfrm>
          <a:prstGeom prst="rect">
            <a:avLst/>
          </a:prstGeom>
          <a:noFill/>
        </p:spPr>
        <p:txBody>
          <a:bodyPr wrap="square">
            <a:spAutoFit/>
          </a:bodyPr>
          <a:lstStyle/>
          <a:p>
            <a:pPr algn="ctr"/>
            <a:r>
              <a:rPr sz="950" b="0">
                <a:solidFill>
                  <a:srgbClr val="B8BECC"/>
                </a:solidFill>
                <a:latin typeface="맑은 고딕"/>
              </a:rPr>
              <a:t>150</a:t>
            </a:r>
          </a:p>
        </p:txBody>
      </p:sp>
      <p:sp>
        <p:nvSpPr>
          <p:cNvPr id="41" name="Rectangle 40"/>
          <p:cNvSpPr/>
          <p:nvPr/>
        </p:nvSpPr>
        <p:spPr>
          <a:xfrm>
            <a:off x="8686800" y="3191256"/>
            <a:ext cx="10972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59952" y="3227832"/>
            <a:ext cx="950976" cy="585216"/>
          </a:xfrm>
          <a:prstGeom prst="rect">
            <a:avLst/>
          </a:prstGeom>
          <a:noFill/>
        </p:spPr>
        <p:txBody>
          <a:bodyPr wrap="square">
            <a:spAutoFit/>
          </a:bodyPr>
          <a:lstStyle/>
          <a:p>
            <a:pPr algn="ctr"/>
            <a:r>
              <a:rPr sz="950" b="0">
                <a:solidFill>
                  <a:srgbClr val="B8BECC"/>
                </a:solidFill>
                <a:latin typeface="맑은 고딕"/>
              </a:rPr>
              <a:t>2,400</a:t>
            </a:r>
          </a:p>
        </p:txBody>
      </p:sp>
      <p:sp>
        <p:nvSpPr>
          <p:cNvPr id="43" name="Rectangle 42"/>
          <p:cNvSpPr/>
          <p:nvPr/>
        </p:nvSpPr>
        <p:spPr>
          <a:xfrm>
            <a:off x="9784080" y="3191256"/>
            <a:ext cx="137160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57232" y="3227832"/>
            <a:ext cx="1225296" cy="585216"/>
          </a:xfrm>
          <a:prstGeom prst="rect">
            <a:avLst/>
          </a:prstGeom>
          <a:noFill/>
        </p:spPr>
        <p:txBody>
          <a:bodyPr wrap="square">
            <a:spAutoFit/>
          </a:bodyPr>
          <a:lstStyle/>
          <a:p>
            <a:pPr algn="ctr"/>
            <a:r>
              <a:rPr sz="950" b="0">
                <a:solidFill>
                  <a:srgbClr val="B8BECC"/>
                </a:solidFill>
                <a:latin typeface="맑은 고딕"/>
              </a:rPr>
              <a:t>4,650</a:t>
            </a:r>
          </a:p>
        </p:txBody>
      </p:sp>
      <p:sp>
        <p:nvSpPr>
          <p:cNvPr id="45" name="Rectangle 44"/>
          <p:cNvSpPr/>
          <p:nvPr/>
        </p:nvSpPr>
        <p:spPr>
          <a:xfrm>
            <a:off x="365760" y="3849624"/>
            <a:ext cx="137160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8912" y="3886200"/>
            <a:ext cx="1225296" cy="585216"/>
          </a:xfrm>
          <a:prstGeom prst="rect">
            <a:avLst/>
          </a:prstGeom>
          <a:noFill/>
        </p:spPr>
        <p:txBody>
          <a:bodyPr wrap="square">
            <a:spAutoFit/>
          </a:bodyPr>
          <a:lstStyle/>
          <a:p>
            <a:pPr algn="ctr"/>
            <a:r>
              <a:rPr sz="950" b="0">
                <a:solidFill>
                  <a:srgbClr val="FFFFFF"/>
                </a:solidFill>
                <a:latin typeface="맑은 고딕"/>
              </a:rPr>
              <a:t>이동</a:t>
            </a:r>
          </a:p>
        </p:txBody>
      </p:sp>
      <p:sp>
        <p:nvSpPr>
          <p:cNvPr id="47" name="Rectangle 46"/>
          <p:cNvSpPr/>
          <p:nvPr/>
        </p:nvSpPr>
        <p:spPr>
          <a:xfrm>
            <a:off x="1737360" y="3849624"/>
            <a:ext cx="29260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10512" y="3886200"/>
            <a:ext cx="2779776" cy="585216"/>
          </a:xfrm>
          <a:prstGeom prst="rect">
            <a:avLst/>
          </a:prstGeom>
          <a:noFill/>
        </p:spPr>
        <p:txBody>
          <a:bodyPr wrap="square">
            <a:spAutoFit/>
          </a:bodyPr>
          <a:lstStyle/>
          <a:p>
            <a:pPr algn="ctr"/>
            <a:r>
              <a:rPr sz="950" b="0">
                <a:solidFill>
                  <a:srgbClr val="B8BECC"/>
                </a:solidFill>
                <a:latin typeface="맑은 고딕"/>
              </a:rPr>
              <a:t>이동속도 +3%/Tier</a:t>
            </a:r>
          </a:p>
        </p:txBody>
      </p:sp>
      <p:sp>
        <p:nvSpPr>
          <p:cNvPr id="49" name="Rectangle 48"/>
          <p:cNvSpPr/>
          <p:nvPr/>
        </p:nvSpPr>
        <p:spPr>
          <a:xfrm>
            <a:off x="4663440" y="3849624"/>
            <a:ext cx="29260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36592" y="3886200"/>
            <a:ext cx="2779776" cy="585216"/>
          </a:xfrm>
          <a:prstGeom prst="rect">
            <a:avLst/>
          </a:prstGeom>
          <a:noFill/>
        </p:spPr>
        <p:txBody>
          <a:bodyPr wrap="square">
            <a:spAutoFit/>
          </a:bodyPr>
          <a:lstStyle/>
          <a:p>
            <a:pPr algn="ctr"/>
            <a:r>
              <a:rPr sz="950" b="0">
                <a:solidFill>
                  <a:srgbClr val="B8BECC"/>
                </a:solidFill>
                <a:latin typeface="맑은 고딕"/>
              </a:rPr>
              <a:t>구르기 쿨다운 -5%/Tier</a:t>
            </a:r>
          </a:p>
        </p:txBody>
      </p:sp>
      <p:sp>
        <p:nvSpPr>
          <p:cNvPr id="51" name="Rectangle 50"/>
          <p:cNvSpPr/>
          <p:nvPr/>
        </p:nvSpPr>
        <p:spPr>
          <a:xfrm>
            <a:off x="7589520" y="3849624"/>
            <a:ext cx="10972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62672" y="3886200"/>
            <a:ext cx="950976" cy="585216"/>
          </a:xfrm>
          <a:prstGeom prst="rect">
            <a:avLst/>
          </a:prstGeom>
          <a:noFill/>
        </p:spPr>
        <p:txBody>
          <a:bodyPr wrap="square">
            <a:spAutoFit/>
          </a:bodyPr>
          <a:lstStyle/>
          <a:p>
            <a:pPr algn="ctr"/>
            <a:r>
              <a:rPr sz="950" b="0">
                <a:solidFill>
                  <a:srgbClr val="B8BECC"/>
                </a:solidFill>
                <a:latin typeface="맑은 고딕"/>
              </a:rPr>
              <a:t>120</a:t>
            </a:r>
          </a:p>
        </p:txBody>
      </p:sp>
      <p:sp>
        <p:nvSpPr>
          <p:cNvPr id="53" name="Rectangle 52"/>
          <p:cNvSpPr/>
          <p:nvPr/>
        </p:nvSpPr>
        <p:spPr>
          <a:xfrm>
            <a:off x="8686800" y="3849624"/>
            <a:ext cx="10972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59952" y="3886200"/>
            <a:ext cx="950976" cy="585216"/>
          </a:xfrm>
          <a:prstGeom prst="rect">
            <a:avLst/>
          </a:prstGeom>
          <a:noFill/>
        </p:spPr>
        <p:txBody>
          <a:bodyPr wrap="square">
            <a:spAutoFit/>
          </a:bodyPr>
          <a:lstStyle/>
          <a:p>
            <a:pPr algn="ctr"/>
            <a:r>
              <a:rPr sz="950" b="0">
                <a:solidFill>
                  <a:srgbClr val="B8BECC"/>
                </a:solidFill>
                <a:latin typeface="맑은 고딕"/>
              </a:rPr>
              <a:t>1,920</a:t>
            </a:r>
          </a:p>
        </p:txBody>
      </p:sp>
      <p:sp>
        <p:nvSpPr>
          <p:cNvPr id="55" name="Rectangle 54"/>
          <p:cNvSpPr/>
          <p:nvPr/>
        </p:nvSpPr>
        <p:spPr>
          <a:xfrm>
            <a:off x="9784080" y="3849624"/>
            <a:ext cx="137160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57232" y="3886200"/>
            <a:ext cx="1225296" cy="585216"/>
          </a:xfrm>
          <a:prstGeom prst="rect">
            <a:avLst/>
          </a:prstGeom>
          <a:noFill/>
        </p:spPr>
        <p:txBody>
          <a:bodyPr wrap="square">
            <a:spAutoFit/>
          </a:bodyPr>
          <a:lstStyle/>
          <a:p>
            <a:pPr algn="ctr"/>
            <a:r>
              <a:rPr sz="950" b="0">
                <a:solidFill>
                  <a:srgbClr val="B8BECC"/>
                </a:solidFill>
                <a:latin typeface="맑은 고딕"/>
              </a:rPr>
              <a:t>3,720</a:t>
            </a:r>
          </a:p>
        </p:txBody>
      </p:sp>
      <p:sp>
        <p:nvSpPr>
          <p:cNvPr id="57" name="Rectangle 56"/>
          <p:cNvSpPr/>
          <p:nvPr/>
        </p:nvSpPr>
        <p:spPr>
          <a:xfrm>
            <a:off x="365760" y="4507992"/>
            <a:ext cx="137160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8912" y="4544568"/>
            <a:ext cx="1225296" cy="585216"/>
          </a:xfrm>
          <a:prstGeom prst="rect">
            <a:avLst/>
          </a:prstGeom>
          <a:noFill/>
        </p:spPr>
        <p:txBody>
          <a:bodyPr wrap="square">
            <a:spAutoFit/>
          </a:bodyPr>
          <a:lstStyle/>
          <a:p>
            <a:pPr algn="ctr"/>
            <a:r>
              <a:rPr sz="950" b="0">
                <a:solidFill>
                  <a:srgbClr val="FFFFFF"/>
                </a:solidFill>
                <a:latin typeface="맑은 고딕"/>
              </a:rPr>
              <a:t>지속력</a:t>
            </a:r>
          </a:p>
        </p:txBody>
      </p:sp>
      <p:sp>
        <p:nvSpPr>
          <p:cNvPr id="59" name="Rectangle 58"/>
          <p:cNvSpPr/>
          <p:nvPr/>
        </p:nvSpPr>
        <p:spPr>
          <a:xfrm>
            <a:off x="1737360" y="4507992"/>
            <a:ext cx="29260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810512" y="4544568"/>
            <a:ext cx="2779776" cy="585216"/>
          </a:xfrm>
          <a:prstGeom prst="rect">
            <a:avLst/>
          </a:prstGeom>
          <a:noFill/>
        </p:spPr>
        <p:txBody>
          <a:bodyPr wrap="square">
            <a:spAutoFit/>
          </a:bodyPr>
          <a:lstStyle/>
          <a:p>
            <a:pPr algn="ctr"/>
            <a:r>
              <a:rPr sz="950" b="0">
                <a:solidFill>
                  <a:srgbClr val="B8BECC"/>
                </a:solidFill>
                <a:latin typeface="맑은 고딕"/>
              </a:rPr>
              <a:t>방 클리어 HP 2% 회복</a:t>
            </a:r>
          </a:p>
        </p:txBody>
      </p:sp>
      <p:sp>
        <p:nvSpPr>
          <p:cNvPr id="61" name="Rectangle 60"/>
          <p:cNvSpPr/>
          <p:nvPr/>
        </p:nvSpPr>
        <p:spPr>
          <a:xfrm>
            <a:off x="4663440" y="4507992"/>
            <a:ext cx="29260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736592" y="4544568"/>
            <a:ext cx="2779776" cy="585216"/>
          </a:xfrm>
          <a:prstGeom prst="rect">
            <a:avLst/>
          </a:prstGeom>
          <a:noFill/>
        </p:spPr>
        <p:txBody>
          <a:bodyPr wrap="square">
            <a:spAutoFit/>
          </a:bodyPr>
          <a:lstStyle/>
          <a:p>
            <a:pPr algn="ctr"/>
            <a:r>
              <a:rPr sz="950" b="0">
                <a:solidFill>
                  <a:srgbClr val="B8BECC"/>
                </a:solidFill>
                <a:latin typeface="맑은 고딕"/>
              </a:rPr>
              <a:t>보스전 피해 -5%/Tier</a:t>
            </a:r>
          </a:p>
        </p:txBody>
      </p:sp>
      <p:sp>
        <p:nvSpPr>
          <p:cNvPr id="63" name="Rectangle 62"/>
          <p:cNvSpPr/>
          <p:nvPr/>
        </p:nvSpPr>
        <p:spPr>
          <a:xfrm>
            <a:off x="7589520" y="4507992"/>
            <a:ext cx="10972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62672" y="4544568"/>
            <a:ext cx="950976" cy="585216"/>
          </a:xfrm>
          <a:prstGeom prst="rect">
            <a:avLst/>
          </a:prstGeom>
          <a:noFill/>
        </p:spPr>
        <p:txBody>
          <a:bodyPr wrap="square">
            <a:spAutoFit/>
          </a:bodyPr>
          <a:lstStyle/>
          <a:p>
            <a:pPr algn="ctr"/>
            <a:r>
              <a:rPr sz="950" b="0">
                <a:solidFill>
                  <a:srgbClr val="B8BECC"/>
                </a:solidFill>
                <a:latin typeface="맑은 고딕"/>
              </a:rPr>
              <a:t>200</a:t>
            </a:r>
          </a:p>
        </p:txBody>
      </p:sp>
      <p:sp>
        <p:nvSpPr>
          <p:cNvPr id="65" name="Rectangle 64"/>
          <p:cNvSpPr/>
          <p:nvPr/>
        </p:nvSpPr>
        <p:spPr>
          <a:xfrm>
            <a:off x="8686800" y="4507992"/>
            <a:ext cx="10972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59952" y="4544568"/>
            <a:ext cx="950976" cy="585216"/>
          </a:xfrm>
          <a:prstGeom prst="rect">
            <a:avLst/>
          </a:prstGeom>
          <a:noFill/>
        </p:spPr>
        <p:txBody>
          <a:bodyPr wrap="square">
            <a:spAutoFit/>
          </a:bodyPr>
          <a:lstStyle/>
          <a:p>
            <a:pPr algn="ctr"/>
            <a:r>
              <a:rPr sz="950" b="0">
                <a:solidFill>
                  <a:srgbClr val="B8BECC"/>
                </a:solidFill>
                <a:latin typeface="맑은 고딕"/>
              </a:rPr>
              <a:t>3,200</a:t>
            </a:r>
          </a:p>
        </p:txBody>
      </p:sp>
      <p:sp>
        <p:nvSpPr>
          <p:cNvPr id="67" name="Rectangle 66"/>
          <p:cNvSpPr/>
          <p:nvPr/>
        </p:nvSpPr>
        <p:spPr>
          <a:xfrm>
            <a:off x="9784080" y="4507992"/>
            <a:ext cx="137160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857232" y="4544568"/>
            <a:ext cx="1225296" cy="585216"/>
          </a:xfrm>
          <a:prstGeom prst="rect">
            <a:avLst/>
          </a:prstGeom>
          <a:noFill/>
        </p:spPr>
        <p:txBody>
          <a:bodyPr wrap="square">
            <a:spAutoFit/>
          </a:bodyPr>
          <a:lstStyle/>
          <a:p>
            <a:pPr algn="ctr"/>
            <a:r>
              <a:rPr sz="950" b="0">
                <a:solidFill>
                  <a:srgbClr val="B8BECC"/>
                </a:solidFill>
                <a:latin typeface="맑은 고딕"/>
              </a:rPr>
              <a:t>6,200</a:t>
            </a:r>
          </a:p>
        </p:txBody>
      </p:sp>
      <p:sp>
        <p:nvSpPr>
          <p:cNvPr id="69" name="Rectangle 68"/>
          <p:cNvSpPr/>
          <p:nvPr/>
        </p:nvSpPr>
        <p:spPr>
          <a:xfrm>
            <a:off x="365760" y="5166359"/>
            <a:ext cx="137160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8912" y="5202936"/>
            <a:ext cx="1225296" cy="585216"/>
          </a:xfrm>
          <a:prstGeom prst="rect">
            <a:avLst/>
          </a:prstGeom>
          <a:noFill/>
        </p:spPr>
        <p:txBody>
          <a:bodyPr wrap="square">
            <a:spAutoFit/>
          </a:bodyPr>
          <a:lstStyle/>
          <a:p>
            <a:pPr algn="ctr"/>
            <a:r>
              <a:rPr sz="950" b="0">
                <a:solidFill>
                  <a:srgbClr val="FFFFFF"/>
                </a:solidFill>
                <a:latin typeface="맑은 고딕"/>
              </a:rPr>
              <a:t>획득</a:t>
            </a:r>
          </a:p>
        </p:txBody>
      </p:sp>
      <p:sp>
        <p:nvSpPr>
          <p:cNvPr id="71" name="Rectangle 70"/>
          <p:cNvSpPr/>
          <p:nvPr/>
        </p:nvSpPr>
        <p:spPr>
          <a:xfrm>
            <a:off x="1737360" y="5166359"/>
            <a:ext cx="29260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810512" y="5202936"/>
            <a:ext cx="2779776" cy="585216"/>
          </a:xfrm>
          <a:prstGeom prst="rect">
            <a:avLst/>
          </a:prstGeom>
          <a:noFill/>
        </p:spPr>
        <p:txBody>
          <a:bodyPr wrap="square">
            <a:spAutoFit/>
          </a:bodyPr>
          <a:lstStyle/>
          <a:p>
            <a:pPr algn="ctr"/>
            <a:r>
              <a:rPr sz="950" b="0">
                <a:solidFill>
                  <a:srgbClr val="B8BECC"/>
                </a:solidFill>
                <a:latin typeface="맑은 고딕"/>
              </a:rPr>
              <a:t>잔재 획득 +10%/Tier</a:t>
            </a:r>
          </a:p>
        </p:txBody>
      </p:sp>
      <p:sp>
        <p:nvSpPr>
          <p:cNvPr id="73" name="Rectangle 72"/>
          <p:cNvSpPr/>
          <p:nvPr/>
        </p:nvSpPr>
        <p:spPr>
          <a:xfrm>
            <a:off x="4663440" y="5166359"/>
            <a:ext cx="29260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736592" y="5202936"/>
            <a:ext cx="2779776" cy="585216"/>
          </a:xfrm>
          <a:prstGeom prst="rect">
            <a:avLst/>
          </a:prstGeom>
          <a:noFill/>
        </p:spPr>
        <p:txBody>
          <a:bodyPr wrap="square">
            <a:spAutoFit/>
          </a:bodyPr>
          <a:lstStyle/>
          <a:p>
            <a:pPr algn="ctr"/>
            <a:r>
              <a:rPr sz="950" b="0">
                <a:solidFill>
                  <a:srgbClr val="B8BECC"/>
                </a:solidFill>
                <a:latin typeface="맑은 고딕"/>
              </a:rPr>
              <a:t>기억 드롭률 +5%/Tier</a:t>
            </a:r>
          </a:p>
        </p:txBody>
      </p:sp>
      <p:sp>
        <p:nvSpPr>
          <p:cNvPr id="75" name="Rectangle 74"/>
          <p:cNvSpPr/>
          <p:nvPr/>
        </p:nvSpPr>
        <p:spPr>
          <a:xfrm>
            <a:off x="7589520" y="5166359"/>
            <a:ext cx="10972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662672" y="5202936"/>
            <a:ext cx="950976" cy="585216"/>
          </a:xfrm>
          <a:prstGeom prst="rect">
            <a:avLst/>
          </a:prstGeom>
          <a:noFill/>
        </p:spPr>
        <p:txBody>
          <a:bodyPr wrap="square">
            <a:spAutoFit/>
          </a:bodyPr>
          <a:lstStyle/>
          <a:p>
            <a:pPr algn="ctr"/>
            <a:r>
              <a:rPr sz="950" b="0">
                <a:solidFill>
                  <a:srgbClr val="B8BECC"/>
                </a:solidFill>
                <a:latin typeface="맑은 고딕"/>
              </a:rPr>
              <a:t>300</a:t>
            </a:r>
          </a:p>
        </p:txBody>
      </p:sp>
      <p:sp>
        <p:nvSpPr>
          <p:cNvPr id="77" name="Rectangle 76"/>
          <p:cNvSpPr/>
          <p:nvPr/>
        </p:nvSpPr>
        <p:spPr>
          <a:xfrm>
            <a:off x="8686800" y="5166359"/>
            <a:ext cx="109728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759952" y="5202936"/>
            <a:ext cx="950976" cy="585216"/>
          </a:xfrm>
          <a:prstGeom prst="rect">
            <a:avLst/>
          </a:prstGeom>
          <a:noFill/>
        </p:spPr>
        <p:txBody>
          <a:bodyPr wrap="square">
            <a:spAutoFit/>
          </a:bodyPr>
          <a:lstStyle/>
          <a:p>
            <a:pPr algn="ctr"/>
            <a:r>
              <a:rPr sz="950" b="0">
                <a:solidFill>
                  <a:srgbClr val="B8BECC"/>
                </a:solidFill>
                <a:latin typeface="맑은 고딕"/>
              </a:rPr>
              <a:t>4,800</a:t>
            </a:r>
          </a:p>
        </p:txBody>
      </p:sp>
      <p:sp>
        <p:nvSpPr>
          <p:cNvPr id="79" name="Rectangle 78"/>
          <p:cNvSpPr/>
          <p:nvPr/>
        </p:nvSpPr>
        <p:spPr>
          <a:xfrm>
            <a:off x="9784080" y="5166359"/>
            <a:ext cx="1371600" cy="6583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857232" y="5202936"/>
            <a:ext cx="1225296" cy="585216"/>
          </a:xfrm>
          <a:prstGeom prst="rect">
            <a:avLst/>
          </a:prstGeom>
          <a:noFill/>
        </p:spPr>
        <p:txBody>
          <a:bodyPr wrap="square">
            <a:spAutoFit/>
          </a:bodyPr>
          <a:lstStyle/>
          <a:p>
            <a:pPr algn="ctr"/>
            <a:r>
              <a:rPr sz="950" b="0">
                <a:solidFill>
                  <a:srgbClr val="B8BECC"/>
                </a:solidFill>
                <a:latin typeface="맑은 고딕"/>
              </a:rPr>
              <a:t>9,300</a:t>
            </a:r>
          </a:p>
        </p:txBody>
      </p:sp>
      <p:sp>
        <p:nvSpPr>
          <p:cNvPr id="81" name="Rectangle 80"/>
          <p:cNvSpPr/>
          <p:nvPr/>
        </p:nvSpPr>
        <p:spPr>
          <a:xfrm>
            <a:off x="365760" y="5824728"/>
            <a:ext cx="137160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38912" y="5861304"/>
            <a:ext cx="1225296" cy="585216"/>
          </a:xfrm>
          <a:prstGeom prst="rect">
            <a:avLst/>
          </a:prstGeom>
          <a:noFill/>
        </p:spPr>
        <p:txBody>
          <a:bodyPr wrap="square">
            <a:spAutoFit/>
          </a:bodyPr>
          <a:lstStyle/>
          <a:p>
            <a:pPr algn="ctr"/>
            <a:r>
              <a:rPr sz="950" b="0">
                <a:solidFill>
                  <a:srgbClr val="FFFFFF"/>
                </a:solidFill>
                <a:latin typeface="맑은 고딕"/>
              </a:rPr>
              <a:t>아이템</a:t>
            </a:r>
          </a:p>
        </p:txBody>
      </p:sp>
      <p:sp>
        <p:nvSpPr>
          <p:cNvPr id="83" name="Rectangle 82"/>
          <p:cNvSpPr/>
          <p:nvPr/>
        </p:nvSpPr>
        <p:spPr>
          <a:xfrm>
            <a:off x="1737360" y="5824728"/>
            <a:ext cx="29260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810512" y="5861304"/>
            <a:ext cx="2779776" cy="585216"/>
          </a:xfrm>
          <a:prstGeom prst="rect">
            <a:avLst/>
          </a:prstGeom>
          <a:noFill/>
        </p:spPr>
        <p:txBody>
          <a:bodyPr wrap="square">
            <a:spAutoFit/>
          </a:bodyPr>
          <a:lstStyle/>
          <a:p>
            <a:pPr algn="ctr"/>
            <a:r>
              <a:rPr sz="950" b="0">
                <a:solidFill>
                  <a:srgbClr val="B8BECC"/>
                </a:solidFill>
                <a:latin typeface="맑은 고딕"/>
              </a:rPr>
              <a:t>등급 상승 확률 +5%/Tier</a:t>
            </a:r>
          </a:p>
        </p:txBody>
      </p:sp>
      <p:sp>
        <p:nvSpPr>
          <p:cNvPr id="85" name="Rectangle 84"/>
          <p:cNvSpPr/>
          <p:nvPr/>
        </p:nvSpPr>
        <p:spPr>
          <a:xfrm>
            <a:off x="4663440" y="5824728"/>
            <a:ext cx="29260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736592" y="5861304"/>
            <a:ext cx="2779776" cy="585216"/>
          </a:xfrm>
          <a:prstGeom prst="rect">
            <a:avLst/>
          </a:prstGeom>
          <a:noFill/>
        </p:spPr>
        <p:txBody>
          <a:bodyPr wrap="square">
            <a:spAutoFit/>
          </a:bodyPr>
          <a:lstStyle/>
          <a:p>
            <a:pPr algn="ctr"/>
            <a:r>
              <a:rPr sz="950" b="0">
                <a:solidFill>
                  <a:srgbClr val="B8BECC"/>
                </a:solidFill>
                <a:latin typeface="맑은 고딕"/>
              </a:rPr>
              <a:t>변형 아이템 드롭 +8%/Tier</a:t>
            </a:r>
          </a:p>
        </p:txBody>
      </p:sp>
      <p:sp>
        <p:nvSpPr>
          <p:cNvPr id="87" name="Rectangle 86"/>
          <p:cNvSpPr/>
          <p:nvPr/>
        </p:nvSpPr>
        <p:spPr>
          <a:xfrm>
            <a:off x="7589520" y="5824728"/>
            <a:ext cx="10972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662672" y="5861304"/>
            <a:ext cx="950976" cy="585216"/>
          </a:xfrm>
          <a:prstGeom prst="rect">
            <a:avLst/>
          </a:prstGeom>
          <a:noFill/>
        </p:spPr>
        <p:txBody>
          <a:bodyPr wrap="square">
            <a:spAutoFit/>
          </a:bodyPr>
          <a:lstStyle/>
          <a:p>
            <a:pPr algn="ctr"/>
            <a:r>
              <a:rPr sz="950" b="0">
                <a:solidFill>
                  <a:srgbClr val="B8BECC"/>
                </a:solidFill>
                <a:latin typeface="맑은 고딕"/>
              </a:rPr>
              <a:t>400</a:t>
            </a:r>
          </a:p>
        </p:txBody>
      </p:sp>
      <p:sp>
        <p:nvSpPr>
          <p:cNvPr id="89" name="Rectangle 88"/>
          <p:cNvSpPr/>
          <p:nvPr/>
        </p:nvSpPr>
        <p:spPr>
          <a:xfrm>
            <a:off x="8686800" y="5824728"/>
            <a:ext cx="109728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759952" y="5861304"/>
            <a:ext cx="950976" cy="585216"/>
          </a:xfrm>
          <a:prstGeom prst="rect">
            <a:avLst/>
          </a:prstGeom>
          <a:noFill/>
        </p:spPr>
        <p:txBody>
          <a:bodyPr wrap="square">
            <a:spAutoFit/>
          </a:bodyPr>
          <a:lstStyle/>
          <a:p>
            <a:pPr algn="ctr"/>
            <a:r>
              <a:rPr sz="950" b="0">
                <a:solidFill>
                  <a:srgbClr val="B8BECC"/>
                </a:solidFill>
                <a:latin typeface="맑은 고딕"/>
              </a:rPr>
              <a:t>6,400</a:t>
            </a:r>
          </a:p>
        </p:txBody>
      </p:sp>
      <p:sp>
        <p:nvSpPr>
          <p:cNvPr id="91" name="Rectangle 90"/>
          <p:cNvSpPr/>
          <p:nvPr/>
        </p:nvSpPr>
        <p:spPr>
          <a:xfrm>
            <a:off x="9784080" y="5824728"/>
            <a:ext cx="1371600" cy="6583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857232" y="5861304"/>
            <a:ext cx="1225296" cy="585216"/>
          </a:xfrm>
          <a:prstGeom prst="rect">
            <a:avLst/>
          </a:prstGeom>
          <a:noFill/>
        </p:spPr>
        <p:txBody>
          <a:bodyPr wrap="square">
            <a:spAutoFit/>
          </a:bodyPr>
          <a:lstStyle/>
          <a:p>
            <a:pPr algn="ctr"/>
            <a:r>
              <a:rPr sz="950" b="0">
                <a:solidFill>
                  <a:srgbClr val="B8BECC"/>
                </a:solidFill>
                <a:latin typeface="맑은 고딕"/>
              </a:rPr>
              <a:t>12,400</a:t>
            </a:r>
          </a:p>
        </p:txBody>
      </p:sp>
      <p:sp>
        <p:nvSpPr>
          <p:cNvPr id="93" name="Rectangle 92"/>
          <p:cNvSpPr/>
          <p:nvPr/>
        </p:nvSpPr>
        <p:spPr>
          <a:xfrm>
            <a:off x="365760" y="5833872"/>
            <a:ext cx="11430000" cy="50292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48640" y="5888736"/>
            <a:ext cx="11064240" cy="347472"/>
          </a:xfrm>
          <a:prstGeom prst="rect">
            <a:avLst/>
          </a:prstGeom>
          <a:noFill/>
        </p:spPr>
        <p:txBody>
          <a:bodyPr wrap="square">
            <a:spAutoFit/>
          </a:bodyPr>
          <a:lstStyle/>
          <a:p>
            <a:pPr algn="l"/>
            <a:r>
              <a:rPr sz="1100" b="1">
                <a:solidFill>
                  <a:srgbClr val="E8D08A"/>
                </a:solidFill>
                <a:latin typeface="맑은 고딕"/>
              </a:rPr>
              <a:t>전체 최대 강화 완료 시 필요 영혼의 잔재:  약 42,000  (100런 이상 소요 예상)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08  챕터 &amp; 레벨 디자인</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Chapter &amp; Level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08  챕터 구성 &amp; 노드 맵 레벨 디자인</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8288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챕터 개요</a:t>
            </a:r>
          </a:p>
        </p:txBody>
      </p:sp>
      <p:sp>
        <p:nvSpPr>
          <p:cNvPr id="8" name="Rectangle 7"/>
          <p:cNvSpPr/>
          <p:nvPr/>
        </p:nvSpPr>
        <p:spPr>
          <a:xfrm>
            <a:off x="502920" y="1371600"/>
            <a:ext cx="91440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408176"/>
            <a:ext cx="768096" cy="356615"/>
          </a:xfrm>
          <a:prstGeom prst="rect">
            <a:avLst/>
          </a:prstGeom>
          <a:noFill/>
        </p:spPr>
        <p:txBody>
          <a:bodyPr wrap="square">
            <a:spAutoFit/>
          </a:bodyPr>
          <a:lstStyle/>
          <a:p>
            <a:pPr algn="ctr"/>
            <a:r>
              <a:rPr sz="1000" b="1">
                <a:solidFill>
                  <a:srgbClr val="C9A84C"/>
                </a:solidFill>
                <a:latin typeface="맑은 고딕"/>
              </a:rPr>
              <a:t>챕터</a:t>
            </a:r>
          </a:p>
        </p:txBody>
      </p:sp>
      <p:sp>
        <p:nvSpPr>
          <p:cNvPr id="10" name="Rectangle 9"/>
          <p:cNvSpPr/>
          <p:nvPr/>
        </p:nvSpPr>
        <p:spPr>
          <a:xfrm>
            <a:off x="1417320" y="1371600"/>
            <a:ext cx="201168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90472" y="1408176"/>
            <a:ext cx="1865376" cy="356615"/>
          </a:xfrm>
          <a:prstGeom prst="rect">
            <a:avLst/>
          </a:prstGeom>
          <a:noFill/>
        </p:spPr>
        <p:txBody>
          <a:bodyPr wrap="square">
            <a:spAutoFit/>
          </a:bodyPr>
          <a:lstStyle/>
          <a:p>
            <a:pPr algn="ctr"/>
            <a:r>
              <a:rPr sz="1000" b="1">
                <a:solidFill>
                  <a:srgbClr val="C9A84C"/>
                </a:solidFill>
                <a:latin typeface="맑은 고딕"/>
              </a:rPr>
              <a:t>배경</a:t>
            </a:r>
          </a:p>
        </p:txBody>
      </p:sp>
      <p:sp>
        <p:nvSpPr>
          <p:cNvPr id="12" name="Rectangle 11"/>
          <p:cNvSpPr/>
          <p:nvPr/>
        </p:nvSpPr>
        <p:spPr>
          <a:xfrm>
            <a:off x="3429000" y="1371600"/>
            <a:ext cx="256032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408176"/>
            <a:ext cx="2414015" cy="356615"/>
          </a:xfrm>
          <a:prstGeom prst="rect">
            <a:avLst/>
          </a:prstGeom>
          <a:noFill/>
        </p:spPr>
        <p:txBody>
          <a:bodyPr wrap="square">
            <a:spAutoFit/>
          </a:bodyPr>
          <a:lstStyle/>
          <a:p>
            <a:pPr algn="ctr"/>
            <a:r>
              <a:rPr sz="1000" b="1">
                <a:solidFill>
                  <a:srgbClr val="C9A84C"/>
                </a:solidFill>
                <a:latin typeface="맑은 고딕"/>
              </a:rPr>
              <a:t>보스</a:t>
            </a:r>
          </a:p>
        </p:txBody>
      </p:sp>
      <p:sp>
        <p:nvSpPr>
          <p:cNvPr id="14" name="Rectangle 13"/>
          <p:cNvSpPr/>
          <p:nvPr/>
        </p:nvSpPr>
        <p:spPr>
          <a:xfrm>
            <a:off x="5989320" y="1371600"/>
            <a:ext cx="137160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62472" y="1408176"/>
            <a:ext cx="1225296" cy="356615"/>
          </a:xfrm>
          <a:prstGeom prst="rect">
            <a:avLst/>
          </a:prstGeom>
          <a:noFill/>
        </p:spPr>
        <p:txBody>
          <a:bodyPr wrap="square">
            <a:spAutoFit/>
          </a:bodyPr>
          <a:lstStyle/>
          <a:p>
            <a:pPr algn="ctr"/>
            <a:r>
              <a:rPr sz="1000" b="1">
                <a:solidFill>
                  <a:srgbClr val="C9A84C"/>
                </a:solidFill>
                <a:latin typeface="맑은 고딕"/>
              </a:rPr>
              <a:t>몬스터 배수</a:t>
            </a:r>
          </a:p>
        </p:txBody>
      </p:sp>
      <p:sp>
        <p:nvSpPr>
          <p:cNvPr id="16" name="Rectangle 15"/>
          <p:cNvSpPr/>
          <p:nvPr/>
        </p:nvSpPr>
        <p:spPr>
          <a:xfrm>
            <a:off x="7360920" y="1371600"/>
            <a:ext cx="137160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4072" y="1408176"/>
            <a:ext cx="1225296" cy="356615"/>
          </a:xfrm>
          <a:prstGeom prst="rect">
            <a:avLst/>
          </a:prstGeom>
          <a:noFill/>
        </p:spPr>
        <p:txBody>
          <a:bodyPr wrap="square">
            <a:spAutoFit/>
          </a:bodyPr>
          <a:lstStyle/>
          <a:p>
            <a:pPr algn="ctr"/>
            <a:r>
              <a:rPr sz="1000" b="1">
                <a:solidFill>
                  <a:srgbClr val="C9A84C"/>
                </a:solidFill>
                <a:latin typeface="맑은 고딕"/>
              </a:rPr>
              <a:t>보상 배수</a:t>
            </a:r>
          </a:p>
        </p:txBody>
      </p:sp>
      <p:sp>
        <p:nvSpPr>
          <p:cNvPr id="18" name="Rectangle 17"/>
          <p:cNvSpPr/>
          <p:nvPr/>
        </p:nvSpPr>
        <p:spPr>
          <a:xfrm>
            <a:off x="8732520" y="1371600"/>
            <a:ext cx="1737360" cy="429768"/>
          </a:xfrm>
          <a:prstGeom prst="rect">
            <a:avLst/>
          </a:prstGeom>
          <a:solidFill>
            <a:srgbClr val="1E243A"/>
          </a:solidFill>
          <a:ln w="10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5672" y="1408176"/>
            <a:ext cx="1591056" cy="356615"/>
          </a:xfrm>
          <a:prstGeom prst="rect">
            <a:avLst/>
          </a:prstGeom>
          <a:noFill/>
        </p:spPr>
        <p:txBody>
          <a:bodyPr wrap="square">
            <a:spAutoFit/>
          </a:bodyPr>
          <a:lstStyle/>
          <a:p>
            <a:pPr algn="ctr"/>
            <a:r>
              <a:rPr sz="1000" b="1">
                <a:solidFill>
                  <a:srgbClr val="C9A84C"/>
                </a:solidFill>
                <a:latin typeface="맑은 고딕"/>
              </a:rPr>
              <a:t>방 수 범위</a:t>
            </a:r>
          </a:p>
        </p:txBody>
      </p:sp>
      <p:sp>
        <p:nvSpPr>
          <p:cNvPr id="20" name="Rectangle 19"/>
          <p:cNvSpPr/>
          <p:nvPr/>
        </p:nvSpPr>
        <p:spPr>
          <a:xfrm>
            <a:off x="502920" y="1801368"/>
            <a:ext cx="91440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1837943"/>
            <a:ext cx="768096" cy="356615"/>
          </a:xfrm>
          <a:prstGeom prst="rect">
            <a:avLst/>
          </a:prstGeom>
          <a:noFill/>
        </p:spPr>
        <p:txBody>
          <a:bodyPr wrap="square">
            <a:spAutoFit/>
          </a:bodyPr>
          <a:lstStyle/>
          <a:p>
            <a:pPr algn="ctr"/>
            <a:r>
              <a:rPr sz="950" b="0">
                <a:solidFill>
                  <a:srgbClr val="FFFFFF"/>
                </a:solidFill>
                <a:latin typeface="맑은 고딕"/>
              </a:rPr>
              <a:t>CH.1</a:t>
            </a:r>
          </a:p>
        </p:txBody>
      </p:sp>
      <p:sp>
        <p:nvSpPr>
          <p:cNvPr id="22" name="Rectangle 21"/>
          <p:cNvSpPr/>
          <p:nvPr/>
        </p:nvSpPr>
        <p:spPr>
          <a:xfrm>
            <a:off x="1417320" y="1801368"/>
            <a:ext cx="201168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90472" y="1837943"/>
            <a:ext cx="1865376" cy="356615"/>
          </a:xfrm>
          <a:prstGeom prst="rect">
            <a:avLst/>
          </a:prstGeom>
          <a:noFill/>
        </p:spPr>
        <p:txBody>
          <a:bodyPr wrap="square">
            <a:spAutoFit/>
          </a:bodyPr>
          <a:lstStyle/>
          <a:p>
            <a:pPr algn="ctr"/>
            <a:r>
              <a:rPr sz="950" b="0">
                <a:solidFill>
                  <a:srgbClr val="B8BECC"/>
                </a:solidFill>
                <a:latin typeface="맑은 고딕"/>
              </a:rPr>
              <a:t>부패의 숲</a:t>
            </a:r>
          </a:p>
        </p:txBody>
      </p:sp>
      <p:sp>
        <p:nvSpPr>
          <p:cNvPr id="24" name="Rectangle 23"/>
          <p:cNvSpPr/>
          <p:nvPr/>
        </p:nvSpPr>
        <p:spPr>
          <a:xfrm>
            <a:off x="3429000" y="1801368"/>
            <a:ext cx="256032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02152" y="1837943"/>
            <a:ext cx="2414015" cy="356615"/>
          </a:xfrm>
          <a:prstGeom prst="rect">
            <a:avLst/>
          </a:prstGeom>
          <a:noFill/>
        </p:spPr>
        <p:txBody>
          <a:bodyPr wrap="square">
            <a:spAutoFit/>
          </a:bodyPr>
          <a:lstStyle/>
          <a:p>
            <a:pPr algn="ctr"/>
            <a:r>
              <a:rPr sz="950" b="0">
                <a:solidFill>
                  <a:srgbClr val="B8BECC"/>
                </a:solidFill>
                <a:latin typeface="맑은 고딕"/>
              </a:rPr>
              <a:t>그린 나이트</a:t>
            </a:r>
          </a:p>
        </p:txBody>
      </p:sp>
      <p:sp>
        <p:nvSpPr>
          <p:cNvPr id="26" name="Rectangle 25"/>
          <p:cNvSpPr/>
          <p:nvPr/>
        </p:nvSpPr>
        <p:spPr>
          <a:xfrm>
            <a:off x="5989320" y="1801368"/>
            <a:ext cx="137160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62472" y="1837943"/>
            <a:ext cx="1225296" cy="356615"/>
          </a:xfrm>
          <a:prstGeom prst="rect">
            <a:avLst/>
          </a:prstGeom>
          <a:noFill/>
        </p:spPr>
        <p:txBody>
          <a:bodyPr wrap="square">
            <a:spAutoFit/>
          </a:bodyPr>
          <a:lstStyle/>
          <a:p>
            <a:pPr algn="ctr"/>
            <a:r>
              <a:rPr sz="950" b="0">
                <a:solidFill>
                  <a:srgbClr val="B8BECC"/>
                </a:solidFill>
                <a:latin typeface="맑은 고딕"/>
              </a:rPr>
              <a:t>×1.0</a:t>
            </a:r>
          </a:p>
        </p:txBody>
      </p:sp>
      <p:sp>
        <p:nvSpPr>
          <p:cNvPr id="28" name="Rectangle 27"/>
          <p:cNvSpPr/>
          <p:nvPr/>
        </p:nvSpPr>
        <p:spPr>
          <a:xfrm>
            <a:off x="7360920" y="1801368"/>
            <a:ext cx="137160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34072" y="1837943"/>
            <a:ext cx="1225296" cy="356615"/>
          </a:xfrm>
          <a:prstGeom prst="rect">
            <a:avLst/>
          </a:prstGeom>
          <a:noFill/>
        </p:spPr>
        <p:txBody>
          <a:bodyPr wrap="square">
            <a:spAutoFit/>
          </a:bodyPr>
          <a:lstStyle/>
          <a:p>
            <a:pPr algn="ctr"/>
            <a:r>
              <a:rPr sz="950" b="0">
                <a:solidFill>
                  <a:srgbClr val="B8BECC"/>
                </a:solidFill>
                <a:latin typeface="맑은 고딕"/>
              </a:rPr>
              <a:t>×1.0</a:t>
            </a:r>
          </a:p>
        </p:txBody>
      </p:sp>
      <p:sp>
        <p:nvSpPr>
          <p:cNvPr id="30" name="Rectangle 29"/>
          <p:cNvSpPr/>
          <p:nvPr/>
        </p:nvSpPr>
        <p:spPr>
          <a:xfrm>
            <a:off x="8732520" y="1801368"/>
            <a:ext cx="17373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05672" y="1837943"/>
            <a:ext cx="1591056" cy="356615"/>
          </a:xfrm>
          <a:prstGeom prst="rect">
            <a:avLst/>
          </a:prstGeom>
          <a:noFill/>
        </p:spPr>
        <p:txBody>
          <a:bodyPr wrap="square">
            <a:spAutoFit/>
          </a:bodyPr>
          <a:lstStyle/>
          <a:p>
            <a:pPr algn="ctr"/>
            <a:r>
              <a:rPr sz="950" b="0">
                <a:solidFill>
                  <a:srgbClr val="B8BECC"/>
                </a:solidFill>
                <a:latin typeface="맑은 고딕"/>
              </a:rPr>
              <a:t>7~10</a:t>
            </a:r>
          </a:p>
        </p:txBody>
      </p:sp>
      <p:sp>
        <p:nvSpPr>
          <p:cNvPr id="32" name="Rectangle 31"/>
          <p:cNvSpPr/>
          <p:nvPr/>
        </p:nvSpPr>
        <p:spPr>
          <a:xfrm>
            <a:off x="502920" y="2231136"/>
            <a:ext cx="91440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2267712"/>
            <a:ext cx="768096" cy="356615"/>
          </a:xfrm>
          <a:prstGeom prst="rect">
            <a:avLst/>
          </a:prstGeom>
          <a:noFill/>
        </p:spPr>
        <p:txBody>
          <a:bodyPr wrap="square">
            <a:spAutoFit/>
          </a:bodyPr>
          <a:lstStyle/>
          <a:p>
            <a:pPr algn="ctr"/>
            <a:r>
              <a:rPr sz="950" b="0">
                <a:solidFill>
                  <a:srgbClr val="FFFFFF"/>
                </a:solidFill>
                <a:latin typeface="맑은 고딕"/>
              </a:rPr>
              <a:t>CH.2</a:t>
            </a:r>
          </a:p>
        </p:txBody>
      </p:sp>
      <p:sp>
        <p:nvSpPr>
          <p:cNvPr id="34" name="Rectangle 33"/>
          <p:cNvSpPr/>
          <p:nvPr/>
        </p:nvSpPr>
        <p:spPr>
          <a:xfrm>
            <a:off x="1417320" y="2231136"/>
            <a:ext cx="201168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90472" y="2267712"/>
            <a:ext cx="1865376" cy="356615"/>
          </a:xfrm>
          <a:prstGeom prst="rect">
            <a:avLst/>
          </a:prstGeom>
          <a:noFill/>
        </p:spPr>
        <p:txBody>
          <a:bodyPr wrap="square">
            <a:spAutoFit/>
          </a:bodyPr>
          <a:lstStyle/>
          <a:p>
            <a:pPr algn="ctr"/>
            <a:r>
              <a:rPr sz="950" b="0">
                <a:solidFill>
                  <a:srgbClr val="B8BECC"/>
                </a:solidFill>
                <a:latin typeface="맑은 고딕"/>
              </a:rPr>
              <a:t>용암 대지</a:t>
            </a:r>
          </a:p>
        </p:txBody>
      </p:sp>
      <p:sp>
        <p:nvSpPr>
          <p:cNvPr id="36" name="Rectangle 35"/>
          <p:cNvSpPr/>
          <p:nvPr/>
        </p:nvSpPr>
        <p:spPr>
          <a:xfrm>
            <a:off x="3429000" y="2231136"/>
            <a:ext cx="256032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2152" y="2267712"/>
            <a:ext cx="2414015" cy="356615"/>
          </a:xfrm>
          <a:prstGeom prst="rect">
            <a:avLst/>
          </a:prstGeom>
          <a:noFill/>
        </p:spPr>
        <p:txBody>
          <a:bodyPr wrap="square">
            <a:spAutoFit/>
          </a:bodyPr>
          <a:lstStyle/>
          <a:p>
            <a:pPr algn="ctr"/>
            <a:r>
              <a:rPr sz="950" b="0">
                <a:solidFill>
                  <a:srgbClr val="B8BECC"/>
                </a:solidFill>
                <a:latin typeface="맑은 고딕"/>
              </a:rPr>
              <a:t>이 드레이그 고흐</a:t>
            </a:r>
          </a:p>
        </p:txBody>
      </p:sp>
      <p:sp>
        <p:nvSpPr>
          <p:cNvPr id="38" name="Rectangle 37"/>
          <p:cNvSpPr/>
          <p:nvPr/>
        </p:nvSpPr>
        <p:spPr>
          <a:xfrm>
            <a:off x="5989320" y="2231136"/>
            <a:ext cx="137160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62472" y="2267712"/>
            <a:ext cx="1225296" cy="356615"/>
          </a:xfrm>
          <a:prstGeom prst="rect">
            <a:avLst/>
          </a:prstGeom>
          <a:noFill/>
        </p:spPr>
        <p:txBody>
          <a:bodyPr wrap="square">
            <a:spAutoFit/>
          </a:bodyPr>
          <a:lstStyle/>
          <a:p>
            <a:pPr algn="ctr"/>
            <a:r>
              <a:rPr sz="950" b="0">
                <a:solidFill>
                  <a:srgbClr val="B8BECC"/>
                </a:solidFill>
                <a:latin typeface="맑은 고딕"/>
              </a:rPr>
              <a:t>×1.5</a:t>
            </a:r>
          </a:p>
        </p:txBody>
      </p:sp>
      <p:sp>
        <p:nvSpPr>
          <p:cNvPr id="40" name="Rectangle 39"/>
          <p:cNvSpPr/>
          <p:nvPr/>
        </p:nvSpPr>
        <p:spPr>
          <a:xfrm>
            <a:off x="7360920" y="2231136"/>
            <a:ext cx="137160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34072" y="2267712"/>
            <a:ext cx="1225296" cy="356615"/>
          </a:xfrm>
          <a:prstGeom prst="rect">
            <a:avLst/>
          </a:prstGeom>
          <a:noFill/>
        </p:spPr>
        <p:txBody>
          <a:bodyPr wrap="square">
            <a:spAutoFit/>
          </a:bodyPr>
          <a:lstStyle/>
          <a:p>
            <a:pPr algn="ctr"/>
            <a:r>
              <a:rPr sz="950" b="0">
                <a:solidFill>
                  <a:srgbClr val="B8BECC"/>
                </a:solidFill>
                <a:latin typeface="맑은 고딕"/>
              </a:rPr>
              <a:t>×1.4</a:t>
            </a:r>
          </a:p>
        </p:txBody>
      </p:sp>
      <p:sp>
        <p:nvSpPr>
          <p:cNvPr id="42" name="Rectangle 41"/>
          <p:cNvSpPr/>
          <p:nvPr/>
        </p:nvSpPr>
        <p:spPr>
          <a:xfrm>
            <a:off x="8732520" y="2231136"/>
            <a:ext cx="1737360" cy="429768"/>
          </a:xfrm>
          <a:prstGeom prst="rect">
            <a:avLst/>
          </a:prstGeom>
          <a:solidFill>
            <a:srgbClr val="1E243A"/>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05672" y="2267712"/>
            <a:ext cx="1591056" cy="356615"/>
          </a:xfrm>
          <a:prstGeom prst="rect">
            <a:avLst/>
          </a:prstGeom>
          <a:noFill/>
        </p:spPr>
        <p:txBody>
          <a:bodyPr wrap="square">
            <a:spAutoFit/>
          </a:bodyPr>
          <a:lstStyle/>
          <a:p>
            <a:pPr algn="ctr"/>
            <a:r>
              <a:rPr sz="950" b="0">
                <a:solidFill>
                  <a:srgbClr val="B8BECC"/>
                </a:solidFill>
                <a:latin typeface="맑은 고딕"/>
              </a:rPr>
              <a:t>8~11</a:t>
            </a:r>
          </a:p>
        </p:txBody>
      </p:sp>
      <p:sp>
        <p:nvSpPr>
          <p:cNvPr id="44" name="Rectangle 43"/>
          <p:cNvSpPr/>
          <p:nvPr/>
        </p:nvSpPr>
        <p:spPr>
          <a:xfrm>
            <a:off x="502920" y="2660904"/>
            <a:ext cx="91440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2697480"/>
            <a:ext cx="768096" cy="356615"/>
          </a:xfrm>
          <a:prstGeom prst="rect">
            <a:avLst/>
          </a:prstGeom>
          <a:noFill/>
        </p:spPr>
        <p:txBody>
          <a:bodyPr wrap="square">
            <a:spAutoFit/>
          </a:bodyPr>
          <a:lstStyle/>
          <a:p>
            <a:pPr algn="ctr"/>
            <a:r>
              <a:rPr sz="950" b="0">
                <a:solidFill>
                  <a:srgbClr val="FFFFFF"/>
                </a:solidFill>
                <a:latin typeface="맑은 고딕"/>
              </a:rPr>
              <a:t>CH.3</a:t>
            </a:r>
          </a:p>
        </p:txBody>
      </p:sp>
      <p:sp>
        <p:nvSpPr>
          <p:cNvPr id="46" name="Rectangle 45"/>
          <p:cNvSpPr/>
          <p:nvPr/>
        </p:nvSpPr>
        <p:spPr>
          <a:xfrm>
            <a:off x="1417320" y="2660904"/>
            <a:ext cx="201168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490472" y="2697480"/>
            <a:ext cx="1865376" cy="356615"/>
          </a:xfrm>
          <a:prstGeom prst="rect">
            <a:avLst/>
          </a:prstGeom>
          <a:noFill/>
        </p:spPr>
        <p:txBody>
          <a:bodyPr wrap="square">
            <a:spAutoFit/>
          </a:bodyPr>
          <a:lstStyle/>
          <a:p>
            <a:pPr algn="ctr"/>
            <a:r>
              <a:rPr sz="950" b="0">
                <a:solidFill>
                  <a:srgbClr val="B8BECC"/>
                </a:solidFill>
                <a:latin typeface="맑은 고딕"/>
              </a:rPr>
              <a:t>잠식된 성채</a:t>
            </a:r>
          </a:p>
        </p:txBody>
      </p:sp>
      <p:sp>
        <p:nvSpPr>
          <p:cNvPr id="48" name="Rectangle 47"/>
          <p:cNvSpPr/>
          <p:nvPr/>
        </p:nvSpPr>
        <p:spPr>
          <a:xfrm>
            <a:off x="3429000" y="2660904"/>
            <a:ext cx="256032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02152" y="2697480"/>
            <a:ext cx="2414015" cy="356615"/>
          </a:xfrm>
          <a:prstGeom prst="rect">
            <a:avLst/>
          </a:prstGeom>
          <a:noFill/>
        </p:spPr>
        <p:txBody>
          <a:bodyPr wrap="square">
            <a:spAutoFit/>
          </a:bodyPr>
          <a:lstStyle/>
          <a:p>
            <a:pPr algn="ctr"/>
            <a:r>
              <a:rPr sz="950" b="0">
                <a:solidFill>
                  <a:srgbClr val="B8BECC"/>
                </a:solidFill>
                <a:latin typeface="맑은 고딕"/>
              </a:rPr>
              <a:t>모드레드</a:t>
            </a:r>
          </a:p>
        </p:txBody>
      </p:sp>
      <p:sp>
        <p:nvSpPr>
          <p:cNvPr id="50" name="Rectangle 49"/>
          <p:cNvSpPr/>
          <p:nvPr/>
        </p:nvSpPr>
        <p:spPr>
          <a:xfrm>
            <a:off x="5989320" y="2660904"/>
            <a:ext cx="137160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62472" y="2697480"/>
            <a:ext cx="1225296" cy="356615"/>
          </a:xfrm>
          <a:prstGeom prst="rect">
            <a:avLst/>
          </a:prstGeom>
          <a:noFill/>
        </p:spPr>
        <p:txBody>
          <a:bodyPr wrap="square">
            <a:spAutoFit/>
          </a:bodyPr>
          <a:lstStyle/>
          <a:p>
            <a:pPr algn="ctr"/>
            <a:r>
              <a:rPr sz="950" b="0">
                <a:solidFill>
                  <a:srgbClr val="B8BECC"/>
                </a:solidFill>
                <a:latin typeface="맑은 고딕"/>
              </a:rPr>
              <a:t>×2.2</a:t>
            </a:r>
          </a:p>
        </p:txBody>
      </p:sp>
      <p:sp>
        <p:nvSpPr>
          <p:cNvPr id="52" name="Rectangle 51"/>
          <p:cNvSpPr/>
          <p:nvPr/>
        </p:nvSpPr>
        <p:spPr>
          <a:xfrm>
            <a:off x="7360920" y="2660904"/>
            <a:ext cx="137160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4072" y="2697480"/>
            <a:ext cx="1225296" cy="356615"/>
          </a:xfrm>
          <a:prstGeom prst="rect">
            <a:avLst/>
          </a:prstGeom>
          <a:noFill/>
        </p:spPr>
        <p:txBody>
          <a:bodyPr wrap="square">
            <a:spAutoFit/>
          </a:bodyPr>
          <a:lstStyle/>
          <a:p>
            <a:pPr algn="ctr"/>
            <a:r>
              <a:rPr sz="950" b="0">
                <a:solidFill>
                  <a:srgbClr val="B8BECC"/>
                </a:solidFill>
                <a:latin typeface="맑은 고딕"/>
              </a:rPr>
              <a:t>×1.8</a:t>
            </a:r>
          </a:p>
        </p:txBody>
      </p:sp>
      <p:sp>
        <p:nvSpPr>
          <p:cNvPr id="54" name="Rectangle 53"/>
          <p:cNvSpPr/>
          <p:nvPr/>
        </p:nvSpPr>
        <p:spPr>
          <a:xfrm>
            <a:off x="8732520" y="2660904"/>
            <a:ext cx="1737360" cy="429768"/>
          </a:xfrm>
          <a:prstGeom prst="rect">
            <a:avLst/>
          </a:prstGeom>
          <a:solidFill>
            <a:srgbClr val="161B2E"/>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05672" y="2697480"/>
            <a:ext cx="1591056" cy="356615"/>
          </a:xfrm>
          <a:prstGeom prst="rect">
            <a:avLst/>
          </a:prstGeom>
          <a:noFill/>
        </p:spPr>
        <p:txBody>
          <a:bodyPr wrap="square">
            <a:spAutoFit/>
          </a:bodyPr>
          <a:lstStyle/>
          <a:p>
            <a:pPr algn="ctr"/>
            <a:r>
              <a:rPr sz="950" b="0">
                <a:solidFill>
                  <a:srgbClr val="B8BECC"/>
                </a:solidFill>
                <a:latin typeface="맑은 고딕"/>
              </a:rPr>
              <a:t>9~12</a:t>
            </a:r>
          </a:p>
        </p:txBody>
      </p:sp>
      <p:sp>
        <p:nvSpPr>
          <p:cNvPr id="56" name="Rectangle 55"/>
          <p:cNvSpPr/>
          <p:nvPr/>
        </p:nvSpPr>
        <p:spPr>
          <a:xfrm>
            <a:off x="502920" y="3090672"/>
            <a:ext cx="91440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6072" y="3127248"/>
            <a:ext cx="768096" cy="356615"/>
          </a:xfrm>
          <a:prstGeom prst="rect">
            <a:avLst/>
          </a:prstGeom>
          <a:noFill/>
        </p:spPr>
        <p:txBody>
          <a:bodyPr wrap="square">
            <a:spAutoFit/>
          </a:bodyPr>
          <a:lstStyle/>
          <a:p>
            <a:pPr algn="ctr"/>
            <a:r>
              <a:rPr sz="950" b="0">
                <a:solidFill>
                  <a:srgbClr val="FFFFFF"/>
                </a:solidFill>
                <a:latin typeface="맑은 고딕"/>
              </a:rPr>
              <a:t>CH.4</a:t>
            </a:r>
          </a:p>
        </p:txBody>
      </p:sp>
      <p:sp>
        <p:nvSpPr>
          <p:cNvPr id="58" name="Rectangle 57"/>
          <p:cNvSpPr/>
          <p:nvPr/>
        </p:nvSpPr>
        <p:spPr>
          <a:xfrm>
            <a:off x="1417320" y="3090672"/>
            <a:ext cx="201168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490472" y="3127248"/>
            <a:ext cx="1865376" cy="356615"/>
          </a:xfrm>
          <a:prstGeom prst="rect">
            <a:avLst/>
          </a:prstGeom>
          <a:noFill/>
        </p:spPr>
        <p:txBody>
          <a:bodyPr wrap="square">
            <a:spAutoFit/>
          </a:bodyPr>
          <a:lstStyle/>
          <a:p>
            <a:pPr algn="ctr"/>
            <a:r>
              <a:rPr sz="950" b="0">
                <a:solidFill>
                  <a:srgbClr val="B8BECC"/>
                </a:solidFill>
                <a:latin typeface="맑은 고딕"/>
              </a:rPr>
              <a:t>암흑대지</a:t>
            </a:r>
          </a:p>
        </p:txBody>
      </p:sp>
      <p:sp>
        <p:nvSpPr>
          <p:cNvPr id="60" name="Rectangle 59"/>
          <p:cNvSpPr/>
          <p:nvPr/>
        </p:nvSpPr>
        <p:spPr>
          <a:xfrm>
            <a:off x="3429000" y="3090672"/>
            <a:ext cx="256032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02152" y="3127248"/>
            <a:ext cx="2414015" cy="356615"/>
          </a:xfrm>
          <a:prstGeom prst="rect">
            <a:avLst/>
          </a:prstGeom>
          <a:noFill/>
        </p:spPr>
        <p:txBody>
          <a:bodyPr wrap="square">
            <a:spAutoFit/>
          </a:bodyPr>
          <a:lstStyle/>
          <a:p>
            <a:pPr algn="ctr"/>
            <a:r>
              <a:rPr sz="950" b="0">
                <a:solidFill>
                  <a:srgbClr val="B8BECC"/>
                </a:solidFill>
                <a:latin typeface="맑은 고딕"/>
              </a:rPr>
              <a:t>리치 (멀린의 육체)</a:t>
            </a:r>
          </a:p>
        </p:txBody>
      </p:sp>
      <p:sp>
        <p:nvSpPr>
          <p:cNvPr id="62" name="Rectangle 61"/>
          <p:cNvSpPr/>
          <p:nvPr/>
        </p:nvSpPr>
        <p:spPr>
          <a:xfrm>
            <a:off x="5989320" y="3090672"/>
            <a:ext cx="137160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62472" y="3127248"/>
            <a:ext cx="1225296" cy="356615"/>
          </a:xfrm>
          <a:prstGeom prst="rect">
            <a:avLst/>
          </a:prstGeom>
          <a:noFill/>
        </p:spPr>
        <p:txBody>
          <a:bodyPr wrap="square">
            <a:spAutoFit/>
          </a:bodyPr>
          <a:lstStyle/>
          <a:p>
            <a:pPr algn="ctr"/>
            <a:r>
              <a:rPr sz="950" b="0">
                <a:solidFill>
                  <a:srgbClr val="B8BECC"/>
                </a:solidFill>
                <a:latin typeface="맑은 고딕"/>
              </a:rPr>
              <a:t>×3.0</a:t>
            </a:r>
          </a:p>
        </p:txBody>
      </p:sp>
      <p:sp>
        <p:nvSpPr>
          <p:cNvPr id="64" name="Rectangle 63"/>
          <p:cNvSpPr/>
          <p:nvPr/>
        </p:nvSpPr>
        <p:spPr>
          <a:xfrm>
            <a:off x="7360920" y="3090672"/>
            <a:ext cx="137160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34072" y="3127248"/>
            <a:ext cx="1225296" cy="356615"/>
          </a:xfrm>
          <a:prstGeom prst="rect">
            <a:avLst/>
          </a:prstGeom>
          <a:noFill/>
        </p:spPr>
        <p:txBody>
          <a:bodyPr wrap="square">
            <a:spAutoFit/>
          </a:bodyPr>
          <a:lstStyle/>
          <a:p>
            <a:pPr algn="ctr"/>
            <a:r>
              <a:rPr sz="950" b="0">
                <a:solidFill>
                  <a:srgbClr val="B8BECC"/>
                </a:solidFill>
                <a:latin typeface="맑은 고딕"/>
              </a:rPr>
              <a:t>×2.5</a:t>
            </a:r>
          </a:p>
        </p:txBody>
      </p:sp>
      <p:sp>
        <p:nvSpPr>
          <p:cNvPr id="66" name="Rectangle 65"/>
          <p:cNvSpPr/>
          <p:nvPr/>
        </p:nvSpPr>
        <p:spPr>
          <a:xfrm>
            <a:off x="8732520" y="3090672"/>
            <a:ext cx="1737360" cy="429768"/>
          </a:xfrm>
          <a:prstGeom prst="rect">
            <a:avLst/>
          </a:prstGeom>
          <a:solidFill>
            <a:srgbClr val="1A1024"/>
          </a:solidFill>
          <a:ln w="8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05672" y="3127248"/>
            <a:ext cx="1591056" cy="356615"/>
          </a:xfrm>
          <a:prstGeom prst="rect">
            <a:avLst/>
          </a:prstGeom>
          <a:noFill/>
        </p:spPr>
        <p:txBody>
          <a:bodyPr wrap="square">
            <a:spAutoFit/>
          </a:bodyPr>
          <a:lstStyle/>
          <a:p>
            <a:pPr algn="ctr"/>
            <a:r>
              <a:rPr sz="950" b="0">
                <a:solidFill>
                  <a:srgbClr val="B8BECC"/>
                </a:solidFill>
                <a:latin typeface="맑은 고딕"/>
              </a:rPr>
              <a:t>6~8</a:t>
            </a:r>
          </a:p>
        </p:txBody>
      </p:sp>
      <p:sp>
        <p:nvSpPr>
          <p:cNvPr id="68" name="Rectangle 67"/>
          <p:cNvSpPr/>
          <p:nvPr/>
        </p:nvSpPr>
        <p:spPr>
          <a:xfrm>
            <a:off x="365760" y="2971800"/>
            <a:ext cx="5303520" cy="3657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65760" y="2971800"/>
            <a:ext cx="530352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2920" y="3026664"/>
            <a:ext cx="5029200" cy="256032"/>
          </a:xfrm>
          <a:prstGeom prst="rect">
            <a:avLst/>
          </a:prstGeom>
          <a:noFill/>
        </p:spPr>
        <p:txBody>
          <a:bodyPr wrap="square">
            <a:spAutoFit/>
          </a:bodyPr>
          <a:lstStyle/>
          <a:p>
            <a:pPr algn="l"/>
            <a:r>
              <a:rPr sz="1200" b="1">
                <a:solidFill>
                  <a:srgbClr val="C9A84C"/>
                </a:solidFill>
                <a:latin typeface="맑은 고딕"/>
              </a:rPr>
              <a:t>노드 맵 레이어 구조</a:t>
            </a:r>
          </a:p>
        </p:txBody>
      </p:sp>
      <p:sp>
        <p:nvSpPr>
          <p:cNvPr id="71" name="TextBox 70"/>
          <p:cNvSpPr txBox="1"/>
          <p:nvPr/>
        </p:nvSpPr>
        <p:spPr>
          <a:xfrm>
            <a:off x="548640" y="3383280"/>
            <a:ext cx="4937760" cy="2103120"/>
          </a:xfrm>
          <a:prstGeom prst="rect">
            <a:avLst/>
          </a:prstGeom>
          <a:noFill/>
        </p:spPr>
        <p:txBody>
          <a:bodyPr wrap="square">
            <a:spAutoFit/>
          </a:bodyPr>
          <a:lstStyle/>
          <a:p>
            <a:pPr algn="l"/>
            <a:r>
              <a:rPr sz="1200" b="0">
                <a:solidFill>
                  <a:srgbClr val="FFFFFF"/>
                </a:solidFill>
                <a:latin typeface="맑은 고딕"/>
              </a:rPr>
              <a:t>[시작 노드]  (1개)
       ↓
[중간 레이어]  (5~8층)
  분지 확률 35~45%
  레이어마다 2~3개 노드 분기
       ↓
[보스 노드]  (1개)</a:t>
            </a:r>
          </a:p>
        </p:txBody>
      </p:sp>
      <p:sp>
        <p:nvSpPr>
          <p:cNvPr id="72" name="Rectangle 71"/>
          <p:cNvSpPr/>
          <p:nvPr/>
        </p:nvSpPr>
        <p:spPr>
          <a:xfrm>
            <a:off x="5943600" y="2971800"/>
            <a:ext cx="2743200" cy="3657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943600" y="2971800"/>
            <a:ext cx="27432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080760" y="3026664"/>
            <a:ext cx="2468880" cy="256032"/>
          </a:xfrm>
          <a:prstGeom prst="rect">
            <a:avLst/>
          </a:prstGeom>
          <a:noFill/>
        </p:spPr>
        <p:txBody>
          <a:bodyPr wrap="square">
            <a:spAutoFit/>
          </a:bodyPr>
          <a:lstStyle/>
          <a:p>
            <a:pPr algn="l"/>
            <a:r>
              <a:rPr sz="1200" b="1">
                <a:solidFill>
                  <a:srgbClr val="C9A84C"/>
                </a:solidFill>
                <a:latin typeface="맑은 고딕"/>
              </a:rPr>
              <a:t>방 타입 분포</a:t>
            </a:r>
          </a:p>
        </p:txBody>
      </p:sp>
      <p:sp>
        <p:nvSpPr>
          <p:cNvPr id="75" name="Rectangle 74"/>
          <p:cNvSpPr/>
          <p:nvPr/>
        </p:nvSpPr>
        <p:spPr>
          <a:xfrm>
            <a:off x="6126480" y="3429000"/>
            <a:ext cx="228600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126480" y="3429000"/>
            <a:ext cx="1257300" cy="384048"/>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172200" y="3493008"/>
            <a:ext cx="1371600" cy="256032"/>
          </a:xfrm>
          <a:prstGeom prst="rect">
            <a:avLst/>
          </a:prstGeom>
          <a:noFill/>
        </p:spPr>
        <p:txBody>
          <a:bodyPr wrap="square">
            <a:spAutoFit/>
          </a:bodyPr>
          <a:lstStyle/>
          <a:p>
            <a:pPr algn="l"/>
            <a:r>
              <a:rPr sz="1000" b="1">
                <a:solidFill>
                  <a:srgbClr val="0D111A"/>
                </a:solidFill>
                <a:latin typeface="맑은 고딕"/>
              </a:rPr>
              <a:t>전투방</a:t>
            </a:r>
          </a:p>
        </p:txBody>
      </p:sp>
      <p:sp>
        <p:nvSpPr>
          <p:cNvPr id="78" name="TextBox 77"/>
          <p:cNvSpPr txBox="1"/>
          <p:nvPr/>
        </p:nvSpPr>
        <p:spPr>
          <a:xfrm>
            <a:off x="8503920" y="3493008"/>
            <a:ext cx="548640" cy="256032"/>
          </a:xfrm>
          <a:prstGeom prst="rect">
            <a:avLst/>
          </a:prstGeom>
          <a:noFill/>
        </p:spPr>
        <p:txBody>
          <a:bodyPr wrap="square">
            <a:spAutoFit/>
          </a:bodyPr>
          <a:lstStyle/>
          <a:p>
            <a:pPr algn="r"/>
            <a:r>
              <a:rPr sz="1000" b="1">
                <a:solidFill>
                  <a:srgbClr val="4AC2B8"/>
                </a:solidFill>
                <a:latin typeface="맑은 고딕"/>
              </a:rPr>
              <a:t>55%</a:t>
            </a:r>
          </a:p>
        </p:txBody>
      </p:sp>
      <p:sp>
        <p:nvSpPr>
          <p:cNvPr id="79" name="Rectangle 78"/>
          <p:cNvSpPr/>
          <p:nvPr/>
        </p:nvSpPr>
        <p:spPr>
          <a:xfrm>
            <a:off x="6126480" y="3995928"/>
            <a:ext cx="228600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126480" y="3995928"/>
            <a:ext cx="34290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172200" y="4059936"/>
            <a:ext cx="1371600" cy="256032"/>
          </a:xfrm>
          <a:prstGeom prst="rect">
            <a:avLst/>
          </a:prstGeom>
          <a:noFill/>
        </p:spPr>
        <p:txBody>
          <a:bodyPr wrap="square">
            <a:spAutoFit/>
          </a:bodyPr>
          <a:lstStyle/>
          <a:p>
            <a:pPr algn="l"/>
            <a:r>
              <a:rPr sz="1000" b="1">
                <a:solidFill>
                  <a:srgbClr val="FFFFFF"/>
                </a:solidFill>
                <a:latin typeface="맑은 고딕"/>
              </a:rPr>
              <a:t>아이템방</a:t>
            </a:r>
          </a:p>
        </p:txBody>
      </p:sp>
      <p:sp>
        <p:nvSpPr>
          <p:cNvPr id="82" name="TextBox 81"/>
          <p:cNvSpPr txBox="1"/>
          <p:nvPr/>
        </p:nvSpPr>
        <p:spPr>
          <a:xfrm>
            <a:off x="8503920" y="4059936"/>
            <a:ext cx="548640" cy="256032"/>
          </a:xfrm>
          <a:prstGeom prst="rect">
            <a:avLst/>
          </a:prstGeom>
          <a:noFill/>
        </p:spPr>
        <p:txBody>
          <a:bodyPr wrap="square">
            <a:spAutoFit/>
          </a:bodyPr>
          <a:lstStyle/>
          <a:p>
            <a:pPr algn="r"/>
            <a:r>
              <a:rPr sz="1000" b="1">
                <a:solidFill>
                  <a:srgbClr val="C9A84C"/>
                </a:solidFill>
                <a:latin typeface="맑은 고딕"/>
              </a:rPr>
              <a:t>15%</a:t>
            </a:r>
          </a:p>
        </p:txBody>
      </p:sp>
      <p:sp>
        <p:nvSpPr>
          <p:cNvPr id="83" name="Rectangle 82"/>
          <p:cNvSpPr/>
          <p:nvPr/>
        </p:nvSpPr>
        <p:spPr>
          <a:xfrm>
            <a:off x="6126480" y="4562856"/>
            <a:ext cx="228600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126480" y="4562856"/>
            <a:ext cx="228600" cy="384048"/>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72200" y="4626864"/>
            <a:ext cx="1371600" cy="256032"/>
          </a:xfrm>
          <a:prstGeom prst="rect">
            <a:avLst/>
          </a:prstGeom>
          <a:noFill/>
        </p:spPr>
        <p:txBody>
          <a:bodyPr wrap="square">
            <a:spAutoFit/>
          </a:bodyPr>
          <a:lstStyle/>
          <a:p>
            <a:pPr algn="l"/>
            <a:r>
              <a:rPr sz="1000" b="1">
                <a:solidFill>
                  <a:srgbClr val="FFFFFF"/>
                </a:solidFill>
                <a:latin typeface="맑은 고딕"/>
              </a:rPr>
              <a:t>상점방</a:t>
            </a:r>
          </a:p>
        </p:txBody>
      </p:sp>
      <p:sp>
        <p:nvSpPr>
          <p:cNvPr id="86" name="TextBox 85"/>
          <p:cNvSpPr txBox="1"/>
          <p:nvPr/>
        </p:nvSpPr>
        <p:spPr>
          <a:xfrm>
            <a:off x="8503920" y="4626864"/>
            <a:ext cx="548640" cy="256032"/>
          </a:xfrm>
          <a:prstGeom prst="rect">
            <a:avLst/>
          </a:prstGeom>
          <a:noFill/>
        </p:spPr>
        <p:txBody>
          <a:bodyPr wrap="square">
            <a:spAutoFit/>
          </a:bodyPr>
          <a:lstStyle/>
          <a:p>
            <a:pPr algn="r"/>
            <a:r>
              <a:rPr sz="1000" b="1">
                <a:solidFill>
                  <a:srgbClr val="6B3F8E"/>
                </a:solidFill>
                <a:latin typeface="맑은 고딕"/>
              </a:rPr>
              <a:t>10%</a:t>
            </a:r>
          </a:p>
        </p:txBody>
      </p:sp>
      <p:sp>
        <p:nvSpPr>
          <p:cNvPr id="87" name="Rectangle 86"/>
          <p:cNvSpPr/>
          <p:nvPr/>
        </p:nvSpPr>
        <p:spPr>
          <a:xfrm>
            <a:off x="6126480" y="5129783"/>
            <a:ext cx="228600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126480" y="5129783"/>
            <a:ext cx="228600" cy="384048"/>
          </a:xfrm>
          <a:prstGeom prst="rect">
            <a:avLst/>
          </a:prstGeom>
          <a:solidFill>
            <a:srgbClr val="727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72200" y="5193792"/>
            <a:ext cx="1371600" cy="256032"/>
          </a:xfrm>
          <a:prstGeom prst="rect">
            <a:avLst/>
          </a:prstGeom>
          <a:noFill/>
        </p:spPr>
        <p:txBody>
          <a:bodyPr wrap="square">
            <a:spAutoFit/>
          </a:bodyPr>
          <a:lstStyle/>
          <a:p>
            <a:pPr algn="l"/>
            <a:r>
              <a:rPr sz="1000" b="1">
                <a:solidFill>
                  <a:srgbClr val="FFFFFF"/>
                </a:solidFill>
                <a:latin typeface="맑은 고딕"/>
              </a:rPr>
              <a:t>특수방</a:t>
            </a:r>
          </a:p>
        </p:txBody>
      </p:sp>
      <p:sp>
        <p:nvSpPr>
          <p:cNvPr id="90" name="TextBox 89"/>
          <p:cNvSpPr txBox="1"/>
          <p:nvPr/>
        </p:nvSpPr>
        <p:spPr>
          <a:xfrm>
            <a:off x="8503920" y="5193792"/>
            <a:ext cx="548640" cy="256032"/>
          </a:xfrm>
          <a:prstGeom prst="rect">
            <a:avLst/>
          </a:prstGeom>
          <a:noFill/>
        </p:spPr>
        <p:txBody>
          <a:bodyPr wrap="square">
            <a:spAutoFit/>
          </a:bodyPr>
          <a:lstStyle/>
          <a:p>
            <a:pPr algn="r"/>
            <a:r>
              <a:rPr sz="1000" b="1">
                <a:solidFill>
                  <a:srgbClr val="727A8E"/>
                </a:solidFill>
                <a:latin typeface="맑은 고딕"/>
              </a:rPr>
              <a:t>10%</a:t>
            </a:r>
          </a:p>
        </p:txBody>
      </p:sp>
      <p:sp>
        <p:nvSpPr>
          <p:cNvPr id="91" name="Rectangle 90"/>
          <p:cNvSpPr/>
          <p:nvPr/>
        </p:nvSpPr>
        <p:spPr>
          <a:xfrm>
            <a:off x="6126480" y="5696712"/>
            <a:ext cx="2286000" cy="384048"/>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126480" y="5696712"/>
            <a:ext cx="228600" cy="384048"/>
          </a:xfrm>
          <a:prstGeom prst="rect">
            <a:avLst/>
          </a:prstGeom>
          <a:solidFill>
            <a:srgbClr val="CC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172200" y="5760720"/>
            <a:ext cx="1371600" cy="256032"/>
          </a:xfrm>
          <a:prstGeom prst="rect">
            <a:avLst/>
          </a:prstGeom>
          <a:noFill/>
        </p:spPr>
        <p:txBody>
          <a:bodyPr wrap="square">
            <a:spAutoFit/>
          </a:bodyPr>
          <a:lstStyle/>
          <a:p>
            <a:pPr algn="l"/>
            <a:r>
              <a:rPr sz="1000" b="1">
                <a:solidFill>
                  <a:srgbClr val="FFFFFF"/>
                </a:solidFill>
                <a:latin typeface="맑은 고딕"/>
              </a:rPr>
              <a:t>엘리트방</a:t>
            </a:r>
          </a:p>
        </p:txBody>
      </p:sp>
      <p:sp>
        <p:nvSpPr>
          <p:cNvPr id="94" name="TextBox 93"/>
          <p:cNvSpPr txBox="1"/>
          <p:nvPr/>
        </p:nvSpPr>
        <p:spPr>
          <a:xfrm>
            <a:off x="8503920" y="5760720"/>
            <a:ext cx="548640" cy="256032"/>
          </a:xfrm>
          <a:prstGeom prst="rect">
            <a:avLst/>
          </a:prstGeom>
          <a:noFill/>
        </p:spPr>
        <p:txBody>
          <a:bodyPr wrap="square">
            <a:spAutoFit/>
          </a:bodyPr>
          <a:lstStyle/>
          <a:p>
            <a:pPr algn="r"/>
            <a:r>
              <a:rPr sz="1000" b="1">
                <a:solidFill>
                  <a:srgbClr val="CC5555"/>
                </a:solidFill>
                <a:latin typeface="맑은 고딕"/>
              </a:rPr>
              <a:t>10%</a:t>
            </a:r>
          </a:p>
        </p:txBody>
      </p:sp>
      <p:sp>
        <p:nvSpPr>
          <p:cNvPr id="95" name="Rectangle 94"/>
          <p:cNvSpPr/>
          <p:nvPr/>
        </p:nvSpPr>
        <p:spPr>
          <a:xfrm>
            <a:off x="8869680" y="2971800"/>
            <a:ext cx="2926080" cy="365760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869680" y="2971800"/>
            <a:ext cx="292608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006840" y="3026664"/>
            <a:ext cx="2651760" cy="256032"/>
          </a:xfrm>
          <a:prstGeom prst="rect">
            <a:avLst/>
          </a:prstGeom>
          <a:noFill/>
        </p:spPr>
        <p:txBody>
          <a:bodyPr wrap="square">
            <a:spAutoFit/>
          </a:bodyPr>
          <a:lstStyle/>
          <a:p>
            <a:pPr algn="l"/>
            <a:r>
              <a:rPr sz="1200" b="1">
                <a:solidFill>
                  <a:srgbClr val="C9A84C"/>
                </a:solidFill>
                <a:latin typeface="맑은 고딕"/>
              </a:rPr>
              <a:t>상점 가격표</a:t>
            </a:r>
          </a:p>
        </p:txBody>
      </p:sp>
      <p:sp>
        <p:nvSpPr>
          <p:cNvPr id="98" name="Rectangle 97"/>
          <p:cNvSpPr/>
          <p:nvPr/>
        </p:nvSpPr>
        <p:spPr>
          <a:xfrm>
            <a:off x="9052560" y="3429000"/>
            <a:ext cx="256032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189720" y="3502152"/>
            <a:ext cx="1463040" cy="274320"/>
          </a:xfrm>
          <a:prstGeom prst="rect">
            <a:avLst/>
          </a:prstGeom>
          <a:noFill/>
        </p:spPr>
        <p:txBody>
          <a:bodyPr wrap="square">
            <a:spAutoFit/>
          </a:bodyPr>
          <a:lstStyle/>
          <a:p>
            <a:pPr algn="l"/>
            <a:r>
              <a:rPr sz="950" b="0">
                <a:solidFill>
                  <a:srgbClr val="B8BECC"/>
                </a:solidFill>
                <a:latin typeface="맑은 고딕"/>
              </a:rPr>
              <a:t>Common 아이템</a:t>
            </a:r>
          </a:p>
        </p:txBody>
      </p:sp>
      <p:sp>
        <p:nvSpPr>
          <p:cNvPr id="100" name="TextBox 99"/>
          <p:cNvSpPr txBox="1"/>
          <p:nvPr/>
        </p:nvSpPr>
        <p:spPr>
          <a:xfrm>
            <a:off x="10698480" y="3502152"/>
            <a:ext cx="822960" cy="274320"/>
          </a:xfrm>
          <a:prstGeom prst="rect">
            <a:avLst/>
          </a:prstGeom>
          <a:noFill/>
        </p:spPr>
        <p:txBody>
          <a:bodyPr wrap="square">
            <a:spAutoFit/>
          </a:bodyPr>
          <a:lstStyle/>
          <a:p>
            <a:pPr algn="r"/>
            <a:r>
              <a:rPr sz="950" b="1">
                <a:solidFill>
                  <a:srgbClr val="C9A84C"/>
                </a:solidFill>
                <a:latin typeface="맑은 고딕"/>
              </a:rPr>
              <a:t>50~120 G</a:t>
            </a:r>
          </a:p>
        </p:txBody>
      </p:sp>
      <p:sp>
        <p:nvSpPr>
          <p:cNvPr id="101" name="Rectangle 100"/>
          <p:cNvSpPr/>
          <p:nvPr/>
        </p:nvSpPr>
        <p:spPr>
          <a:xfrm>
            <a:off x="9052560" y="3995928"/>
            <a:ext cx="256032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189720" y="4069080"/>
            <a:ext cx="1463040" cy="274320"/>
          </a:xfrm>
          <a:prstGeom prst="rect">
            <a:avLst/>
          </a:prstGeom>
          <a:noFill/>
        </p:spPr>
        <p:txBody>
          <a:bodyPr wrap="square">
            <a:spAutoFit/>
          </a:bodyPr>
          <a:lstStyle/>
          <a:p>
            <a:pPr algn="l"/>
            <a:r>
              <a:rPr sz="950" b="0">
                <a:solidFill>
                  <a:srgbClr val="B8BECC"/>
                </a:solidFill>
                <a:latin typeface="맑은 고딕"/>
              </a:rPr>
              <a:t>Rare 아이템</a:t>
            </a:r>
          </a:p>
        </p:txBody>
      </p:sp>
      <p:sp>
        <p:nvSpPr>
          <p:cNvPr id="103" name="TextBox 102"/>
          <p:cNvSpPr txBox="1"/>
          <p:nvPr/>
        </p:nvSpPr>
        <p:spPr>
          <a:xfrm>
            <a:off x="10698480" y="4069080"/>
            <a:ext cx="822960" cy="274320"/>
          </a:xfrm>
          <a:prstGeom prst="rect">
            <a:avLst/>
          </a:prstGeom>
          <a:noFill/>
        </p:spPr>
        <p:txBody>
          <a:bodyPr wrap="square">
            <a:spAutoFit/>
          </a:bodyPr>
          <a:lstStyle/>
          <a:p>
            <a:pPr algn="r"/>
            <a:r>
              <a:rPr sz="950" b="1">
                <a:solidFill>
                  <a:srgbClr val="C9A84C"/>
                </a:solidFill>
                <a:latin typeface="맑은 고딕"/>
              </a:rPr>
              <a:t>150~280 G</a:t>
            </a:r>
          </a:p>
        </p:txBody>
      </p:sp>
      <p:sp>
        <p:nvSpPr>
          <p:cNvPr id="104" name="Rectangle 103"/>
          <p:cNvSpPr/>
          <p:nvPr/>
        </p:nvSpPr>
        <p:spPr>
          <a:xfrm>
            <a:off x="9052560" y="4562856"/>
            <a:ext cx="256032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189720" y="4636008"/>
            <a:ext cx="1463040" cy="274320"/>
          </a:xfrm>
          <a:prstGeom prst="rect">
            <a:avLst/>
          </a:prstGeom>
          <a:noFill/>
        </p:spPr>
        <p:txBody>
          <a:bodyPr wrap="square">
            <a:spAutoFit/>
          </a:bodyPr>
          <a:lstStyle/>
          <a:p>
            <a:pPr algn="l"/>
            <a:r>
              <a:rPr sz="950" b="0">
                <a:solidFill>
                  <a:srgbClr val="B8BECC"/>
                </a:solidFill>
                <a:latin typeface="맑은 고딕"/>
              </a:rPr>
              <a:t>Epic 아이템</a:t>
            </a:r>
          </a:p>
        </p:txBody>
      </p:sp>
      <p:sp>
        <p:nvSpPr>
          <p:cNvPr id="106" name="TextBox 105"/>
          <p:cNvSpPr txBox="1"/>
          <p:nvPr/>
        </p:nvSpPr>
        <p:spPr>
          <a:xfrm>
            <a:off x="10698480" y="4636008"/>
            <a:ext cx="822960" cy="274320"/>
          </a:xfrm>
          <a:prstGeom prst="rect">
            <a:avLst/>
          </a:prstGeom>
          <a:noFill/>
        </p:spPr>
        <p:txBody>
          <a:bodyPr wrap="square">
            <a:spAutoFit/>
          </a:bodyPr>
          <a:lstStyle/>
          <a:p>
            <a:pPr algn="r"/>
            <a:r>
              <a:rPr sz="950" b="1">
                <a:solidFill>
                  <a:srgbClr val="C9A84C"/>
                </a:solidFill>
                <a:latin typeface="맑은 고딕"/>
              </a:rPr>
              <a:t>350~500 G</a:t>
            </a:r>
          </a:p>
        </p:txBody>
      </p:sp>
      <p:sp>
        <p:nvSpPr>
          <p:cNvPr id="107" name="Rectangle 106"/>
          <p:cNvSpPr/>
          <p:nvPr/>
        </p:nvSpPr>
        <p:spPr>
          <a:xfrm>
            <a:off x="9052560" y="5129783"/>
            <a:ext cx="256032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189720" y="5202936"/>
            <a:ext cx="1463040" cy="274320"/>
          </a:xfrm>
          <a:prstGeom prst="rect">
            <a:avLst/>
          </a:prstGeom>
          <a:noFill/>
        </p:spPr>
        <p:txBody>
          <a:bodyPr wrap="square">
            <a:spAutoFit/>
          </a:bodyPr>
          <a:lstStyle/>
          <a:p>
            <a:pPr algn="l"/>
            <a:r>
              <a:rPr sz="950" b="0">
                <a:solidFill>
                  <a:srgbClr val="B8BECC"/>
                </a:solidFill>
                <a:latin typeface="맑은 고딕"/>
              </a:rPr>
              <a:t>체력 회복</a:t>
            </a:r>
          </a:p>
        </p:txBody>
      </p:sp>
      <p:sp>
        <p:nvSpPr>
          <p:cNvPr id="109" name="TextBox 108"/>
          <p:cNvSpPr txBox="1"/>
          <p:nvPr/>
        </p:nvSpPr>
        <p:spPr>
          <a:xfrm>
            <a:off x="10698480" y="5202936"/>
            <a:ext cx="822960" cy="274320"/>
          </a:xfrm>
          <a:prstGeom prst="rect">
            <a:avLst/>
          </a:prstGeom>
          <a:noFill/>
        </p:spPr>
        <p:txBody>
          <a:bodyPr wrap="square">
            <a:spAutoFit/>
          </a:bodyPr>
          <a:lstStyle/>
          <a:p>
            <a:pPr algn="r"/>
            <a:r>
              <a:rPr sz="950" b="1">
                <a:solidFill>
                  <a:srgbClr val="C9A84C"/>
                </a:solidFill>
                <a:latin typeface="맑은 고딕"/>
              </a:rPr>
              <a:t>80 G (HP 30%)</a:t>
            </a:r>
          </a:p>
        </p:txBody>
      </p:sp>
      <p:sp>
        <p:nvSpPr>
          <p:cNvPr id="110" name="Rectangle 109"/>
          <p:cNvSpPr/>
          <p:nvPr/>
        </p:nvSpPr>
        <p:spPr>
          <a:xfrm>
            <a:off x="9052560" y="5696712"/>
            <a:ext cx="2560320" cy="457200"/>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189720" y="5769864"/>
            <a:ext cx="1463040" cy="274320"/>
          </a:xfrm>
          <a:prstGeom prst="rect">
            <a:avLst/>
          </a:prstGeom>
          <a:noFill/>
        </p:spPr>
        <p:txBody>
          <a:bodyPr wrap="square">
            <a:spAutoFit/>
          </a:bodyPr>
          <a:lstStyle/>
          <a:p>
            <a:pPr algn="l"/>
            <a:r>
              <a:rPr sz="950" b="0">
                <a:solidFill>
                  <a:srgbClr val="B8BECC"/>
                </a:solidFill>
                <a:latin typeface="맑은 고딕"/>
              </a:rPr>
              <a:t>버프 구매</a:t>
            </a:r>
          </a:p>
        </p:txBody>
      </p:sp>
      <p:sp>
        <p:nvSpPr>
          <p:cNvPr id="112" name="TextBox 111"/>
          <p:cNvSpPr txBox="1"/>
          <p:nvPr/>
        </p:nvSpPr>
        <p:spPr>
          <a:xfrm>
            <a:off x="10698480" y="5769864"/>
            <a:ext cx="822960" cy="274320"/>
          </a:xfrm>
          <a:prstGeom prst="rect">
            <a:avLst/>
          </a:prstGeom>
          <a:noFill/>
        </p:spPr>
        <p:txBody>
          <a:bodyPr wrap="square">
            <a:spAutoFit/>
          </a:bodyPr>
          <a:lstStyle/>
          <a:p>
            <a:pPr algn="r"/>
            <a:r>
              <a:rPr sz="950" b="1">
                <a:solidFill>
                  <a:srgbClr val="C9A84C"/>
                </a:solidFill>
                <a:latin typeface="맑은 고딕"/>
              </a:rPr>
              <a:t>100~200 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08  보스 상세 설계</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960120"/>
            <a:ext cx="2834640" cy="5486400"/>
          </a:xfrm>
          <a:prstGeom prst="rect">
            <a:avLst/>
          </a:prstGeom>
          <a:solidFill>
            <a:srgbClr val="161B2E"/>
          </a:solidFill>
          <a:ln w="15000">
            <a:solidFill>
              <a:srgbClr val="4AC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96012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987552"/>
            <a:ext cx="2834640" cy="201168"/>
          </a:xfrm>
          <a:prstGeom prst="rect">
            <a:avLst/>
          </a:prstGeom>
          <a:noFill/>
        </p:spPr>
        <p:txBody>
          <a:bodyPr wrap="square">
            <a:spAutoFit/>
          </a:bodyPr>
          <a:lstStyle/>
          <a:p>
            <a:pPr algn="ctr"/>
            <a:r>
              <a:rPr sz="800" b="0">
                <a:solidFill>
                  <a:srgbClr val="727A8E"/>
                </a:solidFill>
                <a:latin typeface="맑은 고딕"/>
              </a:rPr>
              <a:t>CH.1 — 부패의 숲</a:t>
            </a:r>
          </a:p>
        </p:txBody>
      </p:sp>
      <p:sp>
        <p:nvSpPr>
          <p:cNvPr id="8" name="TextBox 7"/>
          <p:cNvSpPr txBox="1"/>
          <p:nvPr/>
        </p:nvSpPr>
        <p:spPr>
          <a:xfrm>
            <a:off x="320040" y="1170432"/>
            <a:ext cx="2834640" cy="256032"/>
          </a:xfrm>
          <a:prstGeom prst="rect">
            <a:avLst/>
          </a:prstGeom>
          <a:noFill/>
        </p:spPr>
        <p:txBody>
          <a:bodyPr wrap="square">
            <a:spAutoFit/>
          </a:bodyPr>
          <a:lstStyle/>
          <a:p>
            <a:pPr algn="ctr"/>
            <a:r>
              <a:rPr sz="1300" b="1">
                <a:solidFill>
                  <a:srgbClr val="4AC2B8"/>
                </a:solidFill>
                <a:latin typeface="맑은 고딕"/>
              </a:rPr>
              <a:t>그린 나이트</a:t>
            </a:r>
          </a:p>
        </p:txBody>
      </p:sp>
      <p:sp>
        <p:nvSpPr>
          <p:cNvPr id="9" name="TextBox 8"/>
          <p:cNvSpPr txBox="1"/>
          <p:nvPr/>
        </p:nvSpPr>
        <p:spPr>
          <a:xfrm>
            <a:off x="457200" y="1463040"/>
            <a:ext cx="2560320" cy="256032"/>
          </a:xfrm>
          <a:prstGeom prst="rect">
            <a:avLst/>
          </a:prstGeom>
          <a:noFill/>
        </p:spPr>
        <p:txBody>
          <a:bodyPr wrap="square">
            <a:spAutoFit/>
          </a:bodyPr>
          <a:lstStyle/>
          <a:p>
            <a:pPr algn="l"/>
            <a:r>
              <a:rPr sz="850" b="0">
                <a:solidFill>
                  <a:srgbClr val="727A8E"/>
                </a:solidFill>
                <a:latin typeface="맑은 고딕"/>
              </a:rPr>
              <a:t>가웨인과 녹색 기사</a:t>
            </a:r>
          </a:p>
        </p:txBody>
      </p:sp>
      <p:sp>
        <p:nvSpPr>
          <p:cNvPr id="10" name="TextBox 9"/>
          <p:cNvSpPr txBox="1"/>
          <p:nvPr/>
        </p:nvSpPr>
        <p:spPr>
          <a:xfrm>
            <a:off x="457200" y="1737360"/>
            <a:ext cx="2560320" cy="256032"/>
          </a:xfrm>
          <a:prstGeom prst="rect">
            <a:avLst/>
          </a:prstGeom>
          <a:noFill/>
        </p:spPr>
        <p:txBody>
          <a:bodyPr wrap="square">
            <a:spAutoFit/>
          </a:bodyPr>
          <a:lstStyle/>
          <a:p>
            <a:pPr algn="l"/>
            <a:r>
              <a:rPr sz="1000" b="1">
                <a:solidFill>
                  <a:srgbClr val="FFFFFF"/>
                </a:solidFill>
                <a:latin typeface="맑은 고딕"/>
              </a:rPr>
              <a:t>HP: 기준 HP ×1.0</a:t>
            </a:r>
          </a:p>
        </p:txBody>
      </p:sp>
      <p:sp>
        <p:nvSpPr>
          <p:cNvPr id="11" name="Rectangle 10"/>
          <p:cNvSpPr/>
          <p:nvPr/>
        </p:nvSpPr>
        <p:spPr>
          <a:xfrm>
            <a:off x="457200" y="202996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03120"/>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13" name="TextBox 12"/>
          <p:cNvSpPr txBox="1"/>
          <p:nvPr/>
        </p:nvSpPr>
        <p:spPr>
          <a:xfrm>
            <a:off x="457200" y="2331720"/>
            <a:ext cx="2560320" cy="274320"/>
          </a:xfrm>
          <a:prstGeom prst="rect">
            <a:avLst/>
          </a:prstGeom>
          <a:noFill/>
        </p:spPr>
        <p:txBody>
          <a:bodyPr wrap="square">
            <a:spAutoFit/>
          </a:bodyPr>
          <a:lstStyle/>
          <a:p>
            <a:pPr algn="l"/>
            <a:r>
              <a:rPr sz="850" b="0">
                <a:solidFill>
                  <a:srgbClr val="B8BECC"/>
                </a:solidFill>
                <a:latin typeface="맑은 고딕"/>
              </a:rPr>
              <a:t>▸ 근접 강타</a:t>
            </a:r>
          </a:p>
        </p:txBody>
      </p:sp>
      <p:sp>
        <p:nvSpPr>
          <p:cNvPr id="14" name="TextBox 13"/>
          <p:cNvSpPr txBox="1"/>
          <p:nvPr/>
        </p:nvSpPr>
        <p:spPr>
          <a:xfrm>
            <a:off x="457200" y="2660903"/>
            <a:ext cx="2560320" cy="274320"/>
          </a:xfrm>
          <a:prstGeom prst="rect">
            <a:avLst/>
          </a:prstGeom>
          <a:noFill/>
        </p:spPr>
        <p:txBody>
          <a:bodyPr wrap="square">
            <a:spAutoFit/>
          </a:bodyPr>
          <a:lstStyle/>
          <a:p>
            <a:pPr algn="l"/>
            <a:r>
              <a:rPr sz="850" b="0">
                <a:solidFill>
                  <a:srgbClr val="B8BECC"/>
                </a:solidFill>
                <a:latin typeface="맑은 고딕"/>
              </a:rPr>
              <a:t>▸ 가시 투척</a:t>
            </a:r>
          </a:p>
        </p:txBody>
      </p:sp>
      <p:sp>
        <p:nvSpPr>
          <p:cNvPr id="15" name="TextBox 14"/>
          <p:cNvSpPr txBox="1"/>
          <p:nvPr/>
        </p:nvSpPr>
        <p:spPr>
          <a:xfrm>
            <a:off x="457200" y="2990087"/>
            <a:ext cx="2560320" cy="274320"/>
          </a:xfrm>
          <a:prstGeom prst="rect">
            <a:avLst/>
          </a:prstGeom>
          <a:noFill/>
        </p:spPr>
        <p:txBody>
          <a:bodyPr wrap="square">
            <a:spAutoFit/>
          </a:bodyPr>
          <a:lstStyle/>
          <a:p>
            <a:pPr algn="l"/>
            <a:r>
              <a:rPr sz="850" b="0">
                <a:solidFill>
                  <a:srgbClr val="B8BECC"/>
                </a:solidFill>
                <a:latin typeface="맑은 고딕"/>
              </a:rPr>
              <a:t>▸ 덩굴 함정</a:t>
            </a:r>
          </a:p>
        </p:txBody>
      </p:sp>
      <p:sp>
        <p:nvSpPr>
          <p:cNvPr id="16" name="TextBox 15"/>
          <p:cNvSpPr txBox="1"/>
          <p:nvPr/>
        </p:nvSpPr>
        <p:spPr>
          <a:xfrm>
            <a:off x="457200" y="3319272"/>
            <a:ext cx="2560320" cy="274320"/>
          </a:xfrm>
          <a:prstGeom prst="rect">
            <a:avLst/>
          </a:prstGeom>
          <a:noFill/>
        </p:spPr>
        <p:txBody>
          <a:bodyPr wrap="square">
            <a:spAutoFit/>
          </a:bodyPr>
          <a:lstStyle/>
          <a:p>
            <a:pPr algn="l"/>
            <a:r>
              <a:rPr sz="850" b="0">
                <a:solidFill>
                  <a:srgbClr val="B8BECC"/>
                </a:solidFill>
                <a:latin typeface="맑은 고딕"/>
              </a:rPr>
              <a:t>▸ HP 50% 이하: 재생 시작 (초당 0.5%)</a:t>
            </a:r>
          </a:p>
        </p:txBody>
      </p:sp>
      <p:sp>
        <p:nvSpPr>
          <p:cNvPr id="17" name="Rectangle 16"/>
          <p:cNvSpPr/>
          <p:nvPr/>
        </p:nvSpPr>
        <p:spPr>
          <a:xfrm>
            <a:off x="457200"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22191"/>
            <a:ext cx="731520" cy="201168"/>
          </a:xfrm>
          <a:prstGeom prst="rect">
            <a:avLst/>
          </a:prstGeom>
          <a:noFill/>
        </p:spPr>
        <p:txBody>
          <a:bodyPr wrap="square">
            <a:spAutoFit/>
          </a:bodyPr>
          <a:lstStyle/>
          <a:p>
            <a:pPr algn="l"/>
            <a:r>
              <a:rPr sz="800" b="1">
                <a:solidFill>
                  <a:srgbClr val="727A8E"/>
                </a:solidFill>
                <a:latin typeface="맑은 고딕"/>
              </a:rPr>
              <a:t>약점</a:t>
            </a:r>
          </a:p>
        </p:txBody>
      </p:sp>
      <p:sp>
        <p:nvSpPr>
          <p:cNvPr id="19" name="TextBox 18"/>
          <p:cNvSpPr txBox="1"/>
          <p:nvPr/>
        </p:nvSpPr>
        <p:spPr>
          <a:xfrm>
            <a:off x="457200" y="4041648"/>
            <a:ext cx="2560320" cy="274320"/>
          </a:xfrm>
          <a:prstGeom prst="rect">
            <a:avLst/>
          </a:prstGeom>
          <a:noFill/>
        </p:spPr>
        <p:txBody>
          <a:bodyPr wrap="square">
            <a:spAutoFit/>
          </a:bodyPr>
          <a:lstStyle/>
          <a:p>
            <a:pPr algn="l"/>
            <a:r>
              <a:rPr sz="900" b="0">
                <a:solidFill>
                  <a:srgbClr val="4AC2B8"/>
                </a:solidFill>
                <a:latin typeface="맑은 고딕"/>
              </a:rPr>
              <a:t>화염 피해 시 재생 중단</a:t>
            </a:r>
          </a:p>
        </p:txBody>
      </p:sp>
      <p:sp>
        <p:nvSpPr>
          <p:cNvPr id="20" name="Rectangle 19"/>
          <p:cNvSpPr/>
          <p:nvPr/>
        </p:nvSpPr>
        <p:spPr>
          <a:xfrm>
            <a:off x="457200" y="436168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434840"/>
            <a:ext cx="1828800" cy="201168"/>
          </a:xfrm>
          <a:prstGeom prst="rect">
            <a:avLst/>
          </a:prstGeom>
          <a:noFill/>
        </p:spPr>
        <p:txBody>
          <a:bodyPr wrap="square">
            <a:spAutoFit/>
          </a:bodyPr>
          <a:lstStyle/>
          <a:p>
            <a:pPr algn="l"/>
            <a:r>
              <a:rPr sz="800" b="1">
                <a:solidFill>
                  <a:srgbClr val="C9A84C"/>
                </a:solidFill>
                <a:latin typeface="맑은 고딕"/>
              </a:rPr>
              <a:t>처치 보상</a:t>
            </a:r>
          </a:p>
        </p:txBody>
      </p:sp>
      <p:sp>
        <p:nvSpPr>
          <p:cNvPr id="22" name="TextBox 21"/>
          <p:cNvSpPr txBox="1"/>
          <p:nvPr/>
        </p:nvSpPr>
        <p:spPr>
          <a:xfrm>
            <a:off x="457200" y="4663440"/>
            <a:ext cx="2560320" cy="274320"/>
          </a:xfrm>
          <a:prstGeom prst="rect">
            <a:avLst/>
          </a:prstGeom>
          <a:noFill/>
        </p:spPr>
        <p:txBody>
          <a:bodyPr wrap="square">
            <a:spAutoFit/>
          </a:bodyPr>
          <a:lstStyle/>
          <a:p>
            <a:pPr algn="l"/>
            <a:r>
              <a:rPr sz="900" b="0">
                <a:solidFill>
                  <a:srgbClr val="E8D08A"/>
                </a:solidFill>
                <a:latin typeface="맑은 고딕"/>
              </a:rPr>
              <a:t>잔재 ×250 · 기억 50% · 코어 (첫 격파)</a:t>
            </a:r>
          </a:p>
        </p:txBody>
      </p:sp>
      <p:sp>
        <p:nvSpPr>
          <p:cNvPr id="23" name="Rectangle 22"/>
          <p:cNvSpPr/>
          <p:nvPr/>
        </p:nvSpPr>
        <p:spPr>
          <a:xfrm>
            <a:off x="457200" y="4992624"/>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074920"/>
            <a:ext cx="2560320" cy="365760"/>
          </a:xfrm>
          <a:prstGeom prst="rect">
            <a:avLst/>
          </a:prstGeom>
          <a:noFill/>
        </p:spPr>
        <p:txBody>
          <a:bodyPr wrap="square">
            <a:spAutoFit/>
          </a:bodyPr>
          <a:lstStyle/>
          <a:p>
            <a:pPr algn="l"/>
            <a:r>
              <a:rPr sz="850" b="0">
                <a:solidFill>
                  <a:srgbClr val="B8BECC"/>
                </a:solidFill>
                <a:latin typeface="맑은 고딕"/>
              </a:rPr>
              <a:t>숲의 수호자가 부패로 거대화.
가웨인 유물 사용 시 특별 대사.</a:t>
            </a:r>
          </a:p>
        </p:txBody>
      </p:sp>
      <p:sp>
        <p:nvSpPr>
          <p:cNvPr id="25" name="Rectangle 24"/>
          <p:cNvSpPr/>
          <p:nvPr/>
        </p:nvSpPr>
        <p:spPr>
          <a:xfrm>
            <a:off x="3310128" y="960120"/>
            <a:ext cx="2834640" cy="5486400"/>
          </a:xfrm>
          <a:prstGeom prst="rect">
            <a:avLst/>
          </a:prstGeom>
          <a:solidFill>
            <a:srgbClr val="161B2E"/>
          </a:solidFill>
          <a:ln w="15000">
            <a:solidFill>
              <a:srgbClr val="FF7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0128" y="96012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10128" y="987552"/>
            <a:ext cx="2834640" cy="201168"/>
          </a:xfrm>
          <a:prstGeom prst="rect">
            <a:avLst/>
          </a:prstGeom>
          <a:noFill/>
        </p:spPr>
        <p:txBody>
          <a:bodyPr wrap="square">
            <a:spAutoFit/>
          </a:bodyPr>
          <a:lstStyle/>
          <a:p>
            <a:pPr algn="ctr"/>
            <a:r>
              <a:rPr sz="800" b="0">
                <a:solidFill>
                  <a:srgbClr val="727A8E"/>
                </a:solidFill>
                <a:latin typeface="맑은 고딕"/>
              </a:rPr>
              <a:t>CH.2 — 용암 대지</a:t>
            </a:r>
          </a:p>
        </p:txBody>
      </p:sp>
      <p:sp>
        <p:nvSpPr>
          <p:cNvPr id="28" name="TextBox 27"/>
          <p:cNvSpPr txBox="1"/>
          <p:nvPr/>
        </p:nvSpPr>
        <p:spPr>
          <a:xfrm>
            <a:off x="3310128" y="1170432"/>
            <a:ext cx="2834640" cy="256032"/>
          </a:xfrm>
          <a:prstGeom prst="rect">
            <a:avLst/>
          </a:prstGeom>
          <a:noFill/>
        </p:spPr>
        <p:txBody>
          <a:bodyPr wrap="square">
            <a:spAutoFit/>
          </a:bodyPr>
          <a:lstStyle/>
          <a:p>
            <a:pPr algn="ctr"/>
            <a:r>
              <a:rPr sz="1300" b="1">
                <a:solidFill>
                  <a:srgbClr val="FF7020"/>
                </a:solidFill>
                <a:latin typeface="맑은 고딕"/>
              </a:rPr>
              <a:t>이 드레이그 고흐</a:t>
            </a:r>
          </a:p>
        </p:txBody>
      </p:sp>
      <p:sp>
        <p:nvSpPr>
          <p:cNvPr id="29" name="TextBox 28"/>
          <p:cNvSpPr txBox="1"/>
          <p:nvPr/>
        </p:nvSpPr>
        <p:spPr>
          <a:xfrm>
            <a:off x="3447288" y="1463040"/>
            <a:ext cx="2560320" cy="256032"/>
          </a:xfrm>
          <a:prstGeom prst="rect">
            <a:avLst/>
          </a:prstGeom>
          <a:noFill/>
        </p:spPr>
        <p:txBody>
          <a:bodyPr wrap="square">
            <a:spAutoFit/>
          </a:bodyPr>
          <a:lstStyle/>
          <a:p>
            <a:pPr algn="l"/>
            <a:r>
              <a:rPr sz="850" b="0">
                <a:solidFill>
                  <a:srgbClr val="727A8E"/>
                </a:solidFill>
                <a:latin typeface="맑은 고딕"/>
              </a:rPr>
              <a:t>멀린이 예언한 웨일스의 붉은 용</a:t>
            </a:r>
          </a:p>
        </p:txBody>
      </p:sp>
      <p:sp>
        <p:nvSpPr>
          <p:cNvPr id="30" name="TextBox 29"/>
          <p:cNvSpPr txBox="1"/>
          <p:nvPr/>
        </p:nvSpPr>
        <p:spPr>
          <a:xfrm>
            <a:off x="3447288" y="1737360"/>
            <a:ext cx="2560320" cy="256032"/>
          </a:xfrm>
          <a:prstGeom prst="rect">
            <a:avLst/>
          </a:prstGeom>
          <a:noFill/>
        </p:spPr>
        <p:txBody>
          <a:bodyPr wrap="square">
            <a:spAutoFit/>
          </a:bodyPr>
          <a:lstStyle/>
          <a:p>
            <a:pPr algn="l"/>
            <a:r>
              <a:rPr sz="1000" b="1">
                <a:solidFill>
                  <a:srgbClr val="FFFFFF"/>
                </a:solidFill>
                <a:latin typeface="맑은 고딕"/>
              </a:rPr>
              <a:t>HP: 기준 HP ×1.5</a:t>
            </a:r>
          </a:p>
        </p:txBody>
      </p:sp>
      <p:sp>
        <p:nvSpPr>
          <p:cNvPr id="31" name="Rectangle 30"/>
          <p:cNvSpPr/>
          <p:nvPr/>
        </p:nvSpPr>
        <p:spPr>
          <a:xfrm>
            <a:off x="3447288" y="202996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47288" y="2103120"/>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33" name="TextBox 32"/>
          <p:cNvSpPr txBox="1"/>
          <p:nvPr/>
        </p:nvSpPr>
        <p:spPr>
          <a:xfrm>
            <a:off x="3447288" y="2331720"/>
            <a:ext cx="2560320" cy="274320"/>
          </a:xfrm>
          <a:prstGeom prst="rect">
            <a:avLst/>
          </a:prstGeom>
          <a:noFill/>
        </p:spPr>
        <p:txBody>
          <a:bodyPr wrap="square">
            <a:spAutoFit/>
          </a:bodyPr>
          <a:lstStyle/>
          <a:p>
            <a:pPr algn="l"/>
            <a:r>
              <a:rPr sz="850" b="0">
                <a:solidFill>
                  <a:srgbClr val="B8BECC"/>
                </a:solidFill>
                <a:latin typeface="맑은 고딕"/>
              </a:rPr>
              <a:t>▸ 화염 브레스</a:t>
            </a:r>
          </a:p>
        </p:txBody>
      </p:sp>
      <p:sp>
        <p:nvSpPr>
          <p:cNvPr id="34" name="TextBox 33"/>
          <p:cNvSpPr txBox="1"/>
          <p:nvPr/>
        </p:nvSpPr>
        <p:spPr>
          <a:xfrm>
            <a:off x="3447288" y="2660903"/>
            <a:ext cx="2560320" cy="274320"/>
          </a:xfrm>
          <a:prstGeom prst="rect">
            <a:avLst/>
          </a:prstGeom>
          <a:noFill/>
        </p:spPr>
        <p:txBody>
          <a:bodyPr wrap="square">
            <a:spAutoFit/>
          </a:bodyPr>
          <a:lstStyle/>
          <a:p>
            <a:pPr algn="l"/>
            <a:r>
              <a:rPr sz="850" b="0">
                <a:solidFill>
                  <a:srgbClr val="B8BECC"/>
                </a:solidFill>
                <a:latin typeface="맑은 고딕"/>
              </a:rPr>
              <a:t>▸ 꼬리 휩쓸기</a:t>
            </a:r>
          </a:p>
        </p:txBody>
      </p:sp>
      <p:sp>
        <p:nvSpPr>
          <p:cNvPr id="35" name="TextBox 34"/>
          <p:cNvSpPr txBox="1"/>
          <p:nvPr/>
        </p:nvSpPr>
        <p:spPr>
          <a:xfrm>
            <a:off x="3447288" y="2990087"/>
            <a:ext cx="2560320" cy="274320"/>
          </a:xfrm>
          <a:prstGeom prst="rect">
            <a:avLst/>
          </a:prstGeom>
          <a:noFill/>
        </p:spPr>
        <p:txBody>
          <a:bodyPr wrap="square">
            <a:spAutoFit/>
          </a:bodyPr>
          <a:lstStyle/>
          <a:p>
            <a:pPr algn="l"/>
            <a:r>
              <a:rPr sz="850" b="0">
                <a:solidFill>
                  <a:srgbClr val="B8BECC"/>
                </a:solidFill>
                <a:latin typeface="맑은 고딕"/>
              </a:rPr>
              <a:t>▸ 낙하 충격</a:t>
            </a:r>
          </a:p>
        </p:txBody>
      </p:sp>
      <p:sp>
        <p:nvSpPr>
          <p:cNvPr id="36" name="TextBox 35"/>
          <p:cNvSpPr txBox="1"/>
          <p:nvPr/>
        </p:nvSpPr>
        <p:spPr>
          <a:xfrm>
            <a:off x="3447288" y="3319272"/>
            <a:ext cx="2560320" cy="274320"/>
          </a:xfrm>
          <a:prstGeom prst="rect">
            <a:avLst/>
          </a:prstGeom>
          <a:noFill/>
        </p:spPr>
        <p:txBody>
          <a:bodyPr wrap="square">
            <a:spAutoFit/>
          </a:bodyPr>
          <a:lstStyle/>
          <a:p>
            <a:pPr algn="l"/>
            <a:r>
              <a:rPr sz="850" b="0">
                <a:solidFill>
                  <a:srgbClr val="B8BECC"/>
                </a:solidFill>
                <a:latin typeface="맑은 고딕"/>
              </a:rPr>
              <a:t>▸ HP 30% 이하: 광역 화염 폭발 (페이즈 2)</a:t>
            </a:r>
          </a:p>
        </p:txBody>
      </p:sp>
      <p:sp>
        <p:nvSpPr>
          <p:cNvPr id="37" name="Rectangle 36"/>
          <p:cNvSpPr/>
          <p:nvPr/>
        </p:nvSpPr>
        <p:spPr>
          <a:xfrm>
            <a:off x="3447288"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47288" y="3822191"/>
            <a:ext cx="731520" cy="201168"/>
          </a:xfrm>
          <a:prstGeom prst="rect">
            <a:avLst/>
          </a:prstGeom>
          <a:noFill/>
        </p:spPr>
        <p:txBody>
          <a:bodyPr wrap="square">
            <a:spAutoFit/>
          </a:bodyPr>
          <a:lstStyle/>
          <a:p>
            <a:pPr algn="l"/>
            <a:r>
              <a:rPr sz="800" b="1">
                <a:solidFill>
                  <a:srgbClr val="727A8E"/>
                </a:solidFill>
                <a:latin typeface="맑은 고딕"/>
              </a:rPr>
              <a:t>약점</a:t>
            </a:r>
          </a:p>
        </p:txBody>
      </p:sp>
      <p:sp>
        <p:nvSpPr>
          <p:cNvPr id="39" name="TextBox 38"/>
          <p:cNvSpPr txBox="1"/>
          <p:nvPr/>
        </p:nvSpPr>
        <p:spPr>
          <a:xfrm>
            <a:off x="3447288" y="4041648"/>
            <a:ext cx="2560320" cy="274320"/>
          </a:xfrm>
          <a:prstGeom prst="rect">
            <a:avLst/>
          </a:prstGeom>
          <a:noFill/>
        </p:spPr>
        <p:txBody>
          <a:bodyPr wrap="square">
            <a:spAutoFit/>
          </a:bodyPr>
          <a:lstStyle/>
          <a:p>
            <a:pPr algn="l"/>
            <a:r>
              <a:rPr sz="900" b="0">
                <a:solidFill>
                  <a:srgbClr val="4AC2B8"/>
                </a:solidFill>
                <a:latin typeface="맑은 고딕"/>
              </a:rPr>
              <a:t>수속성 공격 시 +30% 피해</a:t>
            </a:r>
          </a:p>
        </p:txBody>
      </p:sp>
      <p:sp>
        <p:nvSpPr>
          <p:cNvPr id="40" name="Rectangle 39"/>
          <p:cNvSpPr/>
          <p:nvPr/>
        </p:nvSpPr>
        <p:spPr>
          <a:xfrm>
            <a:off x="3447288" y="436168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47288" y="4434840"/>
            <a:ext cx="1828800" cy="201168"/>
          </a:xfrm>
          <a:prstGeom prst="rect">
            <a:avLst/>
          </a:prstGeom>
          <a:noFill/>
        </p:spPr>
        <p:txBody>
          <a:bodyPr wrap="square">
            <a:spAutoFit/>
          </a:bodyPr>
          <a:lstStyle/>
          <a:p>
            <a:pPr algn="l"/>
            <a:r>
              <a:rPr sz="800" b="1">
                <a:solidFill>
                  <a:srgbClr val="C9A84C"/>
                </a:solidFill>
                <a:latin typeface="맑은 고딕"/>
              </a:rPr>
              <a:t>처치 보상</a:t>
            </a:r>
          </a:p>
        </p:txBody>
      </p:sp>
      <p:sp>
        <p:nvSpPr>
          <p:cNvPr id="42" name="TextBox 41"/>
          <p:cNvSpPr txBox="1"/>
          <p:nvPr/>
        </p:nvSpPr>
        <p:spPr>
          <a:xfrm>
            <a:off x="3447288" y="4663440"/>
            <a:ext cx="2560320" cy="274320"/>
          </a:xfrm>
          <a:prstGeom prst="rect">
            <a:avLst/>
          </a:prstGeom>
          <a:noFill/>
        </p:spPr>
        <p:txBody>
          <a:bodyPr wrap="square">
            <a:spAutoFit/>
          </a:bodyPr>
          <a:lstStyle/>
          <a:p>
            <a:pPr algn="l"/>
            <a:r>
              <a:rPr sz="900" b="0">
                <a:solidFill>
                  <a:srgbClr val="E8D08A"/>
                </a:solidFill>
                <a:latin typeface="맑은 고딕"/>
              </a:rPr>
              <a:t>잔재 ×400 · 기억 60% · 코어 (첫 격파)</a:t>
            </a:r>
          </a:p>
        </p:txBody>
      </p:sp>
      <p:sp>
        <p:nvSpPr>
          <p:cNvPr id="43" name="Rectangle 42"/>
          <p:cNvSpPr/>
          <p:nvPr/>
        </p:nvSpPr>
        <p:spPr>
          <a:xfrm>
            <a:off x="3447288" y="4992624"/>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47288" y="5074920"/>
            <a:ext cx="2560320" cy="365760"/>
          </a:xfrm>
          <a:prstGeom prst="rect">
            <a:avLst/>
          </a:prstGeom>
          <a:noFill/>
        </p:spPr>
        <p:txBody>
          <a:bodyPr wrap="square">
            <a:spAutoFit/>
          </a:bodyPr>
          <a:lstStyle/>
          <a:p>
            <a:pPr algn="l"/>
            <a:r>
              <a:rPr sz="850" b="0">
                <a:solidFill>
                  <a:srgbClr val="B8BECC"/>
                </a:solidFill>
                <a:latin typeface="맑은 고딕"/>
              </a:rPr>
              <a:t>멀린이 예언한 존재가 부패의 도구로.
격파 후 멀린의 자책 대사.</a:t>
            </a:r>
          </a:p>
        </p:txBody>
      </p:sp>
      <p:sp>
        <p:nvSpPr>
          <p:cNvPr id="45" name="Rectangle 44"/>
          <p:cNvSpPr/>
          <p:nvPr/>
        </p:nvSpPr>
        <p:spPr>
          <a:xfrm>
            <a:off x="6300216" y="960120"/>
            <a:ext cx="2834640" cy="5486400"/>
          </a:xfrm>
          <a:prstGeom prst="rect">
            <a:avLst/>
          </a:prstGeom>
          <a:solidFill>
            <a:srgbClr val="161B2E"/>
          </a:solidFill>
          <a:ln w="15000">
            <a:solidFill>
              <a:srgbClr val="CC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0216" y="96012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0216" y="987552"/>
            <a:ext cx="2834640" cy="201168"/>
          </a:xfrm>
          <a:prstGeom prst="rect">
            <a:avLst/>
          </a:prstGeom>
          <a:noFill/>
        </p:spPr>
        <p:txBody>
          <a:bodyPr wrap="square">
            <a:spAutoFit/>
          </a:bodyPr>
          <a:lstStyle/>
          <a:p>
            <a:pPr algn="ctr"/>
            <a:r>
              <a:rPr sz="800" b="0">
                <a:solidFill>
                  <a:srgbClr val="727A8E"/>
                </a:solidFill>
                <a:latin typeface="맑은 고딕"/>
              </a:rPr>
              <a:t>CH.3 — 잠식된 성채</a:t>
            </a:r>
          </a:p>
        </p:txBody>
      </p:sp>
      <p:sp>
        <p:nvSpPr>
          <p:cNvPr id="48" name="TextBox 47"/>
          <p:cNvSpPr txBox="1"/>
          <p:nvPr/>
        </p:nvSpPr>
        <p:spPr>
          <a:xfrm>
            <a:off x="6300216" y="1170432"/>
            <a:ext cx="2834640" cy="256032"/>
          </a:xfrm>
          <a:prstGeom prst="rect">
            <a:avLst/>
          </a:prstGeom>
          <a:noFill/>
        </p:spPr>
        <p:txBody>
          <a:bodyPr wrap="square">
            <a:spAutoFit/>
          </a:bodyPr>
          <a:lstStyle/>
          <a:p>
            <a:pPr algn="ctr"/>
            <a:r>
              <a:rPr sz="1300" b="1">
                <a:solidFill>
                  <a:srgbClr val="CC4444"/>
                </a:solidFill>
                <a:latin typeface="맑은 고딕"/>
              </a:rPr>
              <a:t>모드레드</a:t>
            </a:r>
          </a:p>
        </p:txBody>
      </p:sp>
      <p:sp>
        <p:nvSpPr>
          <p:cNvPr id="49" name="TextBox 48"/>
          <p:cNvSpPr txBox="1"/>
          <p:nvPr/>
        </p:nvSpPr>
        <p:spPr>
          <a:xfrm>
            <a:off x="6437376" y="1463040"/>
            <a:ext cx="2560320" cy="256032"/>
          </a:xfrm>
          <a:prstGeom prst="rect">
            <a:avLst/>
          </a:prstGeom>
          <a:noFill/>
        </p:spPr>
        <p:txBody>
          <a:bodyPr wrap="square">
            <a:spAutoFit/>
          </a:bodyPr>
          <a:lstStyle/>
          <a:p>
            <a:pPr algn="l"/>
            <a:r>
              <a:rPr sz="850" b="0">
                <a:solidFill>
                  <a:srgbClr val="727A8E"/>
                </a:solidFill>
                <a:latin typeface="맑은 고딕"/>
              </a:rPr>
              <a:t>원탁의 기사이자 배신자</a:t>
            </a:r>
          </a:p>
        </p:txBody>
      </p:sp>
      <p:sp>
        <p:nvSpPr>
          <p:cNvPr id="50" name="TextBox 49"/>
          <p:cNvSpPr txBox="1"/>
          <p:nvPr/>
        </p:nvSpPr>
        <p:spPr>
          <a:xfrm>
            <a:off x="6437376" y="1737360"/>
            <a:ext cx="2560320" cy="256032"/>
          </a:xfrm>
          <a:prstGeom prst="rect">
            <a:avLst/>
          </a:prstGeom>
          <a:noFill/>
        </p:spPr>
        <p:txBody>
          <a:bodyPr wrap="square">
            <a:spAutoFit/>
          </a:bodyPr>
          <a:lstStyle/>
          <a:p>
            <a:pPr algn="l"/>
            <a:r>
              <a:rPr sz="1000" b="1">
                <a:solidFill>
                  <a:srgbClr val="FFFFFF"/>
                </a:solidFill>
                <a:latin typeface="맑은 고딕"/>
              </a:rPr>
              <a:t>HP: 기준 HP ×2.2</a:t>
            </a:r>
          </a:p>
        </p:txBody>
      </p:sp>
      <p:sp>
        <p:nvSpPr>
          <p:cNvPr id="51" name="Rectangle 50"/>
          <p:cNvSpPr/>
          <p:nvPr/>
        </p:nvSpPr>
        <p:spPr>
          <a:xfrm>
            <a:off x="6437376" y="202996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37376" y="2103120"/>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53" name="TextBox 52"/>
          <p:cNvSpPr txBox="1"/>
          <p:nvPr/>
        </p:nvSpPr>
        <p:spPr>
          <a:xfrm>
            <a:off x="6437376" y="2331720"/>
            <a:ext cx="2560320" cy="274320"/>
          </a:xfrm>
          <a:prstGeom prst="rect">
            <a:avLst/>
          </a:prstGeom>
          <a:noFill/>
        </p:spPr>
        <p:txBody>
          <a:bodyPr wrap="square">
            <a:spAutoFit/>
          </a:bodyPr>
          <a:lstStyle/>
          <a:p>
            <a:pPr algn="l"/>
            <a:r>
              <a:rPr sz="850" b="0">
                <a:solidFill>
                  <a:srgbClr val="B8BECC"/>
                </a:solidFill>
                <a:latin typeface="맑은 고딕"/>
              </a:rPr>
              <a:t>▸ 검술 3연격</a:t>
            </a:r>
          </a:p>
        </p:txBody>
      </p:sp>
      <p:sp>
        <p:nvSpPr>
          <p:cNvPr id="54" name="TextBox 53"/>
          <p:cNvSpPr txBox="1"/>
          <p:nvPr/>
        </p:nvSpPr>
        <p:spPr>
          <a:xfrm>
            <a:off x="6437376" y="2660903"/>
            <a:ext cx="2560320" cy="274320"/>
          </a:xfrm>
          <a:prstGeom prst="rect">
            <a:avLst/>
          </a:prstGeom>
          <a:noFill/>
        </p:spPr>
        <p:txBody>
          <a:bodyPr wrap="square">
            <a:spAutoFit/>
          </a:bodyPr>
          <a:lstStyle/>
          <a:p>
            <a:pPr algn="l"/>
            <a:r>
              <a:rPr sz="850" b="0">
                <a:solidFill>
                  <a:srgbClr val="B8BECC"/>
                </a:solidFill>
                <a:latin typeface="맑은 고딕"/>
              </a:rPr>
              <a:t>▸ 그림자 분신</a:t>
            </a:r>
          </a:p>
        </p:txBody>
      </p:sp>
      <p:sp>
        <p:nvSpPr>
          <p:cNvPr id="55" name="TextBox 54"/>
          <p:cNvSpPr txBox="1"/>
          <p:nvPr/>
        </p:nvSpPr>
        <p:spPr>
          <a:xfrm>
            <a:off x="6437376" y="2990087"/>
            <a:ext cx="2560320" cy="274320"/>
          </a:xfrm>
          <a:prstGeom prst="rect">
            <a:avLst/>
          </a:prstGeom>
          <a:noFill/>
        </p:spPr>
        <p:txBody>
          <a:bodyPr wrap="square">
            <a:spAutoFit/>
          </a:bodyPr>
          <a:lstStyle/>
          <a:p>
            <a:pPr algn="l"/>
            <a:r>
              <a:rPr sz="850" b="0">
                <a:solidFill>
                  <a:srgbClr val="B8BECC"/>
                </a:solidFill>
                <a:latin typeface="맑은 고딕"/>
              </a:rPr>
              <a:t>▸ 광역 참격</a:t>
            </a:r>
          </a:p>
        </p:txBody>
      </p:sp>
      <p:sp>
        <p:nvSpPr>
          <p:cNvPr id="56" name="TextBox 55"/>
          <p:cNvSpPr txBox="1"/>
          <p:nvPr/>
        </p:nvSpPr>
        <p:spPr>
          <a:xfrm>
            <a:off x="6437376" y="3319272"/>
            <a:ext cx="2560320" cy="274320"/>
          </a:xfrm>
          <a:prstGeom prst="rect">
            <a:avLst/>
          </a:prstGeom>
          <a:noFill/>
        </p:spPr>
        <p:txBody>
          <a:bodyPr wrap="square">
            <a:spAutoFit/>
          </a:bodyPr>
          <a:lstStyle/>
          <a:p>
            <a:pPr algn="l"/>
            <a:r>
              <a:rPr sz="850" b="0">
                <a:solidFill>
                  <a:srgbClr val="B8BECC"/>
                </a:solidFill>
                <a:latin typeface="맑은 고딕"/>
              </a:rPr>
              <a:t>▸ HP 60/30%: 분신 2체 추가 소환</a:t>
            </a:r>
          </a:p>
        </p:txBody>
      </p:sp>
      <p:sp>
        <p:nvSpPr>
          <p:cNvPr id="57" name="Rectangle 56"/>
          <p:cNvSpPr/>
          <p:nvPr/>
        </p:nvSpPr>
        <p:spPr>
          <a:xfrm>
            <a:off x="6437376"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37376" y="3822191"/>
            <a:ext cx="731520" cy="201168"/>
          </a:xfrm>
          <a:prstGeom prst="rect">
            <a:avLst/>
          </a:prstGeom>
          <a:noFill/>
        </p:spPr>
        <p:txBody>
          <a:bodyPr wrap="square">
            <a:spAutoFit/>
          </a:bodyPr>
          <a:lstStyle/>
          <a:p>
            <a:pPr algn="l"/>
            <a:r>
              <a:rPr sz="800" b="1">
                <a:solidFill>
                  <a:srgbClr val="727A8E"/>
                </a:solidFill>
                <a:latin typeface="맑은 고딕"/>
              </a:rPr>
              <a:t>약점</a:t>
            </a:r>
          </a:p>
        </p:txBody>
      </p:sp>
      <p:sp>
        <p:nvSpPr>
          <p:cNvPr id="59" name="TextBox 58"/>
          <p:cNvSpPr txBox="1"/>
          <p:nvPr/>
        </p:nvSpPr>
        <p:spPr>
          <a:xfrm>
            <a:off x="6437376" y="4041648"/>
            <a:ext cx="2560320" cy="274320"/>
          </a:xfrm>
          <a:prstGeom prst="rect">
            <a:avLst/>
          </a:prstGeom>
          <a:noFill/>
        </p:spPr>
        <p:txBody>
          <a:bodyPr wrap="square">
            <a:spAutoFit/>
          </a:bodyPr>
          <a:lstStyle/>
          <a:p>
            <a:pPr algn="l"/>
            <a:r>
              <a:rPr sz="900" b="0">
                <a:solidFill>
                  <a:srgbClr val="4AC2B8"/>
                </a:solidFill>
                <a:latin typeface="맑은 고딕"/>
              </a:rPr>
              <a:t>성스러운/빛 속성 +25% 피해</a:t>
            </a:r>
          </a:p>
        </p:txBody>
      </p:sp>
      <p:sp>
        <p:nvSpPr>
          <p:cNvPr id="60" name="Rectangle 59"/>
          <p:cNvSpPr/>
          <p:nvPr/>
        </p:nvSpPr>
        <p:spPr>
          <a:xfrm>
            <a:off x="6437376" y="436168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37376" y="4434840"/>
            <a:ext cx="1828800" cy="201168"/>
          </a:xfrm>
          <a:prstGeom prst="rect">
            <a:avLst/>
          </a:prstGeom>
          <a:noFill/>
        </p:spPr>
        <p:txBody>
          <a:bodyPr wrap="square">
            <a:spAutoFit/>
          </a:bodyPr>
          <a:lstStyle/>
          <a:p>
            <a:pPr algn="l"/>
            <a:r>
              <a:rPr sz="800" b="1">
                <a:solidFill>
                  <a:srgbClr val="C9A84C"/>
                </a:solidFill>
                <a:latin typeface="맑은 고딕"/>
              </a:rPr>
              <a:t>처치 보상</a:t>
            </a:r>
          </a:p>
        </p:txBody>
      </p:sp>
      <p:sp>
        <p:nvSpPr>
          <p:cNvPr id="62" name="TextBox 61"/>
          <p:cNvSpPr txBox="1"/>
          <p:nvPr/>
        </p:nvSpPr>
        <p:spPr>
          <a:xfrm>
            <a:off x="6437376" y="4663440"/>
            <a:ext cx="2560320" cy="274320"/>
          </a:xfrm>
          <a:prstGeom prst="rect">
            <a:avLst/>
          </a:prstGeom>
          <a:noFill/>
        </p:spPr>
        <p:txBody>
          <a:bodyPr wrap="square">
            <a:spAutoFit/>
          </a:bodyPr>
          <a:lstStyle/>
          <a:p>
            <a:pPr algn="l"/>
            <a:r>
              <a:rPr sz="900" b="0">
                <a:solidFill>
                  <a:srgbClr val="E8D08A"/>
                </a:solidFill>
                <a:latin typeface="맑은 고딕"/>
              </a:rPr>
              <a:t>잔재 ×600 · 기억 70% · 코어 (첫 격파)</a:t>
            </a:r>
          </a:p>
        </p:txBody>
      </p:sp>
      <p:sp>
        <p:nvSpPr>
          <p:cNvPr id="63" name="Rectangle 62"/>
          <p:cNvSpPr/>
          <p:nvPr/>
        </p:nvSpPr>
        <p:spPr>
          <a:xfrm>
            <a:off x="6437376" y="4992624"/>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37376" y="5074920"/>
            <a:ext cx="2560320" cy="365760"/>
          </a:xfrm>
          <a:prstGeom prst="rect">
            <a:avLst/>
          </a:prstGeom>
          <a:noFill/>
        </p:spPr>
        <p:txBody>
          <a:bodyPr wrap="square">
            <a:spAutoFit/>
          </a:bodyPr>
          <a:lstStyle/>
          <a:p>
            <a:pPr algn="l"/>
            <a:r>
              <a:rPr sz="850" b="0">
                <a:solidFill>
                  <a:srgbClr val="B8BECC"/>
                </a:solidFill>
                <a:latin typeface="맑은 고딕"/>
              </a:rPr>
              <a:t>격파 직전 잠시 의식 회복.
"그 자는 모든 것을 복사했어. 너희까지도..."</a:t>
            </a:r>
          </a:p>
        </p:txBody>
      </p:sp>
      <p:sp>
        <p:nvSpPr>
          <p:cNvPr id="65" name="Rectangle 64"/>
          <p:cNvSpPr/>
          <p:nvPr/>
        </p:nvSpPr>
        <p:spPr>
          <a:xfrm>
            <a:off x="9290304" y="960120"/>
            <a:ext cx="2834640" cy="5486400"/>
          </a:xfrm>
          <a:prstGeom prst="rect">
            <a:avLst/>
          </a:prstGeom>
          <a:solidFill>
            <a:srgbClr val="161B2E"/>
          </a:solidFill>
          <a:ln w="15000">
            <a:solidFill>
              <a:srgbClr val="6B3F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290304" y="960120"/>
            <a:ext cx="2834640" cy="43891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90304" y="987552"/>
            <a:ext cx="2834640" cy="201168"/>
          </a:xfrm>
          <a:prstGeom prst="rect">
            <a:avLst/>
          </a:prstGeom>
          <a:noFill/>
        </p:spPr>
        <p:txBody>
          <a:bodyPr wrap="square">
            <a:spAutoFit/>
          </a:bodyPr>
          <a:lstStyle/>
          <a:p>
            <a:pPr algn="ctr"/>
            <a:r>
              <a:rPr sz="800" b="0">
                <a:solidFill>
                  <a:srgbClr val="727A8E"/>
                </a:solidFill>
                <a:latin typeface="맑은 고딕"/>
              </a:rPr>
              <a:t>CH.4 — 암흑대지</a:t>
            </a:r>
          </a:p>
        </p:txBody>
      </p:sp>
      <p:sp>
        <p:nvSpPr>
          <p:cNvPr id="68" name="TextBox 67"/>
          <p:cNvSpPr txBox="1"/>
          <p:nvPr/>
        </p:nvSpPr>
        <p:spPr>
          <a:xfrm>
            <a:off x="9290304" y="1170432"/>
            <a:ext cx="2834640" cy="256032"/>
          </a:xfrm>
          <a:prstGeom prst="rect">
            <a:avLst/>
          </a:prstGeom>
          <a:noFill/>
        </p:spPr>
        <p:txBody>
          <a:bodyPr wrap="square">
            <a:spAutoFit/>
          </a:bodyPr>
          <a:lstStyle/>
          <a:p>
            <a:pPr algn="ctr"/>
            <a:r>
              <a:rPr sz="1300" b="1">
                <a:solidFill>
                  <a:srgbClr val="6B3F8E"/>
                </a:solidFill>
                <a:latin typeface="맑은 고딕"/>
              </a:rPr>
              <a:t>리치 (멀린의 육체)</a:t>
            </a:r>
          </a:p>
        </p:txBody>
      </p:sp>
      <p:sp>
        <p:nvSpPr>
          <p:cNvPr id="69" name="TextBox 68"/>
          <p:cNvSpPr txBox="1"/>
          <p:nvPr/>
        </p:nvSpPr>
        <p:spPr>
          <a:xfrm>
            <a:off x="9427464" y="1463040"/>
            <a:ext cx="2560320" cy="256032"/>
          </a:xfrm>
          <a:prstGeom prst="rect">
            <a:avLst/>
          </a:prstGeom>
          <a:noFill/>
        </p:spPr>
        <p:txBody>
          <a:bodyPr wrap="square">
            <a:spAutoFit/>
          </a:bodyPr>
          <a:lstStyle/>
          <a:p>
            <a:pPr algn="l"/>
            <a:r>
              <a:rPr sz="850" b="0">
                <a:solidFill>
                  <a:srgbClr val="727A8E"/>
                </a:solidFill>
                <a:latin typeface="맑은 고딕"/>
              </a:rPr>
              <a:t>멀린의 육체를 탈취한 외부 존재</a:t>
            </a:r>
          </a:p>
        </p:txBody>
      </p:sp>
      <p:sp>
        <p:nvSpPr>
          <p:cNvPr id="70" name="TextBox 69"/>
          <p:cNvSpPr txBox="1"/>
          <p:nvPr/>
        </p:nvSpPr>
        <p:spPr>
          <a:xfrm>
            <a:off x="9427464" y="1737360"/>
            <a:ext cx="2560320" cy="256032"/>
          </a:xfrm>
          <a:prstGeom prst="rect">
            <a:avLst/>
          </a:prstGeom>
          <a:noFill/>
        </p:spPr>
        <p:txBody>
          <a:bodyPr wrap="square">
            <a:spAutoFit/>
          </a:bodyPr>
          <a:lstStyle/>
          <a:p>
            <a:pPr algn="l"/>
            <a:r>
              <a:rPr sz="1000" b="1">
                <a:solidFill>
                  <a:srgbClr val="FFFFFF"/>
                </a:solidFill>
                <a:latin typeface="맑은 고딕"/>
              </a:rPr>
              <a:t>HP: 기준 HP ×3.0</a:t>
            </a:r>
          </a:p>
        </p:txBody>
      </p:sp>
      <p:sp>
        <p:nvSpPr>
          <p:cNvPr id="71" name="Rectangle 70"/>
          <p:cNvSpPr/>
          <p:nvPr/>
        </p:nvSpPr>
        <p:spPr>
          <a:xfrm>
            <a:off x="9427464" y="202996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427464" y="2103120"/>
            <a:ext cx="1828800" cy="201168"/>
          </a:xfrm>
          <a:prstGeom prst="rect">
            <a:avLst/>
          </a:prstGeom>
          <a:noFill/>
        </p:spPr>
        <p:txBody>
          <a:bodyPr wrap="square">
            <a:spAutoFit/>
          </a:bodyPr>
          <a:lstStyle/>
          <a:p>
            <a:pPr algn="l"/>
            <a:r>
              <a:rPr sz="800" b="1">
                <a:solidFill>
                  <a:srgbClr val="727A8E"/>
                </a:solidFill>
                <a:latin typeface="맑은 고딕"/>
              </a:rPr>
              <a:t>공격 패턴</a:t>
            </a:r>
          </a:p>
        </p:txBody>
      </p:sp>
      <p:sp>
        <p:nvSpPr>
          <p:cNvPr id="73" name="TextBox 72"/>
          <p:cNvSpPr txBox="1"/>
          <p:nvPr/>
        </p:nvSpPr>
        <p:spPr>
          <a:xfrm>
            <a:off x="9427464" y="2331720"/>
            <a:ext cx="2560320" cy="274320"/>
          </a:xfrm>
          <a:prstGeom prst="rect">
            <a:avLst/>
          </a:prstGeom>
          <a:noFill/>
        </p:spPr>
        <p:txBody>
          <a:bodyPr wrap="square">
            <a:spAutoFit/>
          </a:bodyPr>
          <a:lstStyle/>
          <a:p>
            <a:pPr algn="l"/>
            <a:r>
              <a:rPr sz="850" b="0">
                <a:solidFill>
                  <a:srgbClr val="B8BECC"/>
                </a:solidFill>
                <a:latin typeface="맑은 고딕"/>
              </a:rPr>
              <a:t>▸ 마법 투사체</a:t>
            </a:r>
          </a:p>
        </p:txBody>
      </p:sp>
      <p:sp>
        <p:nvSpPr>
          <p:cNvPr id="74" name="TextBox 73"/>
          <p:cNvSpPr txBox="1"/>
          <p:nvPr/>
        </p:nvSpPr>
        <p:spPr>
          <a:xfrm>
            <a:off x="9427464" y="2660903"/>
            <a:ext cx="2560320" cy="274320"/>
          </a:xfrm>
          <a:prstGeom prst="rect">
            <a:avLst/>
          </a:prstGeom>
          <a:noFill/>
        </p:spPr>
        <p:txBody>
          <a:bodyPr wrap="square">
            <a:spAutoFit/>
          </a:bodyPr>
          <a:lstStyle/>
          <a:p>
            <a:pPr algn="l"/>
            <a:r>
              <a:rPr sz="850" b="0">
                <a:solidFill>
                  <a:srgbClr val="B8BECC"/>
                </a:solidFill>
                <a:latin typeface="맑은 고딕"/>
              </a:rPr>
              <a:t>▸ 영역 봉인</a:t>
            </a:r>
          </a:p>
        </p:txBody>
      </p:sp>
      <p:sp>
        <p:nvSpPr>
          <p:cNvPr id="75" name="TextBox 74"/>
          <p:cNvSpPr txBox="1"/>
          <p:nvPr/>
        </p:nvSpPr>
        <p:spPr>
          <a:xfrm>
            <a:off x="9427464" y="2990087"/>
            <a:ext cx="2560320" cy="274320"/>
          </a:xfrm>
          <a:prstGeom prst="rect">
            <a:avLst/>
          </a:prstGeom>
          <a:noFill/>
        </p:spPr>
        <p:txBody>
          <a:bodyPr wrap="square">
            <a:spAutoFit/>
          </a:bodyPr>
          <a:lstStyle/>
          <a:p>
            <a:pPr algn="l"/>
            <a:r>
              <a:rPr sz="850" b="0">
                <a:solidFill>
                  <a:srgbClr val="B8BECC"/>
                </a:solidFill>
                <a:latin typeface="맑은 고딕"/>
              </a:rPr>
              <a:t>▸ 멀린 지팡이 강타</a:t>
            </a:r>
          </a:p>
        </p:txBody>
      </p:sp>
      <p:sp>
        <p:nvSpPr>
          <p:cNvPr id="76" name="TextBox 75"/>
          <p:cNvSpPr txBox="1"/>
          <p:nvPr/>
        </p:nvSpPr>
        <p:spPr>
          <a:xfrm>
            <a:off x="9427464" y="3319272"/>
            <a:ext cx="2560320" cy="274320"/>
          </a:xfrm>
          <a:prstGeom prst="rect">
            <a:avLst/>
          </a:prstGeom>
          <a:noFill/>
        </p:spPr>
        <p:txBody>
          <a:bodyPr wrap="square">
            <a:spAutoFit/>
          </a:bodyPr>
          <a:lstStyle/>
          <a:p>
            <a:pPr algn="l"/>
            <a:r>
              <a:rPr sz="850" b="0">
                <a:solidFill>
                  <a:srgbClr val="B8BECC"/>
                </a:solidFill>
                <a:latin typeface="맑은 고딕"/>
              </a:rPr>
              <a:t>▸ HP 40%: 전장 어둠화 + 복사체 재소환</a:t>
            </a:r>
          </a:p>
        </p:txBody>
      </p:sp>
      <p:sp>
        <p:nvSpPr>
          <p:cNvPr id="77" name="Rectangle 76"/>
          <p:cNvSpPr/>
          <p:nvPr/>
        </p:nvSpPr>
        <p:spPr>
          <a:xfrm>
            <a:off x="9427464" y="3749039"/>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27464" y="3822191"/>
            <a:ext cx="731520" cy="201168"/>
          </a:xfrm>
          <a:prstGeom prst="rect">
            <a:avLst/>
          </a:prstGeom>
          <a:noFill/>
        </p:spPr>
        <p:txBody>
          <a:bodyPr wrap="square">
            <a:spAutoFit/>
          </a:bodyPr>
          <a:lstStyle/>
          <a:p>
            <a:pPr algn="l"/>
            <a:r>
              <a:rPr sz="800" b="1">
                <a:solidFill>
                  <a:srgbClr val="727A8E"/>
                </a:solidFill>
                <a:latin typeface="맑은 고딕"/>
              </a:rPr>
              <a:t>약점</a:t>
            </a:r>
          </a:p>
        </p:txBody>
      </p:sp>
      <p:sp>
        <p:nvSpPr>
          <p:cNvPr id="79" name="TextBox 78"/>
          <p:cNvSpPr txBox="1"/>
          <p:nvPr/>
        </p:nvSpPr>
        <p:spPr>
          <a:xfrm>
            <a:off x="9427464" y="4041648"/>
            <a:ext cx="2560320" cy="274320"/>
          </a:xfrm>
          <a:prstGeom prst="rect">
            <a:avLst/>
          </a:prstGeom>
          <a:noFill/>
        </p:spPr>
        <p:txBody>
          <a:bodyPr wrap="square">
            <a:spAutoFit/>
          </a:bodyPr>
          <a:lstStyle/>
          <a:p>
            <a:pPr algn="l"/>
            <a:r>
              <a:rPr sz="900" b="0">
                <a:solidFill>
                  <a:srgbClr val="4AC2B8"/>
                </a:solidFill>
                <a:latin typeface="맑은 고딕"/>
              </a:rPr>
              <a:t>없음 (근원)</a:t>
            </a:r>
          </a:p>
        </p:txBody>
      </p:sp>
      <p:sp>
        <p:nvSpPr>
          <p:cNvPr id="80" name="Rectangle 79"/>
          <p:cNvSpPr/>
          <p:nvPr/>
        </p:nvSpPr>
        <p:spPr>
          <a:xfrm>
            <a:off x="9427464" y="4361688"/>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27464" y="4434840"/>
            <a:ext cx="1828800" cy="201168"/>
          </a:xfrm>
          <a:prstGeom prst="rect">
            <a:avLst/>
          </a:prstGeom>
          <a:noFill/>
        </p:spPr>
        <p:txBody>
          <a:bodyPr wrap="square">
            <a:spAutoFit/>
          </a:bodyPr>
          <a:lstStyle/>
          <a:p>
            <a:pPr algn="l"/>
            <a:r>
              <a:rPr sz="800" b="1">
                <a:solidFill>
                  <a:srgbClr val="C9A84C"/>
                </a:solidFill>
                <a:latin typeface="맑은 고딕"/>
              </a:rPr>
              <a:t>처치 보상</a:t>
            </a:r>
          </a:p>
        </p:txBody>
      </p:sp>
      <p:sp>
        <p:nvSpPr>
          <p:cNvPr id="82" name="TextBox 81"/>
          <p:cNvSpPr txBox="1"/>
          <p:nvPr/>
        </p:nvSpPr>
        <p:spPr>
          <a:xfrm>
            <a:off x="9427464" y="4663440"/>
            <a:ext cx="2560320" cy="274320"/>
          </a:xfrm>
          <a:prstGeom prst="rect">
            <a:avLst/>
          </a:prstGeom>
          <a:noFill/>
        </p:spPr>
        <p:txBody>
          <a:bodyPr wrap="square">
            <a:spAutoFit/>
          </a:bodyPr>
          <a:lstStyle/>
          <a:p>
            <a:pPr algn="l"/>
            <a:r>
              <a:rPr sz="900" b="0">
                <a:solidFill>
                  <a:srgbClr val="E8D08A"/>
                </a:solidFill>
                <a:latin typeface="맑은 고딕"/>
              </a:rPr>
              <a:t>잔재 ×1,000 · 기억 ×3 · 코어 (첫 격파)</a:t>
            </a:r>
          </a:p>
        </p:txBody>
      </p:sp>
      <p:sp>
        <p:nvSpPr>
          <p:cNvPr id="83" name="Rectangle 82"/>
          <p:cNvSpPr/>
          <p:nvPr/>
        </p:nvSpPr>
        <p:spPr>
          <a:xfrm>
            <a:off x="9427464" y="4992624"/>
            <a:ext cx="256032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427464" y="5074920"/>
            <a:ext cx="2560320" cy="365760"/>
          </a:xfrm>
          <a:prstGeom prst="rect">
            <a:avLst/>
          </a:prstGeom>
          <a:noFill/>
        </p:spPr>
        <p:txBody>
          <a:bodyPr wrap="square">
            <a:spAutoFit/>
          </a:bodyPr>
          <a:lstStyle/>
          <a:p>
            <a:pPr algn="l"/>
            <a:r>
              <a:rPr sz="850" b="0">
                <a:solidFill>
                  <a:srgbClr val="B8BECC"/>
                </a:solidFill>
                <a:latin typeface="맑은 고딕"/>
              </a:rPr>
              <a:t>복사체 연속전 → 멀린 마지막 메시지
→ 리치 등장. 격파 후 모르가나 암시.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1371600" y="2926080"/>
            <a:ext cx="9418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4160520"/>
            <a:ext cx="9418320" cy="36576"/>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3017520"/>
            <a:ext cx="12188952" cy="914400"/>
          </a:xfrm>
          <a:prstGeom prst="rect">
            <a:avLst/>
          </a:prstGeom>
          <a:noFill/>
        </p:spPr>
        <p:txBody>
          <a:bodyPr wrap="square">
            <a:spAutoFit/>
          </a:bodyPr>
          <a:lstStyle/>
          <a:p>
            <a:pPr algn="ctr"/>
            <a:r>
              <a:rPr sz="4000" b="1">
                <a:solidFill>
                  <a:srgbClr val="FFFFFF"/>
                </a:solidFill>
                <a:latin typeface="맑은 고딕"/>
              </a:rPr>
              <a:t>09  비주얼 &amp; 톤 방향</a:t>
            </a:r>
          </a:p>
        </p:txBody>
      </p:sp>
      <p:sp>
        <p:nvSpPr>
          <p:cNvPr id="5" name="TextBox 4"/>
          <p:cNvSpPr txBox="1"/>
          <p:nvPr/>
        </p:nvSpPr>
        <p:spPr>
          <a:xfrm>
            <a:off x="0" y="3977639"/>
            <a:ext cx="12188952" cy="457200"/>
          </a:xfrm>
          <a:prstGeom prst="rect">
            <a:avLst/>
          </a:prstGeom>
          <a:noFill/>
        </p:spPr>
        <p:txBody>
          <a:bodyPr wrap="square">
            <a:spAutoFit/>
          </a:bodyPr>
          <a:lstStyle/>
          <a:p>
            <a:pPr algn="ctr"/>
            <a:r>
              <a:rPr sz="1600" b="0">
                <a:solidFill>
                  <a:srgbClr val="E8D08A"/>
                </a:solidFill>
                <a:latin typeface="맑은 고딕"/>
              </a:rPr>
              <a:t>Visual &amp; Tone Direction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48640"/>
          </a:xfrm>
          <a:prstGeom prst="rect">
            <a:avLst/>
          </a:prstGeom>
          <a:noFill/>
        </p:spPr>
        <p:txBody>
          <a:bodyPr wrap="square">
            <a:spAutoFit/>
          </a:bodyPr>
          <a:lstStyle/>
          <a:p>
            <a:pPr algn="l"/>
            <a:r>
              <a:rPr sz="2600" b="1">
                <a:solidFill>
                  <a:srgbClr val="C9A84C"/>
                </a:solidFill>
                <a:latin typeface="맑은 고딕"/>
              </a:rPr>
              <a:t>09  비주얼 &amp; 톤 — 아트 방향 &amp; 챕터 컬러</a:t>
            </a:r>
          </a:p>
        </p:txBody>
      </p:sp>
      <p:sp>
        <p:nvSpPr>
          <p:cNvPr id="4" name="Rectangle 3"/>
          <p:cNvSpPr/>
          <p:nvPr/>
        </p:nvSpPr>
        <p:spPr>
          <a:xfrm>
            <a:off x="457200" y="749808"/>
            <a:ext cx="112471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60120"/>
            <a:ext cx="11430000" cy="10972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6012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14984"/>
            <a:ext cx="11155680" cy="256032"/>
          </a:xfrm>
          <a:prstGeom prst="rect">
            <a:avLst/>
          </a:prstGeom>
          <a:noFill/>
        </p:spPr>
        <p:txBody>
          <a:bodyPr wrap="square">
            <a:spAutoFit/>
          </a:bodyPr>
          <a:lstStyle/>
          <a:p>
            <a:pPr algn="l"/>
            <a:r>
              <a:rPr sz="1200" b="1">
                <a:solidFill>
                  <a:srgbClr val="C9A84C"/>
                </a:solidFill>
                <a:latin typeface="맑은 고딕"/>
              </a:rPr>
              <a:t>아트 방향성</a:t>
            </a:r>
          </a:p>
        </p:txBody>
      </p:sp>
      <p:sp>
        <p:nvSpPr>
          <p:cNvPr id="8" name="TextBox 7"/>
          <p:cNvSpPr txBox="1"/>
          <p:nvPr/>
        </p:nvSpPr>
        <p:spPr>
          <a:xfrm>
            <a:off x="548640" y="1234440"/>
            <a:ext cx="11064240" cy="502920"/>
          </a:xfrm>
          <a:prstGeom prst="rect">
            <a:avLst/>
          </a:prstGeom>
          <a:noFill/>
        </p:spPr>
        <p:txBody>
          <a:bodyPr wrap="square">
            <a:spAutoFit/>
          </a:bodyPr>
          <a:lstStyle/>
          <a:p>
            <a:pPr algn="l"/>
            <a:r>
              <a:rPr sz="1200" b="0">
                <a:solidFill>
                  <a:srgbClr val="E8D08A"/>
                </a:solidFill>
                <a:latin typeface="맑은 고딕"/>
              </a:rPr>
              <a:t>"한때 빛났던 동화의 페이지가 잠식되고 부패한 세계. 귀엽거나 밝지 않다. 어둡고 잔인하지만 아름다운 잔재가 남아있다."</a:t>
            </a:r>
          </a:p>
        </p:txBody>
      </p:sp>
      <p:sp>
        <p:nvSpPr>
          <p:cNvPr id="9" name="Rectangle 8"/>
          <p:cNvSpPr/>
          <p:nvPr/>
        </p:nvSpPr>
        <p:spPr>
          <a:xfrm>
            <a:off x="365760" y="2286000"/>
            <a:ext cx="2834640" cy="1828800"/>
          </a:xfrm>
          <a:prstGeom prst="rect">
            <a:avLst/>
          </a:prstGeom>
          <a:solidFill>
            <a:srgbClr val="4A1A5C"/>
          </a:solidFill>
          <a:ln w="15000">
            <a:solidFill>
              <a:srgbClr val="2A5C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286000"/>
            <a:ext cx="1417320" cy="1828800"/>
          </a:xfrm>
          <a:prstGeom prst="rect">
            <a:avLst/>
          </a:prstGeom>
          <a:solidFill>
            <a:srgbClr val="2A5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206240"/>
            <a:ext cx="2834640" cy="457200"/>
          </a:xfrm>
          <a:prstGeom prst="rect">
            <a:avLst/>
          </a:prstGeom>
          <a:noFill/>
        </p:spPr>
        <p:txBody>
          <a:bodyPr wrap="square">
            <a:spAutoFit/>
          </a:bodyPr>
          <a:lstStyle/>
          <a:p>
            <a:pPr algn="ctr"/>
            <a:r>
              <a:rPr sz="1100" b="1">
                <a:solidFill>
                  <a:srgbClr val="FFFFFF"/>
                </a:solidFill>
                <a:latin typeface="맑은 고딕"/>
              </a:rPr>
              <a:t>CH.1
부패의 숲</a:t>
            </a:r>
          </a:p>
        </p:txBody>
      </p:sp>
      <p:sp>
        <p:nvSpPr>
          <p:cNvPr id="12" name="TextBox 11"/>
          <p:cNvSpPr txBox="1"/>
          <p:nvPr/>
        </p:nvSpPr>
        <p:spPr>
          <a:xfrm>
            <a:off x="457200" y="4709160"/>
            <a:ext cx="2651760" cy="640080"/>
          </a:xfrm>
          <a:prstGeom prst="rect">
            <a:avLst/>
          </a:prstGeom>
          <a:noFill/>
        </p:spPr>
        <p:txBody>
          <a:bodyPr wrap="square">
            <a:spAutoFit/>
          </a:bodyPr>
          <a:lstStyle/>
          <a:p>
            <a:pPr algn="l"/>
            <a:r>
              <a:rPr sz="950" b="0">
                <a:solidFill>
                  <a:srgbClr val="B8BECC"/>
                </a:solidFill>
                <a:latin typeface="맑은 고딕"/>
              </a:rPr>
              <a:t>탁한 초록 + 검은 보라
생명이 부패한 숲</a:t>
            </a:r>
          </a:p>
        </p:txBody>
      </p:sp>
      <p:sp>
        <p:nvSpPr>
          <p:cNvPr id="13" name="Rectangle 12"/>
          <p:cNvSpPr/>
          <p:nvPr/>
        </p:nvSpPr>
        <p:spPr>
          <a:xfrm>
            <a:off x="3355848" y="2286000"/>
            <a:ext cx="2834640" cy="1828800"/>
          </a:xfrm>
          <a:prstGeom prst="rect">
            <a:avLst/>
          </a:prstGeom>
          <a:solidFill>
            <a:srgbClr val="1A0A0A"/>
          </a:solidFill>
          <a:ln w="15000">
            <a:solidFill>
              <a:srgbClr val="8B2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2286000"/>
            <a:ext cx="1417320" cy="1828800"/>
          </a:xfrm>
          <a:prstGeom prst="rect">
            <a:avLst/>
          </a:prstGeom>
          <a:solidFill>
            <a:srgbClr val="8B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55848" y="4206240"/>
            <a:ext cx="2834640" cy="457200"/>
          </a:xfrm>
          <a:prstGeom prst="rect">
            <a:avLst/>
          </a:prstGeom>
          <a:noFill/>
        </p:spPr>
        <p:txBody>
          <a:bodyPr wrap="square">
            <a:spAutoFit/>
          </a:bodyPr>
          <a:lstStyle/>
          <a:p>
            <a:pPr algn="ctr"/>
            <a:r>
              <a:rPr sz="1100" b="1">
                <a:solidFill>
                  <a:srgbClr val="FFFFFF"/>
                </a:solidFill>
                <a:latin typeface="맑은 고딕"/>
              </a:rPr>
              <a:t>CH.2
용암 대지</a:t>
            </a:r>
          </a:p>
        </p:txBody>
      </p:sp>
      <p:sp>
        <p:nvSpPr>
          <p:cNvPr id="16" name="TextBox 15"/>
          <p:cNvSpPr txBox="1"/>
          <p:nvPr/>
        </p:nvSpPr>
        <p:spPr>
          <a:xfrm>
            <a:off x="3447288" y="4709160"/>
            <a:ext cx="2651760" cy="640080"/>
          </a:xfrm>
          <a:prstGeom prst="rect">
            <a:avLst/>
          </a:prstGeom>
          <a:noFill/>
        </p:spPr>
        <p:txBody>
          <a:bodyPr wrap="square">
            <a:spAutoFit/>
          </a:bodyPr>
          <a:lstStyle/>
          <a:p>
            <a:pPr algn="l"/>
            <a:r>
              <a:rPr sz="950" b="0">
                <a:solidFill>
                  <a:srgbClr val="B8BECC"/>
                </a:solidFill>
                <a:latin typeface="맑은 고딕"/>
              </a:rPr>
              <a:t>붉은 주황 + 검정
뜨거운 침묵의 지형</a:t>
            </a:r>
          </a:p>
        </p:txBody>
      </p:sp>
      <p:sp>
        <p:nvSpPr>
          <p:cNvPr id="17" name="Rectangle 16"/>
          <p:cNvSpPr/>
          <p:nvPr/>
        </p:nvSpPr>
        <p:spPr>
          <a:xfrm>
            <a:off x="6345936" y="2286000"/>
            <a:ext cx="2834640" cy="1828800"/>
          </a:xfrm>
          <a:prstGeom prst="rect">
            <a:avLst/>
          </a:prstGeom>
          <a:solidFill>
            <a:srgbClr val="0A0A1A"/>
          </a:solidFill>
          <a:ln w="15000">
            <a:solidFill>
              <a:srgbClr val="2A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45936" y="2286000"/>
            <a:ext cx="1417320" cy="1828800"/>
          </a:xfrm>
          <a:prstGeom prst="rect">
            <a:avLst/>
          </a:prstGeom>
          <a:solidFill>
            <a:srgbClr val="2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4206240"/>
            <a:ext cx="2834640" cy="457200"/>
          </a:xfrm>
          <a:prstGeom prst="rect">
            <a:avLst/>
          </a:prstGeom>
          <a:noFill/>
        </p:spPr>
        <p:txBody>
          <a:bodyPr wrap="square">
            <a:spAutoFit/>
          </a:bodyPr>
          <a:lstStyle/>
          <a:p>
            <a:pPr algn="ctr"/>
            <a:r>
              <a:rPr sz="1100" b="1">
                <a:solidFill>
                  <a:srgbClr val="FFFFFF"/>
                </a:solidFill>
                <a:latin typeface="맑은 고딕"/>
              </a:rPr>
              <a:t>CH.3
잠식된 성채</a:t>
            </a:r>
          </a:p>
        </p:txBody>
      </p:sp>
      <p:sp>
        <p:nvSpPr>
          <p:cNvPr id="20" name="TextBox 19"/>
          <p:cNvSpPr txBox="1"/>
          <p:nvPr/>
        </p:nvSpPr>
        <p:spPr>
          <a:xfrm>
            <a:off x="6437376" y="4709160"/>
            <a:ext cx="2651760" cy="640080"/>
          </a:xfrm>
          <a:prstGeom prst="rect">
            <a:avLst/>
          </a:prstGeom>
          <a:noFill/>
        </p:spPr>
        <p:txBody>
          <a:bodyPr wrap="square">
            <a:spAutoFit/>
          </a:bodyPr>
          <a:lstStyle/>
          <a:p>
            <a:pPr algn="l"/>
            <a:r>
              <a:rPr sz="950" b="0">
                <a:solidFill>
                  <a:srgbClr val="B8BECC"/>
                </a:solidFill>
                <a:latin typeface="맑은 고딕"/>
              </a:rPr>
              <a:t>차가운 회색 + 남색
영웅의 성채, 이제는 적의 거점</a:t>
            </a:r>
          </a:p>
        </p:txBody>
      </p:sp>
      <p:sp>
        <p:nvSpPr>
          <p:cNvPr id="21" name="Rectangle 20"/>
          <p:cNvSpPr/>
          <p:nvPr/>
        </p:nvSpPr>
        <p:spPr>
          <a:xfrm>
            <a:off x="9336024" y="2286000"/>
            <a:ext cx="2834640" cy="1828800"/>
          </a:xfrm>
          <a:prstGeom prst="rect">
            <a:avLst/>
          </a:prstGeom>
          <a:solidFill>
            <a:srgbClr val="080410"/>
          </a:solidFill>
          <a:ln w="15000">
            <a:solidFill>
              <a:srgbClr val="1A0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36024" y="2286000"/>
            <a:ext cx="1417320" cy="1828800"/>
          </a:xfrm>
          <a:prstGeom prst="rect">
            <a:avLst/>
          </a:prstGeom>
          <a:solidFill>
            <a:srgbClr val="1A0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36024" y="4206240"/>
            <a:ext cx="2834640" cy="457200"/>
          </a:xfrm>
          <a:prstGeom prst="rect">
            <a:avLst/>
          </a:prstGeom>
          <a:noFill/>
        </p:spPr>
        <p:txBody>
          <a:bodyPr wrap="square">
            <a:spAutoFit/>
          </a:bodyPr>
          <a:lstStyle/>
          <a:p>
            <a:pPr algn="ctr"/>
            <a:r>
              <a:rPr sz="1100" b="1">
                <a:solidFill>
                  <a:srgbClr val="FFFFFF"/>
                </a:solidFill>
                <a:latin typeface="맑은 고딕"/>
              </a:rPr>
              <a:t>CH.4
암흑대지</a:t>
            </a:r>
          </a:p>
        </p:txBody>
      </p:sp>
      <p:sp>
        <p:nvSpPr>
          <p:cNvPr id="24" name="TextBox 23"/>
          <p:cNvSpPr txBox="1"/>
          <p:nvPr/>
        </p:nvSpPr>
        <p:spPr>
          <a:xfrm>
            <a:off x="9427464" y="4709160"/>
            <a:ext cx="2651760" cy="640080"/>
          </a:xfrm>
          <a:prstGeom prst="rect">
            <a:avLst/>
          </a:prstGeom>
          <a:noFill/>
        </p:spPr>
        <p:txBody>
          <a:bodyPr wrap="square">
            <a:spAutoFit/>
          </a:bodyPr>
          <a:lstStyle/>
          <a:p>
            <a:pPr algn="l"/>
            <a:r>
              <a:rPr sz="950" b="0">
                <a:solidFill>
                  <a:srgbClr val="B8BECC"/>
                </a:solidFill>
                <a:latin typeface="맑은 고딕"/>
              </a:rPr>
              <a:t>순수한 흑 + 희미한 보라
빛이 존재하지 않는 근원</a:t>
            </a:r>
          </a:p>
        </p:txBody>
      </p:sp>
      <p:sp>
        <p:nvSpPr>
          <p:cNvPr id="25" name="Rectangle 24"/>
          <p:cNvSpPr/>
          <p:nvPr/>
        </p:nvSpPr>
        <p:spPr>
          <a:xfrm>
            <a:off x="365760" y="5394960"/>
            <a:ext cx="11430000" cy="1097280"/>
          </a:xfrm>
          <a:prstGeom prst="rect">
            <a:avLst/>
          </a:prstGeom>
          <a:solidFill>
            <a:srgbClr val="161B2E"/>
          </a:solidFill>
          <a:ln w="150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5394960"/>
            <a:ext cx="11430000" cy="347472"/>
          </a:xfrm>
          <a:prstGeom prst="rect">
            <a:avLst/>
          </a:prstGeom>
          <a:solidFill>
            <a:srgbClr val="1E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5449824"/>
            <a:ext cx="11155680" cy="256032"/>
          </a:xfrm>
          <a:prstGeom prst="rect">
            <a:avLst/>
          </a:prstGeom>
          <a:noFill/>
        </p:spPr>
        <p:txBody>
          <a:bodyPr wrap="square">
            <a:spAutoFit/>
          </a:bodyPr>
          <a:lstStyle/>
          <a:p>
            <a:pPr algn="l"/>
            <a:r>
              <a:rPr sz="1200" b="1">
                <a:solidFill>
                  <a:srgbClr val="C9A84C"/>
                </a:solidFill>
                <a:latin typeface="맑은 고딕"/>
              </a:rPr>
              <a:t>허브 공간 — 멀린의 탑 잔해 상태 변화</a:t>
            </a:r>
          </a:p>
        </p:txBody>
      </p:sp>
      <p:sp>
        <p:nvSpPr>
          <p:cNvPr id="28" name="Rectangle 27"/>
          <p:cNvSpPr/>
          <p:nvPr/>
        </p:nvSpPr>
        <p:spPr>
          <a:xfrm>
            <a:off x="548640" y="5559552"/>
            <a:ext cx="2560320" cy="2560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577840"/>
            <a:ext cx="2560320" cy="219456"/>
          </a:xfrm>
          <a:prstGeom prst="rect">
            <a:avLst/>
          </a:prstGeom>
          <a:noFill/>
        </p:spPr>
        <p:txBody>
          <a:bodyPr wrap="square">
            <a:spAutoFit/>
          </a:bodyPr>
          <a:lstStyle/>
          <a:p>
            <a:pPr algn="ctr"/>
            <a:r>
              <a:rPr sz="1000" b="1">
                <a:solidFill>
                  <a:srgbClr val="0D111A"/>
                </a:solidFill>
                <a:latin typeface="맑은 고딕"/>
              </a:rPr>
              <a:t>초반 런</a:t>
            </a:r>
          </a:p>
        </p:txBody>
      </p:sp>
      <p:sp>
        <p:nvSpPr>
          <p:cNvPr id="30" name="TextBox 29"/>
          <p:cNvSpPr txBox="1"/>
          <p:nvPr/>
        </p:nvSpPr>
        <p:spPr>
          <a:xfrm>
            <a:off x="548640" y="5870448"/>
            <a:ext cx="2560320" cy="256032"/>
          </a:xfrm>
          <a:prstGeom prst="rect">
            <a:avLst/>
          </a:prstGeom>
          <a:noFill/>
        </p:spPr>
        <p:txBody>
          <a:bodyPr wrap="square">
            <a:spAutoFit/>
          </a:bodyPr>
          <a:lstStyle/>
          <a:p>
            <a:pPr algn="ctr"/>
            <a:r>
              <a:rPr sz="900" b="0">
                <a:solidFill>
                  <a:srgbClr val="B8BECC"/>
                </a:solidFill>
                <a:latin typeface="맑은 고딕"/>
              </a:rPr>
              <a:t>탑 잔해, 희미한 빛</a:t>
            </a:r>
          </a:p>
        </p:txBody>
      </p:sp>
      <p:sp>
        <p:nvSpPr>
          <p:cNvPr id="31" name="Rectangle 30"/>
          <p:cNvSpPr/>
          <p:nvPr/>
        </p:nvSpPr>
        <p:spPr>
          <a:xfrm>
            <a:off x="3474720" y="5559552"/>
            <a:ext cx="2560320" cy="2560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5577840"/>
            <a:ext cx="2560320" cy="219456"/>
          </a:xfrm>
          <a:prstGeom prst="rect">
            <a:avLst/>
          </a:prstGeom>
          <a:noFill/>
        </p:spPr>
        <p:txBody>
          <a:bodyPr wrap="square">
            <a:spAutoFit/>
          </a:bodyPr>
          <a:lstStyle/>
          <a:p>
            <a:pPr algn="ctr"/>
            <a:r>
              <a:rPr sz="1000" b="1">
                <a:solidFill>
                  <a:srgbClr val="0D111A"/>
                </a:solidFill>
                <a:latin typeface="맑은 고딕"/>
              </a:rPr>
              <a:t>중반 런</a:t>
            </a:r>
          </a:p>
        </p:txBody>
      </p:sp>
      <p:sp>
        <p:nvSpPr>
          <p:cNvPr id="33" name="TextBox 32"/>
          <p:cNvSpPr txBox="1"/>
          <p:nvPr/>
        </p:nvSpPr>
        <p:spPr>
          <a:xfrm>
            <a:off x="3474720" y="5870448"/>
            <a:ext cx="2560320" cy="256032"/>
          </a:xfrm>
          <a:prstGeom prst="rect">
            <a:avLst/>
          </a:prstGeom>
          <a:noFill/>
        </p:spPr>
        <p:txBody>
          <a:bodyPr wrap="square">
            <a:spAutoFit/>
          </a:bodyPr>
          <a:lstStyle/>
          <a:p>
            <a:pPr algn="ctr"/>
            <a:r>
              <a:rPr sz="900" b="0">
                <a:solidFill>
                  <a:srgbClr val="B8BECC"/>
                </a:solidFill>
                <a:latin typeface="맑은 고딕"/>
              </a:rPr>
              <a:t>빛 감소, 어두워짐</a:t>
            </a:r>
          </a:p>
        </p:txBody>
      </p:sp>
      <p:sp>
        <p:nvSpPr>
          <p:cNvPr id="34" name="Rectangle 33"/>
          <p:cNvSpPr/>
          <p:nvPr/>
        </p:nvSpPr>
        <p:spPr>
          <a:xfrm>
            <a:off x="6400800" y="5559552"/>
            <a:ext cx="2560320" cy="256032"/>
          </a:xfrm>
          <a:prstGeom prst="rect">
            <a:avLst/>
          </a:prstGeom>
          <a:solidFill>
            <a:srgbClr val="88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577840"/>
            <a:ext cx="2560320" cy="219456"/>
          </a:xfrm>
          <a:prstGeom prst="rect">
            <a:avLst/>
          </a:prstGeom>
          <a:noFill/>
        </p:spPr>
        <p:txBody>
          <a:bodyPr wrap="square">
            <a:spAutoFit/>
          </a:bodyPr>
          <a:lstStyle/>
          <a:p>
            <a:pPr algn="ctr"/>
            <a:r>
              <a:rPr sz="1000" b="1">
                <a:solidFill>
                  <a:srgbClr val="0D111A"/>
                </a:solidFill>
                <a:latin typeface="맑은 고딕"/>
              </a:rPr>
              <a:t>후반 런</a:t>
            </a:r>
          </a:p>
        </p:txBody>
      </p:sp>
      <p:sp>
        <p:nvSpPr>
          <p:cNvPr id="36" name="TextBox 35"/>
          <p:cNvSpPr txBox="1"/>
          <p:nvPr/>
        </p:nvSpPr>
        <p:spPr>
          <a:xfrm>
            <a:off x="6400800" y="5870448"/>
            <a:ext cx="2560320" cy="256032"/>
          </a:xfrm>
          <a:prstGeom prst="rect">
            <a:avLst/>
          </a:prstGeom>
          <a:noFill/>
        </p:spPr>
        <p:txBody>
          <a:bodyPr wrap="square">
            <a:spAutoFit/>
          </a:bodyPr>
          <a:lstStyle/>
          <a:p>
            <a:pPr algn="ctr"/>
            <a:r>
              <a:rPr sz="900" b="0">
                <a:solidFill>
                  <a:srgbClr val="B8BECC"/>
                </a:solidFill>
                <a:latin typeface="맑은 고딕"/>
              </a:rPr>
              <a:t>절반 잠식</a:t>
            </a:r>
          </a:p>
        </p:txBody>
      </p:sp>
      <p:sp>
        <p:nvSpPr>
          <p:cNvPr id="37" name="Rectangle 36"/>
          <p:cNvSpPr/>
          <p:nvPr/>
        </p:nvSpPr>
        <p:spPr>
          <a:xfrm>
            <a:off x="9326880" y="5559552"/>
            <a:ext cx="256032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0" y="5577840"/>
            <a:ext cx="2560320" cy="219456"/>
          </a:xfrm>
          <a:prstGeom prst="rect">
            <a:avLst/>
          </a:prstGeom>
          <a:noFill/>
        </p:spPr>
        <p:txBody>
          <a:bodyPr wrap="square">
            <a:spAutoFit/>
          </a:bodyPr>
          <a:lstStyle/>
          <a:p>
            <a:pPr algn="ctr"/>
            <a:r>
              <a:rPr sz="1000" b="1">
                <a:solidFill>
                  <a:srgbClr val="0D111A"/>
                </a:solidFill>
                <a:latin typeface="맑은 고딕"/>
              </a:rPr>
              <a:t>최종 전</a:t>
            </a:r>
          </a:p>
        </p:txBody>
      </p:sp>
      <p:sp>
        <p:nvSpPr>
          <p:cNvPr id="39" name="TextBox 38"/>
          <p:cNvSpPr txBox="1"/>
          <p:nvPr/>
        </p:nvSpPr>
        <p:spPr>
          <a:xfrm>
            <a:off x="9326880" y="5870448"/>
            <a:ext cx="2560320" cy="256032"/>
          </a:xfrm>
          <a:prstGeom prst="rect">
            <a:avLst/>
          </a:prstGeom>
          <a:noFill/>
        </p:spPr>
        <p:txBody>
          <a:bodyPr wrap="square">
            <a:spAutoFit/>
          </a:bodyPr>
          <a:lstStyle/>
          <a:p>
            <a:pPr algn="ctr"/>
            <a:r>
              <a:rPr sz="900" b="0">
                <a:solidFill>
                  <a:srgbClr val="B8BECC"/>
                </a:solidFill>
                <a:latin typeface="맑은 고딕"/>
              </a:rPr>
              <a:t>한순간 밝아짐 (각성)</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11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548640"/>
            <a:ext cx="12188952" cy="640080"/>
          </a:xfrm>
          <a:prstGeom prst="rect">
            <a:avLst/>
          </a:prstGeom>
          <a:noFill/>
        </p:spPr>
        <p:txBody>
          <a:bodyPr wrap="square">
            <a:spAutoFit/>
          </a:bodyPr>
          <a:lstStyle/>
          <a:p>
            <a:pPr algn="ctr"/>
            <a:r>
              <a:rPr sz="3200" b="1">
                <a:solidFill>
                  <a:srgbClr val="C9A84C"/>
                </a:solidFill>
                <a:latin typeface="맑은 고딕"/>
              </a:rPr>
              <a:t>RELIC FAIRY  —  핵심 요약</a:t>
            </a:r>
          </a:p>
        </p:txBody>
      </p:sp>
      <p:sp>
        <p:nvSpPr>
          <p:cNvPr id="5" name="Rectangle 4"/>
          <p:cNvSpPr/>
          <p:nvPr/>
        </p:nvSpPr>
        <p:spPr>
          <a:xfrm>
            <a:off x="1371600" y="1261872"/>
            <a:ext cx="9418320" cy="27432"/>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11247120" cy="713232"/>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54864" cy="7132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63040"/>
            <a:ext cx="1188720" cy="320040"/>
          </a:xfrm>
          <a:prstGeom prst="rect">
            <a:avLst/>
          </a:prstGeom>
          <a:noFill/>
        </p:spPr>
        <p:txBody>
          <a:bodyPr wrap="square">
            <a:spAutoFit/>
          </a:bodyPr>
          <a:lstStyle/>
          <a:p>
            <a:pPr algn="l"/>
            <a:r>
              <a:rPr sz="1300" b="1">
                <a:solidFill>
                  <a:srgbClr val="4AC2B8"/>
                </a:solidFill>
                <a:latin typeface="맑은 고딕"/>
              </a:rPr>
              <a:t>세계관</a:t>
            </a:r>
          </a:p>
        </p:txBody>
      </p:sp>
      <p:sp>
        <p:nvSpPr>
          <p:cNvPr id="9" name="TextBox 8"/>
          <p:cNvSpPr txBox="1"/>
          <p:nvPr/>
        </p:nvSpPr>
        <p:spPr>
          <a:xfrm>
            <a:off x="2011680" y="1481328"/>
            <a:ext cx="9509760" cy="457200"/>
          </a:xfrm>
          <a:prstGeom prst="rect">
            <a:avLst/>
          </a:prstGeom>
          <a:noFill/>
        </p:spPr>
        <p:txBody>
          <a:bodyPr wrap="square">
            <a:spAutoFit/>
          </a:bodyPr>
          <a:lstStyle/>
          <a:p>
            <a:pPr algn="l"/>
            <a:r>
              <a:rPr sz="1100" b="0">
                <a:solidFill>
                  <a:srgbClr val="B8BECC"/>
                </a:solidFill>
                <a:latin typeface="맑은 고딕"/>
              </a:rPr>
              <a:t>멀린 사망 → 리치(육체 탈취) → 모르가나(진짜 배후) / 모던 다크 동화 아서왕 전설</a:t>
            </a:r>
          </a:p>
        </p:txBody>
      </p:sp>
      <p:sp>
        <p:nvSpPr>
          <p:cNvPr id="10" name="Rectangle 9"/>
          <p:cNvSpPr/>
          <p:nvPr/>
        </p:nvSpPr>
        <p:spPr>
          <a:xfrm>
            <a:off x="457200" y="2212848"/>
            <a:ext cx="11247120" cy="713232"/>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12848"/>
            <a:ext cx="54864" cy="7132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04288"/>
            <a:ext cx="1188720" cy="320040"/>
          </a:xfrm>
          <a:prstGeom prst="rect">
            <a:avLst/>
          </a:prstGeom>
          <a:noFill/>
        </p:spPr>
        <p:txBody>
          <a:bodyPr wrap="square">
            <a:spAutoFit/>
          </a:bodyPr>
          <a:lstStyle/>
          <a:p>
            <a:pPr algn="l"/>
            <a:r>
              <a:rPr sz="1300" b="1">
                <a:solidFill>
                  <a:srgbClr val="C9A84C"/>
                </a:solidFill>
                <a:latin typeface="맑은 고딕"/>
              </a:rPr>
              <a:t>영웅</a:t>
            </a:r>
          </a:p>
        </p:txBody>
      </p:sp>
      <p:sp>
        <p:nvSpPr>
          <p:cNvPr id="13" name="TextBox 12"/>
          <p:cNvSpPr txBox="1"/>
          <p:nvPr/>
        </p:nvSpPr>
        <p:spPr>
          <a:xfrm>
            <a:off x="2011680" y="2322576"/>
            <a:ext cx="9509760" cy="457200"/>
          </a:xfrm>
          <a:prstGeom prst="rect">
            <a:avLst/>
          </a:prstGeom>
          <a:noFill/>
        </p:spPr>
        <p:txBody>
          <a:bodyPr wrap="square">
            <a:spAutoFit/>
          </a:bodyPr>
          <a:lstStyle/>
          <a:p>
            <a:pPr algn="l"/>
            <a:r>
              <a:rPr sz="1100" b="0">
                <a:solidFill>
                  <a:srgbClr val="B8BECC"/>
                </a:solidFill>
                <a:latin typeface="맑은 고딕"/>
              </a:rPr>
              <a:t>5종 유물 (암시형 네이밍) / 고유 메커닉+패시브+스킬 / 해금형 순차 개방</a:t>
            </a:r>
          </a:p>
        </p:txBody>
      </p:sp>
      <p:sp>
        <p:nvSpPr>
          <p:cNvPr id="14" name="Rectangle 13"/>
          <p:cNvSpPr/>
          <p:nvPr/>
        </p:nvSpPr>
        <p:spPr>
          <a:xfrm>
            <a:off x="457200" y="3054096"/>
            <a:ext cx="11247120" cy="713232"/>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054096"/>
            <a:ext cx="54864"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145536"/>
            <a:ext cx="1188720" cy="320040"/>
          </a:xfrm>
          <a:prstGeom prst="rect">
            <a:avLst/>
          </a:prstGeom>
          <a:noFill/>
        </p:spPr>
        <p:txBody>
          <a:bodyPr wrap="square">
            <a:spAutoFit/>
          </a:bodyPr>
          <a:lstStyle/>
          <a:p>
            <a:pPr algn="l"/>
            <a:r>
              <a:rPr sz="1300" b="1">
                <a:solidFill>
                  <a:srgbClr val="FFFFFF"/>
                </a:solidFill>
                <a:latin typeface="맑은 고딕"/>
              </a:rPr>
              <a:t>장비</a:t>
            </a:r>
          </a:p>
        </p:txBody>
      </p:sp>
      <p:sp>
        <p:nvSpPr>
          <p:cNvPr id="17" name="TextBox 16"/>
          <p:cNvSpPr txBox="1"/>
          <p:nvPr/>
        </p:nvSpPr>
        <p:spPr>
          <a:xfrm>
            <a:off x="2011680" y="3163824"/>
            <a:ext cx="9509760" cy="457200"/>
          </a:xfrm>
          <a:prstGeom prst="rect">
            <a:avLst/>
          </a:prstGeom>
          <a:noFill/>
        </p:spPr>
        <p:txBody>
          <a:bodyPr wrap="square">
            <a:spAutoFit/>
          </a:bodyPr>
          <a:lstStyle/>
          <a:p>
            <a:pPr algn="l"/>
            <a:r>
              <a:rPr sz="1100" b="0">
                <a:solidFill>
                  <a:srgbClr val="B8BECC"/>
                </a:solidFill>
                <a:latin typeface="맑은 고딕"/>
              </a:rPr>
              <a:t>모든 영웅 × 모든 장비 / 이중 효과 구조 / 드롭 가중치 조정</a:t>
            </a:r>
          </a:p>
        </p:txBody>
      </p:sp>
      <p:sp>
        <p:nvSpPr>
          <p:cNvPr id="18" name="Rectangle 17"/>
          <p:cNvSpPr/>
          <p:nvPr/>
        </p:nvSpPr>
        <p:spPr>
          <a:xfrm>
            <a:off x="457200" y="3895344"/>
            <a:ext cx="11247120" cy="713232"/>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895344"/>
            <a:ext cx="54864" cy="713232"/>
          </a:xfrm>
          <a:prstGeom prst="rect">
            <a:avLst/>
          </a:prstGeom>
          <a:solidFill>
            <a:srgbClr val="4AC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86783"/>
            <a:ext cx="1188720" cy="320040"/>
          </a:xfrm>
          <a:prstGeom prst="rect">
            <a:avLst/>
          </a:prstGeom>
          <a:noFill/>
        </p:spPr>
        <p:txBody>
          <a:bodyPr wrap="square">
            <a:spAutoFit/>
          </a:bodyPr>
          <a:lstStyle/>
          <a:p>
            <a:pPr algn="l"/>
            <a:r>
              <a:rPr sz="1300" b="1">
                <a:solidFill>
                  <a:srgbClr val="4AC2B8"/>
                </a:solidFill>
                <a:latin typeface="맑은 고딕"/>
              </a:rPr>
              <a:t>런 내</a:t>
            </a:r>
          </a:p>
        </p:txBody>
      </p:sp>
      <p:sp>
        <p:nvSpPr>
          <p:cNvPr id="21" name="TextBox 20"/>
          <p:cNvSpPr txBox="1"/>
          <p:nvPr/>
        </p:nvSpPr>
        <p:spPr>
          <a:xfrm>
            <a:off x="2011680" y="4005072"/>
            <a:ext cx="9509760" cy="457200"/>
          </a:xfrm>
          <a:prstGeom prst="rect">
            <a:avLst/>
          </a:prstGeom>
          <a:noFill/>
        </p:spPr>
        <p:txBody>
          <a:bodyPr wrap="square">
            <a:spAutoFit/>
          </a:bodyPr>
          <a:lstStyle/>
          <a:p>
            <a:pPr algn="l"/>
            <a:r>
              <a:rPr sz="1100" b="0">
                <a:solidFill>
                  <a:srgbClr val="B8BECC"/>
                </a:solidFill>
                <a:latin typeface="맑은 고딕"/>
              </a:rPr>
              <a:t>7단계 스탯 레이어 / 그리드 시너지(3트리거) / 방버프(10슬롯, 티어 승급)</a:t>
            </a:r>
          </a:p>
        </p:txBody>
      </p:sp>
      <p:sp>
        <p:nvSpPr>
          <p:cNvPr id="22" name="Rectangle 21"/>
          <p:cNvSpPr/>
          <p:nvPr/>
        </p:nvSpPr>
        <p:spPr>
          <a:xfrm>
            <a:off x="457200" y="4736592"/>
            <a:ext cx="11247120" cy="713232"/>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736592"/>
            <a:ext cx="54864" cy="71323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28031"/>
            <a:ext cx="1188720" cy="320040"/>
          </a:xfrm>
          <a:prstGeom prst="rect">
            <a:avLst/>
          </a:prstGeom>
          <a:noFill/>
        </p:spPr>
        <p:txBody>
          <a:bodyPr wrap="square">
            <a:spAutoFit/>
          </a:bodyPr>
          <a:lstStyle/>
          <a:p>
            <a:pPr algn="l"/>
            <a:r>
              <a:rPr sz="1300" b="1">
                <a:solidFill>
                  <a:srgbClr val="C9A84C"/>
                </a:solidFill>
                <a:latin typeface="맑은 고딕"/>
              </a:rPr>
              <a:t>메타</a:t>
            </a:r>
          </a:p>
        </p:txBody>
      </p:sp>
      <p:sp>
        <p:nvSpPr>
          <p:cNvPr id="25" name="TextBox 24"/>
          <p:cNvSpPr txBox="1"/>
          <p:nvPr/>
        </p:nvSpPr>
        <p:spPr>
          <a:xfrm>
            <a:off x="2011680" y="4846320"/>
            <a:ext cx="9509760" cy="457200"/>
          </a:xfrm>
          <a:prstGeom prst="rect">
            <a:avLst/>
          </a:prstGeom>
          <a:noFill/>
        </p:spPr>
        <p:txBody>
          <a:bodyPr wrap="square">
            <a:spAutoFit/>
          </a:bodyPr>
          <a:lstStyle/>
          <a:p>
            <a:pPr algn="l"/>
            <a:r>
              <a:rPr sz="1100" b="0">
                <a:solidFill>
                  <a:srgbClr val="B8BECC"/>
                </a:solidFill>
                <a:latin typeface="맑은 고딕"/>
              </a:rPr>
              <a:t>재화 3종 / 멀린의 서약(6슬롯, 리셋 가능) / 유물 해방 / 유물 각성</a:t>
            </a:r>
          </a:p>
        </p:txBody>
      </p:sp>
      <p:sp>
        <p:nvSpPr>
          <p:cNvPr id="26" name="Rectangle 25"/>
          <p:cNvSpPr/>
          <p:nvPr/>
        </p:nvSpPr>
        <p:spPr>
          <a:xfrm>
            <a:off x="457200" y="5577840"/>
            <a:ext cx="11247120" cy="713232"/>
          </a:xfrm>
          <a:prstGeom prst="rect">
            <a:avLst/>
          </a:prstGeom>
          <a:solidFill>
            <a:srgbClr val="16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577840"/>
            <a:ext cx="54864" cy="713232"/>
          </a:xfrm>
          <a:prstGeom prst="rect">
            <a:avLst/>
          </a:prstGeom>
          <a:solidFill>
            <a:srgbClr val="6B3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669280"/>
            <a:ext cx="1188720" cy="320040"/>
          </a:xfrm>
          <a:prstGeom prst="rect">
            <a:avLst/>
          </a:prstGeom>
          <a:noFill/>
        </p:spPr>
        <p:txBody>
          <a:bodyPr wrap="square">
            <a:spAutoFit/>
          </a:bodyPr>
          <a:lstStyle/>
          <a:p>
            <a:pPr algn="l"/>
            <a:r>
              <a:rPr sz="1300" b="1">
                <a:solidFill>
                  <a:srgbClr val="6B3F8E"/>
                </a:solidFill>
                <a:latin typeface="맑은 고딕"/>
              </a:rPr>
              <a:t>레벨</a:t>
            </a:r>
          </a:p>
        </p:txBody>
      </p:sp>
      <p:sp>
        <p:nvSpPr>
          <p:cNvPr id="29" name="TextBox 28"/>
          <p:cNvSpPr txBox="1"/>
          <p:nvPr/>
        </p:nvSpPr>
        <p:spPr>
          <a:xfrm>
            <a:off x="2011680" y="5687568"/>
            <a:ext cx="9509760" cy="457200"/>
          </a:xfrm>
          <a:prstGeom prst="rect">
            <a:avLst/>
          </a:prstGeom>
          <a:noFill/>
        </p:spPr>
        <p:txBody>
          <a:bodyPr wrap="square">
            <a:spAutoFit/>
          </a:bodyPr>
          <a:lstStyle/>
          <a:p>
            <a:pPr algn="l"/>
            <a:r>
              <a:rPr sz="1100" b="0">
                <a:solidFill>
                  <a:srgbClr val="B8BECC"/>
                </a:solidFill>
                <a:latin typeface="맑은 고딕"/>
              </a:rPr>
              <a:t>챕터 4개 / 보스 4종 / 노드 맵 분기 / 방 5타입</a:t>
            </a:r>
          </a:p>
        </p:txBody>
      </p:sp>
      <p:sp>
        <p:nvSpPr>
          <p:cNvPr id="30" name="TextBox 29"/>
          <p:cNvSpPr txBox="1"/>
          <p:nvPr/>
        </p:nvSpPr>
        <p:spPr>
          <a:xfrm>
            <a:off x="0" y="6492240"/>
            <a:ext cx="12188952" cy="274320"/>
          </a:xfrm>
          <a:prstGeom prst="rect">
            <a:avLst/>
          </a:prstGeom>
          <a:noFill/>
        </p:spPr>
        <p:txBody>
          <a:bodyPr wrap="square">
            <a:spAutoFit/>
          </a:bodyPr>
          <a:lstStyle/>
          <a:p>
            <a:pPr algn="ctr"/>
            <a:r>
              <a:rPr sz="1000" b="0">
                <a:solidFill>
                  <a:srgbClr val="2E364A"/>
                </a:solidFill>
                <a:latin typeface="맑은 고딕"/>
              </a:rPr>
              <a:t>v0.1  |  2026.05  |  랠릭페어리 기획팀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
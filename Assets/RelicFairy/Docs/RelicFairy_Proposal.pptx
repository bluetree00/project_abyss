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0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12188952" cy="1828800"/>
          </a:xfrm>
          <a:prstGeom prst="rect">
            <a:avLst/>
          </a:prstGeom>
          <a:solidFill>
            <a:srgbClr val="10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3218688"/>
            <a:ext cx="5760720" cy="182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0" y="3913632"/>
            <a:ext cx="5760720" cy="182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1463040"/>
            <a:ext cx="12188952" cy="1097280"/>
          </a:xfrm>
          <a:prstGeom prst="rect">
            <a:avLst/>
          </a:prstGeom>
          <a:noFill/>
        </p:spPr>
        <p:txBody>
          <a:bodyPr wrap="square">
            <a:spAutoFit/>
          </a:bodyPr>
          <a:lstStyle/>
          <a:p>
            <a:pPr algn="ctr"/>
            <a:r>
              <a:rPr sz="6400" b="1">
                <a:solidFill>
                  <a:srgbClr val="C9A84C"/>
                </a:solidFill>
                <a:latin typeface="맑은 고딕"/>
              </a:rPr>
              <a:t>RELIC FAIRY</a:t>
            </a:r>
          </a:p>
        </p:txBody>
      </p:sp>
      <p:sp>
        <p:nvSpPr>
          <p:cNvPr id="10" name="TextBox 9"/>
          <p:cNvSpPr txBox="1"/>
          <p:nvPr/>
        </p:nvSpPr>
        <p:spPr>
          <a:xfrm>
            <a:off x="0" y="2423160"/>
            <a:ext cx="12188952" cy="640080"/>
          </a:xfrm>
          <a:prstGeom prst="rect">
            <a:avLst/>
          </a:prstGeom>
          <a:noFill/>
        </p:spPr>
        <p:txBody>
          <a:bodyPr wrap="square">
            <a:spAutoFit/>
          </a:bodyPr>
          <a:lstStyle/>
          <a:p>
            <a:pPr algn="ctr"/>
            <a:r>
              <a:rPr sz="2800" b="0">
                <a:solidFill>
                  <a:srgbClr val="E8D08A"/>
                </a:solidFill>
                <a:latin typeface="맑은 고딕"/>
              </a:rPr>
              <a:t>랠릭페어리</a:t>
            </a:r>
          </a:p>
        </p:txBody>
      </p:sp>
      <p:sp>
        <p:nvSpPr>
          <p:cNvPr id="11" name="TextBox 10"/>
          <p:cNvSpPr txBox="1"/>
          <p:nvPr/>
        </p:nvSpPr>
        <p:spPr>
          <a:xfrm>
            <a:off x="0" y="3310128"/>
            <a:ext cx="12188952" cy="457200"/>
          </a:xfrm>
          <a:prstGeom prst="rect">
            <a:avLst/>
          </a:prstGeom>
          <a:noFill/>
        </p:spPr>
        <p:txBody>
          <a:bodyPr wrap="square">
            <a:spAutoFit/>
          </a:bodyPr>
          <a:lstStyle/>
          <a:p>
            <a:pPr algn="ctr"/>
            <a:r>
              <a:rPr sz="1400" b="0">
                <a:solidFill>
                  <a:srgbClr val="727A8E"/>
                </a:solidFill>
                <a:latin typeface="맑은 고딕"/>
              </a:rPr>
              <a:t>게임 기획서  |  v0.5  |  2026. 05. 21</a:t>
            </a:r>
          </a:p>
        </p:txBody>
      </p:sp>
      <p:sp>
        <p:nvSpPr>
          <p:cNvPr id="12" name="Rectangle 11"/>
          <p:cNvSpPr/>
          <p:nvPr/>
        </p:nvSpPr>
        <p:spPr>
          <a:xfrm>
            <a:off x="21945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4315968"/>
            <a:ext cx="1920240" cy="347472"/>
          </a:xfrm>
          <a:prstGeom prst="rect">
            <a:avLst/>
          </a:prstGeom>
          <a:noFill/>
        </p:spPr>
        <p:txBody>
          <a:bodyPr wrap="square">
            <a:spAutoFit/>
          </a:bodyPr>
          <a:lstStyle/>
          <a:p>
            <a:pPr algn="ctr"/>
            <a:r>
              <a:rPr sz="1000" b="0">
                <a:solidFill>
                  <a:srgbClr val="E8D08A"/>
                </a:solidFill>
                <a:latin typeface="맑은 고딕"/>
              </a:rPr>
              <a:t>로그라이크 액션 RPG</a:t>
            </a:r>
          </a:p>
        </p:txBody>
      </p:sp>
      <p:sp>
        <p:nvSpPr>
          <p:cNvPr id="14" name="Rectangle 13"/>
          <p:cNvSpPr/>
          <p:nvPr/>
        </p:nvSpPr>
        <p:spPr>
          <a:xfrm>
            <a:off x="42519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4315968"/>
            <a:ext cx="1920240" cy="347472"/>
          </a:xfrm>
          <a:prstGeom prst="rect">
            <a:avLst/>
          </a:prstGeom>
          <a:noFill/>
        </p:spPr>
        <p:txBody>
          <a:bodyPr wrap="square">
            <a:spAutoFit/>
          </a:bodyPr>
          <a:lstStyle/>
          <a:p>
            <a:pPr algn="ctr"/>
            <a:r>
              <a:rPr sz="1000" b="0">
                <a:solidFill>
                  <a:srgbClr val="E8D08A"/>
                </a:solidFill>
                <a:latin typeface="맑은 고딕"/>
              </a:rPr>
              <a:t>모던 다크 동화</a:t>
            </a:r>
          </a:p>
        </p:txBody>
      </p:sp>
      <p:sp>
        <p:nvSpPr>
          <p:cNvPr id="16" name="Rectangle 15"/>
          <p:cNvSpPr/>
          <p:nvPr/>
        </p:nvSpPr>
        <p:spPr>
          <a:xfrm>
            <a:off x="63093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315968"/>
            <a:ext cx="1920240" cy="347472"/>
          </a:xfrm>
          <a:prstGeom prst="rect">
            <a:avLst/>
          </a:prstGeom>
          <a:noFill/>
        </p:spPr>
        <p:txBody>
          <a:bodyPr wrap="square">
            <a:spAutoFit/>
          </a:bodyPr>
          <a:lstStyle/>
          <a:p>
            <a:pPr algn="ctr"/>
            <a:r>
              <a:rPr sz="1000" b="0">
                <a:solidFill>
                  <a:srgbClr val="E8D08A"/>
                </a:solidFill>
                <a:latin typeface="맑은 고딕"/>
              </a:rPr>
              <a:t>아서왕 전설</a:t>
            </a:r>
          </a:p>
        </p:txBody>
      </p:sp>
      <p:sp>
        <p:nvSpPr>
          <p:cNvPr id="18" name="Rectangle 17"/>
          <p:cNvSpPr/>
          <p:nvPr/>
        </p:nvSpPr>
        <p:spPr>
          <a:xfrm>
            <a:off x="83667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4315968"/>
            <a:ext cx="1920240" cy="347472"/>
          </a:xfrm>
          <a:prstGeom prst="rect">
            <a:avLst/>
          </a:prstGeom>
          <a:noFill/>
        </p:spPr>
        <p:txBody>
          <a:bodyPr wrap="square">
            <a:spAutoFit/>
          </a:bodyPr>
          <a:lstStyle/>
          <a:p>
            <a:pPr algn="ctr"/>
            <a:r>
              <a:rPr sz="1000" b="0">
                <a:solidFill>
                  <a:srgbClr val="E8D08A"/>
                </a:solidFill>
                <a:latin typeface="맑은 고딕"/>
              </a:rPr>
              <a:t>PC (Steam)</a:t>
            </a:r>
          </a:p>
        </p:txBody>
      </p:sp>
      <p:sp>
        <p:nvSpPr>
          <p:cNvPr id="20" name="TextBox 19"/>
          <p:cNvSpPr txBox="1"/>
          <p:nvPr/>
        </p:nvSpPr>
        <p:spPr>
          <a:xfrm>
            <a:off x="0" y="5029200"/>
            <a:ext cx="12188952" cy="457200"/>
          </a:xfrm>
          <a:prstGeom prst="rect">
            <a:avLst/>
          </a:prstGeom>
          <a:noFill/>
        </p:spPr>
        <p:txBody>
          <a:bodyPr wrap="square">
            <a:spAutoFit/>
          </a:bodyPr>
          <a:lstStyle/>
          <a:p>
            <a:pPr algn="ctr"/>
            <a:r>
              <a:rPr sz="1300" b="0">
                <a:solidFill>
                  <a:srgbClr val="B8BECC"/>
                </a:solidFill>
                <a:latin typeface="맑은 고딕"/>
              </a:rPr>
              <a:t>"죽어도 영혼은 남는다. 멀린의 의지가 다시 불러온다."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목차</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Table of Contents — v0.5</a:t>
            </a:r>
          </a:p>
        </p:txBody>
      </p:sp>
      <p:sp>
        <p:nvSpPr>
          <p:cNvPr id="6" name="Rectangle 5"/>
          <p:cNvSpPr/>
          <p:nvPr/>
        </p:nvSpPr>
        <p:spPr>
          <a:xfrm>
            <a:off x="365760" y="96012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24712"/>
            <a:ext cx="640080" cy="411480"/>
          </a:xfrm>
          <a:prstGeom prst="rect">
            <a:avLst/>
          </a:prstGeom>
          <a:noFill/>
        </p:spPr>
        <p:txBody>
          <a:bodyPr wrap="square">
            <a:spAutoFit/>
          </a:bodyPr>
          <a:lstStyle/>
          <a:p>
            <a:pPr algn="ctr"/>
            <a:r>
              <a:rPr sz="1500" b="1">
                <a:solidFill>
                  <a:srgbClr val="C9A84C"/>
                </a:solidFill>
                <a:latin typeface="맑은 고딕"/>
              </a:rPr>
              <a:t>01</a:t>
            </a:r>
          </a:p>
        </p:txBody>
      </p:sp>
      <p:sp>
        <p:nvSpPr>
          <p:cNvPr id="9" name="TextBox 8"/>
          <p:cNvSpPr txBox="1"/>
          <p:nvPr/>
        </p:nvSpPr>
        <p:spPr>
          <a:xfrm>
            <a:off x="1097280" y="1014984"/>
            <a:ext cx="4480560" cy="292608"/>
          </a:xfrm>
          <a:prstGeom prst="rect">
            <a:avLst/>
          </a:prstGeom>
          <a:noFill/>
        </p:spPr>
        <p:txBody>
          <a:bodyPr wrap="square">
            <a:spAutoFit/>
          </a:bodyPr>
          <a:lstStyle/>
          <a:p>
            <a:pPr algn="l"/>
            <a:r>
              <a:rPr sz="1300" b="1">
                <a:solidFill>
                  <a:srgbClr val="FFFFFF"/>
                </a:solidFill>
                <a:latin typeface="맑은 고딕"/>
              </a:rPr>
              <a:t>프로젝트 개요</a:t>
            </a:r>
          </a:p>
        </p:txBody>
      </p:sp>
      <p:sp>
        <p:nvSpPr>
          <p:cNvPr id="10" name="TextBox 9"/>
          <p:cNvSpPr txBox="1"/>
          <p:nvPr/>
        </p:nvSpPr>
        <p:spPr>
          <a:xfrm>
            <a:off x="1097280" y="1344168"/>
            <a:ext cx="4480560" cy="292608"/>
          </a:xfrm>
          <a:prstGeom prst="rect">
            <a:avLst/>
          </a:prstGeom>
          <a:noFill/>
        </p:spPr>
        <p:txBody>
          <a:bodyPr wrap="square">
            <a:spAutoFit/>
          </a:bodyPr>
          <a:lstStyle/>
          <a:p>
            <a:pPr algn="l"/>
            <a:r>
              <a:rPr sz="900" b="0">
                <a:solidFill>
                  <a:srgbClr val="B8BECC"/>
                </a:solidFill>
                <a:latin typeface="맑은 고딕"/>
              </a:rPr>
              <a:t>게임 기본 정보 · 핵심 컨셉 · 레퍼런스</a:t>
            </a:r>
          </a:p>
        </p:txBody>
      </p:sp>
      <p:sp>
        <p:nvSpPr>
          <p:cNvPr id="11" name="Rectangle 10"/>
          <p:cNvSpPr/>
          <p:nvPr/>
        </p:nvSpPr>
        <p:spPr>
          <a:xfrm>
            <a:off x="365760" y="192024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92024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84832"/>
            <a:ext cx="640080" cy="411480"/>
          </a:xfrm>
          <a:prstGeom prst="rect">
            <a:avLst/>
          </a:prstGeom>
          <a:noFill/>
        </p:spPr>
        <p:txBody>
          <a:bodyPr wrap="square">
            <a:spAutoFit/>
          </a:bodyPr>
          <a:lstStyle/>
          <a:p>
            <a:pPr algn="ctr"/>
            <a:r>
              <a:rPr sz="1500" b="1">
                <a:solidFill>
                  <a:srgbClr val="C9A84C"/>
                </a:solidFill>
                <a:latin typeface="맑은 고딕"/>
              </a:rPr>
              <a:t>02</a:t>
            </a:r>
          </a:p>
        </p:txBody>
      </p:sp>
      <p:sp>
        <p:nvSpPr>
          <p:cNvPr id="14" name="TextBox 13"/>
          <p:cNvSpPr txBox="1"/>
          <p:nvPr/>
        </p:nvSpPr>
        <p:spPr>
          <a:xfrm>
            <a:off x="1097280" y="1975104"/>
            <a:ext cx="4480560" cy="292608"/>
          </a:xfrm>
          <a:prstGeom prst="rect">
            <a:avLst/>
          </a:prstGeom>
          <a:noFill/>
        </p:spPr>
        <p:txBody>
          <a:bodyPr wrap="square">
            <a:spAutoFit/>
          </a:bodyPr>
          <a:lstStyle/>
          <a:p>
            <a:pPr algn="l"/>
            <a:r>
              <a:rPr sz="1300" b="1">
                <a:solidFill>
                  <a:srgbClr val="FFFFFF"/>
                </a:solidFill>
                <a:latin typeface="맑은 고딕"/>
              </a:rPr>
              <a:t>세계관 &amp; 시나리오</a:t>
            </a:r>
          </a:p>
        </p:txBody>
      </p:sp>
      <p:sp>
        <p:nvSpPr>
          <p:cNvPr id="15" name="TextBox 14"/>
          <p:cNvSpPr txBox="1"/>
          <p:nvPr/>
        </p:nvSpPr>
        <p:spPr>
          <a:xfrm>
            <a:off x="1097280" y="2304288"/>
            <a:ext cx="4480560" cy="292608"/>
          </a:xfrm>
          <a:prstGeom prst="rect">
            <a:avLst/>
          </a:prstGeom>
          <a:noFill/>
        </p:spPr>
        <p:txBody>
          <a:bodyPr wrap="square">
            <a:spAutoFit/>
          </a:bodyPr>
          <a:lstStyle/>
          <a:p>
            <a:pPr algn="l"/>
            <a:r>
              <a:rPr sz="900" b="0">
                <a:solidFill>
                  <a:srgbClr val="B8BECC"/>
                </a:solidFill>
                <a:latin typeface="맑은 고딕"/>
              </a:rPr>
              <a:t>배경 · 핵심 인물 · 서사 아크</a:t>
            </a:r>
          </a:p>
        </p:txBody>
      </p:sp>
      <p:sp>
        <p:nvSpPr>
          <p:cNvPr id="16" name="Rectangle 15"/>
          <p:cNvSpPr/>
          <p:nvPr/>
        </p:nvSpPr>
        <p:spPr>
          <a:xfrm>
            <a:off x="365760" y="288036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88036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044952"/>
            <a:ext cx="640080" cy="411480"/>
          </a:xfrm>
          <a:prstGeom prst="rect">
            <a:avLst/>
          </a:prstGeom>
          <a:noFill/>
        </p:spPr>
        <p:txBody>
          <a:bodyPr wrap="square">
            <a:spAutoFit/>
          </a:bodyPr>
          <a:lstStyle/>
          <a:p>
            <a:pPr algn="ctr"/>
            <a:r>
              <a:rPr sz="1500" b="1">
                <a:solidFill>
                  <a:srgbClr val="C9A84C"/>
                </a:solidFill>
                <a:latin typeface="맑은 고딕"/>
              </a:rPr>
              <a:t>03</a:t>
            </a:r>
          </a:p>
        </p:txBody>
      </p:sp>
      <p:sp>
        <p:nvSpPr>
          <p:cNvPr id="19" name="TextBox 18"/>
          <p:cNvSpPr txBox="1"/>
          <p:nvPr/>
        </p:nvSpPr>
        <p:spPr>
          <a:xfrm>
            <a:off x="1097280" y="2935224"/>
            <a:ext cx="4480560" cy="292608"/>
          </a:xfrm>
          <a:prstGeom prst="rect">
            <a:avLst/>
          </a:prstGeom>
          <a:noFill/>
        </p:spPr>
        <p:txBody>
          <a:bodyPr wrap="square">
            <a:spAutoFit/>
          </a:bodyPr>
          <a:lstStyle/>
          <a:p>
            <a:pPr algn="l"/>
            <a:r>
              <a:rPr sz="1300" b="1">
                <a:solidFill>
                  <a:srgbClr val="FFFFFF"/>
                </a:solidFill>
                <a:latin typeface="맑은 고딕"/>
              </a:rPr>
              <a:t>코어 게임 루프</a:t>
            </a:r>
          </a:p>
        </p:txBody>
      </p:sp>
      <p:sp>
        <p:nvSpPr>
          <p:cNvPr id="20" name="TextBox 19"/>
          <p:cNvSpPr txBox="1"/>
          <p:nvPr/>
        </p:nvSpPr>
        <p:spPr>
          <a:xfrm>
            <a:off x="1097280" y="3264408"/>
            <a:ext cx="4480560" cy="292608"/>
          </a:xfrm>
          <a:prstGeom prst="rect">
            <a:avLst/>
          </a:prstGeom>
          <a:noFill/>
        </p:spPr>
        <p:txBody>
          <a:bodyPr wrap="square">
            <a:spAutoFit/>
          </a:bodyPr>
          <a:lstStyle/>
          <a:p>
            <a:pPr algn="l"/>
            <a:r>
              <a:rPr sz="900" b="0">
                <a:solidFill>
                  <a:srgbClr val="B8BECC"/>
                </a:solidFill>
                <a:latin typeface="맑은 고딕"/>
              </a:rPr>
              <a:t>거시적/미시적 루프 · 씬 구성</a:t>
            </a:r>
          </a:p>
        </p:txBody>
      </p:sp>
      <p:sp>
        <p:nvSpPr>
          <p:cNvPr id="21" name="Rectangle 20"/>
          <p:cNvSpPr/>
          <p:nvPr/>
        </p:nvSpPr>
        <p:spPr>
          <a:xfrm>
            <a:off x="365760" y="384048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84048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005072"/>
            <a:ext cx="640080" cy="411480"/>
          </a:xfrm>
          <a:prstGeom prst="rect">
            <a:avLst/>
          </a:prstGeom>
          <a:noFill/>
        </p:spPr>
        <p:txBody>
          <a:bodyPr wrap="square">
            <a:spAutoFit/>
          </a:bodyPr>
          <a:lstStyle/>
          <a:p>
            <a:pPr algn="ctr"/>
            <a:r>
              <a:rPr sz="1500" b="1">
                <a:solidFill>
                  <a:srgbClr val="C9A84C"/>
                </a:solidFill>
                <a:latin typeface="맑은 고딕"/>
              </a:rPr>
              <a:t>04</a:t>
            </a:r>
          </a:p>
        </p:txBody>
      </p:sp>
      <p:sp>
        <p:nvSpPr>
          <p:cNvPr id="24" name="TextBox 23"/>
          <p:cNvSpPr txBox="1"/>
          <p:nvPr/>
        </p:nvSpPr>
        <p:spPr>
          <a:xfrm>
            <a:off x="1097280" y="3895344"/>
            <a:ext cx="4480560" cy="292608"/>
          </a:xfrm>
          <a:prstGeom prst="rect">
            <a:avLst/>
          </a:prstGeom>
          <a:noFill/>
        </p:spPr>
        <p:txBody>
          <a:bodyPr wrap="square">
            <a:spAutoFit/>
          </a:bodyPr>
          <a:lstStyle/>
          <a:p>
            <a:pPr algn="l"/>
            <a:r>
              <a:rPr sz="1300" b="1">
                <a:solidFill>
                  <a:srgbClr val="FFFFFF"/>
                </a:solidFill>
                <a:latin typeface="맑은 고딕"/>
              </a:rPr>
              <a:t>영웅 유물 시스템</a:t>
            </a:r>
          </a:p>
        </p:txBody>
      </p:sp>
      <p:sp>
        <p:nvSpPr>
          <p:cNvPr id="25" name="TextBox 24"/>
          <p:cNvSpPr txBox="1"/>
          <p:nvPr/>
        </p:nvSpPr>
        <p:spPr>
          <a:xfrm>
            <a:off x="1097280" y="4224528"/>
            <a:ext cx="4480560" cy="292608"/>
          </a:xfrm>
          <a:prstGeom prst="rect">
            <a:avLst/>
          </a:prstGeom>
          <a:noFill/>
        </p:spPr>
        <p:txBody>
          <a:bodyPr wrap="square">
            <a:spAutoFit/>
          </a:bodyPr>
          <a:lstStyle/>
          <a:p>
            <a:pPr algn="l"/>
            <a:r>
              <a:rPr sz="900" b="0">
                <a:solidFill>
                  <a:srgbClr val="B8BECC"/>
                </a:solidFill>
                <a:latin typeface="맑은 고딕"/>
              </a:rPr>
              <a:t>5종 영웅 · 고유 메커닉 · 해금 시스템</a:t>
            </a:r>
          </a:p>
        </p:txBody>
      </p:sp>
      <p:sp>
        <p:nvSpPr>
          <p:cNvPr id="26" name="Rectangle 25"/>
          <p:cNvSpPr/>
          <p:nvPr/>
        </p:nvSpPr>
        <p:spPr>
          <a:xfrm>
            <a:off x="365760" y="480060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80060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4965192"/>
            <a:ext cx="640080" cy="411480"/>
          </a:xfrm>
          <a:prstGeom prst="rect">
            <a:avLst/>
          </a:prstGeom>
          <a:noFill/>
        </p:spPr>
        <p:txBody>
          <a:bodyPr wrap="square">
            <a:spAutoFit/>
          </a:bodyPr>
          <a:lstStyle/>
          <a:p>
            <a:pPr algn="ctr"/>
            <a:r>
              <a:rPr sz="1500" b="1">
                <a:solidFill>
                  <a:srgbClr val="C9A84C"/>
                </a:solidFill>
                <a:latin typeface="맑은 고딕"/>
              </a:rPr>
              <a:t>05</a:t>
            </a:r>
          </a:p>
        </p:txBody>
      </p:sp>
      <p:sp>
        <p:nvSpPr>
          <p:cNvPr id="29" name="TextBox 28"/>
          <p:cNvSpPr txBox="1"/>
          <p:nvPr/>
        </p:nvSpPr>
        <p:spPr>
          <a:xfrm>
            <a:off x="1097280" y="4855464"/>
            <a:ext cx="4480560" cy="292608"/>
          </a:xfrm>
          <a:prstGeom prst="rect">
            <a:avLst/>
          </a:prstGeom>
          <a:noFill/>
        </p:spPr>
        <p:txBody>
          <a:bodyPr wrap="square">
            <a:spAutoFit/>
          </a:bodyPr>
          <a:lstStyle/>
          <a:p>
            <a:pPr algn="l"/>
            <a:r>
              <a:rPr sz="1300" b="1">
                <a:solidFill>
                  <a:srgbClr val="FFFFFF"/>
                </a:solidFill>
                <a:latin typeface="맑은 고딕"/>
              </a:rPr>
              <a:t>장비 &amp; 빌드</a:t>
            </a:r>
          </a:p>
        </p:txBody>
      </p:sp>
      <p:sp>
        <p:nvSpPr>
          <p:cNvPr id="30" name="TextBox 29"/>
          <p:cNvSpPr txBox="1"/>
          <p:nvPr/>
        </p:nvSpPr>
        <p:spPr>
          <a:xfrm>
            <a:off x="1097280" y="5184648"/>
            <a:ext cx="4480560" cy="292608"/>
          </a:xfrm>
          <a:prstGeom prst="rect">
            <a:avLst/>
          </a:prstGeom>
          <a:noFill/>
        </p:spPr>
        <p:txBody>
          <a:bodyPr wrap="square">
            <a:spAutoFit/>
          </a:bodyPr>
          <a:lstStyle/>
          <a:p>
            <a:pPr algn="l"/>
            <a:r>
              <a:rPr sz="900" b="0">
                <a:solidFill>
                  <a:srgbClr val="B8BECC"/>
                </a:solidFill>
                <a:latin typeface="맑은 고딕"/>
              </a:rPr>
              <a:t>장비 구조 · 조합표 · 아이템 구조</a:t>
            </a:r>
          </a:p>
        </p:txBody>
      </p:sp>
      <p:sp>
        <p:nvSpPr>
          <p:cNvPr id="31" name="Rectangle 30"/>
          <p:cNvSpPr/>
          <p:nvPr/>
        </p:nvSpPr>
        <p:spPr>
          <a:xfrm>
            <a:off x="365760" y="576072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576072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5925312"/>
            <a:ext cx="640080" cy="411480"/>
          </a:xfrm>
          <a:prstGeom prst="rect">
            <a:avLst/>
          </a:prstGeom>
          <a:noFill/>
        </p:spPr>
        <p:txBody>
          <a:bodyPr wrap="square">
            <a:spAutoFit/>
          </a:bodyPr>
          <a:lstStyle/>
          <a:p>
            <a:pPr algn="ctr"/>
            <a:r>
              <a:rPr sz="1500" b="1">
                <a:solidFill>
                  <a:srgbClr val="C9A84C"/>
                </a:solidFill>
                <a:latin typeface="맑은 고딕"/>
              </a:rPr>
              <a:t>06</a:t>
            </a:r>
          </a:p>
        </p:txBody>
      </p:sp>
      <p:sp>
        <p:nvSpPr>
          <p:cNvPr id="34" name="TextBox 33"/>
          <p:cNvSpPr txBox="1"/>
          <p:nvPr/>
        </p:nvSpPr>
        <p:spPr>
          <a:xfrm>
            <a:off x="1097280" y="5815583"/>
            <a:ext cx="4480560" cy="292608"/>
          </a:xfrm>
          <a:prstGeom prst="rect">
            <a:avLst/>
          </a:prstGeom>
          <a:noFill/>
        </p:spPr>
        <p:txBody>
          <a:bodyPr wrap="square">
            <a:spAutoFit/>
          </a:bodyPr>
          <a:lstStyle/>
          <a:p>
            <a:pPr algn="l"/>
            <a:r>
              <a:rPr sz="1300" b="1">
                <a:solidFill>
                  <a:srgbClr val="FFFFFF"/>
                </a:solidFill>
                <a:latin typeface="맑은 고딕"/>
              </a:rPr>
              <a:t>런 내 성장</a:t>
            </a:r>
          </a:p>
        </p:txBody>
      </p:sp>
      <p:sp>
        <p:nvSpPr>
          <p:cNvPr id="35" name="TextBox 34"/>
          <p:cNvSpPr txBox="1"/>
          <p:nvPr/>
        </p:nvSpPr>
        <p:spPr>
          <a:xfrm>
            <a:off x="1097280" y="6144768"/>
            <a:ext cx="4480560" cy="292608"/>
          </a:xfrm>
          <a:prstGeom prst="rect">
            <a:avLst/>
          </a:prstGeom>
          <a:noFill/>
        </p:spPr>
        <p:txBody>
          <a:bodyPr wrap="square">
            <a:spAutoFit/>
          </a:bodyPr>
          <a:lstStyle/>
          <a:p>
            <a:pPr algn="l"/>
            <a:r>
              <a:rPr sz="900" b="0">
                <a:solidFill>
                  <a:srgbClr val="B8BECC"/>
                </a:solidFill>
                <a:latin typeface="맑은 고딕"/>
              </a:rPr>
              <a:t>스탯 레이어 · 서약 시스템 · 시너지</a:t>
            </a:r>
          </a:p>
        </p:txBody>
      </p:sp>
      <p:sp>
        <p:nvSpPr>
          <p:cNvPr id="36" name="Rectangle 35"/>
          <p:cNvSpPr/>
          <p:nvPr/>
        </p:nvSpPr>
        <p:spPr>
          <a:xfrm>
            <a:off x="6309360" y="96012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96012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1124712"/>
            <a:ext cx="640080" cy="411480"/>
          </a:xfrm>
          <a:prstGeom prst="rect">
            <a:avLst/>
          </a:prstGeom>
          <a:noFill/>
        </p:spPr>
        <p:txBody>
          <a:bodyPr wrap="square">
            <a:spAutoFit/>
          </a:bodyPr>
          <a:lstStyle/>
          <a:p>
            <a:pPr algn="ctr"/>
            <a:r>
              <a:rPr sz="1500" b="1">
                <a:solidFill>
                  <a:srgbClr val="C9A84C"/>
                </a:solidFill>
                <a:latin typeface="맑은 고딕"/>
              </a:rPr>
              <a:t>07</a:t>
            </a:r>
          </a:p>
        </p:txBody>
      </p:sp>
      <p:sp>
        <p:nvSpPr>
          <p:cNvPr id="39" name="TextBox 38"/>
          <p:cNvSpPr txBox="1"/>
          <p:nvPr/>
        </p:nvSpPr>
        <p:spPr>
          <a:xfrm>
            <a:off x="7040880" y="1014984"/>
            <a:ext cx="4480560" cy="292608"/>
          </a:xfrm>
          <a:prstGeom prst="rect">
            <a:avLst/>
          </a:prstGeom>
          <a:noFill/>
        </p:spPr>
        <p:txBody>
          <a:bodyPr wrap="square">
            <a:spAutoFit/>
          </a:bodyPr>
          <a:lstStyle/>
          <a:p>
            <a:pPr algn="l"/>
            <a:r>
              <a:rPr sz="1300" b="1">
                <a:solidFill>
                  <a:srgbClr val="FFFFFF"/>
                </a:solidFill>
                <a:latin typeface="맑은 고딕"/>
              </a:rPr>
              <a:t>메타 진행</a:t>
            </a:r>
          </a:p>
        </p:txBody>
      </p:sp>
      <p:sp>
        <p:nvSpPr>
          <p:cNvPr id="40" name="TextBox 39"/>
          <p:cNvSpPr txBox="1"/>
          <p:nvPr/>
        </p:nvSpPr>
        <p:spPr>
          <a:xfrm>
            <a:off x="7040880" y="1344168"/>
            <a:ext cx="4480560" cy="292608"/>
          </a:xfrm>
          <a:prstGeom prst="rect">
            <a:avLst/>
          </a:prstGeom>
          <a:noFill/>
        </p:spPr>
        <p:txBody>
          <a:bodyPr wrap="square">
            <a:spAutoFit/>
          </a:bodyPr>
          <a:lstStyle/>
          <a:p>
            <a:pPr algn="l"/>
            <a:r>
              <a:rPr sz="900" b="0">
                <a:solidFill>
                  <a:srgbClr val="B8BECC"/>
                </a:solidFill>
                <a:latin typeface="맑은 고딕"/>
              </a:rPr>
              <a:t>재화 4종 · 멀린의 서약 · 보스 봉인 시스템</a:t>
            </a:r>
          </a:p>
        </p:txBody>
      </p:sp>
      <p:sp>
        <p:nvSpPr>
          <p:cNvPr id="41" name="Rectangle 40"/>
          <p:cNvSpPr/>
          <p:nvPr/>
        </p:nvSpPr>
        <p:spPr>
          <a:xfrm>
            <a:off x="6309360" y="192024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192024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2084832"/>
            <a:ext cx="640080" cy="411480"/>
          </a:xfrm>
          <a:prstGeom prst="rect">
            <a:avLst/>
          </a:prstGeom>
          <a:noFill/>
        </p:spPr>
        <p:txBody>
          <a:bodyPr wrap="square">
            <a:spAutoFit/>
          </a:bodyPr>
          <a:lstStyle/>
          <a:p>
            <a:pPr algn="ctr"/>
            <a:r>
              <a:rPr sz="1500" b="1">
                <a:solidFill>
                  <a:srgbClr val="C9A84C"/>
                </a:solidFill>
                <a:latin typeface="맑은 고딕"/>
              </a:rPr>
              <a:t>08</a:t>
            </a:r>
          </a:p>
        </p:txBody>
      </p:sp>
      <p:sp>
        <p:nvSpPr>
          <p:cNvPr id="44" name="TextBox 43"/>
          <p:cNvSpPr txBox="1"/>
          <p:nvPr/>
        </p:nvSpPr>
        <p:spPr>
          <a:xfrm>
            <a:off x="7040880" y="1975104"/>
            <a:ext cx="4480560" cy="292608"/>
          </a:xfrm>
          <a:prstGeom prst="rect">
            <a:avLst/>
          </a:prstGeom>
          <a:noFill/>
        </p:spPr>
        <p:txBody>
          <a:bodyPr wrap="square">
            <a:spAutoFit/>
          </a:bodyPr>
          <a:lstStyle/>
          <a:p>
            <a:pPr algn="l"/>
            <a:r>
              <a:rPr sz="1300" b="1">
                <a:solidFill>
                  <a:srgbClr val="FFFFFF"/>
                </a:solidFill>
                <a:latin typeface="맑은 고딕"/>
              </a:rPr>
              <a:t>챕터 &amp; 레벨 디자인</a:t>
            </a:r>
          </a:p>
        </p:txBody>
      </p:sp>
      <p:sp>
        <p:nvSpPr>
          <p:cNvPr id="45" name="TextBox 44"/>
          <p:cNvSpPr txBox="1"/>
          <p:nvPr/>
        </p:nvSpPr>
        <p:spPr>
          <a:xfrm>
            <a:off x="7040880" y="2304288"/>
            <a:ext cx="4480560" cy="292608"/>
          </a:xfrm>
          <a:prstGeom prst="rect">
            <a:avLst/>
          </a:prstGeom>
          <a:noFill/>
        </p:spPr>
        <p:txBody>
          <a:bodyPr wrap="square">
            <a:spAutoFit/>
          </a:bodyPr>
          <a:lstStyle/>
          <a:p>
            <a:pPr algn="l"/>
            <a:r>
              <a:rPr sz="900" b="0">
                <a:solidFill>
                  <a:srgbClr val="B8BECC"/>
                </a:solidFill>
                <a:latin typeface="맑은 고딕"/>
              </a:rPr>
              <a:t>26존 세계맵 · 보스 설계 · 엘리트 진화</a:t>
            </a:r>
          </a:p>
        </p:txBody>
      </p:sp>
      <p:sp>
        <p:nvSpPr>
          <p:cNvPr id="46" name="Rectangle 45"/>
          <p:cNvSpPr/>
          <p:nvPr/>
        </p:nvSpPr>
        <p:spPr>
          <a:xfrm>
            <a:off x="6309360" y="288036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288036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3044952"/>
            <a:ext cx="640080" cy="411480"/>
          </a:xfrm>
          <a:prstGeom prst="rect">
            <a:avLst/>
          </a:prstGeom>
          <a:noFill/>
        </p:spPr>
        <p:txBody>
          <a:bodyPr wrap="square">
            <a:spAutoFit/>
          </a:bodyPr>
          <a:lstStyle/>
          <a:p>
            <a:pPr algn="ctr"/>
            <a:r>
              <a:rPr sz="1500" b="1">
                <a:solidFill>
                  <a:srgbClr val="C9A84C"/>
                </a:solidFill>
                <a:latin typeface="맑은 고딕"/>
              </a:rPr>
              <a:t>09</a:t>
            </a:r>
          </a:p>
        </p:txBody>
      </p:sp>
      <p:sp>
        <p:nvSpPr>
          <p:cNvPr id="49" name="TextBox 48"/>
          <p:cNvSpPr txBox="1"/>
          <p:nvPr/>
        </p:nvSpPr>
        <p:spPr>
          <a:xfrm>
            <a:off x="7040880" y="2935224"/>
            <a:ext cx="4480560" cy="292608"/>
          </a:xfrm>
          <a:prstGeom prst="rect">
            <a:avLst/>
          </a:prstGeom>
          <a:noFill/>
        </p:spPr>
        <p:txBody>
          <a:bodyPr wrap="square">
            <a:spAutoFit/>
          </a:bodyPr>
          <a:lstStyle/>
          <a:p>
            <a:pPr algn="l"/>
            <a:r>
              <a:rPr sz="1300" b="1">
                <a:solidFill>
                  <a:srgbClr val="FFFFFF"/>
                </a:solidFill>
                <a:latin typeface="맑은 고딕"/>
              </a:rPr>
              <a:t>비주얼 &amp; 톤</a:t>
            </a:r>
          </a:p>
        </p:txBody>
      </p:sp>
      <p:sp>
        <p:nvSpPr>
          <p:cNvPr id="50" name="TextBox 49"/>
          <p:cNvSpPr txBox="1"/>
          <p:nvPr/>
        </p:nvSpPr>
        <p:spPr>
          <a:xfrm>
            <a:off x="7040880" y="3264408"/>
            <a:ext cx="4480560" cy="292608"/>
          </a:xfrm>
          <a:prstGeom prst="rect">
            <a:avLst/>
          </a:prstGeom>
          <a:noFill/>
        </p:spPr>
        <p:txBody>
          <a:bodyPr wrap="square">
            <a:spAutoFit/>
          </a:bodyPr>
          <a:lstStyle/>
          <a:p>
            <a:pPr algn="l"/>
            <a:r>
              <a:rPr sz="900" b="0">
                <a:solidFill>
                  <a:srgbClr val="B8BECC"/>
                </a:solidFill>
                <a:latin typeface="맑은 고딕"/>
              </a:rPr>
              <a:t>아트 방향 · 챕터별 컬러 · UI/UX</a:t>
            </a:r>
          </a:p>
        </p:txBody>
      </p:sp>
      <p:sp>
        <p:nvSpPr>
          <p:cNvPr id="51" name="Rectangle 50"/>
          <p:cNvSpPr/>
          <p:nvPr/>
        </p:nvSpPr>
        <p:spPr>
          <a:xfrm>
            <a:off x="6309360" y="384048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09360" y="384048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9360" y="4005072"/>
            <a:ext cx="640080" cy="411480"/>
          </a:xfrm>
          <a:prstGeom prst="rect">
            <a:avLst/>
          </a:prstGeom>
          <a:noFill/>
        </p:spPr>
        <p:txBody>
          <a:bodyPr wrap="square">
            <a:spAutoFit/>
          </a:bodyPr>
          <a:lstStyle/>
          <a:p>
            <a:pPr algn="ctr"/>
            <a:r>
              <a:rPr sz="1500" b="1">
                <a:solidFill>
                  <a:srgbClr val="C9A84C"/>
                </a:solidFill>
                <a:latin typeface="맑은 고딕"/>
              </a:rPr>
              <a:t>10</a:t>
            </a:r>
          </a:p>
        </p:txBody>
      </p:sp>
      <p:sp>
        <p:nvSpPr>
          <p:cNvPr id="54" name="TextBox 53"/>
          <p:cNvSpPr txBox="1"/>
          <p:nvPr/>
        </p:nvSpPr>
        <p:spPr>
          <a:xfrm>
            <a:off x="7040880" y="3895344"/>
            <a:ext cx="4480560" cy="292608"/>
          </a:xfrm>
          <a:prstGeom prst="rect">
            <a:avLst/>
          </a:prstGeom>
          <a:noFill/>
        </p:spPr>
        <p:txBody>
          <a:bodyPr wrap="square">
            <a:spAutoFit/>
          </a:bodyPr>
          <a:lstStyle/>
          <a:p>
            <a:pPr algn="l"/>
            <a:r>
              <a:rPr sz="1300" b="1">
                <a:solidFill>
                  <a:srgbClr val="FFFFFF"/>
                </a:solidFill>
                <a:latin typeface="맑은 고딕"/>
              </a:rPr>
              <a:t>전투 연출 &amp; 게임 느낌</a:t>
            </a:r>
          </a:p>
        </p:txBody>
      </p:sp>
      <p:sp>
        <p:nvSpPr>
          <p:cNvPr id="55" name="TextBox 54"/>
          <p:cNvSpPr txBox="1"/>
          <p:nvPr/>
        </p:nvSpPr>
        <p:spPr>
          <a:xfrm>
            <a:off x="7040880" y="4224528"/>
            <a:ext cx="4480560" cy="292608"/>
          </a:xfrm>
          <a:prstGeom prst="rect">
            <a:avLst/>
          </a:prstGeom>
          <a:noFill/>
        </p:spPr>
        <p:txBody>
          <a:bodyPr wrap="square">
            <a:spAutoFit/>
          </a:bodyPr>
          <a:lstStyle/>
          <a:p>
            <a:pPr algn="l"/>
            <a:r>
              <a:rPr sz="900" b="0">
                <a:solidFill>
                  <a:srgbClr val="B8BECC"/>
                </a:solidFill>
                <a:latin typeface="맑은 고딕"/>
              </a:rPr>
              <a:t>슬로우모션 · 히트 이펙트 · 전진성 · 사망화면</a:t>
            </a:r>
          </a:p>
        </p:txBody>
      </p:sp>
      <p:sp>
        <p:nvSpPr>
          <p:cNvPr id="56" name="Rectangle 55"/>
          <p:cNvSpPr/>
          <p:nvPr/>
        </p:nvSpPr>
        <p:spPr>
          <a:xfrm>
            <a:off x="6309360" y="4800600"/>
            <a:ext cx="5486400" cy="82296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09360" y="4800600"/>
            <a:ext cx="640080" cy="82296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9360" y="4965192"/>
            <a:ext cx="640080" cy="411480"/>
          </a:xfrm>
          <a:prstGeom prst="rect">
            <a:avLst/>
          </a:prstGeom>
          <a:noFill/>
        </p:spPr>
        <p:txBody>
          <a:bodyPr wrap="square">
            <a:spAutoFit/>
          </a:bodyPr>
          <a:lstStyle/>
          <a:p>
            <a:pPr algn="ctr"/>
            <a:r>
              <a:rPr sz="1500" b="1">
                <a:solidFill>
                  <a:srgbClr val="C9A84C"/>
                </a:solidFill>
                <a:latin typeface="맑은 고딕"/>
              </a:rPr>
              <a:t>11</a:t>
            </a:r>
          </a:p>
        </p:txBody>
      </p:sp>
      <p:sp>
        <p:nvSpPr>
          <p:cNvPr id="59" name="TextBox 58"/>
          <p:cNvSpPr txBox="1"/>
          <p:nvPr/>
        </p:nvSpPr>
        <p:spPr>
          <a:xfrm>
            <a:off x="7040880" y="4855464"/>
            <a:ext cx="4480560" cy="292608"/>
          </a:xfrm>
          <a:prstGeom prst="rect">
            <a:avLst/>
          </a:prstGeom>
          <a:noFill/>
        </p:spPr>
        <p:txBody>
          <a:bodyPr wrap="square">
            <a:spAutoFit/>
          </a:bodyPr>
          <a:lstStyle/>
          <a:p>
            <a:pPr algn="l"/>
            <a:r>
              <a:rPr sz="1300" b="1">
                <a:solidFill>
                  <a:srgbClr val="FFFFFF"/>
                </a:solidFill>
                <a:latin typeface="맑은 고딕"/>
              </a:rPr>
              <a:t>튜토리얼 &amp; 온보딩</a:t>
            </a:r>
          </a:p>
        </p:txBody>
      </p:sp>
      <p:sp>
        <p:nvSpPr>
          <p:cNvPr id="60" name="TextBox 59"/>
          <p:cNvSpPr txBox="1"/>
          <p:nvPr/>
        </p:nvSpPr>
        <p:spPr>
          <a:xfrm>
            <a:off x="7040880" y="5184648"/>
            <a:ext cx="4480560" cy="292608"/>
          </a:xfrm>
          <a:prstGeom prst="rect">
            <a:avLst/>
          </a:prstGeom>
          <a:noFill/>
        </p:spPr>
        <p:txBody>
          <a:bodyPr wrap="square">
            <a:spAutoFit/>
          </a:bodyPr>
          <a:lstStyle/>
          <a:p>
            <a:pPr algn="l"/>
            <a:r>
              <a:rPr sz="900" b="0">
                <a:solidFill>
                  <a:srgbClr val="B8BECC"/>
                </a:solidFill>
                <a:latin typeface="맑은 고딕"/>
              </a:rPr>
              <a:t>첫 런 플로우 · 스타트방 · 로비 전시대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01  프로젝트 개요</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Project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01  프로젝트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게임 기본 정보 · 핵심 컨셉 · 레퍼런스</a:t>
            </a:r>
          </a:p>
        </p:txBody>
      </p:sp>
      <p:sp>
        <p:nvSpPr>
          <p:cNvPr id="6" name="Rectangle 5"/>
          <p:cNvSpPr/>
          <p:nvPr/>
        </p:nvSpPr>
        <p:spPr>
          <a:xfrm>
            <a:off x="365760" y="960120"/>
            <a:ext cx="384048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38404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14984"/>
            <a:ext cx="3566160" cy="256032"/>
          </a:xfrm>
          <a:prstGeom prst="rect">
            <a:avLst/>
          </a:prstGeom>
          <a:noFill/>
        </p:spPr>
        <p:txBody>
          <a:bodyPr wrap="square">
            <a:spAutoFit/>
          </a:bodyPr>
          <a:lstStyle/>
          <a:p>
            <a:pPr algn="l"/>
            <a:r>
              <a:rPr sz="1200" b="1">
                <a:solidFill>
                  <a:srgbClr val="C9A84C"/>
                </a:solidFill>
                <a:latin typeface="맑은 고딕"/>
              </a:rPr>
              <a:t>게임 기본 정보</a:t>
            </a:r>
          </a:p>
        </p:txBody>
      </p:sp>
      <p:sp>
        <p:nvSpPr>
          <p:cNvPr id="9" name="Rectangle 8"/>
          <p:cNvSpPr/>
          <p:nvPr/>
        </p:nvSpPr>
        <p:spPr>
          <a:xfrm>
            <a:off x="502920" y="141732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72184"/>
            <a:ext cx="1005840" cy="256032"/>
          </a:xfrm>
          <a:prstGeom prst="rect">
            <a:avLst/>
          </a:prstGeom>
          <a:noFill/>
        </p:spPr>
        <p:txBody>
          <a:bodyPr wrap="square">
            <a:spAutoFit/>
          </a:bodyPr>
          <a:lstStyle/>
          <a:p>
            <a:pPr algn="l"/>
            <a:r>
              <a:rPr sz="950" b="1">
                <a:solidFill>
                  <a:srgbClr val="727A8E"/>
                </a:solidFill>
                <a:latin typeface="맑은 고딕"/>
              </a:rPr>
              <a:t>타이틀</a:t>
            </a:r>
          </a:p>
        </p:txBody>
      </p:sp>
      <p:sp>
        <p:nvSpPr>
          <p:cNvPr id="11" name="TextBox 10"/>
          <p:cNvSpPr txBox="1"/>
          <p:nvPr/>
        </p:nvSpPr>
        <p:spPr>
          <a:xfrm>
            <a:off x="640080" y="1709928"/>
            <a:ext cx="3291840" cy="274320"/>
          </a:xfrm>
          <a:prstGeom prst="rect">
            <a:avLst/>
          </a:prstGeom>
          <a:noFill/>
        </p:spPr>
        <p:txBody>
          <a:bodyPr wrap="square">
            <a:spAutoFit/>
          </a:bodyPr>
          <a:lstStyle/>
          <a:p>
            <a:pPr algn="l"/>
            <a:r>
              <a:rPr sz="1150" b="1">
                <a:solidFill>
                  <a:srgbClr val="FFFFFF"/>
                </a:solidFill>
                <a:latin typeface="맑은 고딕"/>
              </a:rPr>
              <a:t>랠릭페어리 (Relic Fairy)</a:t>
            </a:r>
          </a:p>
        </p:txBody>
      </p:sp>
      <p:sp>
        <p:nvSpPr>
          <p:cNvPr id="12" name="Rectangle 11"/>
          <p:cNvSpPr/>
          <p:nvPr/>
        </p:nvSpPr>
        <p:spPr>
          <a:xfrm>
            <a:off x="502920" y="224028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95144"/>
            <a:ext cx="1005840" cy="256032"/>
          </a:xfrm>
          <a:prstGeom prst="rect">
            <a:avLst/>
          </a:prstGeom>
          <a:noFill/>
        </p:spPr>
        <p:txBody>
          <a:bodyPr wrap="square">
            <a:spAutoFit/>
          </a:bodyPr>
          <a:lstStyle/>
          <a:p>
            <a:pPr algn="l"/>
            <a:r>
              <a:rPr sz="950" b="1">
                <a:solidFill>
                  <a:srgbClr val="727A8E"/>
                </a:solidFill>
                <a:latin typeface="맑은 고딕"/>
              </a:rPr>
              <a:t>장르</a:t>
            </a:r>
          </a:p>
        </p:txBody>
      </p:sp>
      <p:sp>
        <p:nvSpPr>
          <p:cNvPr id="14" name="TextBox 13"/>
          <p:cNvSpPr txBox="1"/>
          <p:nvPr/>
        </p:nvSpPr>
        <p:spPr>
          <a:xfrm>
            <a:off x="640080" y="2532888"/>
            <a:ext cx="3291840" cy="274320"/>
          </a:xfrm>
          <a:prstGeom prst="rect">
            <a:avLst/>
          </a:prstGeom>
          <a:noFill/>
        </p:spPr>
        <p:txBody>
          <a:bodyPr wrap="square">
            <a:spAutoFit/>
          </a:bodyPr>
          <a:lstStyle/>
          <a:p>
            <a:pPr algn="l"/>
            <a:r>
              <a:rPr sz="1150" b="1">
                <a:solidFill>
                  <a:srgbClr val="FFFFFF"/>
                </a:solidFill>
                <a:latin typeface="맑은 고딕"/>
              </a:rPr>
              <a:t>로그라이크 액션 RPG</a:t>
            </a:r>
          </a:p>
        </p:txBody>
      </p:sp>
      <p:sp>
        <p:nvSpPr>
          <p:cNvPr id="15" name="Rectangle 14"/>
          <p:cNvSpPr/>
          <p:nvPr/>
        </p:nvSpPr>
        <p:spPr>
          <a:xfrm>
            <a:off x="502920" y="306324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18104"/>
            <a:ext cx="1005840" cy="256032"/>
          </a:xfrm>
          <a:prstGeom prst="rect">
            <a:avLst/>
          </a:prstGeom>
          <a:noFill/>
        </p:spPr>
        <p:txBody>
          <a:bodyPr wrap="square">
            <a:spAutoFit/>
          </a:bodyPr>
          <a:lstStyle/>
          <a:p>
            <a:pPr algn="l"/>
            <a:r>
              <a:rPr sz="950" b="1">
                <a:solidFill>
                  <a:srgbClr val="727A8E"/>
                </a:solidFill>
                <a:latin typeface="맑은 고딕"/>
              </a:rPr>
              <a:t>플랫폼</a:t>
            </a:r>
          </a:p>
        </p:txBody>
      </p:sp>
      <p:sp>
        <p:nvSpPr>
          <p:cNvPr id="17" name="TextBox 16"/>
          <p:cNvSpPr txBox="1"/>
          <p:nvPr/>
        </p:nvSpPr>
        <p:spPr>
          <a:xfrm>
            <a:off x="640080" y="3355848"/>
            <a:ext cx="3291840" cy="274320"/>
          </a:xfrm>
          <a:prstGeom prst="rect">
            <a:avLst/>
          </a:prstGeom>
          <a:noFill/>
        </p:spPr>
        <p:txBody>
          <a:bodyPr wrap="square">
            <a:spAutoFit/>
          </a:bodyPr>
          <a:lstStyle/>
          <a:p>
            <a:pPr algn="l"/>
            <a:r>
              <a:rPr sz="1150" b="1">
                <a:solidFill>
                  <a:srgbClr val="FFFFFF"/>
                </a:solidFill>
                <a:latin typeface="맑은 고딕"/>
              </a:rPr>
              <a:t>PC  (Steam)</a:t>
            </a:r>
          </a:p>
        </p:txBody>
      </p:sp>
      <p:sp>
        <p:nvSpPr>
          <p:cNvPr id="18" name="Rectangle 17"/>
          <p:cNvSpPr/>
          <p:nvPr/>
        </p:nvSpPr>
        <p:spPr>
          <a:xfrm>
            <a:off x="502920" y="388620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41063"/>
            <a:ext cx="1005840" cy="256032"/>
          </a:xfrm>
          <a:prstGeom prst="rect">
            <a:avLst/>
          </a:prstGeom>
          <a:noFill/>
        </p:spPr>
        <p:txBody>
          <a:bodyPr wrap="square">
            <a:spAutoFit/>
          </a:bodyPr>
          <a:lstStyle/>
          <a:p>
            <a:pPr algn="l"/>
            <a:r>
              <a:rPr sz="950" b="1">
                <a:solidFill>
                  <a:srgbClr val="727A8E"/>
                </a:solidFill>
                <a:latin typeface="맑은 고딕"/>
              </a:rPr>
              <a:t>시점</a:t>
            </a:r>
          </a:p>
        </p:txBody>
      </p:sp>
      <p:sp>
        <p:nvSpPr>
          <p:cNvPr id="20" name="TextBox 19"/>
          <p:cNvSpPr txBox="1"/>
          <p:nvPr/>
        </p:nvSpPr>
        <p:spPr>
          <a:xfrm>
            <a:off x="640080" y="4178808"/>
            <a:ext cx="3291840" cy="274320"/>
          </a:xfrm>
          <a:prstGeom prst="rect">
            <a:avLst/>
          </a:prstGeom>
          <a:noFill/>
        </p:spPr>
        <p:txBody>
          <a:bodyPr wrap="square">
            <a:spAutoFit/>
          </a:bodyPr>
          <a:lstStyle/>
          <a:p>
            <a:pPr algn="l"/>
            <a:r>
              <a:rPr sz="1150" b="1">
                <a:solidFill>
                  <a:srgbClr val="FFFFFF"/>
                </a:solidFill>
                <a:latin typeface="맑은 고딕"/>
              </a:rPr>
              <a:t>3D 액션 (쿼터뷰)</a:t>
            </a:r>
          </a:p>
        </p:txBody>
      </p:sp>
      <p:sp>
        <p:nvSpPr>
          <p:cNvPr id="21" name="Rectangle 20"/>
          <p:cNvSpPr/>
          <p:nvPr/>
        </p:nvSpPr>
        <p:spPr>
          <a:xfrm>
            <a:off x="502920" y="470916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64024"/>
            <a:ext cx="1005840" cy="256032"/>
          </a:xfrm>
          <a:prstGeom prst="rect">
            <a:avLst/>
          </a:prstGeom>
          <a:noFill/>
        </p:spPr>
        <p:txBody>
          <a:bodyPr wrap="square">
            <a:spAutoFit/>
          </a:bodyPr>
          <a:lstStyle/>
          <a:p>
            <a:pPr algn="l"/>
            <a:r>
              <a:rPr sz="950" b="1">
                <a:solidFill>
                  <a:srgbClr val="727A8E"/>
                </a:solidFill>
                <a:latin typeface="맑은 고딕"/>
              </a:rPr>
              <a:t>타깃</a:t>
            </a:r>
          </a:p>
        </p:txBody>
      </p:sp>
      <p:sp>
        <p:nvSpPr>
          <p:cNvPr id="23" name="TextBox 22"/>
          <p:cNvSpPr txBox="1"/>
          <p:nvPr/>
        </p:nvSpPr>
        <p:spPr>
          <a:xfrm>
            <a:off x="640080" y="5001768"/>
            <a:ext cx="3291840" cy="274320"/>
          </a:xfrm>
          <a:prstGeom prst="rect">
            <a:avLst/>
          </a:prstGeom>
          <a:noFill/>
        </p:spPr>
        <p:txBody>
          <a:bodyPr wrap="square">
            <a:spAutoFit/>
          </a:bodyPr>
          <a:lstStyle/>
          <a:p>
            <a:pPr algn="l"/>
            <a:r>
              <a:rPr sz="1150" b="1">
                <a:solidFill>
                  <a:srgbClr val="FFFFFF"/>
                </a:solidFill>
                <a:latin typeface="맑은 고딕"/>
              </a:rPr>
              <a:t>로그라이크 · 액션 RPG 팬</a:t>
            </a:r>
          </a:p>
        </p:txBody>
      </p:sp>
      <p:sp>
        <p:nvSpPr>
          <p:cNvPr id="24" name="Rectangle 23"/>
          <p:cNvSpPr/>
          <p:nvPr/>
        </p:nvSpPr>
        <p:spPr>
          <a:xfrm>
            <a:off x="4389120" y="960120"/>
            <a:ext cx="438912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1014984"/>
            <a:ext cx="4114800" cy="256032"/>
          </a:xfrm>
          <a:prstGeom prst="rect">
            <a:avLst/>
          </a:prstGeom>
          <a:noFill/>
        </p:spPr>
        <p:txBody>
          <a:bodyPr wrap="square">
            <a:spAutoFit/>
          </a:bodyPr>
          <a:lstStyle/>
          <a:p>
            <a:pPr algn="l"/>
            <a:r>
              <a:rPr sz="1200" b="1">
                <a:solidFill>
                  <a:srgbClr val="C9A84C"/>
                </a:solidFill>
                <a:latin typeface="맑은 고딕"/>
              </a:rPr>
              <a:t>핵심 컨셉</a:t>
            </a:r>
          </a:p>
        </p:txBody>
      </p:sp>
      <p:sp>
        <p:nvSpPr>
          <p:cNvPr id="27" name="TextBox 26"/>
          <p:cNvSpPr txBox="1"/>
          <p:nvPr/>
        </p:nvSpPr>
        <p:spPr>
          <a:xfrm>
            <a:off x="4572000" y="1417320"/>
            <a:ext cx="4023360" cy="914400"/>
          </a:xfrm>
          <a:prstGeom prst="rect">
            <a:avLst/>
          </a:prstGeom>
          <a:noFill/>
        </p:spPr>
        <p:txBody>
          <a:bodyPr wrap="square">
            <a:spAutoFit/>
          </a:bodyPr>
          <a:lstStyle/>
          <a:p>
            <a:pPr algn="l"/>
            <a:r>
              <a:rPr sz="1300" b="1">
                <a:solidFill>
                  <a:srgbClr val="E8D08A"/>
                </a:solidFill>
                <a:latin typeface="맑은 고딕"/>
              </a:rPr>
              <a:t>"죽어도 영혼은 남는다.
멀린의 의지가 다시 불러온다."</a:t>
            </a:r>
          </a:p>
        </p:txBody>
      </p:sp>
      <p:sp>
        <p:nvSpPr>
          <p:cNvPr id="28" name="TextBox 27"/>
          <p:cNvSpPr txBox="1"/>
          <p:nvPr/>
        </p:nvSpPr>
        <p:spPr>
          <a:xfrm>
            <a:off x="4572000" y="2331720"/>
            <a:ext cx="4023360" cy="1097280"/>
          </a:xfrm>
          <a:prstGeom prst="rect">
            <a:avLst/>
          </a:prstGeom>
          <a:noFill/>
        </p:spPr>
        <p:txBody>
          <a:bodyPr wrap="square">
            <a:spAutoFit/>
          </a:bodyPr>
          <a:lstStyle/>
          <a:p>
            <a:pPr algn="l"/>
            <a:r>
              <a:rPr sz="1050" b="0">
                <a:solidFill>
                  <a:srgbClr val="B8BECC"/>
                </a:solidFill>
                <a:latin typeface="맑은 고딕"/>
              </a:rPr>
              <a:t>멀린이 죽고 세계가 부패한다. 그의 잔존 의지가
신성한 영혼(주인공)을 소환하고, 주인공은
쓰러진 영웅들의 유물(육체)을 빌려 전진한다.
실패해도 돌아온다. 조금 더 강해져서.</a:t>
            </a:r>
          </a:p>
        </p:txBody>
      </p:sp>
      <p:sp>
        <p:nvSpPr>
          <p:cNvPr id="29" name="Rectangle 28"/>
          <p:cNvSpPr/>
          <p:nvPr/>
        </p:nvSpPr>
        <p:spPr>
          <a:xfrm>
            <a:off x="4389120" y="3703320"/>
            <a:ext cx="438912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0" y="37033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80" y="3758183"/>
            <a:ext cx="4114800" cy="256032"/>
          </a:xfrm>
          <a:prstGeom prst="rect">
            <a:avLst/>
          </a:prstGeom>
          <a:noFill/>
        </p:spPr>
        <p:txBody>
          <a:bodyPr wrap="square">
            <a:spAutoFit/>
          </a:bodyPr>
          <a:lstStyle/>
          <a:p>
            <a:pPr algn="l"/>
            <a:r>
              <a:rPr sz="1200" b="1">
                <a:solidFill>
                  <a:srgbClr val="C9A84C"/>
                </a:solidFill>
                <a:latin typeface="맑은 고딕"/>
              </a:rPr>
              <a:t>레퍼런스 게임</a:t>
            </a:r>
          </a:p>
        </p:txBody>
      </p:sp>
      <p:sp>
        <p:nvSpPr>
          <p:cNvPr id="32" name="Rectangle 31"/>
          <p:cNvSpPr/>
          <p:nvPr/>
        </p:nvSpPr>
        <p:spPr>
          <a:xfrm>
            <a:off x="4572000" y="416052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4197096"/>
            <a:ext cx="1371600" cy="329184"/>
          </a:xfrm>
          <a:prstGeom prst="rect">
            <a:avLst/>
          </a:prstGeom>
          <a:noFill/>
        </p:spPr>
        <p:txBody>
          <a:bodyPr wrap="square">
            <a:spAutoFit/>
          </a:bodyPr>
          <a:lstStyle/>
          <a:p>
            <a:pPr algn="l"/>
            <a:r>
              <a:rPr sz="1000" b="1">
                <a:solidFill>
                  <a:srgbClr val="C9A84C"/>
                </a:solidFill>
                <a:latin typeface="맑은 고딕"/>
              </a:rPr>
              <a:t>Hades</a:t>
            </a:r>
          </a:p>
        </p:txBody>
      </p:sp>
      <p:sp>
        <p:nvSpPr>
          <p:cNvPr id="34" name="TextBox 33"/>
          <p:cNvSpPr txBox="1"/>
          <p:nvPr/>
        </p:nvSpPr>
        <p:spPr>
          <a:xfrm>
            <a:off x="6126480" y="4233672"/>
            <a:ext cx="2377440" cy="256032"/>
          </a:xfrm>
          <a:prstGeom prst="rect">
            <a:avLst/>
          </a:prstGeom>
          <a:noFill/>
        </p:spPr>
        <p:txBody>
          <a:bodyPr wrap="square">
            <a:spAutoFit/>
          </a:bodyPr>
          <a:lstStyle/>
          <a:p>
            <a:pPr algn="l"/>
            <a:r>
              <a:rPr sz="900" b="0">
                <a:solidFill>
                  <a:srgbClr val="B8BECC"/>
                </a:solidFill>
                <a:latin typeface="맑은 고딕"/>
              </a:rPr>
              <a:t>메타 진행 구조, 실패=성장 패러다임</a:t>
            </a:r>
          </a:p>
        </p:txBody>
      </p:sp>
      <p:sp>
        <p:nvSpPr>
          <p:cNvPr id="35" name="Rectangle 34"/>
          <p:cNvSpPr/>
          <p:nvPr/>
        </p:nvSpPr>
        <p:spPr>
          <a:xfrm>
            <a:off x="4572000" y="466344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60" y="4700016"/>
            <a:ext cx="1371600" cy="329184"/>
          </a:xfrm>
          <a:prstGeom prst="rect">
            <a:avLst/>
          </a:prstGeom>
          <a:noFill/>
        </p:spPr>
        <p:txBody>
          <a:bodyPr wrap="square">
            <a:spAutoFit/>
          </a:bodyPr>
          <a:lstStyle/>
          <a:p>
            <a:pPr algn="l"/>
            <a:r>
              <a:rPr sz="1000" b="1">
                <a:solidFill>
                  <a:srgbClr val="C9A84C"/>
                </a:solidFill>
                <a:latin typeface="맑은 고딕"/>
              </a:rPr>
              <a:t>Dead Cells</a:t>
            </a:r>
          </a:p>
        </p:txBody>
      </p:sp>
      <p:sp>
        <p:nvSpPr>
          <p:cNvPr id="37" name="TextBox 36"/>
          <p:cNvSpPr txBox="1"/>
          <p:nvPr/>
        </p:nvSpPr>
        <p:spPr>
          <a:xfrm>
            <a:off x="6126480" y="4736592"/>
            <a:ext cx="2377440" cy="256032"/>
          </a:xfrm>
          <a:prstGeom prst="rect">
            <a:avLst/>
          </a:prstGeom>
          <a:noFill/>
        </p:spPr>
        <p:txBody>
          <a:bodyPr wrap="square">
            <a:spAutoFit/>
          </a:bodyPr>
          <a:lstStyle/>
          <a:p>
            <a:pPr algn="l"/>
            <a:r>
              <a:rPr sz="900" b="0">
                <a:solidFill>
                  <a:srgbClr val="B8BECC"/>
                </a:solidFill>
                <a:latin typeface="맑은 고딕"/>
              </a:rPr>
              <a:t>빠른 전투 리듬, 런 내 빌드 다양성</a:t>
            </a:r>
          </a:p>
        </p:txBody>
      </p:sp>
      <p:sp>
        <p:nvSpPr>
          <p:cNvPr id="38" name="Rectangle 37"/>
          <p:cNvSpPr/>
          <p:nvPr/>
        </p:nvSpPr>
        <p:spPr>
          <a:xfrm>
            <a:off x="4572000" y="516636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5202936"/>
            <a:ext cx="1371600" cy="329184"/>
          </a:xfrm>
          <a:prstGeom prst="rect">
            <a:avLst/>
          </a:prstGeom>
          <a:noFill/>
        </p:spPr>
        <p:txBody>
          <a:bodyPr wrap="square">
            <a:spAutoFit/>
          </a:bodyPr>
          <a:lstStyle/>
          <a:p>
            <a:pPr algn="l"/>
            <a:r>
              <a:rPr sz="1000" b="1">
                <a:solidFill>
                  <a:srgbClr val="C9A84C"/>
                </a:solidFill>
                <a:latin typeface="맑은 고딕"/>
              </a:rPr>
              <a:t>Hollow Knight</a:t>
            </a:r>
          </a:p>
        </p:txBody>
      </p:sp>
      <p:sp>
        <p:nvSpPr>
          <p:cNvPr id="40" name="TextBox 39"/>
          <p:cNvSpPr txBox="1"/>
          <p:nvPr/>
        </p:nvSpPr>
        <p:spPr>
          <a:xfrm>
            <a:off x="6126480" y="5239512"/>
            <a:ext cx="2377440" cy="256032"/>
          </a:xfrm>
          <a:prstGeom prst="rect">
            <a:avLst/>
          </a:prstGeom>
          <a:noFill/>
        </p:spPr>
        <p:txBody>
          <a:bodyPr wrap="square">
            <a:spAutoFit/>
          </a:bodyPr>
          <a:lstStyle/>
          <a:p>
            <a:pPr algn="l"/>
            <a:r>
              <a:rPr sz="900" b="0">
                <a:solidFill>
                  <a:srgbClr val="B8BECC"/>
                </a:solidFill>
                <a:latin typeface="맑은 고딕"/>
              </a:rPr>
              <a:t>다크 동화 비주얼 톤, 세계관 밀도</a:t>
            </a:r>
          </a:p>
        </p:txBody>
      </p:sp>
      <p:sp>
        <p:nvSpPr>
          <p:cNvPr id="41" name="Rectangle 40"/>
          <p:cNvSpPr/>
          <p:nvPr/>
        </p:nvSpPr>
        <p:spPr>
          <a:xfrm>
            <a:off x="4572000" y="566928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60" y="5705856"/>
            <a:ext cx="1371600" cy="329184"/>
          </a:xfrm>
          <a:prstGeom prst="rect">
            <a:avLst/>
          </a:prstGeom>
          <a:noFill/>
        </p:spPr>
        <p:txBody>
          <a:bodyPr wrap="square">
            <a:spAutoFit/>
          </a:bodyPr>
          <a:lstStyle/>
          <a:p>
            <a:pPr algn="l"/>
            <a:r>
              <a:rPr sz="1000" b="1">
                <a:solidFill>
                  <a:srgbClr val="C9A84C"/>
                </a:solidFill>
                <a:latin typeface="맑은 고딕"/>
              </a:rPr>
              <a:t>Path of Exile</a:t>
            </a:r>
          </a:p>
        </p:txBody>
      </p:sp>
      <p:sp>
        <p:nvSpPr>
          <p:cNvPr id="43" name="TextBox 42"/>
          <p:cNvSpPr txBox="1"/>
          <p:nvPr/>
        </p:nvSpPr>
        <p:spPr>
          <a:xfrm>
            <a:off x="6126480" y="5742432"/>
            <a:ext cx="2377440" cy="256032"/>
          </a:xfrm>
          <a:prstGeom prst="rect">
            <a:avLst/>
          </a:prstGeom>
          <a:noFill/>
        </p:spPr>
        <p:txBody>
          <a:bodyPr wrap="square">
            <a:spAutoFit/>
          </a:bodyPr>
          <a:lstStyle/>
          <a:p>
            <a:pPr algn="l"/>
            <a:r>
              <a:rPr sz="900" b="0">
                <a:solidFill>
                  <a:srgbClr val="B8BECC"/>
                </a:solidFill>
                <a:latin typeface="맑은 고딕"/>
              </a:rPr>
              <a:t>스탯 레이어 깊이, 빌드 다양성</a:t>
            </a:r>
          </a:p>
        </p:txBody>
      </p:sp>
      <p:sp>
        <p:nvSpPr>
          <p:cNvPr id="44" name="Rectangle 43"/>
          <p:cNvSpPr/>
          <p:nvPr/>
        </p:nvSpPr>
        <p:spPr>
          <a:xfrm>
            <a:off x="8961120" y="960120"/>
            <a:ext cx="283464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61120" y="960120"/>
            <a:ext cx="28346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8280" y="1014984"/>
            <a:ext cx="2560320" cy="256032"/>
          </a:xfrm>
          <a:prstGeom prst="rect">
            <a:avLst/>
          </a:prstGeom>
          <a:noFill/>
        </p:spPr>
        <p:txBody>
          <a:bodyPr wrap="square">
            <a:spAutoFit/>
          </a:bodyPr>
          <a:lstStyle/>
          <a:p>
            <a:pPr algn="l"/>
            <a:r>
              <a:rPr sz="1200" b="1">
                <a:solidFill>
                  <a:srgbClr val="C9A84C"/>
                </a:solidFill>
                <a:latin typeface="맑은 고딕"/>
              </a:rPr>
              <a:t>핵심 키워드</a:t>
            </a:r>
          </a:p>
        </p:txBody>
      </p:sp>
      <p:sp>
        <p:nvSpPr>
          <p:cNvPr id="47" name="Rectangle 46"/>
          <p:cNvSpPr/>
          <p:nvPr/>
        </p:nvSpPr>
        <p:spPr>
          <a:xfrm>
            <a:off x="9098280" y="1417320"/>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98280" y="1435608"/>
            <a:ext cx="2560320" cy="256032"/>
          </a:xfrm>
          <a:prstGeom prst="rect">
            <a:avLst/>
          </a:prstGeom>
          <a:noFill/>
        </p:spPr>
        <p:txBody>
          <a:bodyPr wrap="square">
            <a:spAutoFit/>
          </a:bodyPr>
          <a:lstStyle/>
          <a:p>
            <a:pPr algn="ctr"/>
            <a:r>
              <a:rPr sz="1000" b="0">
                <a:solidFill>
                  <a:srgbClr val="E8D08A"/>
                </a:solidFill>
                <a:latin typeface="맑은 고딕"/>
              </a:rPr>
              <a:t>모던 다크 동화</a:t>
            </a:r>
          </a:p>
        </p:txBody>
      </p:sp>
      <p:sp>
        <p:nvSpPr>
          <p:cNvPr id="49" name="Rectangle 48"/>
          <p:cNvSpPr/>
          <p:nvPr/>
        </p:nvSpPr>
        <p:spPr>
          <a:xfrm>
            <a:off x="9098280" y="1764792"/>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98280" y="1783080"/>
            <a:ext cx="2560320" cy="256032"/>
          </a:xfrm>
          <a:prstGeom prst="rect">
            <a:avLst/>
          </a:prstGeom>
          <a:noFill/>
        </p:spPr>
        <p:txBody>
          <a:bodyPr wrap="square">
            <a:spAutoFit/>
          </a:bodyPr>
          <a:lstStyle/>
          <a:p>
            <a:pPr algn="ctr"/>
            <a:r>
              <a:rPr sz="1000" b="0">
                <a:solidFill>
                  <a:srgbClr val="E8D08A"/>
                </a:solidFill>
                <a:latin typeface="맑은 고딕"/>
              </a:rPr>
              <a:t>아서왕 전설</a:t>
            </a:r>
          </a:p>
        </p:txBody>
      </p:sp>
      <p:sp>
        <p:nvSpPr>
          <p:cNvPr id="51" name="Rectangle 50"/>
          <p:cNvSpPr/>
          <p:nvPr/>
        </p:nvSpPr>
        <p:spPr>
          <a:xfrm>
            <a:off x="9098280" y="2112264"/>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98280" y="2130552"/>
            <a:ext cx="2560320" cy="256032"/>
          </a:xfrm>
          <a:prstGeom prst="rect">
            <a:avLst/>
          </a:prstGeom>
          <a:noFill/>
        </p:spPr>
        <p:txBody>
          <a:bodyPr wrap="square">
            <a:spAutoFit/>
          </a:bodyPr>
          <a:lstStyle/>
          <a:p>
            <a:pPr algn="ctr"/>
            <a:r>
              <a:rPr sz="1000" b="0">
                <a:solidFill>
                  <a:srgbClr val="E8D08A"/>
                </a:solidFill>
                <a:latin typeface="맑은 고딕"/>
              </a:rPr>
              <a:t>영웅 유물</a:t>
            </a:r>
          </a:p>
        </p:txBody>
      </p:sp>
      <p:sp>
        <p:nvSpPr>
          <p:cNvPr id="53" name="Rectangle 52"/>
          <p:cNvSpPr/>
          <p:nvPr/>
        </p:nvSpPr>
        <p:spPr>
          <a:xfrm>
            <a:off x="9098280" y="2459736"/>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98280" y="2478024"/>
            <a:ext cx="2560320" cy="256032"/>
          </a:xfrm>
          <a:prstGeom prst="rect">
            <a:avLst/>
          </a:prstGeom>
          <a:noFill/>
        </p:spPr>
        <p:txBody>
          <a:bodyPr wrap="square">
            <a:spAutoFit/>
          </a:bodyPr>
          <a:lstStyle/>
          <a:p>
            <a:pPr algn="ctr"/>
            <a:r>
              <a:rPr sz="1000" b="0">
                <a:solidFill>
                  <a:srgbClr val="E8D08A"/>
                </a:solidFill>
                <a:latin typeface="맑은 고딕"/>
              </a:rPr>
              <a:t>서약 시스템</a:t>
            </a:r>
          </a:p>
        </p:txBody>
      </p:sp>
      <p:sp>
        <p:nvSpPr>
          <p:cNvPr id="55" name="Rectangle 54"/>
          <p:cNvSpPr/>
          <p:nvPr/>
        </p:nvSpPr>
        <p:spPr>
          <a:xfrm>
            <a:off x="9098280" y="2807208"/>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2825496"/>
            <a:ext cx="2560320" cy="256032"/>
          </a:xfrm>
          <a:prstGeom prst="rect">
            <a:avLst/>
          </a:prstGeom>
          <a:noFill/>
        </p:spPr>
        <p:txBody>
          <a:bodyPr wrap="square">
            <a:spAutoFit/>
          </a:bodyPr>
          <a:lstStyle/>
          <a:p>
            <a:pPr algn="ctr"/>
            <a:r>
              <a:rPr sz="1000" b="0">
                <a:solidFill>
                  <a:srgbClr val="E8D08A"/>
                </a:solidFill>
                <a:latin typeface="맑은 고딕"/>
              </a:rPr>
              <a:t>빌드 다양성</a:t>
            </a:r>
          </a:p>
        </p:txBody>
      </p:sp>
      <p:sp>
        <p:nvSpPr>
          <p:cNvPr id="57" name="Rectangle 56"/>
          <p:cNvSpPr/>
          <p:nvPr/>
        </p:nvSpPr>
        <p:spPr>
          <a:xfrm>
            <a:off x="9098280" y="3154680"/>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98280" y="3172968"/>
            <a:ext cx="2560320" cy="256032"/>
          </a:xfrm>
          <a:prstGeom prst="rect">
            <a:avLst/>
          </a:prstGeom>
          <a:noFill/>
        </p:spPr>
        <p:txBody>
          <a:bodyPr wrap="square">
            <a:spAutoFit/>
          </a:bodyPr>
          <a:lstStyle/>
          <a:p>
            <a:pPr algn="ctr"/>
            <a:r>
              <a:rPr sz="1000" b="0">
                <a:solidFill>
                  <a:srgbClr val="E8D08A"/>
                </a:solidFill>
                <a:latin typeface="맑은 고딕"/>
              </a:rPr>
              <a:t>시나리오 연동</a:t>
            </a:r>
          </a:p>
        </p:txBody>
      </p:sp>
      <p:sp>
        <p:nvSpPr>
          <p:cNvPr id="59" name="Rectangle 58"/>
          <p:cNvSpPr/>
          <p:nvPr/>
        </p:nvSpPr>
        <p:spPr>
          <a:xfrm>
            <a:off x="8961120" y="3703320"/>
            <a:ext cx="283464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61120" y="3703320"/>
            <a:ext cx="28346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98280" y="3758183"/>
            <a:ext cx="2560320" cy="256032"/>
          </a:xfrm>
          <a:prstGeom prst="rect">
            <a:avLst/>
          </a:prstGeom>
          <a:noFill/>
        </p:spPr>
        <p:txBody>
          <a:bodyPr wrap="square">
            <a:spAutoFit/>
          </a:bodyPr>
          <a:lstStyle/>
          <a:p>
            <a:pPr algn="l"/>
            <a:r>
              <a:rPr sz="1200" b="1">
                <a:solidFill>
                  <a:srgbClr val="C9A84C"/>
                </a:solidFill>
                <a:latin typeface="맑은 고딕"/>
              </a:rPr>
              <a:t>장르 포지셔닝</a:t>
            </a:r>
          </a:p>
        </p:txBody>
      </p:sp>
      <p:sp>
        <p:nvSpPr>
          <p:cNvPr id="62" name="TextBox 61"/>
          <p:cNvSpPr txBox="1"/>
          <p:nvPr/>
        </p:nvSpPr>
        <p:spPr>
          <a:xfrm>
            <a:off x="9098280" y="4069080"/>
            <a:ext cx="2560320" cy="2194560"/>
          </a:xfrm>
          <a:prstGeom prst="rect">
            <a:avLst/>
          </a:prstGeom>
          <a:noFill/>
        </p:spPr>
        <p:txBody>
          <a:bodyPr wrap="square">
            <a:spAutoFit/>
          </a:bodyPr>
          <a:lstStyle/>
          <a:p>
            <a:pPr algn="ctr"/>
            <a:r>
              <a:rPr sz="1050" b="0">
                <a:solidFill>
                  <a:srgbClr val="FFFFFF"/>
                </a:solidFill>
                <a:latin typeface="맑은 고딕"/>
              </a:rPr>
              <a:t>로그라이크의
매 런 신선함
+
액션 RPG의
빌드 깊이
+
서약 아이덴티티
성장의 의미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02  세계관 &amp; 시나리오</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World &amp; Scenario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02  세계관 — 배경 &amp; 핵심 인물</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48640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212080" cy="256032"/>
          </a:xfrm>
          <a:prstGeom prst="rect">
            <a:avLst/>
          </a:prstGeom>
          <a:noFill/>
        </p:spPr>
        <p:txBody>
          <a:bodyPr wrap="square">
            <a:spAutoFit/>
          </a:bodyPr>
          <a:lstStyle/>
          <a:p>
            <a:pPr algn="l"/>
            <a:r>
              <a:rPr sz="1200" b="1">
                <a:solidFill>
                  <a:srgbClr val="C9A84C"/>
                </a:solidFill>
                <a:latin typeface="맑은 고딕"/>
              </a:rPr>
              <a:t>배경 설정</a:t>
            </a:r>
          </a:p>
        </p:txBody>
      </p:sp>
      <p:sp>
        <p:nvSpPr>
          <p:cNvPr id="8" name="TextBox 7"/>
          <p:cNvSpPr txBox="1"/>
          <p:nvPr/>
        </p:nvSpPr>
        <p:spPr>
          <a:xfrm>
            <a:off x="548640" y="1371600"/>
            <a:ext cx="5120640" cy="2011680"/>
          </a:xfrm>
          <a:prstGeom prst="rect">
            <a:avLst/>
          </a:prstGeom>
          <a:noFill/>
        </p:spPr>
        <p:txBody>
          <a:bodyPr wrap="square">
            <a:spAutoFit/>
          </a:bodyPr>
          <a:lstStyle/>
          <a:p>
            <a:pPr algn="l"/>
            <a:r>
              <a:rPr sz="1050" b="0">
                <a:solidFill>
                  <a:srgbClr val="B8BECC"/>
                </a:solidFill>
                <a:latin typeface="맑은 고딕"/>
              </a:rPr>
              <a:t>아서왕 전설의 세계. 최고의 마법사 멀린이 의문의 외부 존재에 의해 살해된다.
그의 죽음과 동시에 세계는 부패하기 시작하고, 자연·고대 존재·인간 영웅들이
차례로 잠식된다.
멀린의 잔존 의지는 세계 너머에서 신성한 영혼(주인공)을 소환하고,
쓰러진 영웅들의 유물(육체)을 그 그릇으로 삼는다.</a:t>
            </a:r>
          </a:p>
        </p:txBody>
      </p:sp>
      <p:sp>
        <p:nvSpPr>
          <p:cNvPr id="9" name="Rectangle 8"/>
          <p:cNvSpPr/>
          <p:nvPr/>
        </p:nvSpPr>
        <p:spPr>
          <a:xfrm>
            <a:off x="365760" y="3657600"/>
            <a:ext cx="548640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657600"/>
            <a:ext cx="5486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712463"/>
            <a:ext cx="5212080" cy="256032"/>
          </a:xfrm>
          <a:prstGeom prst="rect">
            <a:avLst/>
          </a:prstGeom>
          <a:noFill/>
        </p:spPr>
        <p:txBody>
          <a:bodyPr wrap="square">
            <a:spAutoFit/>
          </a:bodyPr>
          <a:lstStyle/>
          <a:p>
            <a:pPr algn="l"/>
            <a:r>
              <a:rPr sz="1200" b="1">
                <a:solidFill>
                  <a:srgbClr val="C9A84C"/>
                </a:solidFill>
                <a:latin typeface="맑은 고딕"/>
              </a:rPr>
              <a:t>톤 &amp; 무드</a:t>
            </a:r>
          </a:p>
        </p:txBody>
      </p:sp>
      <p:sp>
        <p:nvSpPr>
          <p:cNvPr id="12" name="TextBox 11"/>
          <p:cNvSpPr txBox="1"/>
          <p:nvPr/>
        </p:nvSpPr>
        <p:spPr>
          <a:xfrm>
            <a:off x="548640" y="4069080"/>
            <a:ext cx="5120640" cy="320040"/>
          </a:xfrm>
          <a:prstGeom prst="rect">
            <a:avLst/>
          </a:prstGeom>
          <a:noFill/>
        </p:spPr>
        <p:txBody>
          <a:bodyPr wrap="square">
            <a:spAutoFit/>
          </a:bodyPr>
          <a:lstStyle/>
          <a:p>
            <a:pPr algn="l"/>
            <a:r>
              <a:rPr sz="1200" b="1">
                <a:solidFill>
                  <a:srgbClr val="C9A84C"/>
                </a:solidFill>
                <a:latin typeface="맑은 고딕"/>
              </a:rPr>
              <a:t>모던 다크 동화 (Modern Dark Fairy Tale)</a:t>
            </a:r>
          </a:p>
        </p:txBody>
      </p:sp>
      <p:sp>
        <p:nvSpPr>
          <p:cNvPr id="13" name="TextBox 12"/>
          <p:cNvSpPr txBox="1"/>
          <p:nvPr/>
        </p:nvSpPr>
        <p:spPr>
          <a:xfrm>
            <a:off x="548640" y="4434840"/>
            <a:ext cx="5120640" cy="1645920"/>
          </a:xfrm>
          <a:prstGeom prst="rect">
            <a:avLst/>
          </a:prstGeom>
          <a:noFill/>
        </p:spPr>
        <p:txBody>
          <a:bodyPr wrap="square">
            <a:spAutoFit/>
          </a:bodyPr>
          <a:lstStyle/>
          <a:p>
            <a:pPr algn="l"/>
            <a:r>
              <a:rPr sz="1050" b="0">
                <a:solidFill>
                  <a:srgbClr val="B8BECC"/>
                </a:solidFill>
                <a:latin typeface="맑은 고딕"/>
              </a:rPr>
              <a:t>한때 빛났던 동화의 페이지가 잠식되고 부패한 세계.
귀엽거나 밝지 않다. 어둡고 잔인하지만
아름다운 잔재가 남아있는 분위기.</a:t>
            </a:r>
          </a:p>
        </p:txBody>
      </p:sp>
      <p:sp>
        <p:nvSpPr>
          <p:cNvPr id="14" name="Rectangle 13"/>
          <p:cNvSpPr/>
          <p:nvPr/>
        </p:nvSpPr>
        <p:spPr>
          <a:xfrm>
            <a:off x="6080760" y="960120"/>
            <a:ext cx="1874519" cy="2468880"/>
          </a:xfrm>
          <a:prstGeom prst="rect">
            <a:avLst/>
          </a:prstGeom>
          <a:solidFill>
            <a:srgbClr val="161B2E"/>
          </a:solidFill>
          <a:ln w="1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033272"/>
            <a:ext cx="1874519" cy="329184"/>
          </a:xfrm>
          <a:prstGeom prst="rect">
            <a:avLst/>
          </a:prstGeom>
          <a:noFill/>
        </p:spPr>
        <p:txBody>
          <a:bodyPr wrap="square">
            <a:spAutoFit/>
          </a:bodyPr>
          <a:lstStyle/>
          <a:p>
            <a:pPr algn="ctr"/>
            <a:r>
              <a:rPr sz="1300" b="1">
                <a:solidFill>
                  <a:srgbClr val="C9A84C"/>
                </a:solidFill>
                <a:latin typeface="맑은 고딕"/>
              </a:rPr>
              <a:t>멀린</a:t>
            </a:r>
          </a:p>
        </p:txBody>
      </p:sp>
      <p:sp>
        <p:nvSpPr>
          <p:cNvPr id="17" name="TextBox 16"/>
          <p:cNvSpPr txBox="1"/>
          <p:nvPr/>
        </p:nvSpPr>
        <p:spPr>
          <a:xfrm>
            <a:off x="6172200" y="1508760"/>
            <a:ext cx="1691640" cy="1828800"/>
          </a:xfrm>
          <a:prstGeom prst="rect">
            <a:avLst/>
          </a:prstGeom>
          <a:noFill/>
        </p:spPr>
        <p:txBody>
          <a:bodyPr wrap="square">
            <a:spAutoFit/>
          </a:bodyPr>
          <a:lstStyle/>
          <a:p>
            <a:pPr algn="l"/>
            <a:r>
              <a:rPr sz="950" b="0">
                <a:solidFill>
                  <a:srgbClr val="B8BECC"/>
                </a:solidFill>
                <a:latin typeface="맑은 고딕"/>
              </a:rPr>
              <a:t>사망한 마법사. 잔존 의지로 안내.
런마다 목소리로 대화. 점점 약해짐.</a:t>
            </a:r>
          </a:p>
        </p:txBody>
      </p:sp>
      <p:sp>
        <p:nvSpPr>
          <p:cNvPr id="18" name="Rectangle 17"/>
          <p:cNvSpPr/>
          <p:nvPr/>
        </p:nvSpPr>
        <p:spPr>
          <a:xfrm>
            <a:off x="8092440" y="960120"/>
            <a:ext cx="1874519" cy="2468880"/>
          </a:xfrm>
          <a:prstGeom prst="rect">
            <a:avLst/>
          </a:prstGeom>
          <a:solidFill>
            <a:srgbClr val="161B2E"/>
          </a:solidFill>
          <a:ln w="18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1033272"/>
            <a:ext cx="1874519" cy="329184"/>
          </a:xfrm>
          <a:prstGeom prst="rect">
            <a:avLst/>
          </a:prstGeom>
          <a:noFill/>
        </p:spPr>
        <p:txBody>
          <a:bodyPr wrap="square">
            <a:spAutoFit/>
          </a:bodyPr>
          <a:lstStyle/>
          <a:p>
            <a:pPr algn="ctr"/>
            <a:r>
              <a:rPr sz="1300" b="1">
                <a:solidFill>
                  <a:srgbClr val="4AC2B8"/>
                </a:solidFill>
                <a:latin typeface="맑은 고딕"/>
              </a:rPr>
              <a:t>주인공</a:t>
            </a:r>
          </a:p>
        </p:txBody>
      </p:sp>
      <p:sp>
        <p:nvSpPr>
          <p:cNvPr id="21" name="TextBox 20"/>
          <p:cNvSpPr txBox="1"/>
          <p:nvPr/>
        </p:nvSpPr>
        <p:spPr>
          <a:xfrm>
            <a:off x="8183880" y="1508760"/>
            <a:ext cx="1691640" cy="1828800"/>
          </a:xfrm>
          <a:prstGeom prst="rect">
            <a:avLst/>
          </a:prstGeom>
          <a:noFill/>
        </p:spPr>
        <p:txBody>
          <a:bodyPr wrap="square">
            <a:spAutoFit/>
          </a:bodyPr>
          <a:lstStyle/>
          <a:p>
            <a:pPr algn="l"/>
            <a:r>
              <a:rPr sz="950" b="0">
                <a:solidFill>
                  <a:srgbClr val="B8BECC"/>
                </a:solidFill>
                <a:latin typeface="맑은 고딕"/>
              </a:rPr>
              <a:t>신성한 영혼. 영웅 유물(육체)을
빌려 전투. 사망 시 멀린이 복구.</a:t>
            </a:r>
          </a:p>
        </p:txBody>
      </p:sp>
      <p:sp>
        <p:nvSpPr>
          <p:cNvPr id="22" name="Rectangle 21"/>
          <p:cNvSpPr/>
          <p:nvPr/>
        </p:nvSpPr>
        <p:spPr>
          <a:xfrm>
            <a:off x="10104120" y="960120"/>
            <a:ext cx="1874519" cy="2468880"/>
          </a:xfrm>
          <a:prstGeom prst="rect">
            <a:avLst/>
          </a:prstGeom>
          <a:solidFill>
            <a:srgbClr val="161B2E"/>
          </a:solidFill>
          <a:ln w="18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0412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04120" y="1033272"/>
            <a:ext cx="1874519" cy="329184"/>
          </a:xfrm>
          <a:prstGeom prst="rect">
            <a:avLst/>
          </a:prstGeom>
          <a:noFill/>
        </p:spPr>
        <p:txBody>
          <a:bodyPr wrap="square">
            <a:spAutoFit/>
          </a:bodyPr>
          <a:lstStyle/>
          <a:p>
            <a:pPr algn="ctr"/>
            <a:r>
              <a:rPr sz="1300" b="1">
                <a:solidFill>
                  <a:srgbClr val="CC4444"/>
                </a:solidFill>
                <a:latin typeface="맑은 고딕"/>
              </a:rPr>
              <a:t>모드레드</a:t>
            </a:r>
          </a:p>
        </p:txBody>
      </p:sp>
      <p:sp>
        <p:nvSpPr>
          <p:cNvPr id="25" name="TextBox 24"/>
          <p:cNvSpPr txBox="1"/>
          <p:nvPr/>
        </p:nvSpPr>
        <p:spPr>
          <a:xfrm>
            <a:off x="10195560" y="1508760"/>
            <a:ext cx="1691640" cy="1828800"/>
          </a:xfrm>
          <a:prstGeom prst="rect">
            <a:avLst/>
          </a:prstGeom>
          <a:noFill/>
        </p:spPr>
        <p:txBody>
          <a:bodyPr wrap="square">
            <a:spAutoFit/>
          </a:bodyPr>
          <a:lstStyle/>
          <a:p>
            <a:pPr algn="l"/>
            <a:r>
              <a:rPr sz="950" b="0">
                <a:solidFill>
                  <a:srgbClr val="B8BECC"/>
                </a:solidFill>
                <a:latin typeface="맑은 고딕"/>
              </a:rPr>
              <a:t>3챕터 보스. 배신자 원탁 기사.
리치에게 잠식된 첫 번째 영웅.</a:t>
            </a:r>
          </a:p>
        </p:txBody>
      </p:sp>
      <p:sp>
        <p:nvSpPr>
          <p:cNvPr id="26" name="Rectangle 25"/>
          <p:cNvSpPr/>
          <p:nvPr/>
        </p:nvSpPr>
        <p:spPr>
          <a:xfrm>
            <a:off x="6080760" y="3749039"/>
            <a:ext cx="1874519" cy="2468880"/>
          </a:xfrm>
          <a:prstGeom prst="rect">
            <a:avLst/>
          </a:prstGeom>
          <a:solidFill>
            <a:srgbClr val="161B2E"/>
          </a:solidFill>
          <a:ln w="18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0760" y="3749039"/>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0760" y="3822191"/>
            <a:ext cx="1874519" cy="329184"/>
          </a:xfrm>
          <a:prstGeom prst="rect">
            <a:avLst/>
          </a:prstGeom>
          <a:noFill/>
        </p:spPr>
        <p:txBody>
          <a:bodyPr wrap="square">
            <a:spAutoFit/>
          </a:bodyPr>
          <a:lstStyle/>
          <a:p>
            <a:pPr algn="ctr"/>
            <a:r>
              <a:rPr sz="1300" b="1">
                <a:solidFill>
                  <a:srgbClr val="6B3F8E"/>
                </a:solidFill>
                <a:latin typeface="맑은 고딕"/>
              </a:rPr>
              <a:t>리치</a:t>
            </a:r>
          </a:p>
        </p:txBody>
      </p:sp>
      <p:sp>
        <p:nvSpPr>
          <p:cNvPr id="29" name="TextBox 28"/>
          <p:cNvSpPr txBox="1"/>
          <p:nvPr/>
        </p:nvSpPr>
        <p:spPr>
          <a:xfrm>
            <a:off x="6172200" y="4297679"/>
            <a:ext cx="1691640" cy="1828800"/>
          </a:xfrm>
          <a:prstGeom prst="rect">
            <a:avLst/>
          </a:prstGeom>
          <a:noFill/>
        </p:spPr>
        <p:txBody>
          <a:bodyPr wrap="square">
            <a:spAutoFit/>
          </a:bodyPr>
          <a:lstStyle/>
          <a:p>
            <a:pPr algn="l"/>
            <a:r>
              <a:rPr sz="950" b="0">
                <a:solidFill>
                  <a:srgbClr val="B8BECC"/>
                </a:solidFill>
                <a:latin typeface="맑은 고딕"/>
              </a:rPr>
              <a:t>최종 보스. 멀린의 육체 탈취.
멀린의 전성기 능력 그대로 복사.</a:t>
            </a:r>
          </a:p>
        </p:txBody>
      </p:sp>
      <p:sp>
        <p:nvSpPr>
          <p:cNvPr id="30" name="Rectangle 29"/>
          <p:cNvSpPr/>
          <p:nvPr/>
        </p:nvSpPr>
        <p:spPr>
          <a:xfrm>
            <a:off x="8092440" y="3749039"/>
            <a:ext cx="1874519" cy="2468880"/>
          </a:xfrm>
          <a:prstGeom prst="rect">
            <a:avLst/>
          </a:prstGeom>
          <a:solidFill>
            <a:srgbClr val="161B2E"/>
          </a:solidFill>
          <a:ln w="18000">
            <a:solidFill>
              <a:srgbClr val="88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2440" y="3749039"/>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3822191"/>
            <a:ext cx="1874519" cy="329184"/>
          </a:xfrm>
          <a:prstGeom prst="rect">
            <a:avLst/>
          </a:prstGeom>
          <a:noFill/>
        </p:spPr>
        <p:txBody>
          <a:bodyPr wrap="square">
            <a:spAutoFit/>
          </a:bodyPr>
          <a:lstStyle/>
          <a:p>
            <a:pPr algn="ctr"/>
            <a:r>
              <a:rPr sz="1300" b="1">
                <a:solidFill>
                  <a:srgbClr val="8844AA"/>
                </a:solidFill>
                <a:latin typeface="맑은 고딕"/>
              </a:rPr>
              <a:t>모르가나</a:t>
            </a:r>
          </a:p>
        </p:txBody>
      </p:sp>
      <p:sp>
        <p:nvSpPr>
          <p:cNvPr id="33" name="TextBox 32"/>
          <p:cNvSpPr txBox="1"/>
          <p:nvPr/>
        </p:nvSpPr>
        <p:spPr>
          <a:xfrm>
            <a:off x="8183880" y="4297679"/>
            <a:ext cx="1691640" cy="1828800"/>
          </a:xfrm>
          <a:prstGeom prst="rect">
            <a:avLst/>
          </a:prstGeom>
          <a:noFill/>
        </p:spPr>
        <p:txBody>
          <a:bodyPr wrap="square">
            <a:spAutoFit/>
          </a:bodyPr>
          <a:lstStyle/>
          <a:p>
            <a:pPr algn="l"/>
            <a:r>
              <a:rPr sz="950" b="0">
                <a:solidFill>
                  <a:srgbClr val="B8BECC"/>
                </a:solidFill>
                <a:latin typeface="맑은 고딕"/>
              </a:rPr>
              <a:t>포스트 엔딩 배후.
리치를 통해 멀린을 도구로 활용.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02  서사 아크 — 챕터별 빌드업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05840"/>
            <a:ext cx="2743200" cy="530352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2743200" cy="502920"/>
          </a:xfrm>
          <a:prstGeom prst="rect">
            <a:avLst/>
          </a:prstGeom>
          <a:noFill/>
        </p:spPr>
        <p:txBody>
          <a:bodyPr wrap="square">
            <a:spAutoFit/>
          </a:bodyPr>
          <a:lstStyle/>
          <a:p>
            <a:pPr algn="ctr"/>
            <a:r>
              <a:rPr sz="1200" b="1">
                <a:solidFill>
                  <a:srgbClr val="4AC2B8"/>
                </a:solidFill>
                <a:latin typeface="맑은 고딕"/>
              </a:rPr>
              <a:t>CH.1
부패의 숲</a:t>
            </a:r>
          </a:p>
        </p:txBody>
      </p:sp>
      <p:sp>
        <p:nvSpPr>
          <p:cNvPr id="8" name="TextBox 7"/>
          <p:cNvSpPr txBox="1"/>
          <p:nvPr/>
        </p:nvSpPr>
        <p:spPr>
          <a:xfrm>
            <a:off x="50292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9" name="Rectangle 8"/>
          <p:cNvSpPr/>
          <p:nvPr/>
        </p:nvSpPr>
        <p:spPr>
          <a:xfrm>
            <a:off x="50292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20240"/>
            <a:ext cx="2468880" cy="310896"/>
          </a:xfrm>
          <a:prstGeom prst="rect">
            <a:avLst/>
          </a:prstGeom>
          <a:noFill/>
        </p:spPr>
        <p:txBody>
          <a:bodyPr wrap="square">
            <a:spAutoFit/>
          </a:bodyPr>
          <a:lstStyle/>
          <a:p>
            <a:pPr algn="ctr"/>
            <a:r>
              <a:rPr sz="1000" b="1">
                <a:solidFill>
                  <a:srgbClr val="4AC2B8"/>
                </a:solidFill>
                <a:latin typeface="맑은 고딕"/>
              </a:rPr>
              <a:t>그린 나이트</a:t>
            </a:r>
          </a:p>
        </p:txBody>
      </p:sp>
      <p:sp>
        <p:nvSpPr>
          <p:cNvPr id="11" name="TextBox 10"/>
          <p:cNvSpPr txBox="1"/>
          <p:nvPr/>
        </p:nvSpPr>
        <p:spPr>
          <a:xfrm>
            <a:off x="50292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12" name="TextBox 11"/>
          <p:cNvSpPr txBox="1"/>
          <p:nvPr/>
        </p:nvSpPr>
        <p:spPr>
          <a:xfrm>
            <a:off x="502920" y="2606040"/>
            <a:ext cx="2468880" cy="731520"/>
          </a:xfrm>
          <a:prstGeom prst="rect">
            <a:avLst/>
          </a:prstGeom>
          <a:noFill/>
        </p:spPr>
        <p:txBody>
          <a:bodyPr wrap="square">
            <a:spAutoFit/>
          </a:bodyPr>
          <a:lstStyle/>
          <a:p>
            <a:pPr algn="l"/>
            <a:r>
              <a:rPr sz="1000" b="0">
                <a:solidFill>
                  <a:srgbClr val="FFFFFF"/>
                </a:solidFill>
                <a:latin typeface="맑은 고딕"/>
              </a:rPr>
              <a:t>세상이 이상하다.
원인 불명.</a:t>
            </a:r>
          </a:p>
        </p:txBody>
      </p:sp>
      <p:sp>
        <p:nvSpPr>
          <p:cNvPr id="13" name="Rectangle 12"/>
          <p:cNvSpPr/>
          <p:nvPr/>
        </p:nvSpPr>
        <p:spPr>
          <a:xfrm>
            <a:off x="50292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15" name="Rectangle 14"/>
          <p:cNvSpPr/>
          <p:nvPr/>
        </p:nvSpPr>
        <p:spPr>
          <a:xfrm>
            <a:off x="50292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86200"/>
            <a:ext cx="2286000" cy="1188720"/>
          </a:xfrm>
          <a:prstGeom prst="rect">
            <a:avLst/>
          </a:prstGeom>
          <a:noFill/>
        </p:spPr>
        <p:txBody>
          <a:bodyPr wrap="square">
            <a:spAutoFit/>
          </a:bodyPr>
          <a:lstStyle/>
          <a:p>
            <a:pPr algn="l"/>
            <a:r>
              <a:rPr sz="1000" b="0">
                <a:solidFill>
                  <a:srgbClr val="E8D08A"/>
                </a:solidFill>
                <a:latin typeface="맑은 고딕"/>
              </a:rPr>
              <a:t>"영혼이여, 근원을 찾아라."</a:t>
            </a:r>
          </a:p>
        </p:txBody>
      </p:sp>
      <p:sp>
        <p:nvSpPr>
          <p:cNvPr id="17" name="TextBox 16"/>
          <p:cNvSpPr txBox="1"/>
          <p:nvPr/>
        </p:nvSpPr>
        <p:spPr>
          <a:xfrm>
            <a:off x="310896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18" name="Rectangle 17"/>
          <p:cNvSpPr/>
          <p:nvPr/>
        </p:nvSpPr>
        <p:spPr>
          <a:xfrm>
            <a:off x="3291840" y="1005840"/>
            <a:ext cx="2743200" cy="530352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005840"/>
            <a:ext cx="2743200" cy="502920"/>
          </a:xfrm>
          <a:prstGeom prst="rect">
            <a:avLst/>
          </a:prstGeom>
          <a:noFill/>
        </p:spPr>
        <p:txBody>
          <a:bodyPr wrap="square">
            <a:spAutoFit/>
          </a:bodyPr>
          <a:lstStyle/>
          <a:p>
            <a:pPr algn="ctr"/>
            <a:r>
              <a:rPr sz="1200" b="1">
                <a:solidFill>
                  <a:srgbClr val="C9A84C"/>
                </a:solidFill>
                <a:latin typeface="맑은 고딕"/>
              </a:rPr>
              <a:t>CH.2
용암 대지</a:t>
            </a:r>
          </a:p>
        </p:txBody>
      </p:sp>
      <p:sp>
        <p:nvSpPr>
          <p:cNvPr id="21" name="TextBox 20"/>
          <p:cNvSpPr txBox="1"/>
          <p:nvPr/>
        </p:nvSpPr>
        <p:spPr>
          <a:xfrm>
            <a:off x="342900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22" name="Rectangle 21"/>
          <p:cNvSpPr/>
          <p:nvPr/>
        </p:nvSpPr>
        <p:spPr>
          <a:xfrm>
            <a:off x="342900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1920240"/>
            <a:ext cx="2468880" cy="310896"/>
          </a:xfrm>
          <a:prstGeom prst="rect">
            <a:avLst/>
          </a:prstGeom>
          <a:noFill/>
        </p:spPr>
        <p:txBody>
          <a:bodyPr wrap="square">
            <a:spAutoFit/>
          </a:bodyPr>
          <a:lstStyle/>
          <a:p>
            <a:pPr algn="ctr"/>
            <a:r>
              <a:rPr sz="1000" b="1">
                <a:solidFill>
                  <a:srgbClr val="C9A84C"/>
                </a:solidFill>
                <a:latin typeface="맑은 고딕"/>
              </a:rPr>
              <a:t>이 드레이그 고흐</a:t>
            </a:r>
          </a:p>
        </p:txBody>
      </p:sp>
      <p:sp>
        <p:nvSpPr>
          <p:cNvPr id="24" name="TextBox 23"/>
          <p:cNvSpPr txBox="1"/>
          <p:nvPr/>
        </p:nvSpPr>
        <p:spPr>
          <a:xfrm>
            <a:off x="342900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25" name="TextBox 24"/>
          <p:cNvSpPr txBox="1"/>
          <p:nvPr/>
        </p:nvSpPr>
        <p:spPr>
          <a:xfrm>
            <a:off x="3429000" y="2606040"/>
            <a:ext cx="2468880" cy="731520"/>
          </a:xfrm>
          <a:prstGeom prst="rect">
            <a:avLst/>
          </a:prstGeom>
          <a:noFill/>
        </p:spPr>
        <p:txBody>
          <a:bodyPr wrap="square">
            <a:spAutoFit/>
          </a:bodyPr>
          <a:lstStyle/>
          <a:p>
            <a:pPr algn="l"/>
            <a:r>
              <a:rPr sz="1000" b="0">
                <a:solidFill>
                  <a:srgbClr val="FFFFFF"/>
                </a:solidFill>
                <a:latin typeface="맑은 고딕"/>
              </a:rPr>
              <a:t>고대 존재까지 잠식.
하나의 의지가 있음.</a:t>
            </a:r>
          </a:p>
        </p:txBody>
      </p:sp>
      <p:sp>
        <p:nvSpPr>
          <p:cNvPr id="26" name="Rectangle 25"/>
          <p:cNvSpPr/>
          <p:nvPr/>
        </p:nvSpPr>
        <p:spPr>
          <a:xfrm>
            <a:off x="342900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28" name="Rectangle 27"/>
          <p:cNvSpPr/>
          <p:nvPr/>
        </p:nvSpPr>
        <p:spPr>
          <a:xfrm>
            <a:off x="342900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3886200"/>
            <a:ext cx="2286000" cy="1188720"/>
          </a:xfrm>
          <a:prstGeom prst="rect">
            <a:avLst/>
          </a:prstGeom>
          <a:noFill/>
        </p:spPr>
        <p:txBody>
          <a:bodyPr wrap="square">
            <a:spAutoFit/>
          </a:bodyPr>
          <a:lstStyle/>
          <a:p>
            <a:pPr algn="l"/>
            <a:r>
              <a:rPr sz="1000" b="0">
                <a:solidFill>
                  <a:srgbClr val="E8D08A"/>
                </a:solidFill>
                <a:latin typeface="맑은 고딕"/>
              </a:rPr>
              <a:t>"이 부패는 의지를 가지고 있어."</a:t>
            </a:r>
          </a:p>
        </p:txBody>
      </p:sp>
      <p:sp>
        <p:nvSpPr>
          <p:cNvPr id="30" name="TextBox 29"/>
          <p:cNvSpPr txBox="1"/>
          <p:nvPr/>
        </p:nvSpPr>
        <p:spPr>
          <a:xfrm>
            <a:off x="603504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31" name="Rectangle 30"/>
          <p:cNvSpPr/>
          <p:nvPr/>
        </p:nvSpPr>
        <p:spPr>
          <a:xfrm>
            <a:off x="6217920" y="1005840"/>
            <a:ext cx="2743200" cy="530352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005840"/>
            <a:ext cx="2743200" cy="502920"/>
          </a:xfrm>
          <a:prstGeom prst="rect">
            <a:avLst/>
          </a:prstGeom>
          <a:noFill/>
        </p:spPr>
        <p:txBody>
          <a:bodyPr wrap="square">
            <a:spAutoFit/>
          </a:bodyPr>
          <a:lstStyle/>
          <a:p>
            <a:pPr algn="ctr"/>
            <a:r>
              <a:rPr sz="1200" b="1">
                <a:solidFill>
                  <a:srgbClr val="CC4444"/>
                </a:solidFill>
                <a:latin typeface="맑은 고딕"/>
              </a:rPr>
              <a:t>CH.3
잠식된 성채</a:t>
            </a:r>
          </a:p>
        </p:txBody>
      </p:sp>
      <p:sp>
        <p:nvSpPr>
          <p:cNvPr id="34" name="TextBox 33"/>
          <p:cNvSpPr txBox="1"/>
          <p:nvPr/>
        </p:nvSpPr>
        <p:spPr>
          <a:xfrm>
            <a:off x="635508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35" name="Rectangle 34"/>
          <p:cNvSpPr/>
          <p:nvPr/>
        </p:nvSpPr>
        <p:spPr>
          <a:xfrm>
            <a:off x="635508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1920240"/>
            <a:ext cx="2468880" cy="310896"/>
          </a:xfrm>
          <a:prstGeom prst="rect">
            <a:avLst/>
          </a:prstGeom>
          <a:noFill/>
        </p:spPr>
        <p:txBody>
          <a:bodyPr wrap="square">
            <a:spAutoFit/>
          </a:bodyPr>
          <a:lstStyle/>
          <a:p>
            <a:pPr algn="ctr"/>
            <a:r>
              <a:rPr sz="1000" b="1">
                <a:solidFill>
                  <a:srgbClr val="CC4444"/>
                </a:solidFill>
                <a:latin typeface="맑은 고딕"/>
              </a:rPr>
              <a:t>모드레드</a:t>
            </a:r>
          </a:p>
        </p:txBody>
      </p:sp>
      <p:sp>
        <p:nvSpPr>
          <p:cNvPr id="37" name="TextBox 36"/>
          <p:cNvSpPr txBox="1"/>
          <p:nvPr/>
        </p:nvSpPr>
        <p:spPr>
          <a:xfrm>
            <a:off x="635508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38" name="TextBox 37"/>
          <p:cNvSpPr txBox="1"/>
          <p:nvPr/>
        </p:nvSpPr>
        <p:spPr>
          <a:xfrm>
            <a:off x="6355080" y="2606040"/>
            <a:ext cx="2468880" cy="731520"/>
          </a:xfrm>
          <a:prstGeom prst="rect">
            <a:avLst/>
          </a:prstGeom>
          <a:noFill/>
        </p:spPr>
        <p:txBody>
          <a:bodyPr wrap="square">
            <a:spAutoFit/>
          </a:bodyPr>
          <a:lstStyle/>
          <a:p>
            <a:pPr algn="l"/>
            <a:r>
              <a:rPr sz="1000" b="0">
                <a:solidFill>
                  <a:srgbClr val="FFFFFF"/>
                </a:solidFill>
                <a:latin typeface="맑은 고딕"/>
              </a:rPr>
              <a:t>영웅이 잠식됨.
복사의 흔적 발견.</a:t>
            </a:r>
          </a:p>
        </p:txBody>
      </p:sp>
      <p:sp>
        <p:nvSpPr>
          <p:cNvPr id="39" name="Rectangle 38"/>
          <p:cNvSpPr/>
          <p:nvPr/>
        </p:nvSpPr>
        <p:spPr>
          <a:xfrm>
            <a:off x="635508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41" name="Rectangle 40"/>
          <p:cNvSpPr/>
          <p:nvPr/>
        </p:nvSpPr>
        <p:spPr>
          <a:xfrm>
            <a:off x="635508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3886200"/>
            <a:ext cx="2286000" cy="1188720"/>
          </a:xfrm>
          <a:prstGeom prst="rect">
            <a:avLst/>
          </a:prstGeom>
          <a:noFill/>
        </p:spPr>
        <p:txBody>
          <a:bodyPr wrap="square">
            <a:spAutoFit/>
          </a:bodyPr>
          <a:lstStyle/>
          <a:p>
            <a:pPr algn="l"/>
            <a:r>
              <a:rPr sz="1000" b="0">
                <a:solidFill>
                  <a:srgbClr val="E8D08A"/>
                </a:solidFill>
                <a:latin typeface="맑은 고딕"/>
              </a:rPr>
              <a:t>"내 기억이 흐릿해지고 있어..."</a:t>
            </a:r>
          </a:p>
        </p:txBody>
      </p:sp>
      <p:sp>
        <p:nvSpPr>
          <p:cNvPr id="43" name="TextBox 42"/>
          <p:cNvSpPr txBox="1"/>
          <p:nvPr/>
        </p:nvSpPr>
        <p:spPr>
          <a:xfrm>
            <a:off x="896112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44" name="Rectangle 43"/>
          <p:cNvSpPr/>
          <p:nvPr/>
        </p:nvSpPr>
        <p:spPr>
          <a:xfrm>
            <a:off x="9144000" y="1005840"/>
            <a:ext cx="2743200" cy="530352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4400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1005840"/>
            <a:ext cx="2743200" cy="502920"/>
          </a:xfrm>
          <a:prstGeom prst="rect">
            <a:avLst/>
          </a:prstGeom>
          <a:noFill/>
        </p:spPr>
        <p:txBody>
          <a:bodyPr wrap="square">
            <a:spAutoFit/>
          </a:bodyPr>
          <a:lstStyle/>
          <a:p>
            <a:pPr algn="ctr"/>
            <a:r>
              <a:rPr sz="1200" b="1">
                <a:solidFill>
                  <a:srgbClr val="6B3F8E"/>
                </a:solidFill>
                <a:latin typeface="맑은 고딕"/>
              </a:rPr>
              <a:t>CH.4
암흑대지</a:t>
            </a:r>
          </a:p>
        </p:txBody>
      </p:sp>
      <p:sp>
        <p:nvSpPr>
          <p:cNvPr id="47" name="TextBox 46"/>
          <p:cNvSpPr txBox="1"/>
          <p:nvPr/>
        </p:nvSpPr>
        <p:spPr>
          <a:xfrm>
            <a:off x="928116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48" name="Rectangle 47"/>
          <p:cNvSpPr/>
          <p:nvPr/>
        </p:nvSpPr>
        <p:spPr>
          <a:xfrm>
            <a:off x="928116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81160" y="1920240"/>
            <a:ext cx="2468880" cy="310896"/>
          </a:xfrm>
          <a:prstGeom prst="rect">
            <a:avLst/>
          </a:prstGeom>
          <a:noFill/>
        </p:spPr>
        <p:txBody>
          <a:bodyPr wrap="square">
            <a:spAutoFit/>
          </a:bodyPr>
          <a:lstStyle/>
          <a:p>
            <a:pPr algn="ctr"/>
            <a:r>
              <a:rPr sz="1000" b="1">
                <a:solidFill>
                  <a:srgbClr val="6B3F8E"/>
                </a:solidFill>
                <a:latin typeface="맑은 고딕"/>
              </a:rPr>
              <a:t>리치 (멀린의 육체)</a:t>
            </a:r>
          </a:p>
        </p:txBody>
      </p:sp>
      <p:sp>
        <p:nvSpPr>
          <p:cNvPr id="50" name="TextBox 49"/>
          <p:cNvSpPr txBox="1"/>
          <p:nvPr/>
        </p:nvSpPr>
        <p:spPr>
          <a:xfrm>
            <a:off x="928116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51" name="TextBox 50"/>
          <p:cNvSpPr txBox="1"/>
          <p:nvPr/>
        </p:nvSpPr>
        <p:spPr>
          <a:xfrm>
            <a:off x="9281160" y="2606040"/>
            <a:ext cx="2468880" cy="731520"/>
          </a:xfrm>
          <a:prstGeom prst="rect">
            <a:avLst/>
          </a:prstGeom>
          <a:noFill/>
        </p:spPr>
        <p:txBody>
          <a:bodyPr wrap="square">
            <a:spAutoFit/>
          </a:bodyPr>
          <a:lstStyle/>
          <a:p>
            <a:pPr algn="l"/>
            <a:r>
              <a:rPr sz="1000" b="0">
                <a:solidFill>
                  <a:srgbClr val="FFFFFF"/>
                </a:solidFill>
                <a:latin typeface="맑은 고딕"/>
              </a:rPr>
              <a:t>복사체 연속전.
진실 완전히 드러남.</a:t>
            </a:r>
          </a:p>
        </p:txBody>
      </p:sp>
      <p:sp>
        <p:nvSpPr>
          <p:cNvPr id="52" name="Rectangle 51"/>
          <p:cNvSpPr/>
          <p:nvPr/>
        </p:nvSpPr>
        <p:spPr>
          <a:xfrm>
            <a:off x="928116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8116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54" name="Rectangle 53"/>
          <p:cNvSpPr/>
          <p:nvPr/>
        </p:nvSpPr>
        <p:spPr>
          <a:xfrm>
            <a:off x="928116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72600" y="3886200"/>
            <a:ext cx="2286000" cy="1188720"/>
          </a:xfrm>
          <a:prstGeom prst="rect">
            <a:avLst/>
          </a:prstGeom>
          <a:noFill/>
        </p:spPr>
        <p:txBody>
          <a:bodyPr wrap="square">
            <a:spAutoFit/>
          </a:bodyPr>
          <a:lstStyle/>
          <a:p>
            <a:pPr algn="l"/>
            <a:r>
              <a:rPr sz="1000" b="0">
                <a:solidFill>
                  <a:srgbClr val="E8D08A"/>
                </a:solidFill>
                <a:latin typeface="맑은 고딕"/>
              </a:rPr>
              <a:t>"막아줘."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03  코어 게임 루프</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Core Game 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03  코어 게임 루프 (v0.5 미시적 루프 갱신)</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303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029200" cy="256032"/>
          </a:xfrm>
          <a:prstGeom prst="rect">
            <a:avLst/>
          </a:prstGeom>
          <a:noFill/>
        </p:spPr>
        <p:txBody>
          <a:bodyPr wrap="square">
            <a:spAutoFit/>
          </a:bodyPr>
          <a:lstStyle/>
          <a:p>
            <a:pPr algn="l"/>
            <a:r>
              <a:rPr sz="1200" b="1">
                <a:solidFill>
                  <a:srgbClr val="C9A84C"/>
                </a:solidFill>
                <a:latin typeface="맑은 고딕"/>
              </a:rPr>
              <a:t>거시적 루프 (Macro Loop)</a:t>
            </a:r>
          </a:p>
        </p:txBody>
      </p:sp>
      <p:sp>
        <p:nvSpPr>
          <p:cNvPr id="8" name="Rectangle 7"/>
          <p:cNvSpPr/>
          <p:nvPr/>
        </p:nvSpPr>
        <p:spPr>
          <a:xfrm>
            <a:off x="548640" y="14630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81328"/>
            <a:ext cx="3200400" cy="274320"/>
          </a:xfrm>
          <a:prstGeom prst="rect">
            <a:avLst/>
          </a:prstGeom>
          <a:noFill/>
        </p:spPr>
        <p:txBody>
          <a:bodyPr wrap="square">
            <a:spAutoFit/>
          </a:bodyPr>
          <a:lstStyle/>
          <a:p>
            <a:pPr algn="l"/>
            <a:r>
              <a:rPr sz="1200" b="1">
                <a:solidFill>
                  <a:srgbClr val="C9A84C"/>
                </a:solidFill>
                <a:latin typeface="맑은 고딕"/>
              </a:rPr>
              <a:t>허브: 멀린의 탑 잔해</a:t>
            </a:r>
          </a:p>
        </p:txBody>
      </p:sp>
      <p:sp>
        <p:nvSpPr>
          <p:cNvPr id="10" name="TextBox 9"/>
          <p:cNvSpPr txBox="1"/>
          <p:nvPr/>
        </p:nvSpPr>
        <p:spPr>
          <a:xfrm>
            <a:off x="777240" y="1755648"/>
            <a:ext cx="3200400" cy="228600"/>
          </a:xfrm>
          <a:prstGeom prst="rect">
            <a:avLst/>
          </a:prstGeom>
          <a:noFill/>
        </p:spPr>
        <p:txBody>
          <a:bodyPr wrap="square">
            <a:spAutoFit/>
          </a:bodyPr>
          <a:lstStyle/>
          <a:p>
            <a:pPr algn="l"/>
            <a:r>
              <a:rPr sz="950" b="0">
                <a:solidFill>
                  <a:srgbClr val="B8BECC"/>
                </a:solidFill>
                <a:latin typeface="맑은 고딕"/>
              </a:rPr>
              <a:t>영웅 유물 + 장비 선택</a:t>
            </a:r>
          </a:p>
        </p:txBody>
      </p:sp>
      <p:sp>
        <p:nvSpPr>
          <p:cNvPr id="11" name="TextBox 10"/>
          <p:cNvSpPr txBox="1"/>
          <p:nvPr/>
        </p:nvSpPr>
        <p:spPr>
          <a:xfrm>
            <a:off x="502920" y="20116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2" name="Rectangle 11"/>
          <p:cNvSpPr/>
          <p:nvPr/>
        </p:nvSpPr>
        <p:spPr>
          <a:xfrm>
            <a:off x="548640" y="224028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58568"/>
            <a:ext cx="3200400" cy="274320"/>
          </a:xfrm>
          <a:prstGeom prst="rect">
            <a:avLst/>
          </a:prstGeom>
          <a:noFill/>
        </p:spPr>
        <p:txBody>
          <a:bodyPr wrap="square">
            <a:spAutoFit/>
          </a:bodyPr>
          <a:lstStyle/>
          <a:p>
            <a:pPr algn="l"/>
            <a:r>
              <a:rPr sz="1200" b="1">
                <a:solidFill>
                  <a:srgbClr val="4AC2B8"/>
                </a:solidFill>
                <a:latin typeface="맑은 고딕"/>
              </a:rPr>
              <a:t>런 시작</a:t>
            </a:r>
          </a:p>
        </p:txBody>
      </p:sp>
      <p:sp>
        <p:nvSpPr>
          <p:cNvPr id="14" name="TextBox 13"/>
          <p:cNvSpPr txBox="1"/>
          <p:nvPr/>
        </p:nvSpPr>
        <p:spPr>
          <a:xfrm>
            <a:off x="777240" y="2532888"/>
            <a:ext cx="3200400" cy="228600"/>
          </a:xfrm>
          <a:prstGeom prst="rect">
            <a:avLst/>
          </a:prstGeom>
          <a:noFill/>
        </p:spPr>
        <p:txBody>
          <a:bodyPr wrap="square">
            <a:spAutoFit/>
          </a:bodyPr>
          <a:lstStyle/>
          <a:p>
            <a:pPr algn="l"/>
            <a:r>
              <a:rPr sz="950" b="0">
                <a:solidFill>
                  <a:srgbClr val="B8BECC"/>
                </a:solidFill>
                <a:latin typeface="맑은 고딕"/>
              </a:rPr>
              <a:t>서약 3종 중 1개 선택 (기본)</a:t>
            </a:r>
          </a:p>
        </p:txBody>
      </p:sp>
      <p:sp>
        <p:nvSpPr>
          <p:cNvPr id="15" name="TextBox 14"/>
          <p:cNvSpPr txBox="1"/>
          <p:nvPr/>
        </p:nvSpPr>
        <p:spPr>
          <a:xfrm>
            <a:off x="502920" y="27889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6" name="Rectangle 15"/>
          <p:cNvSpPr/>
          <p:nvPr/>
        </p:nvSpPr>
        <p:spPr>
          <a:xfrm>
            <a:off x="548640" y="301752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35808"/>
            <a:ext cx="3200400" cy="274320"/>
          </a:xfrm>
          <a:prstGeom prst="rect">
            <a:avLst/>
          </a:prstGeom>
          <a:noFill/>
        </p:spPr>
        <p:txBody>
          <a:bodyPr wrap="square">
            <a:spAutoFit/>
          </a:bodyPr>
          <a:lstStyle/>
          <a:p>
            <a:pPr algn="l"/>
            <a:r>
              <a:rPr sz="1200" b="1">
                <a:solidFill>
                  <a:srgbClr val="FFFFFF"/>
                </a:solidFill>
                <a:latin typeface="맑은 고딕"/>
              </a:rPr>
              <a:t>챕터 1~4 진행</a:t>
            </a:r>
          </a:p>
        </p:txBody>
      </p:sp>
      <p:sp>
        <p:nvSpPr>
          <p:cNvPr id="18" name="TextBox 17"/>
          <p:cNvSpPr txBox="1"/>
          <p:nvPr/>
        </p:nvSpPr>
        <p:spPr>
          <a:xfrm>
            <a:off x="777240" y="3310127"/>
            <a:ext cx="3200400" cy="228600"/>
          </a:xfrm>
          <a:prstGeom prst="rect">
            <a:avLst/>
          </a:prstGeom>
          <a:noFill/>
        </p:spPr>
        <p:txBody>
          <a:bodyPr wrap="square">
            <a:spAutoFit/>
          </a:bodyPr>
          <a:lstStyle/>
          <a:p>
            <a:pPr algn="l"/>
            <a:r>
              <a:rPr sz="950" b="0">
                <a:solidFill>
                  <a:srgbClr val="B8BECC"/>
                </a:solidFill>
                <a:latin typeface="맑은 고딕"/>
              </a:rPr>
              <a:t>방 탐색 · 전투 · 아이템 그리드</a:t>
            </a:r>
          </a:p>
        </p:txBody>
      </p:sp>
      <p:sp>
        <p:nvSpPr>
          <p:cNvPr id="19" name="TextBox 18"/>
          <p:cNvSpPr txBox="1"/>
          <p:nvPr/>
        </p:nvSpPr>
        <p:spPr>
          <a:xfrm>
            <a:off x="502920" y="356616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0" name="Rectangle 19"/>
          <p:cNvSpPr/>
          <p:nvPr/>
        </p:nvSpPr>
        <p:spPr>
          <a:xfrm>
            <a:off x="548640" y="3794760"/>
            <a:ext cx="73152" cy="502920"/>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813048"/>
            <a:ext cx="3200400" cy="274320"/>
          </a:xfrm>
          <a:prstGeom prst="rect">
            <a:avLst/>
          </a:prstGeom>
          <a:noFill/>
        </p:spPr>
        <p:txBody>
          <a:bodyPr wrap="square">
            <a:spAutoFit/>
          </a:bodyPr>
          <a:lstStyle/>
          <a:p>
            <a:pPr algn="l"/>
            <a:r>
              <a:rPr sz="1200" b="1">
                <a:solidFill>
                  <a:srgbClr val="CC4444"/>
                </a:solidFill>
                <a:latin typeface="맑은 고딕"/>
              </a:rPr>
              <a:t>사망 또는 클리어</a:t>
            </a:r>
          </a:p>
        </p:txBody>
      </p:sp>
      <p:sp>
        <p:nvSpPr>
          <p:cNvPr id="22" name="TextBox 21"/>
          <p:cNvSpPr txBox="1"/>
          <p:nvPr/>
        </p:nvSpPr>
        <p:spPr>
          <a:xfrm>
            <a:off x="502920" y="43434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3" name="Rectangle 22"/>
          <p:cNvSpPr/>
          <p:nvPr/>
        </p:nvSpPr>
        <p:spPr>
          <a:xfrm>
            <a:off x="548640" y="457200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90288"/>
            <a:ext cx="3200400" cy="274320"/>
          </a:xfrm>
          <a:prstGeom prst="rect">
            <a:avLst/>
          </a:prstGeom>
          <a:noFill/>
        </p:spPr>
        <p:txBody>
          <a:bodyPr wrap="square">
            <a:spAutoFit/>
          </a:bodyPr>
          <a:lstStyle/>
          <a:p>
            <a:pPr algn="l"/>
            <a:r>
              <a:rPr sz="1200" b="1">
                <a:solidFill>
                  <a:srgbClr val="C9A84C"/>
                </a:solidFill>
                <a:latin typeface="맑은 고딕"/>
              </a:rPr>
              <a:t>허브 복귀</a:t>
            </a:r>
          </a:p>
        </p:txBody>
      </p:sp>
      <p:sp>
        <p:nvSpPr>
          <p:cNvPr id="25" name="TextBox 24"/>
          <p:cNvSpPr txBox="1"/>
          <p:nvPr/>
        </p:nvSpPr>
        <p:spPr>
          <a:xfrm>
            <a:off x="777240" y="4864608"/>
            <a:ext cx="3200400" cy="228600"/>
          </a:xfrm>
          <a:prstGeom prst="rect">
            <a:avLst/>
          </a:prstGeom>
          <a:noFill/>
        </p:spPr>
        <p:txBody>
          <a:bodyPr wrap="square">
            <a:spAutoFit/>
          </a:bodyPr>
          <a:lstStyle/>
          <a:p>
            <a:pPr algn="l"/>
            <a:r>
              <a:rPr sz="950" b="0">
                <a:solidFill>
                  <a:srgbClr val="B8BECC"/>
                </a:solidFill>
                <a:latin typeface="맑은 고딕"/>
              </a:rPr>
              <a:t>재화 소비 · 서약/해방/각성</a:t>
            </a:r>
          </a:p>
        </p:txBody>
      </p:sp>
      <p:sp>
        <p:nvSpPr>
          <p:cNvPr id="26" name="TextBox 25"/>
          <p:cNvSpPr txBox="1"/>
          <p:nvPr/>
        </p:nvSpPr>
        <p:spPr>
          <a:xfrm>
            <a:off x="502920" y="51206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7" name="Rectangle 26"/>
          <p:cNvSpPr/>
          <p:nvPr/>
        </p:nvSpPr>
        <p:spPr>
          <a:xfrm>
            <a:off x="548640" y="534924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67527"/>
            <a:ext cx="3200400" cy="274320"/>
          </a:xfrm>
          <a:prstGeom prst="rect">
            <a:avLst/>
          </a:prstGeom>
          <a:noFill/>
        </p:spPr>
        <p:txBody>
          <a:bodyPr wrap="square">
            <a:spAutoFit/>
          </a:bodyPr>
          <a:lstStyle/>
          <a:p>
            <a:pPr algn="l"/>
            <a:r>
              <a:rPr sz="1200" b="1">
                <a:solidFill>
                  <a:srgbClr val="4AC2B8"/>
                </a:solidFill>
                <a:latin typeface="맑은 고딕"/>
              </a:rPr>
              <a:t>강해진 영혼으로 재도전</a:t>
            </a:r>
          </a:p>
        </p:txBody>
      </p:sp>
      <p:sp>
        <p:nvSpPr>
          <p:cNvPr id="29" name="TextBox 28"/>
          <p:cNvSpPr txBox="1"/>
          <p:nvPr/>
        </p:nvSpPr>
        <p:spPr>
          <a:xfrm>
            <a:off x="777240" y="5641848"/>
            <a:ext cx="3200400" cy="228600"/>
          </a:xfrm>
          <a:prstGeom prst="rect">
            <a:avLst/>
          </a:prstGeom>
          <a:noFill/>
        </p:spPr>
        <p:txBody>
          <a:bodyPr wrap="square">
            <a:spAutoFit/>
          </a:bodyPr>
          <a:lstStyle/>
          <a:p>
            <a:pPr algn="l"/>
            <a:r>
              <a:rPr sz="950" b="0">
                <a:solidFill>
                  <a:srgbClr val="B8BECC"/>
                </a:solidFill>
                <a:latin typeface="맑은 고딕"/>
              </a:rPr>
              <a:t>반복</a:t>
            </a:r>
          </a:p>
        </p:txBody>
      </p:sp>
      <p:sp>
        <p:nvSpPr>
          <p:cNvPr id="30" name="Rectangle 29"/>
          <p:cNvSpPr/>
          <p:nvPr/>
        </p:nvSpPr>
        <p:spPr>
          <a:xfrm>
            <a:off x="5943600" y="960120"/>
            <a:ext cx="585216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960120"/>
            <a:ext cx="585216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1014984"/>
            <a:ext cx="5577840" cy="256032"/>
          </a:xfrm>
          <a:prstGeom prst="rect">
            <a:avLst/>
          </a:prstGeom>
          <a:noFill/>
        </p:spPr>
        <p:txBody>
          <a:bodyPr wrap="square">
            <a:spAutoFit/>
          </a:bodyPr>
          <a:lstStyle/>
          <a:p>
            <a:pPr algn="l"/>
            <a:r>
              <a:rPr sz="1200" b="1">
                <a:solidFill>
                  <a:srgbClr val="C9A84C"/>
                </a:solidFill>
                <a:latin typeface="맑은 고딕"/>
              </a:rPr>
              <a:t>미시적 루프 (Micro Loop — v0.5 갱신)</a:t>
            </a:r>
          </a:p>
        </p:txBody>
      </p:sp>
      <p:sp>
        <p:nvSpPr>
          <p:cNvPr id="33" name="Rectangle 32"/>
          <p:cNvSpPr/>
          <p:nvPr/>
        </p:nvSpPr>
        <p:spPr>
          <a:xfrm>
            <a:off x="6126480" y="146304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1481328"/>
            <a:ext cx="3200400" cy="274320"/>
          </a:xfrm>
          <a:prstGeom prst="rect">
            <a:avLst/>
          </a:prstGeom>
          <a:noFill/>
        </p:spPr>
        <p:txBody>
          <a:bodyPr wrap="square">
            <a:spAutoFit/>
          </a:bodyPr>
          <a:lstStyle/>
          <a:p>
            <a:pPr algn="l"/>
            <a:r>
              <a:rPr sz="1200" b="1">
                <a:solidFill>
                  <a:srgbClr val="4AC2B8"/>
                </a:solidFill>
                <a:latin typeface="맑은 고딕"/>
              </a:rPr>
              <a:t>런 시작</a:t>
            </a:r>
          </a:p>
        </p:txBody>
      </p:sp>
      <p:sp>
        <p:nvSpPr>
          <p:cNvPr id="35" name="TextBox 34"/>
          <p:cNvSpPr txBox="1"/>
          <p:nvPr/>
        </p:nvSpPr>
        <p:spPr>
          <a:xfrm>
            <a:off x="6355080" y="1755648"/>
            <a:ext cx="3200400" cy="228600"/>
          </a:xfrm>
          <a:prstGeom prst="rect">
            <a:avLst/>
          </a:prstGeom>
          <a:noFill/>
        </p:spPr>
        <p:txBody>
          <a:bodyPr wrap="square">
            <a:spAutoFit/>
          </a:bodyPr>
          <a:lstStyle/>
          <a:p>
            <a:pPr algn="l"/>
            <a:r>
              <a:rPr sz="950" b="0">
                <a:solidFill>
                  <a:srgbClr val="B8BECC"/>
                </a:solidFill>
                <a:latin typeface="맑은 고딕"/>
              </a:rPr>
              <a:t>서약 3종 중 1개 선택 (기본 상태)</a:t>
            </a:r>
          </a:p>
        </p:txBody>
      </p:sp>
      <p:sp>
        <p:nvSpPr>
          <p:cNvPr id="36" name="TextBox 35"/>
          <p:cNvSpPr txBox="1"/>
          <p:nvPr/>
        </p:nvSpPr>
        <p:spPr>
          <a:xfrm>
            <a:off x="6080760" y="20116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37" name="Rectangle 36"/>
          <p:cNvSpPr/>
          <p:nvPr/>
        </p:nvSpPr>
        <p:spPr>
          <a:xfrm>
            <a:off x="6126480" y="224028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2258568"/>
            <a:ext cx="3200400" cy="274320"/>
          </a:xfrm>
          <a:prstGeom prst="rect">
            <a:avLst/>
          </a:prstGeom>
          <a:noFill/>
        </p:spPr>
        <p:txBody>
          <a:bodyPr wrap="square">
            <a:spAutoFit/>
          </a:bodyPr>
          <a:lstStyle/>
          <a:p>
            <a:pPr algn="l"/>
            <a:r>
              <a:rPr sz="1200" b="1">
                <a:solidFill>
                  <a:srgbClr val="FFFFFF"/>
                </a:solidFill>
                <a:latin typeface="맑은 고딕"/>
              </a:rPr>
              <a:t>방 전투 수행</a:t>
            </a:r>
          </a:p>
        </p:txBody>
      </p:sp>
      <p:sp>
        <p:nvSpPr>
          <p:cNvPr id="39" name="TextBox 38"/>
          <p:cNvSpPr txBox="1"/>
          <p:nvPr/>
        </p:nvSpPr>
        <p:spPr>
          <a:xfrm>
            <a:off x="6355080" y="2532888"/>
            <a:ext cx="3200400" cy="228600"/>
          </a:xfrm>
          <a:prstGeom prst="rect">
            <a:avLst/>
          </a:prstGeom>
          <a:noFill/>
        </p:spPr>
        <p:txBody>
          <a:bodyPr wrap="square">
            <a:spAutoFit/>
          </a:bodyPr>
          <a:lstStyle/>
          <a:p>
            <a:pPr algn="l"/>
            <a:r>
              <a:rPr sz="950" b="0">
                <a:solidFill>
                  <a:srgbClr val="B8BECC"/>
                </a:solidFill>
                <a:latin typeface="맑은 고딕"/>
              </a:rPr>
              <a:t>영웅 메커닉 + 장비 조합 활용</a:t>
            </a:r>
          </a:p>
        </p:txBody>
      </p:sp>
      <p:sp>
        <p:nvSpPr>
          <p:cNvPr id="40" name="TextBox 39"/>
          <p:cNvSpPr txBox="1"/>
          <p:nvPr/>
        </p:nvSpPr>
        <p:spPr>
          <a:xfrm>
            <a:off x="6080760" y="27889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1" name="Rectangle 40"/>
          <p:cNvSpPr/>
          <p:nvPr/>
        </p:nvSpPr>
        <p:spPr>
          <a:xfrm>
            <a:off x="6126480" y="301752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3200400" cy="274320"/>
          </a:xfrm>
          <a:prstGeom prst="rect">
            <a:avLst/>
          </a:prstGeom>
          <a:noFill/>
        </p:spPr>
        <p:txBody>
          <a:bodyPr wrap="square">
            <a:spAutoFit/>
          </a:bodyPr>
          <a:lstStyle/>
          <a:p>
            <a:pPr algn="l"/>
            <a:r>
              <a:rPr sz="1200" b="1">
                <a:solidFill>
                  <a:srgbClr val="C9A84C"/>
                </a:solidFill>
                <a:latin typeface="맑은 고딕"/>
              </a:rPr>
              <a:t>아이템 획득</a:t>
            </a:r>
          </a:p>
        </p:txBody>
      </p:sp>
      <p:sp>
        <p:nvSpPr>
          <p:cNvPr id="43" name="TextBox 42"/>
          <p:cNvSpPr txBox="1"/>
          <p:nvPr/>
        </p:nvSpPr>
        <p:spPr>
          <a:xfrm>
            <a:off x="6355080" y="3310127"/>
            <a:ext cx="3200400" cy="228600"/>
          </a:xfrm>
          <a:prstGeom prst="rect">
            <a:avLst/>
          </a:prstGeom>
          <a:noFill/>
        </p:spPr>
        <p:txBody>
          <a:bodyPr wrap="square">
            <a:spAutoFit/>
          </a:bodyPr>
          <a:lstStyle/>
          <a:p>
            <a:pPr algn="l"/>
            <a:r>
              <a:rPr sz="950" b="0">
                <a:solidFill>
                  <a:srgbClr val="B8BECC"/>
                </a:solidFill>
                <a:latin typeface="맑은 고딕"/>
              </a:rPr>
              <a:t>Staging → 그리드 배치 → 효과 발동</a:t>
            </a:r>
          </a:p>
        </p:txBody>
      </p:sp>
      <p:sp>
        <p:nvSpPr>
          <p:cNvPr id="44" name="TextBox 43"/>
          <p:cNvSpPr txBox="1"/>
          <p:nvPr/>
        </p:nvSpPr>
        <p:spPr>
          <a:xfrm>
            <a:off x="6080760" y="356616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5" name="Rectangle 44"/>
          <p:cNvSpPr/>
          <p:nvPr/>
        </p:nvSpPr>
        <p:spPr>
          <a:xfrm>
            <a:off x="6126480" y="379476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3813048"/>
            <a:ext cx="3200400" cy="274320"/>
          </a:xfrm>
          <a:prstGeom prst="rect">
            <a:avLst/>
          </a:prstGeom>
          <a:noFill/>
        </p:spPr>
        <p:txBody>
          <a:bodyPr wrap="square">
            <a:spAutoFit/>
          </a:bodyPr>
          <a:lstStyle/>
          <a:p>
            <a:pPr algn="l"/>
            <a:r>
              <a:rPr sz="1200" b="1">
                <a:solidFill>
                  <a:srgbClr val="4AC2B8"/>
                </a:solidFill>
                <a:latin typeface="맑은 고딕"/>
              </a:rPr>
              <a:t>이벤트방</a:t>
            </a:r>
          </a:p>
        </p:txBody>
      </p:sp>
      <p:sp>
        <p:nvSpPr>
          <p:cNvPr id="47" name="TextBox 46"/>
          <p:cNvSpPr txBox="1"/>
          <p:nvPr/>
        </p:nvSpPr>
        <p:spPr>
          <a:xfrm>
            <a:off x="6355080" y="4087368"/>
            <a:ext cx="3200400" cy="228600"/>
          </a:xfrm>
          <a:prstGeom prst="rect">
            <a:avLst/>
          </a:prstGeom>
          <a:noFill/>
        </p:spPr>
        <p:txBody>
          <a:bodyPr wrap="square">
            <a:spAutoFit/>
          </a:bodyPr>
          <a:lstStyle/>
          <a:p>
            <a:pPr algn="l"/>
            <a:r>
              <a:rPr sz="950" b="0">
                <a:solidFill>
                  <a:srgbClr val="B8BECC"/>
                </a:solidFill>
                <a:latin typeface="맑은 고딕"/>
              </a:rPr>
              <a:t>보유 서약 중 1개 선택 → 서약 강화</a:t>
            </a:r>
          </a:p>
        </p:txBody>
      </p:sp>
      <p:sp>
        <p:nvSpPr>
          <p:cNvPr id="48" name="TextBox 47"/>
          <p:cNvSpPr txBox="1"/>
          <p:nvPr/>
        </p:nvSpPr>
        <p:spPr>
          <a:xfrm>
            <a:off x="6080760" y="43434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9" name="Rectangle 48"/>
          <p:cNvSpPr/>
          <p:nvPr/>
        </p:nvSpPr>
        <p:spPr>
          <a:xfrm>
            <a:off x="6126480" y="457200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4590288"/>
            <a:ext cx="3200400" cy="274320"/>
          </a:xfrm>
          <a:prstGeom prst="rect">
            <a:avLst/>
          </a:prstGeom>
          <a:noFill/>
        </p:spPr>
        <p:txBody>
          <a:bodyPr wrap="square">
            <a:spAutoFit/>
          </a:bodyPr>
          <a:lstStyle/>
          <a:p>
            <a:pPr algn="l"/>
            <a:r>
              <a:rPr sz="1200" b="1">
                <a:solidFill>
                  <a:srgbClr val="FFFFFF"/>
                </a:solidFill>
                <a:latin typeface="맑은 고딕"/>
              </a:rPr>
              <a:t>특별 분기 구간</a:t>
            </a:r>
          </a:p>
        </p:txBody>
      </p:sp>
      <p:sp>
        <p:nvSpPr>
          <p:cNvPr id="51" name="TextBox 50"/>
          <p:cNvSpPr txBox="1"/>
          <p:nvPr/>
        </p:nvSpPr>
        <p:spPr>
          <a:xfrm>
            <a:off x="6355080" y="4864608"/>
            <a:ext cx="3200400" cy="228600"/>
          </a:xfrm>
          <a:prstGeom prst="rect">
            <a:avLst/>
          </a:prstGeom>
          <a:noFill/>
        </p:spPr>
        <p:txBody>
          <a:bodyPr wrap="square">
            <a:spAutoFit/>
          </a:bodyPr>
          <a:lstStyle/>
          <a:p>
            <a:pPr algn="l"/>
            <a:r>
              <a:rPr sz="950" b="0">
                <a:solidFill>
                  <a:srgbClr val="B8BECC"/>
                </a:solidFill>
                <a:latin typeface="맑은 고딕"/>
              </a:rPr>
              <a:t>서약 추가 획득 (최대 3~4개)</a:t>
            </a:r>
          </a:p>
        </p:txBody>
      </p:sp>
      <p:sp>
        <p:nvSpPr>
          <p:cNvPr id="52" name="TextBox 51"/>
          <p:cNvSpPr txBox="1"/>
          <p:nvPr/>
        </p:nvSpPr>
        <p:spPr>
          <a:xfrm>
            <a:off x="6080760" y="51206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53" name="Rectangle 52"/>
          <p:cNvSpPr/>
          <p:nvPr/>
        </p:nvSpPr>
        <p:spPr>
          <a:xfrm>
            <a:off x="6126480" y="53492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55080" y="5367527"/>
            <a:ext cx="3200400" cy="274320"/>
          </a:xfrm>
          <a:prstGeom prst="rect">
            <a:avLst/>
          </a:prstGeom>
          <a:noFill/>
        </p:spPr>
        <p:txBody>
          <a:bodyPr wrap="square">
            <a:spAutoFit/>
          </a:bodyPr>
          <a:lstStyle/>
          <a:p>
            <a:pPr algn="l"/>
            <a:r>
              <a:rPr sz="1200" b="1">
                <a:solidFill>
                  <a:srgbClr val="C9A84C"/>
                </a:solidFill>
                <a:latin typeface="맑은 고딕"/>
              </a:rPr>
              <a:t>보스방</a:t>
            </a:r>
          </a:p>
        </p:txBody>
      </p:sp>
      <p:sp>
        <p:nvSpPr>
          <p:cNvPr id="55" name="TextBox 54"/>
          <p:cNvSpPr txBox="1"/>
          <p:nvPr/>
        </p:nvSpPr>
        <p:spPr>
          <a:xfrm>
            <a:off x="6355080" y="5641848"/>
            <a:ext cx="3200400" cy="228600"/>
          </a:xfrm>
          <a:prstGeom prst="rect">
            <a:avLst/>
          </a:prstGeom>
          <a:noFill/>
        </p:spPr>
        <p:txBody>
          <a:bodyPr wrap="square">
            <a:spAutoFit/>
          </a:bodyPr>
          <a:lstStyle/>
          <a:p>
            <a:pPr algn="l"/>
            <a:r>
              <a:rPr sz="950" b="0">
                <a:solidFill>
                  <a:srgbClr val="B8BECC"/>
                </a:solidFill>
                <a:latin typeface="맑은 고딕"/>
              </a:rPr>
              <a:t>격파 → 서약 1개 진화 + 유물 코어 획득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04  영웅 유물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Hero Relic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시스템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설계 원칙</a:t>
            </a:r>
          </a:p>
        </p:txBody>
      </p:sp>
      <p:sp>
        <p:nvSpPr>
          <p:cNvPr id="8" name="TextBox 7"/>
          <p:cNvSpPr txBox="1"/>
          <p:nvPr/>
        </p:nvSpPr>
        <p:spPr>
          <a:xfrm>
            <a:off x="548640" y="1234440"/>
            <a:ext cx="11064240" cy="411480"/>
          </a:xfrm>
          <a:prstGeom prst="rect">
            <a:avLst/>
          </a:prstGeom>
          <a:noFill/>
        </p:spPr>
        <p:txBody>
          <a:bodyPr wrap="square">
            <a:spAutoFit/>
          </a:bodyPr>
          <a:lstStyle/>
          <a:p>
            <a:pPr algn="l"/>
            <a:r>
              <a:rPr sz="1200" b="0">
                <a:solidFill>
                  <a:srgbClr val="E8D08A"/>
                </a:solidFill>
                <a:latin typeface="맑은 고딕"/>
              </a:rPr>
              <a:t>영웅의 이름은 잊혀졌다. 남은 건 유물뿐이다.  —  패시브 이름·스킬·대사로만 정체를 암시. 플레이어가 직접 유추.</a:t>
            </a:r>
          </a:p>
        </p:txBody>
      </p:sp>
      <p:sp>
        <p:nvSpPr>
          <p:cNvPr id="9" name="TextBox 8"/>
          <p:cNvSpPr txBox="1"/>
          <p:nvPr/>
        </p:nvSpPr>
        <p:spPr>
          <a:xfrm>
            <a:off x="548640" y="1691640"/>
            <a:ext cx="11064240" cy="411480"/>
          </a:xfrm>
          <a:prstGeom prst="rect">
            <a:avLst/>
          </a:prstGeom>
          <a:noFill/>
        </p:spPr>
        <p:txBody>
          <a:bodyPr wrap="square">
            <a:spAutoFit/>
          </a:bodyPr>
          <a:lstStyle/>
          <a:p>
            <a:pPr algn="l"/>
            <a:r>
              <a:rPr sz="1100" b="0">
                <a:solidFill>
                  <a:srgbClr val="B8BECC"/>
                </a:solidFill>
                <a:latin typeface="맑은 고딕"/>
              </a:rPr>
              <a:t>모든 영웅이 모든 장비 사용 가능  |  영웅마다 고유 패시브 + 고유 스킬 + 고유 메커닉 보유  |  해금형 순차 개방</a:t>
            </a:r>
          </a:p>
        </p:txBody>
      </p:sp>
      <p:sp>
        <p:nvSpPr>
          <p:cNvPr id="10" name="Rectangle 9"/>
          <p:cNvSpPr/>
          <p:nvPr/>
        </p:nvSpPr>
        <p:spPr>
          <a:xfrm>
            <a:off x="365760" y="2514600"/>
            <a:ext cx="2194560" cy="393192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569464"/>
            <a:ext cx="2194560" cy="347472"/>
          </a:xfrm>
          <a:prstGeom prst="rect">
            <a:avLst/>
          </a:prstGeom>
          <a:noFill/>
        </p:spPr>
        <p:txBody>
          <a:bodyPr wrap="square">
            <a:spAutoFit/>
          </a:bodyPr>
          <a:lstStyle/>
          <a:p>
            <a:pPr algn="ctr"/>
            <a:r>
              <a:rPr sz="1100" b="1">
                <a:solidFill>
                  <a:srgbClr val="4AC2B8"/>
                </a:solidFill>
                <a:latin typeface="맑은 고딕"/>
              </a:rPr>
              <a:t>성배의 수호자</a:t>
            </a:r>
          </a:p>
        </p:txBody>
      </p:sp>
      <p:sp>
        <p:nvSpPr>
          <p:cNvPr id="13" name="TextBox 12"/>
          <p:cNvSpPr txBox="1"/>
          <p:nvPr/>
        </p:nvSpPr>
        <p:spPr>
          <a:xfrm>
            <a:off x="502920" y="3108960"/>
            <a:ext cx="1920240" cy="274320"/>
          </a:xfrm>
          <a:prstGeom prst="rect">
            <a:avLst/>
          </a:prstGeom>
          <a:noFill/>
        </p:spPr>
        <p:txBody>
          <a:bodyPr wrap="square">
            <a:spAutoFit/>
          </a:bodyPr>
          <a:lstStyle/>
          <a:p>
            <a:pPr algn="l"/>
            <a:r>
              <a:rPr sz="1050" b="1">
                <a:solidFill>
                  <a:srgbClr val="FFFFFF"/>
                </a:solidFill>
                <a:latin typeface="맑은 고딕"/>
              </a:rPr>
              <a:t>방어형</a:t>
            </a:r>
          </a:p>
        </p:txBody>
      </p:sp>
      <p:sp>
        <p:nvSpPr>
          <p:cNvPr id="14" name="Rectangle 13"/>
          <p:cNvSpPr/>
          <p:nvPr/>
        </p:nvSpPr>
        <p:spPr>
          <a:xfrm>
            <a:off x="50292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16" name="Rectangle 15"/>
          <p:cNvSpPr/>
          <p:nvPr/>
        </p:nvSpPr>
        <p:spPr>
          <a:xfrm>
            <a:off x="50292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813048"/>
            <a:ext cx="1920240" cy="274320"/>
          </a:xfrm>
          <a:prstGeom prst="rect">
            <a:avLst/>
          </a:prstGeom>
          <a:noFill/>
        </p:spPr>
        <p:txBody>
          <a:bodyPr wrap="square">
            <a:spAutoFit/>
          </a:bodyPr>
          <a:lstStyle/>
          <a:p>
            <a:pPr algn="ctr"/>
            <a:r>
              <a:rPr sz="1050" b="1">
                <a:solidFill>
                  <a:srgbClr val="4AC2B8"/>
                </a:solidFill>
                <a:latin typeface="맑은 고딕"/>
              </a:rPr>
              <a:t>신성 게이지</a:t>
            </a:r>
          </a:p>
        </p:txBody>
      </p:sp>
      <p:sp>
        <p:nvSpPr>
          <p:cNvPr id="18" name="TextBox 17"/>
          <p:cNvSpPr txBox="1"/>
          <p:nvPr/>
        </p:nvSpPr>
        <p:spPr>
          <a:xfrm>
            <a:off x="475488" y="4251960"/>
            <a:ext cx="1965960" cy="320040"/>
          </a:xfrm>
          <a:prstGeom prst="rect">
            <a:avLst/>
          </a:prstGeom>
          <a:noFill/>
        </p:spPr>
        <p:txBody>
          <a:bodyPr wrap="square">
            <a:spAutoFit/>
          </a:bodyPr>
          <a:lstStyle/>
          <a:p>
            <a:pPr algn="l"/>
            <a:r>
              <a:rPr sz="850" b="0">
                <a:solidFill>
                  <a:srgbClr val="B8BECC"/>
                </a:solidFill>
                <a:latin typeface="맑은 고딕"/>
              </a:rPr>
              <a:t>HP 150 / ATK 80 / DEF 40</a:t>
            </a:r>
          </a:p>
        </p:txBody>
      </p:sp>
      <p:sp>
        <p:nvSpPr>
          <p:cNvPr id="19" name="Rectangle 18"/>
          <p:cNvSpPr/>
          <p:nvPr/>
        </p:nvSpPr>
        <p:spPr>
          <a:xfrm>
            <a:off x="50292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230368"/>
            <a:ext cx="1920240" cy="310896"/>
          </a:xfrm>
          <a:prstGeom prst="rect">
            <a:avLst/>
          </a:prstGeom>
          <a:noFill/>
        </p:spPr>
        <p:txBody>
          <a:bodyPr wrap="square">
            <a:spAutoFit/>
          </a:bodyPr>
          <a:lstStyle/>
          <a:p>
            <a:pPr algn="ctr"/>
            <a:r>
              <a:rPr sz="950" b="0">
                <a:solidFill>
                  <a:srgbClr val="E8D08A"/>
                </a:solidFill>
                <a:latin typeface="맑은 고딕"/>
              </a:rPr>
              <a:t>해금: 기본 제공</a:t>
            </a:r>
          </a:p>
        </p:txBody>
      </p:sp>
      <p:sp>
        <p:nvSpPr>
          <p:cNvPr id="21" name="Rectangle 20"/>
          <p:cNvSpPr/>
          <p:nvPr/>
        </p:nvSpPr>
        <p:spPr>
          <a:xfrm>
            <a:off x="2697479" y="2514600"/>
            <a:ext cx="2194560" cy="393192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97479"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7479" y="2569464"/>
            <a:ext cx="2194560" cy="347472"/>
          </a:xfrm>
          <a:prstGeom prst="rect">
            <a:avLst/>
          </a:prstGeom>
          <a:noFill/>
        </p:spPr>
        <p:txBody>
          <a:bodyPr wrap="square">
            <a:spAutoFit/>
          </a:bodyPr>
          <a:lstStyle/>
          <a:p>
            <a:pPr algn="ctr"/>
            <a:r>
              <a:rPr sz="1100" b="1">
                <a:solidFill>
                  <a:srgbClr val="C9A84C"/>
                </a:solidFill>
                <a:latin typeface="맑은 고딕"/>
              </a:rPr>
              <a:t>원탁의 균열</a:t>
            </a:r>
          </a:p>
        </p:txBody>
      </p:sp>
      <p:sp>
        <p:nvSpPr>
          <p:cNvPr id="24" name="TextBox 23"/>
          <p:cNvSpPr txBox="1"/>
          <p:nvPr/>
        </p:nvSpPr>
        <p:spPr>
          <a:xfrm>
            <a:off x="2834639" y="3108960"/>
            <a:ext cx="1920240" cy="274320"/>
          </a:xfrm>
          <a:prstGeom prst="rect">
            <a:avLst/>
          </a:prstGeom>
          <a:noFill/>
        </p:spPr>
        <p:txBody>
          <a:bodyPr wrap="square">
            <a:spAutoFit/>
          </a:bodyPr>
          <a:lstStyle/>
          <a:p>
            <a:pPr algn="l"/>
            <a:r>
              <a:rPr sz="1050" b="1">
                <a:solidFill>
                  <a:srgbClr val="FFFFFF"/>
                </a:solidFill>
                <a:latin typeface="맑은 고딕"/>
              </a:rPr>
              <a:t>공격형</a:t>
            </a:r>
          </a:p>
        </p:txBody>
      </p:sp>
      <p:sp>
        <p:nvSpPr>
          <p:cNvPr id="25" name="Rectangle 24"/>
          <p:cNvSpPr/>
          <p:nvPr/>
        </p:nvSpPr>
        <p:spPr>
          <a:xfrm>
            <a:off x="2834639"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39"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27" name="Rectangle 26"/>
          <p:cNvSpPr/>
          <p:nvPr/>
        </p:nvSpPr>
        <p:spPr>
          <a:xfrm>
            <a:off x="2834639"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39" y="3813048"/>
            <a:ext cx="1920240" cy="274320"/>
          </a:xfrm>
          <a:prstGeom prst="rect">
            <a:avLst/>
          </a:prstGeom>
          <a:noFill/>
        </p:spPr>
        <p:txBody>
          <a:bodyPr wrap="square">
            <a:spAutoFit/>
          </a:bodyPr>
          <a:lstStyle/>
          <a:p>
            <a:pPr algn="ctr"/>
            <a:r>
              <a:rPr sz="1050" b="1">
                <a:solidFill>
                  <a:srgbClr val="C9A84C"/>
                </a:solidFill>
                <a:latin typeface="맑은 고딕"/>
              </a:rPr>
              <a:t>콤보 게이지</a:t>
            </a:r>
          </a:p>
        </p:txBody>
      </p:sp>
      <p:sp>
        <p:nvSpPr>
          <p:cNvPr id="29" name="TextBox 28"/>
          <p:cNvSpPr txBox="1"/>
          <p:nvPr/>
        </p:nvSpPr>
        <p:spPr>
          <a:xfrm>
            <a:off x="2807208" y="4251960"/>
            <a:ext cx="1965960" cy="320040"/>
          </a:xfrm>
          <a:prstGeom prst="rect">
            <a:avLst/>
          </a:prstGeom>
          <a:noFill/>
        </p:spPr>
        <p:txBody>
          <a:bodyPr wrap="square">
            <a:spAutoFit/>
          </a:bodyPr>
          <a:lstStyle/>
          <a:p>
            <a:pPr algn="l"/>
            <a:r>
              <a:rPr sz="850" b="0">
                <a:solidFill>
                  <a:srgbClr val="B8BECC"/>
                </a:solidFill>
                <a:latin typeface="맑은 고딕"/>
              </a:rPr>
              <a:t>HP 120 / ATK 110 / DEF 20</a:t>
            </a:r>
          </a:p>
        </p:txBody>
      </p:sp>
      <p:sp>
        <p:nvSpPr>
          <p:cNvPr id="30" name="Rectangle 29"/>
          <p:cNvSpPr/>
          <p:nvPr/>
        </p:nvSpPr>
        <p:spPr>
          <a:xfrm>
            <a:off x="2834639"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39" y="5230368"/>
            <a:ext cx="1920240" cy="310896"/>
          </a:xfrm>
          <a:prstGeom prst="rect">
            <a:avLst/>
          </a:prstGeom>
          <a:noFill/>
        </p:spPr>
        <p:txBody>
          <a:bodyPr wrap="square">
            <a:spAutoFit/>
          </a:bodyPr>
          <a:lstStyle/>
          <a:p>
            <a:pPr algn="ctr"/>
            <a:r>
              <a:rPr sz="950" b="0">
                <a:solidFill>
                  <a:srgbClr val="E8D08A"/>
                </a:solidFill>
                <a:latin typeface="맑은 고딕"/>
              </a:rPr>
              <a:t>해금: 기억 ×3</a:t>
            </a:r>
          </a:p>
        </p:txBody>
      </p:sp>
      <p:sp>
        <p:nvSpPr>
          <p:cNvPr id="32" name="Rectangle 31"/>
          <p:cNvSpPr/>
          <p:nvPr/>
        </p:nvSpPr>
        <p:spPr>
          <a:xfrm>
            <a:off x="5029200" y="2514600"/>
            <a:ext cx="2194560" cy="3931920"/>
          </a:xfrm>
          <a:prstGeom prst="rect">
            <a:avLst/>
          </a:prstGeom>
          <a:solidFill>
            <a:srgbClr val="161B2E"/>
          </a:solidFill>
          <a:ln w="150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2569464"/>
            <a:ext cx="2194560" cy="347472"/>
          </a:xfrm>
          <a:prstGeom prst="rect">
            <a:avLst/>
          </a:prstGeom>
          <a:noFill/>
        </p:spPr>
        <p:txBody>
          <a:bodyPr wrap="square">
            <a:spAutoFit/>
          </a:bodyPr>
          <a:lstStyle/>
          <a:p>
            <a:pPr algn="ctr"/>
            <a:r>
              <a:rPr sz="1100" b="1">
                <a:solidFill>
                  <a:srgbClr val="FFFFFF"/>
                </a:solidFill>
                <a:latin typeface="맑은 고딕"/>
              </a:rPr>
              <a:t>여정의 창</a:t>
            </a:r>
          </a:p>
        </p:txBody>
      </p:sp>
      <p:sp>
        <p:nvSpPr>
          <p:cNvPr id="35" name="TextBox 34"/>
          <p:cNvSpPr txBox="1"/>
          <p:nvPr/>
        </p:nvSpPr>
        <p:spPr>
          <a:xfrm>
            <a:off x="5166360" y="3108960"/>
            <a:ext cx="1920240" cy="274320"/>
          </a:xfrm>
          <a:prstGeom prst="rect">
            <a:avLst/>
          </a:prstGeom>
          <a:noFill/>
        </p:spPr>
        <p:txBody>
          <a:bodyPr wrap="square">
            <a:spAutoFit/>
          </a:bodyPr>
          <a:lstStyle/>
          <a:p>
            <a:pPr algn="l"/>
            <a:r>
              <a:rPr sz="1050" b="1">
                <a:solidFill>
                  <a:srgbClr val="FFFFFF"/>
                </a:solidFill>
                <a:latin typeface="맑은 고딕"/>
              </a:rPr>
              <a:t>돌진형</a:t>
            </a:r>
          </a:p>
        </p:txBody>
      </p:sp>
      <p:sp>
        <p:nvSpPr>
          <p:cNvPr id="36" name="Rectangle 35"/>
          <p:cNvSpPr/>
          <p:nvPr/>
        </p:nvSpPr>
        <p:spPr>
          <a:xfrm>
            <a:off x="516636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6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38" name="Rectangle 37"/>
          <p:cNvSpPr/>
          <p:nvPr/>
        </p:nvSpPr>
        <p:spPr>
          <a:xfrm>
            <a:off x="516636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60" y="3813048"/>
            <a:ext cx="1920240" cy="274320"/>
          </a:xfrm>
          <a:prstGeom prst="rect">
            <a:avLst/>
          </a:prstGeom>
          <a:noFill/>
        </p:spPr>
        <p:txBody>
          <a:bodyPr wrap="square">
            <a:spAutoFit/>
          </a:bodyPr>
          <a:lstStyle/>
          <a:p>
            <a:pPr algn="ctr"/>
            <a:r>
              <a:rPr sz="1050" b="1">
                <a:solidFill>
                  <a:srgbClr val="FFFFFF"/>
                </a:solidFill>
                <a:latin typeface="맑은 고딕"/>
              </a:rPr>
              <a:t>여정 스택</a:t>
            </a:r>
          </a:p>
        </p:txBody>
      </p:sp>
      <p:sp>
        <p:nvSpPr>
          <p:cNvPr id="40" name="TextBox 39"/>
          <p:cNvSpPr txBox="1"/>
          <p:nvPr/>
        </p:nvSpPr>
        <p:spPr>
          <a:xfrm>
            <a:off x="5138928" y="4251960"/>
            <a:ext cx="1965960" cy="320040"/>
          </a:xfrm>
          <a:prstGeom prst="rect">
            <a:avLst/>
          </a:prstGeom>
          <a:noFill/>
        </p:spPr>
        <p:txBody>
          <a:bodyPr wrap="square">
            <a:spAutoFit/>
          </a:bodyPr>
          <a:lstStyle/>
          <a:p>
            <a:pPr algn="l"/>
            <a:r>
              <a:rPr sz="850" b="0">
                <a:solidFill>
                  <a:srgbClr val="B8BECC"/>
                </a:solidFill>
                <a:latin typeface="맑은 고딕"/>
              </a:rPr>
              <a:t>HP 135 / ATK 95 / DEF 30</a:t>
            </a:r>
          </a:p>
        </p:txBody>
      </p:sp>
      <p:sp>
        <p:nvSpPr>
          <p:cNvPr id="41" name="Rectangle 40"/>
          <p:cNvSpPr/>
          <p:nvPr/>
        </p:nvSpPr>
        <p:spPr>
          <a:xfrm>
            <a:off x="516636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5230368"/>
            <a:ext cx="1920240" cy="310896"/>
          </a:xfrm>
          <a:prstGeom prst="rect">
            <a:avLst/>
          </a:prstGeom>
          <a:noFill/>
        </p:spPr>
        <p:txBody>
          <a:bodyPr wrap="square">
            <a:spAutoFit/>
          </a:bodyPr>
          <a:lstStyle/>
          <a:p>
            <a:pPr algn="ctr"/>
            <a:r>
              <a:rPr sz="950" b="0">
                <a:solidFill>
                  <a:srgbClr val="E8D08A"/>
                </a:solidFill>
                <a:latin typeface="맑은 고딕"/>
              </a:rPr>
              <a:t>해금: 기억 ×5</a:t>
            </a:r>
          </a:p>
        </p:txBody>
      </p:sp>
      <p:sp>
        <p:nvSpPr>
          <p:cNvPr id="43" name="Rectangle 42"/>
          <p:cNvSpPr/>
          <p:nvPr/>
        </p:nvSpPr>
        <p:spPr>
          <a:xfrm>
            <a:off x="7360919" y="2514600"/>
            <a:ext cx="2194560" cy="3931920"/>
          </a:xfrm>
          <a:prstGeom prst="rect">
            <a:avLst/>
          </a:prstGeom>
          <a:solidFill>
            <a:srgbClr val="161B2E"/>
          </a:solidFill>
          <a:ln w="15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60919"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0919" y="2569464"/>
            <a:ext cx="2194560" cy="347472"/>
          </a:xfrm>
          <a:prstGeom prst="rect">
            <a:avLst/>
          </a:prstGeom>
          <a:noFill/>
        </p:spPr>
        <p:txBody>
          <a:bodyPr wrap="square">
            <a:spAutoFit/>
          </a:bodyPr>
          <a:lstStyle/>
          <a:p>
            <a:pPr algn="ctr"/>
            <a:r>
              <a:rPr sz="1100" b="1">
                <a:solidFill>
                  <a:srgbClr val="FFB840"/>
                </a:solidFill>
                <a:latin typeface="맑은 고딕"/>
              </a:rPr>
              <a:t>태양의 서약</a:t>
            </a:r>
          </a:p>
        </p:txBody>
      </p:sp>
      <p:sp>
        <p:nvSpPr>
          <p:cNvPr id="46" name="TextBox 45"/>
          <p:cNvSpPr txBox="1"/>
          <p:nvPr/>
        </p:nvSpPr>
        <p:spPr>
          <a:xfrm>
            <a:off x="7498079" y="3108960"/>
            <a:ext cx="1920240" cy="274320"/>
          </a:xfrm>
          <a:prstGeom prst="rect">
            <a:avLst/>
          </a:prstGeom>
          <a:noFill/>
        </p:spPr>
        <p:txBody>
          <a:bodyPr wrap="square">
            <a:spAutoFit/>
          </a:bodyPr>
          <a:lstStyle/>
          <a:p>
            <a:pPr algn="l"/>
            <a:r>
              <a:rPr sz="1050" b="1">
                <a:solidFill>
                  <a:srgbClr val="FFFFFF"/>
                </a:solidFill>
                <a:latin typeface="맑은 고딕"/>
              </a:rPr>
              <a:t>중전사형</a:t>
            </a:r>
          </a:p>
        </p:txBody>
      </p:sp>
      <p:sp>
        <p:nvSpPr>
          <p:cNvPr id="47" name="Rectangle 46"/>
          <p:cNvSpPr/>
          <p:nvPr/>
        </p:nvSpPr>
        <p:spPr>
          <a:xfrm>
            <a:off x="7498079"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79"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49" name="Rectangle 48"/>
          <p:cNvSpPr/>
          <p:nvPr/>
        </p:nvSpPr>
        <p:spPr>
          <a:xfrm>
            <a:off x="7498079"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98079" y="3813048"/>
            <a:ext cx="1920240" cy="274320"/>
          </a:xfrm>
          <a:prstGeom prst="rect">
            <a:avLst/>
          </a:prstGeom>
          <a:noFill/>
        </p:spPr>
        <p:txBody>
          <a:bodyPr wrap="square">
            <a:spAutoFit/>
          </a:bodyPr>
          <a:lstStyle/>
          <a:p>
            <a:pPr algn="ctr"/>
            <a:r>
              <a:rPr sz="1050" b="1">
                <a:solidFill>
                  <a:srgbClr val="FFB840"/>
                </a:solidFill>
                <a:latin typeface="맑은 고딕"/>
              </a:rPr>
              <a:t>태양 타이머</a:t>
            </a:r>
          </a:p>
        </p:txBody>
      </p:sp>
      <p:sp>
        <p:nvSpPr>
          <p:cNvPr id="51" name="TextBox 50"/>
          <p:cNvSpPr txBox="1"/>
          <p:nvPr/>
        </p:nvSpPr>
        <p:spPr>
          <a:xfrm>
            <a:off x="7470647" y="4251960"/>
            <a:ext cx="1965960" cy="320040"/>
          </a:xfrm>
          <a:prstGeom prst="rect">
            <a:avLst/>
          </a:prstGeom>
          <a:noFill/>
        </p:spPr>
        <p:txBody>
          <a:bodyPr wrap="square">
            <a:spAutoFit/>
          </a:bodyPr>
          <a:lstStyle/>
          <a:p>
            <a:pPr algn="l"/>
            <a:r>
              <a:rPr sz="850" b="0">
                <a:solidFill>
                  <a:srgbClr val="B8BECC"/>
                </a:solidFill>
                <a:latin typeface="맑은 고딕"/>
              </a:rPr>
              <a:t>HP 140 / ATK 105 / DEF 35</a:t>
            </a:r>
          </a:p>
        </p:txBody>
      </p:sp>
      <p:sp>
        <p:nvSpPr>
          <p:cNvPr id="52" name="Rectangle 51"/>
          <p:cNvSpPr/>
          <p:nvPr/>
        </p:nvSpPr>
        <p:spPr>
          <a:xfrm>
            <a:off x="7498079"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79" y="5230368"/>
            <a:ext cx="1920240" cy="310896"/>
          </a:xfrm>
          <a:prstGeom prst="rect">
            <a:avLst/>
          </a:prstGeom>
          <a:noFill/>
        </p:spPr>
        <p:txBody>
          <a:bodyPr wrap="square">
            <a:spAutoFit/>
          </a:bodyPr>
          <a:lstStyle/>
          <a:p>
            <a:pPr algn="ctr"/>
            <a:r>
              <a:rPr sz="950" b="0">
                <a:solidFill>
                  <a:srgbClr val="E8D08A"/>
                </a:solidFill>
                <a:latin typeface="맑은 고딕"/>
              </a:rPr>
              <a:t>해금: 기억 ×8</a:t>
            </a:r>
          </a:p>
        </p:txBody>
      </p:sp>
      <p:sp>
        <p:nvSpPr>
          <p:cNvPr id="54" name="Rectangle 53"/>
          <p:cNvSpPr/>
          <p:nvPr/>
        </p:nvSpPr>
        <p:spPr>
          <a:xfrm>
            <a:off x="9692640" y="2514600"/>
            <a:ext cx="2194560" cy="393192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9264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92640" y="2569464"/>
            <a:ext cx="2194560" cy="347472"/>
          </a:xfrm>
          <a:prstGeom prst="rect">
            <a:avLst/>
          </a:prstGeom>
          <a:noFill/>
        </p:spPr>
        <p:txBody>
          <a:bodyPr wrap="square">
            <a:spAutoFit/>
          </a:bodyPr>
          <a:lstStyle/>
          <a:p>
            <a:pPr algn="ctr"/>
            <a:r>
              <a:rPr sz="1100" b="1">
                <a:solidFill>
                  <a:srgbClr val="6B3F8E"/>
                </a:solidFill>
                <a:latin typeface="맑은 고딕"/>
              </a:rPr>
              <a:t>비련의 화살</a:t>
            </a:r>
          </a:p>
        </p:txBody>
      </p:sp>
      <p:sp>
        <p:nvSpPr>
          <p:cNvPr id="57" name="TextBox 56"/>
          <p:cNvSpPr txBox="1"/>
          <p:nvPr/>
        </p:nvSpPr>
        <p:spPr>
          <a:xfrm>
            <a:off x="9829800" y="3108960"/>
            <a:ext cx="1920240" cy="274320"/>
          </a:xfrm>
          <a:prstGeom prst="rect">
            <a:avLst/>
          </a:prstGeom>
          <a:noFill/>
        </p:spPr>
        <p:txBody>
          <a:bodyPr wrap="square">
            <a:spAutoFit/>
          </a:bodyPr>
          <a:lstStyle/>
          <a:p>
            <a:pPr algn="l"/>
            <a:r>
              <a:rPr sz="1050" b="1">
                <a:solidFill>
                  <a:srgbClr val="FFFFFF"/>
                </a:solidFill>
                <a:latin typeface="맑은 고딕"/>
              </a:rPr>
              <a:t>원거리형</a:t>
            </a:r>
          </a:p>
        </p:txBody>
      </p:sp>
      <p:sp>
        <p:nvSpPr>
          <p:cNvPr id="58" name="Rectangle 57"/>
          <p:cNvSpPr/>
          <p:nvPr/>
        </p:nvSpPr>
        <p:spPr>
          <a:xfrm>
            <a:off x="982980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2980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60" name="Rectangle 59"/>
          <p:cNvSpPr/>
          <p:nvPr/>
        </p:nvSpPr>
        <p:spPr>
          <a:xfrm>
            <a:off x="982980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29800" y="3813048"/>
            <a:ext cx="1920240" cy="274320"/>
          </a:xfrm>
          <a:prstGeom prst="rect">
            <a:avLst/>
          </a:prstGeom>
          <a:noFill/>
        </p:spPr>
        <p:txBody>
          <a:bodyPr wrap="square">
            <a:spAutoFit/>
          </a:bodyPr>
          <a:lstStyle/>
          <a:p>
            <a:pPr algn="ctr"/>
            <a:r>
              <a:rPr sz="1050" b="1">
                <a:solidFill>
                  <a:srgbClr val="6B3F8E"/>
                </a:solidFill>
                <a:latin typeface="맑은 고딕"/>
              </a:rPr>
              <a:t>거리 시스템</a:t>
            </a:r>
          </a:p>
        </p:txBody>
      </p:sp>
      <p:sp>
        <p:nvSpPr>
          <p:cNvPr id="62" name="TextBox 61"/>
          <p:cNvSpPr txBox="1"/>
          <p:nvPr/>
        </p:nvSpPr>
        <p:spPr>
          <a:xfrm>
            <a:off x="9802367" y="4251960"/>
            <a:ext cx="1965960" cy="320040"/>
          </a:xfrm>
          <a:prstGeom prst="rect">
            <a:avLst/>
          </a:prstGeom>
          <a:noFill/>
        </p:spPr>
        <p:txBody>
          <a:bodyPr wrap="square">
            <a:spAutoFit/>
          </a:bodyPr>
          <a:lstStyle/>
          <a:p>
            <a:pPr algn="l"/>
            <a:r>
              <a:rPr sz="850" b="0">
                <a:solidFill>
                  <a:srgbClr val="B8BECC"/>
                </a:solidFill>
                <a:latin typeface="맑은 고딕"/>
              </a:rPr>
              <a:t>HP 100 / ATK 115 / DEF 15</a:t>
            </a:r>
          </a:p>
        </p:txBody>
      </p:sp>
      <p:sp>
        <p:nvSpPr>
          <p:cNvPr id="63" name="Rectangle 62"/>
          <p:cNvSpPr/>
          <p:nvPr/>
        </p:nvSpPr>
        <p:spPr>
          <a:xfrm>
            <a:off x="982980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29800" y="5230368"/>
            <a:ext cx="1920240" cy="310896"/>
          </a:xfrm>
          <a:prstGeom prst="rect">
            <a:avLst/>
          </a:prstGeom>
          <a:noFill/>
        </p:spPr>
        <p:txBody>
          <a:bodyPr wrap="square">
            <a:spAutoFit/>
          </a:bodyPr>
          <a:lstStyle/>
          <a:p>
            <a:pPr algn="ctr"/>
            <a:r>
              <a:rPr sz="950" b="0">
                <a:solidFill>
                  <a:srgbClr val="E8D08A"/>
                </a:solidFill>
                <a:latin typeface="맑은 고딕"/>
              </a:rPr>
              <a:t>해금: 기억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성배의 수호자  [갈라하드 암시]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방어형 / 초보 친화 / 진입장벽 낮음</a:t>
            </a:r>
          </a:p>
        </p:txBody>
      </p:sp>
      <p:sp>
        <p:nvSpPr>
          <p:cNvPr id="6" name="Rectangle 5"/>
          <p:cNvSpPr/>
          <p:nvPr/>
        </p:nvSpPr>
        <p:spPr>
          <a:xfrm>
            <a:off x="0" y="0"/>
            <a:ext cx="12188952" cy="54864"/>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274320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6012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14984"/>
            <a:ext cx="2468880" cy="256032"/>
          </a:xfrm>
          <a:prstGeom prst="rect">
            <a:avLst/>
          </a:prstGeom>
          <a:noFill/>
        </p:spPr>
        <p:txBody>
          <a:bodyPr wrap="square">
            <a:spAutoFit/>
          </a:bodyPr>
          <a:lstStyle/>
          <a:p>
            <a:pPr algn="l"/>
            <a:r>
              <a:rPr sz="1200" b="1">
                <a:solidFill>
                  <a:srgbClr val="4AC2B8"/>
                </a:solidFill>
                <a:latin typeface="맑은 고딕"/>
              </a:rPr>
              <a:t>기본 스탯</a:t>
            </a:r>
          </a:p>
        </p:txBody>
      </p:sp>
      <p:sp>
        <p:nvSpPr>
          <p:cNvPr id="10" name="Rectangle 9"/>
          <p:cNvSpPr/>
          <p:nvPr/>
        </p:nvSpPr>
        <p:spPr>
          <a:xfrm>
            <a:off x="502920"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94360" cy="347472"/>
          </a:xfrm>
          <a:prstGeom prst="rect">
            <a:avLst/>
          </a:prstGeom>
          <a:noFill/>
        </p:spPr>
        <p:txBody>
          <a:bodyPr wrap="square">
            <a:spAutoFit/>
          </a:bodyPr>
          <a:lstStyle/>
          <a:p>
            <a:pPr algn="ctr"/>
            <a:r>
              <a:rPr sz="1500" b="1">
                <a:solidFill>
                  <a:srgbClr val="4AC2B8"/>
                </a:solidFill>
                <a:latin typeface="맑은 고딕"/>
              </a:rPr>
              <a:t>150</a:t>
            </a:r>
          </a:p>
        </p:txBody>
      </p:sp>
      <p:sp>
        <p:nvSpPr>
          <p:cNvPr id="12" name="TextBox 11"/>
          <p:cNvSpPr txBox="1"/>
          <p:nvPr/>
        </p:nvSpPr>
        <p:spPr>
          <a:xfrm>
            <a:off x="502920" y="1737360"/>
            <a:ext cx="594360" cy="256032"/>
          </a:xfrm>
          <a:prstGeom prst="rect">
            <a:avLst/>
          </a:prstGeom>
          <a:noFill/>
        </p:spPr>
        <p:txBody>
          <a:bodyPr wrap="square">
            <a:spAutoFit/>
          </a:bodyPr>
          <a:lstStyle/>
          <a:p>
            <a:pPr algn="ctr"/>
            <a:r>
              <a:rPr sz="800" b="0">
                <a:solidFill>
                  <a:srgbClr val="727A8E"/>
                </a:solidFill>
                <a:latin typeface="맑은 고딕"/>
              </a:rPr>
              <a:t>HP</a:t>
            </a:r>
          </a:p>
        </p:txBody>
      </p:sp>
      <p:sp>
        <p:nvSpPr>
          <p:cNvPr id="13" name="Rectangle 12"/>
          <p:cNvSpPr/>
          <p:nvPr/>
        </p:nvSpPr>
        <p:spPr>
          <a:xfrm>
            <a:off x="1161288"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1417320"/>
            <a:ext cx="594360" cy="347472"/>
          </a:xfrm>
          <a:prstGeom prst="rect">
            <a:avLst/>
          </a:prstGeom>
          <a:noFill/>
        </p:spPr>
        <p:txBody>
          <a:bodyPr wrap="square">
            <a:spAutoFit/>
          </a:bodyPr>
          <a:lstStyle/>
          <a:p>
            <a:pPr algn="ctr"/>
            <a:r>
              <a:rPr sz="1500" b="1">
                <a:solidFill>
                  <a:srgbClr val="4AC2B8"/>
                </a:solidFill>
                <a:latin typeface="맑은 고딕"/>
              </a:rPr>
              <a:t>80</a:t>
            </a:r>
          </a:p>
        </p:txBody>
      </p:sp>
      <p:sp>
        <p:nvSpPr>
          <p:cNvPr id="15" name="TextBox 14"/>
          <p:cNvSpPr txBox="1"/>
          <p:nvPr/>
        </p:nvSpPr>
        <p:spPr>
          <a:xfrm>
            <a:off x="1161288" y="1737360"/>
            <a:ext cx="594360" cy="256032"/>
          </a:xfrm>
          <a:prstGeom prst="rect">
            <a:avLst/>
          </a:prstGeom>
          <a:noFill/>
        </p:spPr>
        <p:txBody>
          <a:bodyPr wrap="square">
            <a:spAutoFit/>
          </a:bodyPr>
          <a:lstStyle/>
          <a:p>
            <a:pPr algn="ctr"/>
            <a:r>
              <a:rPr sz="800" b="0">
                <a:solidFill>
                  <a:srgbClr val="727A8E"/>
                </a:solidFill>
                <a:latin typeface="맑은 고딕"/>
              </a:rPr>
              <a:t>ATK</a:t>
            </a:r>
          </a:p>
        </p:txBody>
      </p:sp>
      <p:sp>
        <p:nvSpPr>
          <p:cNvPr id="16" name="Rectangle 15"/>
          <p:cNvSpPr/>
          <p:nvPr/>
        </p:nvSpPr>
        <p:spPr>
          <a:xfrm>
            <a:off x="1819656"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19656" y="1417320"/>
            <a:ext cx="594360" cy="347472"/>
          </a:xfrm>
          <a:prstGeom prst="rect">
            <a:avLst/>
          </a:prstGeom>
          <a:noFill/>
        </p:spPr>
        <p:txBody>
          <a:bodyPr wrap="square">
            <a:spAutoFit/>
          </a:bodyPr>
          <a:lstStyle/>
          <a:p>
            <a:pPr algn="ctr"/>
            <a:r>
              <a:rPr sz="1500" b="1">
                <a:solidFill>
                  <a:srgbClr val="4AC2B8"/>
                </a:solidFill>
                <a:latin typeface="맑은 고딕"/>
              </a:rPr>
              <a:t>40</a:t>
            </a:r>
          </a:p>
        </p:txBody>
      </p:sp>
      <p:sp>
        <p:nvSpPr>
          <p:cNvPr id="18" name="TextBox 17"/>
          <p:cNvSpPr txBox="1"/>
          <p:nvPr/>
        </p:nvSpPr>
        <p:spPr>
          <a:xfrm>
            <a:off x="1819656" y="1737360"/>
            <a:ext cx="594360" cy="256032"/>
          </a:xfrm>
          <a:prstGeom prst="rect">
            <a:avLst/>
          </a:prstGeom>
          <a:noFill/>
        </p:spPr>
        <p:txBody>
          <a:bodyPr wrap="square">
            <a:spAutoFit/>
          </a:bodyPr>
          <a:lstStyle/>
          <a:p>
            <a:pPr algn="ctr"/>
            <a:r>
              <a:rPr sz="800" b="0">
                <a:solidFill>
                  <a:srgbClr val="727A8E"/>
                </a:solidFill>
                <a:latin typeface="맑은 고딕"/>
              </a:rPr>
              <a:t>DEF</a:t>
            </a:r>
          </a:p>
        </p:txBody>
      </p:sp>
      <p:sp>
        <p:nvSpPr>
          <p:cNvPr id="19" name="Rectangle 18"/>
          <p:cNvSpPr/>
          <p:nvPr/>
        </p:nvSpPr>
        <p:spPr>
          <a:xfrm>
            <a:off x="2478024"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78024" y="1417320"/>
            <a:ext cx="594360" cy="347472"/>
          </a:xfrm>
          <a:prstGeom prst="rect">
            <a:avLst/>
          </a:prstGeom>
          <a:noFill/>
        </p:spPr>
        <p:txBody>
          <a:bodyPr wrap="square">
            <a:spAutoFit/>
          </a:bodyPr>
          <a:lstStyle/>
          <a:p>
            <a:pPr algn="ctr"/>
            <a:r>
              <a:rPr sz="1500" b="1">
                <a:solidFill>
                  <a:srgbClr val="4AC2B8"/>
                </a:solidFill>
                <a:latin typeface="맑은 고딕"/>
              </a:rPr>
              <a:t>×1.0</a:t>
            </a:r>
          </a:p>
        </p:txBody>
      </p:sp>
      <p:sp>
        <p:nvSpPr>
          <p:cNvPr id="21" name="TextBox 20"/>
          <p:cNvSpPr txBox="1"/>
          <p:nvPr/>
        </p:nvSpPr>
        <p:spPr>
          <a:xfrm>
            <a:off x="2478024" y="1737360"/>
            <a:ext cx="594360" cy="256032"/>
          </a:xfrm>
          <a:prstGeom prst="rect">
            <a:avLst/>
          </a:prstGeom>
          <a:noFill/>
        </p:spPr>
        <p:txBody>
          <a:bodyPr wrap="square">
            <a:spAutoFit/>
          </a:bodyPr>
          <a:lstStyle/>
          <a:p>
            <a:pPr algn="ctr"/>
            <a:r>
              <a:rPr sz="800" b="0">
                <a:solidFill>
                  <a:srgbClr val="727A8E"/>
                </a:solidFill>
                <a:latin typeface="맑은 고딕"/>
              </a:rPr>
              <a:t>SPD</a:t>
            </a:r>
          </a:p>
        </p:txBody>
      </p:sp>
      <p:sp>
        <p:nvSpPr>
          <p:cNvPr id="22" name="Rectangle 21"/>
          <p:cNvSpPr/>
          <p:nvPr/>
        </p:nvSpPr>
        <p:spPr>
          <a:xfrm>
            <a:off x="365760" y="2651760"/>
            <a:ext cx="274320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65176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706624"/>
            <a:ext cx="2468880" cy="256032"/>
          </a:xfrm>
          <a:prstGeom prst="rect">
            <a:avLst/>
          </a:prstGeom>
          <a:noFill/>
        </p:spPr>
        <p:txBody>
          <a:bodyPr wrap="square">
            <a:spAutoFit/>
          </a:bodyPr>
          <a:lstStyle/>
          <a:p>
            <a:pPr algn="l"/>
            <a:r>
              <a:rPr sz="1200" b="1">
                <a:solidFill>
                  <a:srgbClr val="4AC2B8"/>
                </a:solidFill>
                <a:latin typeface="맑은 고딕"/>
              </a:rPr>
              <a:t>고유 패시브</a:t>
            </a:r>
          </a:p>
        </p:txBody>
      </p:sp>
      <p:sp>
        <p:nvSpPr>
          <p:cNvPr id="25" name="Rectangle 24"/>
          <p:cNvSpPr/>
          <p:nvPr/>
        </p:nvSpPr>
        <p:spPr>
          <a:xfrm>
            <a:off x="502920" y="30906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18103"/>
            <a:ext cx="2194560" cy="237744"/>
          </a:xfrm>
          <a:prstGeom prst="rect">
            <a:avLst/>
          </a:prstGeom>
          <a:noFill/>
        </p:spPr>
        <p:txBody>
          <a:bodyPr wrap="square">
            <a:spAutoFit/>
          </a:bodyPr>
          <a:lstStyle/>
          <a:p>
            <a:pPr algn="l"/>
            <a:r>
              <a:rPr sz="1000" b="1">
                <a:solidFill>
                  <a:srgbClr val="4AC2B8"/>
                </a:solidFill>
                <a:latin typeface="맑은 고딕"/>
              </a:rPr>
              <a:t>성스러운 방패</a:t>
            </a:r>
          </a:p>
        </p:txBody>
      </p:sp>
      <p:sp>
        <p:nvSpPr>
          <p:cNvPr id="27" name="TextBox 26"/>
          <p:cNvSpPr txBox="1"/>
          <p:nvPr/>
        </p:nvSpPr>
        <p:spPr>
          <a:xfrm>
            <a:off x="640080" y="3364991"/>
            <a:ext cx="2194560" cy="256032"/>
          </a:xfrm>
          <a:prstGeom prst="rect">
            <a:avLst/>
          </a:prstGeom>
          <a:noFill/>
        </p:spPr>
        <p:txBody>
          <a:bodyPr wrap="square">
            <a:spAutoFit/>
          </a:bodyPr>
          <a:lstStyle/>
          <a:p>
            <a:pPr algn="l"/>
            <a:r>
              <a:rPr sz="850" b="0">
                <a:solidFill>
                  <a:srgbClr val="B8BECC"/>
                </a:solidFill>
                <a:latin typeface="맑은 고딕"/>
              </a:rPr>
              <a:t>방어 시 받은 피해의 30%를 전방 적에게 반사</a:t>
            </a:r>
          </a:p>
        </p:txBody>
      </p:sp>
      <p:sp>
        <p:nvSpPr>
          <p:cNvPr id="28" name="Rectangle 27"/>
          <p:cNvSpPr/>
          <p:nvPr/>
        </p:nvSpPr>
        <p:spPr>
          <a:xfrm>
            <a:off x="502920" y="37764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803904"/>
            <a:ext cx="2194560" cy="237744"/>
          </a:xfrm>
          <a:prstGeom prst="rect">
            <a:avLst/>
          </a:prstGeom>
          <a:noFill/>
        </p:spPr>
        <p:txBody>
          <a:bodyPr wrap="square">
            <a:spAutoFit/>
          </a:bodyPr>
          <a:lstStyle/>
          <a:p>
            <a:pPr algn="l"/>
            <a:r>
              <a:rPr sz="1000" b="1">
                <a:solidFill>
                  <a:srgbClr val="4AC2B8"/>
                </a:solidFill>
                <a:latin typeface="맑은 고딕"/>
              </a:rPr>
              <a:t>아버지의 죄</a:t>
            </a:r>
          </a:p>
        </p:txBody>
      </p:sp>
      <p:sp>
        <p:nvSpPr>
          <p:cNvPr id="30" name="TextBox 29"/>
          <p:cNvSpPr txBox="1"/>
          <p:nvPr/>
        </p:nvSpPr>
        <p:spPr>
          <a:xfrm>
            <a:off x="640080" y="4050791"/>
            <a:ext cx="2194560" cy="256032"/>
          </a:xfrm>
          <a:prstGeom prst="rect">
            <a:avLst/>
          </a:prstGeom>
          <a:noFill/>
        </p:spPr>
        <p:txBody>
          <a:bodyPr wrap="square">
            <a:spAutoFit/>
          </a:bodyPr>
          <a:lstStyle/>
          <a:p>
            <a:pPr algn="l"/>
            <a:r>
              <a:rPr sz="850" b="0">
                <a:solidFill>
                  <a:srgbClr val="B8BECC"/>
                </a:solidFill>
                <a:latin typeface="맑은 고딕"/>
              </a:rPr>
              <a:t>피격 시 신성 게이지 +15 / 방어 성공 시 +25</a:t>
            </a:r>
          </a:p>
        </p:txBody>
      </p:sp>
      <p:sp>
        <p:nvSpPr>
          <p:cNvPr id="31" name="Rectangle 30"/>
          <p:cNvSpPr/>
          <p:nvPr/>
        </p:nvSpPr>
        <p:spPr>
          <a:xfrm>
            <a:off x="3291840" y="960120"/>
            <a:ext cx="438912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29000" y="1014984"/>
            <a:ext cx="4114800" cy="256032"/>
          </a:xfrm>
          <a:prstGeom prst="rect">
            <a:avLst/>
          </a:prstGeom>
          <a:noFill/>
        </p:spPr>
        <p:txBody>
          <a:bodyPr wrap="square">
            <a:spAutoFit/>
          </a:bodyPr>
          <a:lstStyle/>
          <a:p>
            <a:pPr algn="l"/>
            <a:r>
              <a:rPr sz="1200" b="1">
                <a:solidFill>
                  <a:srgbClr val="4AC2B8"/>
                </a:solidFill>
                <a:latin typeface="맑은 고딕"/>
              </a:rPr>
              <a:t>고유 스킬</a:t>
            </a:r>
          </a:p>
        </p:txBody>
      </p:sp>
      <p:sp>
        <p:nvSpPr>
          <p:cNvPr id="34" name="TextBox 33"/>
          <p:cNvSpPr txBox="1"/>
          <p:nvPr/>
        </p:nvSpPr>
        <p:spPr>
          <a:xfrm>
            <a:off x="3474720" y="1298448"/>
            <a:ext cx="2743200" cy="320040"/>
          </a:xfrm>
          <a:prstGeom prst="rect">
            <a:avLst/>
          </a:prstGeom>
          <a:noFill/>
        </p:spPr>
        <p:txBody>
          <a:bodyPr wrap="square">
            <a:spAutoFit/>
          </a:bodyPr>
          <a:lstStyle/>
          <a:p>
            <a:pPr algn="l"/>
            <a:r>
              <a:rPr sz="1300" b="1">
                <a:solidFill>
                  <a:srgbClr val="4AC2B8"/>
                </a:solidFill>
                <a:latin typeface="맑은 고딕"/>
              </a:rPr>
              <a:t>성배의 빛</a:t>
            </a:r>
          </a:p>
        </p:txBody>
      </p:sp>
      <p:sp>
        <p:nvSpPr>
          <p:cNvPr id="35" name="TextBox 34"/>
          <p:cNvSpPr txBox="1"/>
          <p:nvPr/>
        </p:nvSpPr>
        <p:spPr>
          <a:xfrm>
            <a:off x="6309360" y="1371600"/>
            <a:ext cx="1188720" cy="228600"/>
          </a:xfrm>
          <a:prstGeom prst="rect">
            <a:avLst/>
          </a:prstGeom>
          <a:noFill/>
        </p:spPr>
        <p:txBody>
          <a:bodyPr wrap="square">
            <a:spAutoFit/>
          </a:bodyPr>
          <a:lstStyle/>
          <a:p>
            <a:pPr algn="r"/>
            <a:r>
              <a:rPr sz="900" b="0">
                <a:solidFill>
                  <a:srgbClr val="727A8E"/>
                </a:solidFill>
                <a:latin typeface="맑은 고딕"/>
              </a:rPr>
              <a:t>쿨다운 18초</a:t>
            </a:r>
          </a:p>
        </p:txBody>
      </p:sp>
      <p:sp>
        <p:nvSpPr>
          <p:cNvPr id="36" name="TextBox 35"/>
          <p:cNvSpPr txBox="1"/>
          <p:nvPr/>
        </p:nvSpPr>
        <p:spPr>
          <a:xfrm>
            <a:off x="3474720" y="1664208"/>
            <a:ext cx="4023360" cy="749808"/>
          </a:xfrm>
          <a:prstGeom prst="rect">
            <a:avLst/>
          </a:prstGeom>
          <a:noFill/>
        </p:spPr>
        <p:txBody>
          <a:bodyPr wrap="square">
            <a:spAutoFit/>
          </a:bodyPr>
          <a:lstStyle/>
          <a:p>
            <a:pPr algn="l"/>
            <a:r>
              <a:rPr sz="1000" b="0">
                <a:solidFill>
                  <a:srgbClr val="B8BECC"/>
                </a:solidFill>
                <a:latin typeface="맑은 고딕"/>
              </a:rPr>
              <a:t>전방 4m 범위 신성 폭발. 피해 공격력 ×180%
게이지 30 이상 시 범위 +50%, 피해 +50%</a:t>
            </a:r>
          </a:p>
        </p:txBody>
      </p:sp>
      <p:sp>
        <p:nvSpPr>
          <p:cNvPr id="37" name="Rectangle 36"/>
          <p:cNvSpPr/>
          <p:nvPr/>
        </p:nvSpPr>
        <p:spPr>
          <a:xfrm>
            <a:off x="3291840" y="2651760"/>
            <a:ext cx="438912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91840" y="265176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29000" y="2706624"/>
            <a:ext cx="4114800" cy="256032"/>
          </a:xfrm>
          <a:prstGeom prst="rect">
            <a:avLst/>
          </a:prstGeom>
          <a:noFill/>
        </p:spPr>
        <p:txBody>
          <a:bodyPr wrap="square">
            <a:spAutoFit/>
          </a:bodyPr>
          <a:lstStyle/>
          <a:p>
            <a:pPr algn="l"/>
            <a:r>
              <a:rPr sz="1200" b="1">
                <a:solidFill>
                  <a:srgbClr val="4AC2B8"/>
                </a:solidFill>
                <a:latin typeface="맑은 고딕"/>
              </a:rPr>
              <a:t>고유 메커닉 — 신성 게이지</a:t>
            </a:r>
          </a:p>
        </p:txBody>
      </p:sp>
      <p:sp>
        <p:nvSpPr>
          <p:cNvPr id="40" name="TextBox 39"/>
          <p:cNvSpPr txBox="1"/>
          <p:nvPr/>
        </p:nvSpPr>
        <p:spPr>
          <a:xfrm>
            <a:off x="3474720" y="3090672"/>
            <a:ext cx="4023360" cy="347472"/>
          </a:xfrm>
          <a:prstGeom prst="rect">
            <a:avLst/>
          </a:prstGeom>
          <a:noFill/>
        </p:spPr>
        <p:txBody>
          <a:bodyPr wrap="square">
            <a:spAutoFit/>
          </a:bodyPr>
          <a:lstStyle/>
          <a:p>
            <a:pPr algn="l"/>
            <a:r>
              <a:rPr sz="1000" b="0">
                <a:solidFill>
                  <a:srgbClr val="FFFFFF"/>
                </a:solidFill>
                <a:latin typeface="맑은 고딕"/>
              </a:rPr>
              <a:t>▸  최대 게이지: 100</a:t>
            </a:r>
          </a:p>
        </p:txBody>
      </p:sp>
      <p:sp>
        <p:nvSpPr>
          <p:cNvPr id="41" name="TextBox 40"/>
          <p:cNvSpPr txBox="1"/>
          <p:nvPr/>
        </p:nvSpPr>
        <p:spPr>
          <a:xfrm>
            <a:off x="3474720" y="3493008"/>
            <a:ext cx="4023360" cy="347472"/>
          </a:xfrm>
          <a:prstGeom prst="rect">
            <a:avLst/>
          </a:prstGeom>
          <a:noFill/>
        </p:spPr>
        <p:txBody>
          <a:bodyPr wrap="square">
            <a:spAutoFit/>
          </a:bodyPr>
          <a:lstStyle/>
          <a:p>
            <a:pPr algn="l"/>
            <a:r>
              <a:rPr sz="1000" b="0">
                <a:solidFill>
                  <a:srgbClr val="FFFFFF"/>
                </a:solidFill>
                <a:latin typeface="맑은 고딕"/>
              </a:rPr>
              <a:t>▸  피격 +15 / 방어성공 +25 / 스킬 사용 +20</a:t>
            </a:r>
          </a:p>
        </p:txBody>
      </p:sp>
      <p:sp>
        <p:nvSpPr>
          <p:cNvPr id="42" name="TextBox 41"/>
          <p:cNvSpPr txBox="1"/>
          <p:nvPr/>
        </p:nvSpPr>
        <p:spPr>
          <a:xfrm>
            <a:off x="3474720" y="3895344"/>
            <a:ext cx="4023360" cy="347472"/>
          </a:xfrm>
          <a:prstGeom prst="rect">
            <a:avLst/>
          </a:prstGeom>
          <a:noFill/>
        </p:spPr>
        <p:txBody>
          <a:bodyPr wrap="square">
            <a:spAutoFit/>
          </a:bodyPr>
          <a:lstStyle/>
          <a:p>
            <a:pPr algn="l"/>
            <a:r>
              <a:rPr sz="1000" b="0">
                <a:solidFill>
                  <a:srgbClr val="FFFFFF"/>
                </a:solidFill>
                <a:latin typeface="맑은 고딕"/>
              </a:rPr>
              <a:t>▸  만충(100) 시: 5초 무적 + 공격력 150%</a:t>
            </a:r>
          </a:p>
        </p:txBody>
      </p:sp>
      <p:sp>
        <p:nvSpPr>
          <p:cNvPr id="43" name="TextBox 42"/>
          <p:cNvSpPr txBox="1"/>
          <p:nvPr/>
        </p:nvSpPr>
        <p:spPr>
          <a:xfrm>
            <a:off x="3474720" y="4297680"/>
            <a:ext cx="4023360" cy="347472"/>
          </a:xfrm>
          <a:prstGeom prst="rect">
            <a:avLst/>
          </a:prstGeom>
          <a:noFill/>
        </p:spPr>
        <p:txBody>
          <a:bodyPr wrap="square">
            <a:spAutoFit/>
          </a:bodyPr>
          <a:lstStyle/>
          <a:p>
            <a:pPr algn="l"/>
            <a:r>
              <a:rPr sz="1000" b="0">
                <a:solidFill>
                  <a:srgbClr val="FFFFFF"/>
                </a:solidFill>
                <a:latin typeface="맑은 고딕"/>
              </a:rPr>
              <a:t>▸  이후 30초 쿨다운 (재충전 불가)</a:t>
            </a:r>
          </a:p>
        </p:txBody>
      </p:sp>
      <p:sp>
        <p:nvSpPr>
          <p:cNvPr id="44" name="Rectangle 43"/>
          <p:cNvSpPr/>
          <p:nvPr/>
        </p:nvSpPr>
        <p:spPr>
          <a:xfrm>
            <a:off x="7863840" y="960120"/>
            <a:ext cx="3931920" cy="3703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863840" y="960120"/>
            <a:ext cx="3931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01000" y="1014984"/>
            <a:ext cx="3657600" cy="256032"/>
          </a:xfrm>
          <a:prstGeom prst="rect">
            <a:avLst/>
          </a:prstGeom>
          <a:noFill/>
        </p:spPr>
        <p:txBody>
          <a:bodyPr wrap="square">
            <a:spAutoFit/>
          </a:bodyPr>
          <a:lstStyle/>
          <a:p>
            <a:pPr algn="l"/>
            <a:r>
              <a:rPr sz="1200" b="1">
                <a:solidFill>
                  <a:srgbClr val="4AC2B8"/>
                </a:solidFill>
                <a:latin typeface="맑은 고딕"/>
              </a:rPr>
              <a:t>메커닉 변형 아이템</a:t>
            </a:r>
          </a:p>
        </p:txBody>
      </p:sp>
      <p:sp>
        <p:nvSpPr>
          <p:cNvPr id="47" name="Rectangle 46"/>
          <p:cNvSpPr/>
          <p:nvPr/>
        </p:nvSpPr>
        <p:spPr>
          <a:xfrm>
            <a:off x="8046720" y="141732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46720" y="141732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83879" y="1463040"/>
            <a:ext cx="3291840" cy="256032"/>
          </a:xfrm>
          <a:prstGeom prst="rect">
            <a:avLst/>
          </a:prstGeom>
          <a:noFill/>
        </p:spPr>
        <p:txBody>
          <a:bodyPr wrap="square">
            <a:spAutoFit/>
          </a:bodyPr>
          <a:lstStyle/>
          <a:p>
            <a:pPr algn="l"/>
            <a:r>
              <a:rPr sz="1100" b="1">
                <a:solidFill>
                  <a:srgbClr val="C9A84C"/>
                </a:solidFill>
                <a:latin typeface="맑은 고딕"/>
              </a:rPr>
              <a:t>죄의 대가</a:t>
            </a:r>
          </a:p>
        </p:txBody>
      </p:sp>
      <p:sp>
        <p:nvSpPr>
          <p:cNvPr id="50" name="TextBox 49"/>
          <p:cNvSpPr txBox="1"/>
          <p:nvPr/>
        </p:nvSpPr>
        <p:spPr>
          <a:xfrm>
            <a:off x="8183879" y="1828800"/>
            <a:ext cx="3291840" cy="347472"/>
          </a:xfrm>
          <a:prstGeom prst="rect">
            <a:avLst/>
          </a:prstGeom>
          <a:noFill/>
        </p:spPr>
        <p:txBody>
          <a:bodyPr wrap="square">
            <a:spAutoFit/>
          </a:bodyPr>
          <a:lstStyle/>
          <a:p>
            <a:pPr algn="l"/>
            <a:r>
              <a:rPr sz="950" b="0">
                <a:solidFill>
                  <a:srgbClr val="B8BECC"/>
                </a:solidFill>
                <a:latin typeface="맑은 고딕"/>
              </a:rPr>
              <a:t>공격 시 게이지 +8 → 공격형 전환</a:t>
            </a:r>
          </a:p>
        </p:txBody>
      </p:sp>
      <p:sp>
        <p:nvSpPr>
          <p:cNvPr id="51" name="Rectangle 50"/>
          <p:cNvSpPr/>
          <p:nvPr/>
        </p:nvSpPr>
        <p:spPr>
          <a:xfrm>
            <a:off x="8046720" y="246888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46720" y="246888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3879" y="2514600"/>
            <a:ext cx="3291840" cy="256032"/>
          </a:xfrm>
          <a:prstGeom prst="rect">
            <a:avLst/>
          </a:prstGeom>
          <a:noFill/>
        </p:spPr>
        <p:txBody>
          <a:bodyPr wrap="square">
            <a:spAutoFit/>
          </a:bodyPr>
          <a:lstStyle/>
          <a:p>
            <a:pPr algn="l"/>
            <a:r>
              <a:rPr sz="1100" b="1">
                <a:solidFill>
                  <a:srgbClr val="C9A84C"/>
                </a:solidFill>
                <a:latin typeface="맑은 고딕"/>
              </a:rPr>
              <a:t>성배의 축복</a:t>
            </a:r>
          </a:p>
        </p:txBody>
      </p:sp>
      <p:sp>
        <p:nvSpPr>
          <p:cNvPr id="54" name="TextBox 53"/>
          <p:cNvSpPr txBox="1"/>
          <p:nvPr/>
        </p:nvSpPr>
        <p:spPr>
          <a:xfrm>
            <a:off x="8183879" y="2880360"/>
            <a:ext cx="3291840" cy="347472"/>
          </a:xfrm>
          <a:prstGeom prst="rect">
            <a:avLst/>
          </a:prstGeom>
          <a:noFill/>
        </p:spPr>
        <p:txBody>
          <a:bodyPr wrap="square">
            <a:spAutoFit/>
          </a:bodyPr>
          <a:lstStyle/>
          <a:p>
            <a:pPr algn="l"/>
            <a:r>
              <a:rPr sz="950" b="0">
                <a:solidFill>
                  <a:srgbClr val="B8BECC"/>
                </a:solidFill>
                <a:latin typeface="맑은 고딕"/>
              </a:rPr>
              <a:t>게이지 50마다 소폭 발동 → 지속형</a:t>
            </a:r>
          </a:p>
        </p:txBody>
      </p:sp>
      <p:sp>
        <p:nvSpPr>
          <p:cNvPr id="55" name="Rectangle 54"/>
          <p:cNvSpPr/>
          <p:nvPr/>
        </p:nvSpPr>
        <p:spPr>
          <a:xfrm>
            <a:off x="8046720" y="3520439"/>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46720" y="3520439"/>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83879" y="3566159"/>
            <a:ext cx="3291840" cy="256032"/>
          </a:xfrm>
          <a:prstGeom prst="rect">
            <a:avLst/>
          </a:prstGeom>
          <a:noFill/>
        </p:spPr>
        <p:txBody>
          <a:bodyPr wrap="square">
            <a:spAutoFit/>
          </a:bodyPr>
          <a:lstStyle/>
          <a:p>
            <a:pPr algn="l"/>
            <a:r>
              <a:rPr sz="1100" b="1">
                <a:solidFill>
                  <a:srgbClr val="C9A84C"/>
                </a:solidFill>
                <a:latin typeface="맑은 고딕"/>
              </a:rPr>
              <a:t>순교의 서약</a:t>
            </a:r>
          </a:p>
        </p:txBody>
      </p:sp>
      <p:sp>
        <p:nvSpPr>
          <p:cNvPr id="58" name="TextBox 57"/>
          <p:cNvSpPr txBox="1"/>
          <p:nvPr/>
        </p:nvSpPr>
        <p:spPr>
          <a:xfrm>
            <a:off x="8183879" y="3931920"/>
            <a:ext cx="3291840" cy="347472"/>
          </a:xfrm>
          <a:prstGeom prst="rect">
            <a:avLst/>
          </a:prstGeom>
          <a:noFill/>
        </p:spPr>
        <p:txBody>
          <a:bodyPr wrap="square">
            <a:spAutoFit/>
          </a:bodyPr>
          <a:lstStyle/>
          <a:p>
            <a:pPr algn="l"/>
            <a:r>
              <a:rPr sz="950" b="0">
                <a:solidFill>
                  <a:srgbClr val="B8BECC"/>
                </a:solidFill>
                <a:latin typeface="맑은 고딕"/>
              </a:rPr>
              <a:t>만충 효과 5초 → 10초 연장</a:t>
            </a:r>
          </a:p>
        </p:txBody>
      </p:sp>
      <p:sp>
        <p:nvSpPr>
          <p:cNvPr id="59" name="Rectangle 58"/>
          <p:cNvSpPr/>
          <p:nvPr/>
        </p:nvSpPr>
        <p:spPr>
          <a:xfrm>
            <a:off x="365760" y="4800600"/>
            <a:ext cx="11430000" cy="16459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480060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855464"/>
            <a:ext cx="11155680" cy="256032"/>
          </a:xfrm>
          <a:prstGeom prst="rect">
            <a:avLst/>
          </a:prstGeom>
          <a:noFill/>
        </p:spPr>
        <p:txBody>
          <a:bodyPr wrap="square">
            <a:spAutoFit/>
          </a:bodyPr>
          <a:lstStyle/>
          <a:p>
            <a:pPr algn="l"/>
            <a:r>
              <a:rPr sz="1200" b="1">
                <a:solidFill>
                  <a:srgbClr val="4AC2B8"/>
                </a:solidFill>
                <a:latin typeface="맑은 고딕"/>
              </a:rPr>
              <a:t>해금 정보 &amp; 대사</a:t>
            </a:r>
          </a:p>
        </p:txBody>
      </p:sp>
      <p:sp>
        <p:nvSpPr>
          <p:cNvPr id="62" name="TextBox 61"/>
          <p:cNvSpPr txBox="1"/>
          <p:nvPr/>
        </p:nvSpPr>
        <p:spPr>
          <a:xfrm>
            <a:off x="548640" y="5166360"/>
            <a:ext cx="11064240" cy="320040"/>
          </a:xfrm>
          <a:prstGeom prst="rect">
            <a:avLst/>
          </a:prstGeom>
          <a:noFill/>
        </p:spPr>
        <p:txBody>
          <a:bodyPr wrap="square">
            <a:spAutoFit/>
          </a:bodyPr>
          <a:lstStyle/>
          <a:p>
            <a:pPr algn="l"/>
            <a:r>
              <a:rPr sz="1100" b="0">
                <a:solidFill>
                  <a:srgbClr val="E8D08A"/>
                </a:solidFill>
                <a:latin typeface="맑은 고딕"/>
              </a:rPr>
              <a:t>기본 제공  |  해금 대사: "이 빛은... 아직 꺼지지 않았군"</a:t>
            </a:r>
          </a:p>
        </p:txBody>
      </p:sp>
      <p:sp>
        <p:nvSpPr>
          <p:cNvPr id="63" name="TextBox 62"/>
          <p:cNvSpPr txBox="1"/>
          <p:nvPr/>
        </p:nvSpPr>
        <p:spPr>
          <a:xfrm>
            <a:off x="548640" y="5532120"/>
            <a:ext cx="11064240" cy="320040"/>
          </a:xfrm>
          <a:prstGeom prst="rect">
            <a:avLst/>
          </a:prstGeom>
          <a:noFill/>
        </p:spPr>
        <p:txBody>
          <a:bodyPr wrap="square">
            <a:spAutoFit/>
          </a:bodyPr>
          <a:lstStyle/>
          <a:p>
            <a:pPr algn="l"/>
            <a:r>
              <a:rPr sz="1000" b="0">
                <a:solidFill>
                  <a:srgbClr val="B8BECC"/>
                </a:solidFill>
                <a:latin typeface="맑은 고딕"/>
              </a:rPr>
              <a:t>가웨인 유물 장착 시 특별 대사: 그린 나이트 "...그 유물. 태양의 기사가 보냈는가?"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05  장비 &amp; 빌드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Equipment &amp; Build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05  장비 &amp; 빌드 — 조합표 &amp; 아이템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77724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7498079" cy="256032"/>
          </a:xfrm>
          <a:prstGeom prst="rect">
            <a:avLst/>
          </a:prstGeom>
          <a:noFill/>
        </p:spPr>
        <p:txBody>
          <a:bodyPr wrap="square">
            <a:spAutoFit/>
          </a:bodyPr>
          <a:lstStyle/>
          <a:p>
            <a:pPr algn="l"/>
            <a:r>
              <a:rPr sz="1200" b="1">
                <a:solidFill>
                  <a:srgbClr val="C9A84C"/>
                </a:solidFill>
                <a:latin typeface="맑은 고딕"/>
              </a:rPr>
              <a:t>영웅 × 장비 시너지 조합표</a:t>
            </a:r>
          </a:p>
        </p:txBody>
      </p:sp>
      <p:sp>
        <p:nvSpPr>
          <p:cNvPr id="8" name="Rectangle 7"/>
          <p:cNvSpPr/>
          <p:nvPr/>
        </p:nvSpPr>
        <p:spPr>
          <a:xfrm>
            <a:off x="502920" y="1417320"/>
            <a:ext cx="173736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53896"/>
            <a:ext cx="1591056" cy="676656"/>
          </a:xfrm>
          <a:prstGeom prst="rect">
            <a:avLst/>
          </a:prstGeom>
          <a:noFill/>
        </p:spPr>
        <p:txBody>
          <a:bodyPr wrap="square">
            <a:spAutoFit/>
          </a:bodyPr>
          <a:lstStyle/>
          <a:p>
            <a:pPr algn="ctr"/>
            <a:r>
              <a:rPr sz="1000" b="1">
                <a:solidFill>
                  <a:srgbClr val="C9A84C"/>
                </a:solidFill>
                <a:latin typeface="맑은 고딕"/>
              </a:rPr>
              <a:t>영웅 유물</a:t>
            </a:r>
          </a:p>
        </p:txBody>
      </p:sp>
      <p:sp>
        <p:nvSpPr>
          <p:cNvPr id="10" name="Rectangle 9"/>
          <p:cNvSpPr/>
          <p:nvPr/>
        </p:nvSpPr>
        <p:spPr>
          <a:xfrm>
            <a:off x="224028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13432" y="1453896"/>
            <a:ext cx="950976" cy="676656"/>
          </a:xfrm>
          <a:prstGeom prst="rect">
            <a:avLst/>
          </a:prstGeom>
          <a:noFill/>
        </p:spPr>
        <p:txBody>
          <a:bodyPr wrap="square">
            <a:spAutoFit/>
          </a:bodyPr>
          <a:lstStyle/>
          <a:p>
            <a:pPr algn="ctr"/>
            <a:r>
              <a:rPr sz="1000" b="1">
                <a:solidFill>
                  <a:srgbClr val="C9A84C"/>
                </a:solidFill>
                <a:latin typeface="맑은 고딕"/>
              </a:rPr>
              <a:t>카타나</a:t>
            </a:r>
          </a:p>
        </p:txBody>
      </p:sp>
      <p:sp>
        <p:nvSpPr>
          <p:cNvPr id="12" name="Rectangle 11"/>
          <p:cNvSpPr/>
          <p:nvPr/>
        </p:nvSpPr>
        <p:spPr>
          <a:xfrm>
            <a:off x="333756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453896"/>
            <a:ext cx="950976" cy="676656"/>
          </a:xfrm>
          <a:prstGeom prst="rect">
            <a:avLst/>
          </a:prstGeom>
          <a:noFill/>
        </p:spPr>
        <p:txBody>
          <a:bodyPr wrap="square">
            <a:spAutoFit/>
          </a:bodyPr>
          <a:lstStyle/>
          <a:p>
            <a:pPr algn="ctr"/>
            <a:r>
              <a:rPr sz="1000" b="1">
                <a:solidFill>
                  <a:srgbClr val="C9A84C"/>
                </a:solidFill>
                <a:latin typeface="맑은 고딕"/>
              </a:rPr>
              <a:t>대검</a:t>
            </a:r>
          </a:p>
        </p:txBody>
      </p:sp>
      <p:sp>
        <p:nvSpPr>
          <p:cNvPr id="14" name="Rectangle 13"/>
          <p:cNvSpPr/>
          <p:nvPr/>
        </p:nvSpPr>
        <p:spPr>
          <a:xfrm>
            <a:off x="443484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453896"/>
            <a:ext cx="950976" cy="676656"/>
          </a:xfrm>
          <a:prstGeom prst="rect">
            <a:avLst/>
          </a:prstGeom>
          <a:noFill/>
        </p:spPr>
        <p:txBody>
          <a:bodyPr wrap="square">
            <a:spAutoFit/>
          </a:bodyPr>
          <a:lstStyle/>
          <a:p>
            <a:pPr algn="ctr"/>
            <a:r>
              <a:rPr sz="1000" b="1">
                <a:solidFill>
                  <a:srgbClr val="C9A84C"/>
                </a:solidFill>
                <a:latin typeface="맑은 고딕"/>
              </a:rPr>
              <a:t>창</a:t>
            </a:r>
          </a:p>
        </p:txBody>
      </p:sp>
      <p:sp>
        <p:nvSpPr>
          <p:cNvPr id="16" name="Rectangle 15"/>
          <p:cNvSpPr/>
          <p:nvPr/>
        </p:nvSpPr>
        <p:spPr>
          <a:xfrm>
            <a:off x="553212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1453896"/>
            <a:ext cx="950976" cy="676656"/>
          </a:xfrm>
          <a:prstGeom prst="rect">
            <a:avLst/>
          </a:prstGeom>
          <a:noFill/>
        </p:spPr>
        <p:txBody>
          <a:bodyPr wrap="square">
            <a:spAutoFit/>
          </a:bodyPr>
          <a:lstStyle/>
          <a:p>
            <a:pPr algn="ctr"/>
            <a:r>
              <a:rPr sz="1000" b="1">
                <a:solidFill>
                  <a:srgbClr val="C9A84C"/>
                </a:solidFill>
                <a:latin typeface="맑은 고딕"/>
              </a:rPr>
              <a:t>활</a:t>
            </a:r>
          </a:p>
        </p:txBody>
      </p:sp>
      <p:sp>
        <p:nvSpPr>
          <p:cNvPr id="18" name="Rectangle 17"/>
          <p:cNvSpPr/>
          <p:nvPr/>
        </p:nvSpPr>
        <p:spPr>
          <a:xfrm>
            <a:off x="662940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1453896"/>
            <a:ext cx="950976" cy="676656"/>
          </a:xfrm>
          <a:prstGeom prst="rect">
            <a:avLst/>
          </a:prstGeom>
          <a:noFill/>
        </p:spPr>
        <p:txBody>
          <a:bodyPr wrap="square">
            <a:spAutoFit/>
          </a:bodyPr>
          <a:lstStyle/>
          <a:p>
            <a:pPr algn="ctr"/>
            <a:r>
              <a:rPr sz="1000" b="1">
                <a:solidFill>
                  <a:srgbClr val="C9A84C"/>
                </a:solidFill>
                <a:latin typeface="맑은 고딕"/>
              </a:rPr>
              <a:t>검+방패</a:t>
            </a:r>
          </a:p>
        </p:txBody>
      </p:sp>
      <p:sp>
        <p:nvSpPr>
          <p:cNvPr id="20" name="Rectangle 19"/>
          <p:cNvSpPr/>
          <p:nvPr/>
        </p:nvSpPr>
        <p:spPr>
          <a:xfrm>
            <a:off x="502920" y="2167128"/>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203704"/>
            <a:ext cx="1591056" cy="676656"/>
          </a:xfrm>
          <a:prstGeom prst="rect">
            <a:avLst/>
          </a:prstGeom>
          <a:noFill/>
        </p:spPr>
        <p:txBody>
          <a:bodyPr wrap="square">
            <a:spAutoFit/>
          </a:bodyPr>
          <a:lstStyle/>
          <a:p>
            <a:pPr algn="ctr"/>
            <a:r>
              <a:rPr sz="950" b="0">
                <a:solidFill>
                  <a:srgbClr val="FFFFFF"/>
                </a:solidFill>
                <a:latin typeface="맑은 고딕"/>
              </a:rPr>
              <a:t>성배의 수호자</a:t>
            </a:r>
          </a:p>
        </p:txBody>
      </p:sp>
      <p:sp>
        <p:nvSpPr>
          <p:cNvPr id="22" name="Rectangle 21"/>
          <p:cNvSpPr/>
          <p:nvPr/>
        </p:nvSpPr>
        <p:spPr>
          <a:xfrm>
            <a:off x="224028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13432" y="2203704"/>
            <a:ext cx="950976" cy="676656"/>
          </a:xfrm>
          <a:prstGeom prst="rect">
            <a:avLst/>
          </a:prstGeom>
          <a:noFill/>
        </p:spPr>
        <p:txBody>
          <a:bodyPr wrap="square">
            <a:spAutoFit/>
          </a:bodyPr>
          <a:lstStyle/>
          <a:p>
            <a:pPr algn="ctr"/>
            <a:r>
              <a:rPr sz="950" b="0">
                <a:solidFill>
                  <a:srgbClr val="B8BECC"/>
                </a:solidFill>
                <a:latin typeface="맑은 고딕"/>
              </a:rPr>
              <a:t>보통</a:t>
            </a:r>
          </a:p>
        </p:txBody>
      </p:sp>
      <p:sp>
        <p:nvSpPr>
          <p:cNvPr id="24" name="Rectangle 23"/>
          <p:cNvSpPr/>
          <p:nvPr/>
        </p:nvSpPr>
        <p:spPr>
          <a:xfrm>
            <a:off x="333756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0712" y="2203704"/>
            <a:ext cx="950976" cy="676656"/>
          </a:xfrm>
          <a:prstGeom prst="rect">
            <a:avLst/>
          </a:prstGeom>
          <a:noFill/>
        </p:spPr>
        <p:txBody>
          <a:bodyPr wrap="square">
            <a:spAutoFit/>
          </a:bodyPr>
          <a:lstStyle/>
          <a:p>
            <a:pPr algn="ctr"/>
            <a:r>
              <a:rPr sz="950" b="0">
                <a:solidFill>
                  <a:srgbClr val="B8BECC"/>
                </a:solidFill>
                <a:latin typeface="맑은 고딕"/>
              </a:rPr>
              <a:t>탱딜★</a:t>
            </a:r>
          </a:p>
        </p:txBody>
      </p:sp>
      <p:sp>
        <p:nvSpPr>
          <p:cNvPr id="26" name="Rectangle 25"/>
          <p:cNvSpPr/>
          <p:nvPr/>
        </p:nvSpPr>
        <p:spPr>
          <a:xfrm>
            <a:off x="443484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2203704"/>
            <a:ext cx="950976" cy="676656"/>
          </a:xfrm>
          <a:prstGeom prst="rect">
            <a:avLst/>
          </a:prstGeom>
          <a:noFill/>
        </p:spPr>
        <p:txBody>
          <a:bodyPr wrap="square">
            <a:spAutoFit/>
          </a:bodyPr>
          <a:lstStyle/>
          <a:p>
            <a:pPr algn="ctr"/>
            <a:r>
              <a:rPr sz="950" b="0">
                <a:solidFill>
                  <a:srgbClr val="B8BECC"/>
                </a:solidFill>
                <a:latin typeface="맑은 고딕"/>
              </a:rPr>
              <a:t>표준</a:t>
            </a:r>
          </a:p>
        </p:txBody>
      </p:sp>
      <p:sp>
        <p:nvSpPr>
          <p:cNvPr id="28" name="Rectangle 27"/>
          <p:cNvSpPr/>
          <p:nvPr/>
        </p:nvSpPr>
        <p:spPr>
          <a:xfrm>
            <a:off x="553212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05272" y="2203704"/>
            <a:ext cx="950976" cy="676656"/>
          </a:xfrm>
          <a:prstGeom prst="rect">
            <a:avLst/>
          </a:prstGeom>
          <a:noFill/>
        </p:spPr>
        <p:txBody>
          <a:bodyPr wrap="square">
            <a:spAutoFit/>
          </a:bodyPr>
          <a:lstStyle/>
          <a:p>
            <a:pPr algn="ctr"/>
            <a:r>
              <a:rPr sz="950" b="0">
                <a:solidFill>
                  <a:srgbClr val="B8BECC"/>
                </a:solidFill>
                <a:latin typeface="맑은 고딕"/>
              </a:rPr>
              <a:t>지연</a:t>
            </a:r>
          </a:p>
        </p:txBody>
      </p:sp>
      <p:sp>
        <p:nvSpPr>
          <p:cNvPr id="30" name="Rectangle 29"/>
          <p:cNvSpPr/>
          <p:nvPr/>
        </p:nvSpPr>
        <p:spPr>
          <a:xfrm>
            <a:off x="662940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2203704"/>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32" name="Rectangle 31"/>
          <p:cNvSpPr/>
          <p:nvPr/>
        </p:nvSpPr>
        <p:spPr>
          <a:xfrm>
            <a:off x="502920" y="2916936"/>
            <a:ext cx="173736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2953512"/>
            <a:ext cx="1591056" cy="676656"/>
          </a:xfrm>
          <a:prstGeom prst="rect">
            <a:avLst/>
          </a:prstGeom>
          <a:noFill/>
        </p:spPr>
        <p:txBody>
          <a:bodyPr wrap="square">
            <a:spAutoFit/>
          </a:bodyPr>
          <a:lstStyle/>
          <a:p>
            <a:pPr algn="ctr"/>
            <a:r>
              <a:rPr sz="950" b="0">
                <a:solidFill>
                  <a:srgbClr val="FFFFFF"/>
                </a:solidFill>
                <a:latin typeface="맑은 고딕"/>
              </a:rPr>
              <a:t>원탁의 균열</a:t>
            </a:r>
          </a:p>
        </p:txBody>
      </p:sp>
      <p:sp>
        <p:nvSpPr>
          <p:cNvPr id="34" name="Rectangle 33"/>
          <p:cNvSpPr/>
          <p:nvPr/>
        </p:nvSpPr>
        <p:spPr>
          <a:xfrm>
            <a:off x="224028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13432" y="2953512"/>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36" name="Rectangle 35"/>
          <p:cNvSpPr/>
          <p:nvPr/>
        </p:nvSpPr>
        <p:spPr>
          <a:xfrm>
            <a:off x="333756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0712" y="2953512"/>
            <a:ext cx="950976" cy="676656"/>
          </a:xfrm>
          <a:prstGeom prst="rect">
            <a:avLst/>
          </a:prstGeom>
          <a:noFill/>
        </p:spPr>
        <p:txBody>
          <a:bodyPr wrap="square">
            <a:spAutoFit/>
          </a:bodyPr>
          <a:lstStyle/>
          <a:p>
            <a:pPr algn="ctr"/>
            <a:r>
              <a:rPr sz="950" b="0">
                <a:solidFill>
                  <a:srgbClr val="B8BECC"/>
                </a:solidFill>
                <a:latin typeface="맑은 고딕"/>
              </a:rPr>
              <a:t>고위험★</a:t>
            </a:r>
          </a:p>
        </p:txBody>
      </p:sp>
      <p:sp>
        <p:nvSpPr>
          <p:cNvPr id="38" name="Rectangle 37"/>
          <p:cNvSpPr/>
          <p:nvPr/>
        </p:nvSpPr>
        <p:spPr>
          <a:xfrm>
            <a:off x="443484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07992" y="2953512"/>
            <a:ext cx="950976" cy="676656"/>
          </a:xfrm>
          <a:prstGeom prst="rect">
            <a:avLst/>
          </a:prstGeom>
          <a:noFill/>
        </p:spPr>
        <p:txBody>
          <a:bodyPr wrap="square">
            <a:spAutoFit/>
          </a:bodyPr>
          <a:lstStyle/>
          <a:p>
            <a:pPr algn="ctr"/>
            <a:r>
              <a:rPr sz="950" b="0">
                <a:solidFill>
                  <a:srgbClr val="B8BECC"/>
                </a:solidFill>
                <a:latin typeface="맑은 고딕"/>
              </a:rPr>
              <a:t>콤보★</a:t>
            </a:r>
          </a:p>
        </p:txBody>
      </p:sp>
      <p:sp>
        <p:nvSpPr>
          <p:cNvPr id="40" name="Rectangle 39"/>
          <p:cNvSpPr/>
          <p:nvPr/>
        </p:nvSpPr>
        <p:spPr>
          <a:xfrm>
            <a:off x="553212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05272" y="2953512"/>
            <a:ext cx="950976" cy="676656"/>
          </a:xfrm>
          <a:prstGeom prst="rect">
            <a:avLst/>
          </a:prstGeom>
          <a:noFill/>
        </p:spPr>
        <p:txBody>
          <a:bodyPr wrap="square">
            <a:spAutoFit/>
          </a:bodyPr>
          <a:lstStyle/>
          <a:p>
            <a:pPr algn="ctr"/>
            <a:r>
              <a:rPr sz="950" b="0">
                <a:solidFill>
                  <a:srgbClr val="B8BECC"/>
                </a:solidFill>
                <a:latin typeface="맑은 고딕"/>
              </a:rPr>
              <a:t>안전딜</a:t>
            </a:r>
          </a:p>
        </p:txBody>
      </p:sp>
      <p:sp>
        <p:nvSpPr>
          <p:cNvPr id="42" name="Rectangle 41"/>
          <p:cNvSpPr/>
          <p:nvPr/>
        </p:nvSpPr>
        <p:spPr>
          <a:xfrm>
            <a:off x="662940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02552" y="2953512"/>
            <a:ext cx="950976" cy="676656"/>
          </a:xfrm>
          <a:prstGeom prst="rect">
            <a:avLst/>
          </a:prstGeom>
          <a:noFill/>
        </p:spPr>
        <p:txBody>
          <a:bodyPr wrap="square">
            <a:spAutoFit/>
          </a:bodyPr>
          <a:lstStyle/>
          <a:p>
            <a:pPr algn="ctr"/>
            <a:r>
              <a:rPr sz="950" b="0">
                <a:solidFill>
                  <a:srgbClr val="B8BECC"/>
                </a:solidFill>
                <a:latin typeface="맑은 고딕"/>
              </a:rPr>
              <a:t>방어콤보</a:t>
            </a:r>
          </a:p>
        </p:txBody>
      </p:sp>
      <p:sp>
        <p:nvSpPr>
          <p:cNvPr id="44" name="Rectangle 43"/>
          <p:cNvSpPr/>
          <p:nvPr/>
        </p:nvSpPr>
        <p:spPr>
          <a:xfrm>
            <a:off x="502920" y="3666744"/>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3703320"/>
            <a:ext cx="1591056" cy="676656"/>
          </a:xfrm>
          <a:prstGeom prst="rect">
            <a:avLst/>
          </a:prstGeom>
          <a:noFill/>
        </p:spPr>
        <p:txBody>
          <a:bodyPr wrap="square">
            <a:spAutoFit/>
          </a:bodyPr>
          <a:lstStyle/>
          <a:p>
            <a:pPr algn="ctr"/>
            <a:r>
              <a:rPr sz="950" b="0">
                <a:solidFill>
                  <a:srgbClr val="FFFFFF"/>
                </a:solidFill>
                <a:latin typeface="맑은 고딕"/>
              </a:rPr>
              <a:t>여정의 창</a:t>
            </a:r>
          </a:p>
        </p:txBody>
      </p:sp>
      <p:sp>
        <p:nvSpPr>
          <p:cNvPr id="46" name="Rectangle 45"/>
          <p:cNvSpPr/>
          <p:nvPr/>
        </p:nvSpPr>
        <p:spPr>
          <a:xfrm>
            <a:off x="224028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13432" y="3703320"/>
            <a:ext cx="950976" cy="676656"/>
          </a:xfrm>
          <a:prstGeom prst="rect">
            <a:avLst/>
          </a:prstGeom>
          <a:noFill/>
        </p:spPr>
        <p:txBody>
          <a:bodyPr wrap="square">
            <a:spAutoFit/>
          </a:bodyPr>
          <a:lstStyle/>
          <a:p>
            <a:pPr algn="ctr"/>
            <a:r>
              <a:rPr sz="950" b="0">
                <a:solidFill>
                  <a:srgbClr val="B8BECC"/>
                </a:solidFill>
                <a:latin typeface="맑은 고딕"/>
              </a:rPr>
              <a:t>빠른누적</a:t>
            </a:r>
          </a:p>
        </p:txBody>
      </p:sp>
      <p:sp>
        <p:nvSpPr>
          <p:cNvPr id="48" name="Rectangle 47"/>
          <p:cNvSpPr/>
          <p:nvPr/>
        </p:nvSpPr>
        <p:spPr>
          <a:xfrm>
            <a:off x="333756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0712" y="3703320"/>
            <a:ext cx="950976" cy="676656"/>
          </a:xfrm>
          <a:prstGeom prst="rect">
            <a:avLst/>
          </a:prstGeom>
          <a:noFill/>
        </p:spPr>
        <p:txBody>
          <a:bodyPr wrap="square">
            <a:spAutoFit/>
          </a:bodyPr>
          <a:lstStyle/>
          <a:p>
            <a:pPr algn="ctr"/>
            <a:r>
              <a:rPr sz="950" b="0">
                <a:solidFill>
                  <a:srgbClr val="B8BECC"/>
                </a:solidFill>
                <a:latin typeface="맑은 고딕"/>
              </a:rPr>
              <a:t>보스킬★</a:t>
            </a:r>
          </a:p>
        </p:txBody>
      </p:sp>
      <p:sp>
        <p:nvSpPr>
          <p:cNvPr id="50" name="Rectangle 49"/>
          <p:cNvSpPr/>
          <p:nvPr/>
        </p:nvSpPr>
        <p:spPr>
          <a:xfrm>
            <a:off x="443484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07992" y="3703320"/>
            <a:ext cx="950976" cy="676656"/>
          </a:xfrm>
          <a:prstGeom prst="rect">
            <a:avLst/>
          </a:prstGeom>
          <a:noFill/>
        </p:spPr>
        <p:txBody>
          <a:bodyPr wrap="square">
            <a:spAutoFit/>
          </a:bodyPr>
          <a:lstStyle/>
          <a:p>
            <a:pPr algn="ctr"/>
            <a:r>
              <a:rPr sz="950" b="0">
                <a:solidFill>
                  <a:srgbClr val="B8BECC"/>
                </a:solidFill>
                <a:latin typeface="맑은 고딕"/>
              </a:rPr>
              <a:t>시너지★★</a:t>
            </a:r>
          </a:p>
        </p:txBody>
      </p:sp>
      <p:sp>
        <p:nvSpPr>
          <p:cNvPr id="52" name="Rectangle 51"/>
          <p:cNvSpPr/>
          <p:nvPr/>
        </p:nvSpPr>
        <p:spPr>
          <a:xfrm>
            <a:off x="553212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05272" y="3703320"/>
            <a:ext cx="950976" cy="676656"/>
          </a:xfrm>
          <a:prstGeom prst="rect">
            <a:avLst/>
          </a:prstGeom>
          <a:noFill/>
        </p:spPr>
        <p:txBody>
          <a:bodyPr wrap="square">
            <a:spAutoFit/>
          </a:bodyPr>
          <a:lstStyle/>
          <a:p>
            <a:pPr algn="ctr"/>
            <a:r>
              <a:rPr sz="950" b="0">
                <a:solidFill>
                  <a:srgbClr val="B8BECC"/>
                </a:solidFill>
                <a:latin typeface="맑은 고딕"/>
              </a:rPr>
              <a:t>안전</a:t>
            </a:r>
          </a:p>
        </p:txBody>
      </p:sp>
      <p:sp>
        <p:nvSpPr>
          <p:cNvPr id="54" name="Rectangle 53"/>
          <p:cNvSpPr/>
          <p:nvPr/>
        </p:nvSpPr>
        <p:spPr>
          <a:xfrm>
            <a:off x="662940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02552" y="3703320"/>
            <a:ext cx="950976" cy="676656"/>
          </a:xfrm>
          <a:prstGeom prst="rect">
            <a:avLst/>
          </a:prstGeom>
          <a:noFill/>
        </p:spPr>
        <p:txBody>
          <a:bodyPr wrap="square">
            <a:spAutoFit/>
          </a:bodyPr>
          <a:lstStyle/>
          <a:p>
            <a:pPr algn="ctr"/>
            <a:r>
              <a:rPr sz="950" b="0">
                <a:solidFill>
                  <a:srgbClr val="B8BECC"/>
                </a:solidFill>
                <a:latin typeface="맑은 고딕"/>
              </a:rPr>
              <a:t>균형형</a:t>
            </a:r>
          </a:p>
        </p:txBody>
      </p:sp>
      <p:sp>
        <p:nvSpPr>
          <p:cNvPr id="56" name="Rectangle 55"/>
          <p:cNvSpPr/>
          <p:nvPr/>
        </p:nvSpPr>
        <p:spPr>
          <a:xfrm>
            <a:off x="502920" y="4416552"/>
            <a:ext cx="173736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6072" y="4453128"/>
            <a:ext cx="1591056" cy="676656"/>
          </a:xfrm>
          <a:prstGeom prst="rect">
            <a:avLst/>
          </a:prstGeom>
          <a:noFill/>
        </p:spPr>
        <p:txBody>
          <a:bodyPr wrap="square">
            <a:spAutoFit/>
          </a:bodyPr>
          <a:lstStyle/>
          <a:p>
            <a:pPr algn="ctr"/>
            <a:r>
              <a:rPr sz="950" b="0">
                <a:solidFill>
                  <a:srgbClr val="FFFFFF"/>
                </a:solidFill>
                <a:latin typeface="맑은 고딕"/>
              </a:rPr>
              <a:t>태양의 서약</a:t>
            </a:r>
          </a:p>
        </p:txBody>
      </p:sp>
      <p:sp>
        <p:nvSpPr>
          <p:cNvPr id="58" name="Rectangle 57"/>
          <p:cNvSpPr/>
          <p:nvPr/>
        </p:nvSpPr>
        <p:spPr>
          <a:xfrm>
            <a:off x="224028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13432" y="4453128"/>
            <a:ext cx="950976" cy="676656"/>
          </a:xfrm>
          <a:prstGeom prst="rect">
            <a:avLst/>
          </a:prstGeom>
          <a:noFill/>
        </p:spPr>
        <p:txBody>
          <a:bodyPr wrap="square">
            <a:spAutoFit/>
          </a:bodyPr>
          <a:lstStyle/>
          <a:p>
            <a:pPr algn="ctr"/>
            <a:r>
              <a:rPr sz="950" b="0">
                <a:solidFill>
                  <a:srgbClr val="B8BECC"/>
                </a:solidFill>
                <a:latin typeface="맑은 고딕"/>
              </a:rPr>
              <a:t>연속딜</a:t>
            </a:r>
          </a:p>
        </p:txBody>
      </p:sp>
      <p:sp>
        <p:nvSpPr>
          <p:cNvPr id="60" name="Rectangle 59"/>
          <p:cNvSpPr/>
          <p:nvPr/>
        </p:nvSpPr>
        <p:spPr>
          <a:xfrm>
            <a:off x="333756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10712" y="4453128"/>
            <a:ext cx="950976" cy="676656"/>
          </a:xfrm>
          <a:prstGeom prst="rect">
            <a:avLst/>
          </a:prstGeom>
          <a:noFill/>
        </p:spPr>
        <p:txBody>
          <a:bodyPr wrap="square">
            <a:spAutoFit/>
          </a:bodyPr>
          <a:lstStyle/>
          <a:p>
            <a:pPr algn="ctr"/>
            <a:r>
              <a:rPr sz="950" b="0">
                <a:solidFill>
                  <a:srgbClr val="B8BECC"/>
                </a:solidFill>
                <a:latin typeface="맑은 고딕"/>
              </a:rPr>
              <a:t>버스트★</a:t>
            </a:r>
          </a:p>
        </p:txBody>
      </p:sp>
      <p:sp>
        <p:nvSpPr>
          <p:cNvPr id="62" name="Rectangle 61"/>
          <p:cNvSpPr/>
          <p:nvPr/>
        </p:nvSpPr>
        <p:spPr>
          <a:xfrm>
            <a:off x="443484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07992" y="4453128"/>
            <a:ext cx="950976" cy="676656"/>
          </a:xfrm>
          <a:prstGeom prst="rect">
            <a:avLst/>
          </a:prstGeom>
          <a:noFill/>
        </p:spPr>
        <p:txBody>
          <a:bodyPr wrap="square">
            <a:spAutoFit/>
          </a:bodyPr>
          <a:lstStyle/>
          <a:p>
            <a:pPr algn="ctr"/>
            <a:r>
              <a:rPr sz="950" b="0">
                <a:solidFill>
                  <a:srgbClr val="B8BECC"/>
                </a:solidFill>
                <a:latin typeface="맑은 고딕"/>
              </a:rPr>
              <a:t>돌진버스트</a:t>
            </a:r>
          </a:p>
        </p:txBody>
      </p:sp>
      <p:sp>
        <p:nvSpPr>
          <p:cNvPr id="64" name="Rectangle 63"/>
          <p:cNvSpPr/>
          <p:nvPr/>
        </p:nvSpPr>
        <p:spPr>
          <a:xfrm>
            <a:off x="553212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05272" y="4453128"/>
            <a:ext cx="950976" cy="676656"/>
          </a:xfrm>
          <a:prstGeom prst="rect">
            <a:avLst/>
          </a:prstGeom>
          <a:noFill/>
        </p:spPr>
        <p:txBody>
          <a:bodyPr wrap="square">
            <a:spAutoFit/>
          </a:bodyPr>
          <a:lstStyle/>
          <a:p>
            <a:pPr algn="ctr"/>
            <a:r>
              <a:rPr sz="950" b="0">
                <a:solidFill>
                  <a:srgbClr val="B8BECC"/>
                </a:solidFill>
                <a:latin typeface="맑은 고딕"/>
              </a:rPr>
              <a:t>원거리</a:t>
            </a:r>
          </a:p>
        </p:txBody>
      </p:sp>
      <p:sp>
        <p:nvSpPr>
          <p:cNvPr id="66" name="Rectangle 65"/>
          <p:cNvSpPr/>
          <p:nvPr/>
        </p:nvSpPr>
        <p:spPr>
          <a:xfrm>
            <a:off x="662940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02552" y="4453128"/>
            <a:ext cx="950976" cy="676656"/>
          </a:xfrm>
          <a:prstGeom prst="rect">
            <a:avLst/>
          </a:prstGeom>
          <a:noFill/>
        </p:spPr>
        <p:txBody>
          <a:bodyPr wrap="square">
            <a:spAutoFit/>
          </a:bodyPr>
          <a:lstStyle/>
          <a:p>
            <a:pPr algn="ctr"/>
            <a:r>
              <a:rPr sz="950" b="0">
                <a:solidFill>
                  <a:srgbClr val="B8BECC"/>
                </a:solidFill>
                <a:latin typeface="맑은 고딕"/>
              </a:rPr>
              <a:t>방어유지★</a:t>
            </a:r>
          </a:p>
        </p:txBody>
      </p:sp>
      <p:sp>
        <p:nvSpPr>
          <p:cNvPr id="68" name="Rectangle 67"/>
          <p:cNvSpPr/>
          <p:nvPr/>
        </p:nvSpPr>
        <p:spPr>
          <a:xfrm>
            <a:off x="502920" y="5166359"/>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76072" y="5202936"/>
            <a:ext cx="1591056" cy="676656"/>
          </a:xfrm>
          <a:prstGeom prst="rect">
            <a:avLst/>
          </a:prstGeom>
          <a:noFill/>
        </p:spPr>
        <p:txBody>
          <a:bodyPr wrap="square">
            <a:spAutoFit/>
          </a:bodyPr>
          <a:lstStyle/>
          <a:p>
            <a:pPr algn="ctr"/>
            <a:r>
              <a:rPr sz="950" b="0">
                <a:solidFill>
                  <a:srgbClr val="FFFFFF"/>
                </a:solidFill>
                <a:latin typeface="맑은 고딕"/>
              </a:rPr>
              <a:t>비련의 화살</a:t>
            </a:r>
          </a:p>
        </p:txBody>
      </p:sp>
      <p:sp>
        <p:nvSpPr>
          <p:cNvPr id="70" name="Rectangle 69"/>
          <p:cNvSpPr/>
          <p:nvPr/>
        </p:nvSpPr>
        <p:spPr>
          <a:xfrm>
            <a:off x="224028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313432" y="5202936"/>
            <a:ext cx="950976" cy="676656"/>
          </a:xfrm>
          <a:prstGeom prst="rect">
            <a:avLst/>
          </a:prstGeom>
          <a:noFill/>
        </p:spPr>
        <p:txBody>
          <a:bodyPr wrap="square">
            <a:spAutoFit/>
          </a:bodyPr>
          <a:lstStyle/>
          <a:p>
            <a:pPr algn="ctr"/>
            <a:r>
              <a:rPr sz="950" b="0">
                <a:solidFill>
                  <a:srgbClr val="B8BECC"/>
                </a:solidFill>
                <a:latin typeface="맑은 고딕"/>
              </a:rPr>
              <a:t>위험</a:t>
            </a:r>
          </a:p>
        </p:txBody>
      </p:sp>
      <p:sp>
        <p:nvSpPr>
          <p:cNvPr id="72" name="Rectangle 71"/>
          <p:cNvSpPr/>
          <p:nvPr/>
        </p:nvSpPr>
        <p:spPr>
          <a:xfrm>
            <a:off x="333756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10712" y="5202936"/>
            <a:ext cx="950976" cy="676656"/>
          </a:xfrm>
          <a:prstGeom prst="rect">
            <a:avLst/>
          </a:prstGeom>
          <a:noFill/>
        </p:spPr>
        <p:txBody>
          <a:bodyPr wrap="square">
            <a:spAutoFit/>
          </a:bodyPr>
          <a:lstStyle/>
          <a:p>
            <a:pPr algn="ctr"/>
            <a:r>
              <a:rPr sz="950" b="0">
                <a:solidFill>
                  <a:srgbClr val="B8BECC"/>
                </a:solidFill>
                <a:latin typeface="맑은 고딕"/>
              </a:rPr>
              <a:t>최고위험</a:t>
            </a:r>
          </a:p>
        </p:txBody>
      </p:sp>
      <p:sp>
        <p:nvSpPr>
          <p:cNvPr id="74" name="Rectangle 73"/>
          <p:cNvSpPr/>
          <p:nvPr/>
        </p:nvSpPr>
        <p:spPr>
          <a:xfrm>
            <a:off x="443484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07992" y="5202936"/>
            <a:ext cx="950976" cy="676656"/>
          </a:xfrm>
          <a:prstGeom prst="rect">
            <a:avLst/>
          </a:prstGeom>
          <a:noFill/>
        </p:spPr>
        <p:txBody>
          <a:bodyPr wrap="square">
            <a:spAutoFit/>
          </a:bodyPr>
          <a:lstStyle/>
          <a:p>
            <a:pPr algn="ctr"/>
            <a:r>
              <a:rPr sz="950" b="0">
                <a:solidFill>
                  <a:srgbClr val="B8BECC"/>
                </a:solidFill>
                <a:latin typeface="맑은 고딕"/>
              </a:rPr>
              <a:t>히트앤런</a:t>
            </a:r>
          </a:p>
        </p:txBody>
      </p:sp>
      <p:sp>
        <p:nvSpPr>
          <p:cNvPr id="76" name="Rectangle 75"/>
          <p:cNvSpPr/>
          <p:nvPr/>
        </p:nvSpPr>
        <p:spPr>
          <a:xfrm>
            <a:off x="553212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05272" y="5202936"/>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78" name="Rectangle 77"/>
          <p:cNvSpPr/>
          <p:nvPr/>
        </p:nvSpPr>
        <p:spPr>
          <a:xfrm>
            <a:off x="662940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702552" y="5202936"/>
            <a:ext cx="950976" cy="676656"/>
          </a:xfrm>
          <a:prstGeom prst="rect">
            <a:avLst/>
          </a:prstGeom>
          <a:noFill/>
        </p:spPr>
        <p:txBody>
          <a:bodyPr wrap="square">
            <a:spAutoFit/>
          </a:bodyPr>
          <a:lstStyle/>
          <a:p>
            <a:pPr algn="ctr"/>
            <a:r>
              <a:rPr sz="950" b="0">
                <a:solidFill>
                  <a:srgbClr val="B8BECC"/>
                </a:solidFill>
                <a:latin typeface="맑은 고딕"/>
              </a:rPr>
              <a:t>방어방지</a:t>
            </a:r>
          </a:p>
        </p:txBody>
      </p:sp>
      <p:sp>
        <p:nvSpPr>
          <p:cNvPr id="80" name="Rectangle 79"/>
          <p:cNvSpPr/>
          <p:nvPr/>
        </p:nvSpPr>
        <p:spPr>
          <a:xfrm>
            <a:off x="8366760" y="960120"/>
            <a:ext cx="347472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366760" y="96012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503920" y="1014984"/>
            <a:ext cx="3200400" cy="256032"/>
          </a:xfrm>
          <a:prstGeom prst="rect">
            <a:avLst/>
          </a:prstGeom>
          <a:noFill/>
        </p:spPr>
        <p:txBody>
          <a:bodyPr wrap="square">
            <a:spAutoFit/>
          </a:bodyPr>
          <a:lstStyle/>
          <a:p>
            <a:pPr algn="l"/>
            <a:r>
              <a:rPr sz="1200" b="1">
                <a:solidFill>
                  <a:srgbClr val="C9A84C"/>
                </a:solidFill>
                <a:latin typeface="맑은 고딕"/>
              </a:rPr>
              <a:t>아이템 이중 효과 구조</a:t>
            </a:r>
          </a:p>
        </p:txBody>
      </p:sp>
      <p:sp>
        <p:nvSpPr>
          <p:cNvPr id="83" name="Rectangle 82"/>
          <p:cNvSpPr/>
          <p:nvPr/>
        </p:nvSpPr>
        <p:spPr>
          <a:xfrm>
            <a:off x="8549640" y="1417320"/>
            <a:ext cx="3108960" cy="21031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49640" y="1463040"/>
            <a:ext cx="3108960" cy="320040"/>
          </a:xfrm>
          <a:prstGeom prst="rect">
            <a:avLst/>
          </a:prstGeom>
          <a:noFill/>
        </p:spPr>
        <p:txBody>
          <a:bodyPr wrap="square">
            <a:spAutoFit/>
          </a:bodyPr>
          <a:lstStyle/>
          <a:p>
            <a:pPr algn="ctr"/>
            <a:r>
              <a:rPr sz="1100" b="1">
                <a:solidFill>
                  <a:srgbClr val="C9A84C"/>
                </a:solidFill>
                <a:latin typeface="맑은 고딕"/>
              </a:rPr>
              <a:t>[ 분노의 맹세 ]</a:t>
            </a:r>
          </a:p>
        </p:txBody>
      </p:sp>
      <p:sp>
        <p:nvSpPr>
          <p:cNvPr id="85" name="Rectangle 84"/>
          <p:cNvSpPr/>
          <p:nvPr/>
        </p:nvSpPr>
        <p:spPr>
          <a:xfrm>
            <a:off x="8549640" y="1783080"/>
            <a:ext cx="31089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686800" y="1847088"/>
            <a:ext cx="1097280" cy="228600"/>
          </a:xfrm>
          <a:prstGeom prst="rect">
            <a:avLst/>
          </a:prstGeom>
          <a:noFill/>
        </p:spPr>
        <p:txBody>
          <a:bodyPr wrap="square">
            <a:spAutoFit/>
          </a:bodyPr>
          <a:lstStyle/>
          <a:p>
            <a:pPr algn="l"/>
            <a:r>
              <a:rPr sz="900" b="1">
                <a:solidFill>
                  <a:srgbClr val="727A8E"/>
                </a:solidFill>
                <a:latin typeface="맑은 고딕"/>
              </a:rPr>
              <a:t>기본 효과</a:t>
            </a:r>
          </a:p>
        </p:txBody>
      </p:sp>
      <p:sp>
        <p:nvSpPr>
          <p:cNvPr id="87" name="TextBox 86"/>
          <p:cNvSpPr txBox="1"/>
          <p:nvPr/>
        </p:nvSpPr>
        <p:spPr>
          <a:xfrm>
            <a:off x="8686800" y="2084831"/>
            <a:ext cx="2743200" cy="256032"/>
          </a:xfrm>
          <a:prstGeom prst="rect">
            <a:avLst/>
          </a:prstGeom>
          <a:noFill/>
        </p:spPr>
        <p:txBody>
          <a:bodyPr wrap="square">
            <a:spAutoFit/>
          </a:bodyPr>
          <a:lstStyle/>
          <a:p>
            <a:pPr algn="l"/>
            <a:r>
              <a:rPr sz="1100" b="0">
                <a:solidFill>
                  <a:srgbClr val="FFFFFF"/>
                </a:solidFill>
                <a:latin typeface="맑은 고딕"/>
              </a:rPr>
              <a:t>공격력 +10%</a:t>
            </a:r>
          </a:p>
        </p:txBody>
      </p:sp>
      <p:sp>
        <p:nvSpPr>
          <p:cNvPr id="88" name="Rectangle 87"/>
          <p:cNvSpPr/>
          <p:nvPr/>
        </p:nvSpPr>
        <p:spPr>
          <a:xfrm>
            <a:off x="8549640" y="2377440"/>
            <a:ext cx="31089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86800" y="2441448"/>
            <a:ext cx="2286000" cy="228600"/>
          </a:xfrm>
          <a:prstGeom prst="rect">
            <a:avLst/>
          </a:prstGeom>
          <a:noFill/>
        </p:spPr>
        <p:txBody>
          <a:bodyPr wrap="square">
            <a:spAutoFit/>
          </a:bodyPr>
          <a:lstStyle/>
          <a:p>
            <a:pPr algn="l"/>
            <a:r>
              <a:rPr sz="900" b="1">
                <a:solidFill>
                  <a:srgbClr val="C9A84C"/>
                </a:solidFill>
                <a:latin typeface="맑은 고딕"/>
              </a:rPr>
              <a:t>원탁의 균열 친화</a:t>
            </a:r>
          </a:p>
        </p:txBody>
      </p:sp>
      <p:sp>
        <p:nvSpPr>
          <p:cNvPr id="90" name="TextBox 89"/>
          <p:cNvSpPr txBox="1"/>
          <p:nvPr/>
        </p:nvSpPr>
        <p:spPr>
          <a:xfrm>
            <a:off x="8686800" y="2679192"/>
            <a:ext cx="2743200" cy="256032"/>
          </a:xfrm>
          <a:prstGeom prst="rect">
            <a:avLst/>
          </a:prstGeom>
          <a:noFill/>
        </p:spPr>
        <p:txBody>
          <a:bodyPr wrap="square">
            <a:spAutoFit/>
          </a:bodyPr>
          <a:lstStyle/>
          <a:p>
            <a:pPr algn="l"/>
            <a:r>
              <a:rPr sz="1050" b="0">
                <a:solidFill>
                  <a:srgbClr val="4AC2B8"/>
                </a:solidFill>
                <a:latin typeface="맑은 고딕"/>
              </a:rPr>
              <a:t>피격 시 콤보 게이지 +3</a:t>
            </a:r>
          </a:p>
        </p:txBody>
      </p:sp>
      <p:sp>
        <p:nvSpPr>
          <p:cNvPr id="91" name="Rectangle 90"/>
          <p:cNvSpPr/>
          <p:nvPr/>
        </p:nvSpPr>
        <p:spPr>
          <a:xfrm>
            <a:off x="8366760" y="3886200"/>
            <a:ext cx="3474720" cy="24688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366760" y="388620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503920" y="3941063"/>
            <a:ext cx="3200400" cy="256032"/>
          </a:xfrm>
          <a:prstGeom prst="rect">
            <a:avLst/>
          </a:prstGeom>
          <a:noFill/>
        </p:spPr>
        <p:txBody>
          <a:bodyPr wrap="square">
            <a:spAutoFit/>
          </a:bodyPr>
          <a:lstStyle/>
          <a:p>
            <a:pPr algn="l"/>
            <a:r>
              <a:rPr sz="1200" b="1">
                <a:solidFill>
                  <a:srgbClr val="C9A84C"/>
                </a:solidFill>
                <a:latin typeface="맑은 고딕"/>
              </a:rPr>
              <a:t>아이템 등급 &amp; 드롭률</a:t>
            </a:r>
          </a:p>
        </p:txBody>
      </p:sp>
      <p:sp>
        <p:nvSpPr>
          <p:cNvPr id="94" name="Rectangle 93"/>
          <p:cNvSpPr/>
          <p:nvPr/>
        </p:nvSpPr>
        <p:spPr>
          <a:xfrm>
            <a:off x="8549640" y="4343400"/>
            <a:ext cx="731520" cy="384048"/>
          </a:xfrm>
          <a:prstGeom prst="rect">
            <a:avLst/>
          </a:prstGeom>
          <a:solidFill>
            <a:srgbClr val="727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549640" y="4398264"/>
            <a:ext cx="731520" cy="274320"/>
          </a:xfrm>
          <a:prstGeom prst="rect">
            <a:avLst/>
          </a:prstGeom>
          <a:noFill/>
        </p:spPr>
        <p:txBody>
          <a:bodyPr wrap="square">
            <a:spAutoFit/>
          </a:bodyPr>
          <a:lstStyle/>
          <a:p>
            <a:pPr algn="ctr"/>
            <a:r>
              <a:rPr sz="850" b="1">
                <a:solidFill>
                  <a:srgbClr val="0D111A"/>
                </a:solidFill>
                <a:latin typeface="맑은 고딕"/>
              </a:rPr>
              <a:t>Common</a:t>
            </a:r>
          </a:p>
        </p:txBody>
      </p:sp>
      <p:sp>
        <p:nvSpPr>
          <p:cNvPr id="96" name="TextBox 95"/>
          <p:cNvSpPr txBox="1"/>
          <p:nvPr/>
        </p:nvSpPr>
        <p:spPr>
          <a:xfrm>
            <a:off x="9372600" y="4398264"/>
            <a:ext cx="640080" cy="274320"/>
          </a:xfrm>
          <a:prstGeom prst="rect">
            <a:avLst/>
          </a:prstGeom>
          <a:noFill/>
        </p:spPr>
        <p:txBody>
          <a:bodyPr wrap="square">
            <a:spAutoFit/>
          </a:bodyPr>
          <a:lstStyle/>
          <a:p>
            <a:pPr algn="ctr"/>
            <a:r>
              <a:rPr sz="1100" b="1">
                <a:solidFill>
                  <a:srgbClr val="727A8E"/>
                </a:solidFill>
                <a:latin typeface="맑은 고딕"/>
              </a:rPr>
              <a:t>55%</a:t>
            </a:r>
          </a:p>
        </p:txBody>
      </p:sp>
      <p:sp>
        <p:nvSpPr>
          <p:cNvPr id="97" name="TextBox 96"/>
          <p:cNvSpPr txBox="1"/>
          <p:nvPr/>
        </p:nvSpPr>
        <p:spPr>
          <a:xfrm>
            <a:off x="10058400" y="4434840"/>
            <a:ext cx="1645920" cy="228600"/>
          </a:xfrm>
          <a:prstGeom prst="rect">
            <a:avLst/>
          </a:prstGeom>
          <a:noFill/>
        </p:spPr>
        <p:txBody>
          <a:bodyPr wrap="square">
            <a:spAutoFit/>
          </a:bodyPr>
          <a:lstStyle/>
          <a:p>
            <a:pPr algn="l"/>
            <a:r>
              <a:rPr sz="900" b="0">
                <a:solidFill>
                  <a:srgbClr val="B8BECC"/>
                </a:solidFill>
                <a:latin typeface="맑은 고딕"/>
              </a:rPr>
              <a:t>범용 스탯</a:t>
            </a:r>
          </a:p>
        </p:txBody>
      </p:sp>
      <p:sp>
        <p:nvSpPr>
          <p:cNvPr id="98" name="Rectangle 97"/>
          <p:cNvSpPr/>
          <p:nvPr/>
        </p:nvSpPr>
        <p:spPr>
          <a:xfrm>
            <a:off x="8549640" y="4818888"/>
            <a:ext cx="731520" cy="38404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549640" y="4873751"/>
            <a:ext cx="731520" cy="274320"/>
          </a:xfrm>
          <a:prstGeom prst="rect">
            <a:avLst/>
          </a:prstGeom>
          <a:noFill/>
        </p:spPr>
        <p:txBody>
          <a:bodyPr wrap="square">
            <a:spAutoFit/>
          </a:bodyPr>
          <a:lstStyle/>
          <a:p>
            <a:pPr algn="ctr"/>
            <a:r>
              <a:rPr sz="850" b="1">
                <a:solidFill>
                  <a:srgbClr val="0D111A"/>
                </a:solidFill>
                <a:latin typeface="맑은 고딕"/>
              </a:rPr>
              <a:t>Rare</a:t>
            </a:r>
          </a:p>
        </p:txBody>
      </p:sp>
      <p:sp>
        <p:nvSpPr>
          <p:cNvPr id="100" name="TextBox 99"/>
          <p:cNvSpPr txBox="1"/>
          <p:nvPr/>
        </p:nvSpPr>
        <p:spPr>
          <a:xfrm>
            <a:off x="9372600" y="4873751"/>
            <a:ext cx="640080" cy="274320"/>
          </a:xfrm>
          <a:prstGeom prst="rect">
            <a:avLst/>
          </a:prstGeom>
          <a:noFill/>
        </p:spPr>
        <p:txBody>
          <a:bodyPr wrap="square">
            <a:spAutoFit/>
          </a:bodyPr>
          <a:lstStyle/>
          <a:p>
            <a:pPr algn="ctr"/>
            <a:r>
              <a:rPr sz="1100" b="1">
                <a:solidFill>
                  <a:srgbClr val="4AC2B8"/>
                </a:solidFill>
                <a:latin typeface="맑은 고딕"/>
              </a:rPr>
              <a:t>30%</a:t>
            </a:r>
          </a:p>
        </p:txBody>
      </p:sp>
      <p:sp>
        <p:nvSpPr>
          <p:cNvPr id="101" name="TextBox 100"/>
          <p:cNvSpPr txBox="1"/>
          <p:nvPr/>
        </p:nvSpPr>
        <p:spPr>
          <a:xfrm>
            <a:off x="10058400" y="4910327"/>
            <a:ext cx="1645920" cy="228600"/>
          </a:xfrm>
          <a:prstGeom prst="rect">
            <a:avLst/>
          </a:prstGeom>
          <a:noFill/>
        </p:spPr>
        <p:txBody>
          <a:bodyPr wrap="square">
            <a:spAutoFit/>
          </a:bodyPr>
          <a:lstStyle/>
          <a:p>
            <a:pPr algn="l"/>
            <a:r>
              <a:rPr sz="900" b="0">
                <a:solidFill>
                  <a:srgbClr val="B8BECC"/>
                </a:solidFill>
                <a:latin typeface="맑은 고딕"/>
              </a:rPr>
              <a:t>조건부 + 친화</a:t>
            </a:r>
          </a:p>
        </p:txBody>
      </p:sp>
      <p:sp>
        <p:nvSpPr>
          <p:cNvPr id="102" name="Rectangle 101"/>
          <p:cNvSpPr/>
          <p:nvPr/>
        </p:nvSpPr>
        <p:spPr>
          <a:xfrm>
            <a:off x="8549640" y="5294376"/>
            <a:ext cx="731520" cy="38404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549640" y="5349240"/>
            <a:ext cx="731520" cy="274320"/>
          </a:xfrm>
          <a:prstGeom prst="rect">
            <a:avLst/>
          </a:prstGeom>
          <a:noFill/>
        </p:spPr>
        <p:txBody>
          <a:bodyPr wrap="square">
            <a:spAutoFit/>
          </a:bodyPr>
          <a:lstStyle/>
          <a:p>
            <a:pPr algn="ctr"/>
            <a:r>
              <a:rPr sz="850" b="1">
                <a:solidFill>
                  <a:srgbClr val="0D111A"/>
                </a:solidFill>
                <a:latin typeface="맑은 고딕"/>
              </a:rPr>
              <a:t>Epic</a:t>
            </a:r>
          </a:p>
        </p:txBody>
      </p:sp>
      <p:sp>
        <p:nvSpPr>
          <p:cNvPr id="104" name="TextBox 103"/>
          <p:cNvSpPr txBox="1"/>
          <p:nvPr/>
        </p:nvSpPr>
        <p:spPr>
          <a:xfrm>
            <a:off x="9372600" y="5349240"/>
            <a:ext cx="640080" cy="274320"/>
          </a:xfrm>
          <a:prstGeom prst="rect">
            <a:avLst/>
          </a:prstGeom>
          <a:noFill/>
        </p:spPr>
        <p:txBody>
          <a:bodyPr wrap="square">
            <a:spAutoFit/>
          </a:bodyPr>
          <a:lstStyle/>
          <a:p>
            <a:pPr algn="ctr"/>
            <a:r>
              <a:rPr sz="1100" b="1">
                <a:solidFill>
                  <a:srgbClr val="6B3F8E"/>
                </a:solidFill>
                <a:latin typeface="맑은 고딕"/>
              </a:rPr>
              <a:t>12%</a:t>
            </a:r>
          </a:p>
        </p:txBody>
      </p:sp>
      <p:sp>
        <p:nvSpPr>
          <p:cNvPr id="105" name="TextBox 104"/>
          <p:cNvSpPr txBox="1"/>
          <p:nvPr/>
        </p:nvSpPr>
        <p:spPr>
          <a:xfrm>
            <a:off x="10058400" y="5385816"/>
            <a:ext cx="1645920" cy="228600"/>
          </a:xfrm>
          <a:prstGeom prst="rect">
            <a:avLst/>
          </a:prstGeom>
          <a:noFill/>
        </p:spPr>
        <p:txBody>
          <a:bodyPr wrap="square">
            <a:spAutoFit/>
          </a:bodyPr>
          <a:lstStyle/>
          <a:p>
            <a:pPr algn="l"/>
            <a:r>
              <a:rPr sz="900" b="0">
                <a:solidFill>
                  <a:srgbClr val="B8BECC"/>
                </a:solidFill>
                <a:latin typeface="맑은 고딕"/>
              </a:rPr>
              <a:t>메커닉 변형</a:t>
            </a:r>
          </a:p>
        </p:txBody>
      </p:sp>
      <p:sp>
        <p:nvSpPr>
          <p:cNvPr id="106" name="Rectangle 105"/>
          <p:cNvSpPr/>
          <p:nvPr/>
        </p:nvSpPr>
        <p:spPr>
          <a:xfrm>
            <a:off x="8549640" y="5769864"/>
            <a:ext cx="73152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549640" y="5824728"/>
            <a:ext cx="731520" cy="274320"/>
          </a:xfrm>
          <a:prstGeom prst="rect">
            <a:avLst/>
          </a:prstGeom>
          <a:noFill/>
        </p:spPr>
        <p:txBody>
          <a:bodyPr wrap="square">
            <a:spAutoFit/>
          </a:bodyPr>
          <a:lstStyle/>
          <a:p>
            <a:pPr algn="ctr"/>
            <a:r>
              <a:rPr sz="850" b="1">
                <a:solidFill>
                  <a:srgbClr val="0D111A"/>
                </a:solidFill>
                <a:latin typeface="맑은 고딕"/>
              </a:rPr>
              <a:t>Legendary</a:t>
            </a:r>
          </a:p>
        </p:txBody>
      </p:sp>
      <p:sp>
        <p:nvSpPr>
          <p:cNvPr id="108" name="TextBox 107"/>
          <p:cNvSpPr txBox="1"/>
          <p:nvPr/>
        </p:nvSpPr>
        <p:spPr>
          <a:xfrm>
            <a:off x="9372600" y="5824728"/>
            <a:ext cx="640080" cy="274320"/>
          </a:xfrm>
          <a:prstGeom prst="rect">
            <a:avLst/>
          </a:prstGeom>
          <a:noFill/>
        </p:spPr>
        <p:txBody>
          <a:bodyPr wrap="square">
            <a:spAutoFit/>
          </a:bodyPr>
          <a:lstStyle/>
          <a:p>
            <a:pPr algn="ctr"/>
            <a:r>
              <a:rPr sz="1100" b="1">
                <a:solidFill>
                  <a:srgbClr val="C9A84C"/>
                </a:solidFill>
                <a:latin typeface="맑은 고딕"/>
              </a:rPr>
              <a:t>3%</a:t>
            </a:r>
          </a:p>
        </p:txBody>
      </p:sp>
      <p:sp>
        <p:nvSpPr>
          <p:cNvPr id="109" name="TextBox 108"/>
          <p:cNvSpPr txBox="1"/>
          <p:nvPr/>
        </p:nvSpPr>
        <p:spPr>
          <a:xfrm>
            <a:off x="10058400" y="5861304"/>
            <a:ext cx="1645920" cy="228600"/>
          </a:xfrm>
          <a:prstGeom prst="rect">
            <a:avLst/>
          </a:prstGeom>
          <a:noFill/>
        </p:spPr>
        <p:txBody>
          <a:bodyPr wrap="square">
            <a:spAutoFit/>
          </a:bodyPr>
          <a:lstStyle/>
          <a:p>
            <a:pPr algn="l"/>
            <a:r>
              <a:rPr sz="900" b="0">
                <a:solidFill>
                  <a:srgbClr val="B8BECC"/>
                </a:solidFill>
                <a:latin typeface="맑은 고딕"/>
              </a:rPr>
              <a:t>빌드 전환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06 · 07  성장 시스템 (v0.5)</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Vow System &amp; Meta Progression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런 내 성장 — 스탯 레이어 &amp; 그리드 시너지</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0292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029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4754880" cy="256032"/>
          </a:xfrm>
          <a:prstGeom prst="rect">
            <a:avLst/>
          </a:prstGeom>
          <a:noFill/>
        </p:spPr>
        <p:txBody>
          <a:bodyPr wrap="square">
            <a:spAutoFit/>
          </a:bodyPr>
          <a:lstStyle/>
          <a:p>
            <a:pPr algn="l"/>
            <a:r>
              <a:rPr sz="1200" b="1">
                <a:solidFill>
                  <a:srgbClr val="C9A84C"/>
                </a:solidFill>
                <a:latin typeface="맑은 고딕"/>
              </a:rPr>
              <a:t>스탯 레이어 구조 (7단계 합산)</a:t>
            </a:r>
          </a:p>
        </p:txBody>
      </p:sp>
      <p:sp>
        <p:nvSpPr>
          <p:cNvPr id="8" name="Rectangle 7"/>
          <p:cNvSpPr/>
          <p:nvPr/>
        </p:nvSpPr>
        <p:spPr>
          <a:xfrm>
            <a:off x="548640" y="1417320"/>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73152" cy="5669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1188720" cy="256032"/>
          </a:xfrm>
          <a:prstGeom prst="rect">
            <a:avLst/>
          </a:prstGeom>
          <a:noFill/>
        </p:spPr>
        <p:txBody>
          <a:bodyPr wrap="square">
            <a:spAutoFit/>
          </a:bodyPr>
          <a:lstStyle/>
          <a:p>
            <a:pPr algn="l"/>
            <a:r>
              <a:rPr sz="1100" b="1">
                <a:solidFill>
                  <a:srgbClr val="C9A84C"/>
                </a:solidFill>
                <a:latin typeface="맑은 고딕"/>
              </a:rPr>
              <a:t>① 기본</a:t>
            </a:r>
          </a:p>
        </p:txBody>
      </p:sp>
      <p:sp>
        <p:nvSpPr>
          <p:cNvPr id="11" name="TextBox 10"/>
          <p:cNvSpPr txBox="1"/>
          <p:nvPr/>
        </p:nvSpPr>
        <p:spPr>
          <a:xfrm>
            <a:off x="2057400" y="1508760"/>
            <a:ext cx="3017520" cy="256032"/>
          </a:xfrm>
          <a:prstGeom prst="rect">
            <a:avLst/>
          </a:prstGeom>
          <a:noFill/>
        </p:spPr>
        <p:txBody>
          <a:bodyPr wrap="square">
            <a:spAutoFit/>
          </a:bodyPr>
          <a:lstStyle/>
          <a:p>
            <a:pPr algn="l"/>
            <a:r>
              <a:rPr sz="1050" b="0">
                <a:solidFill>
                  <a:srgbClr val="B8BECC"/>
                </a:solidFill>
                <a:latin typeface="맑은 고딕"/>
              </a:rPr>
              <a:t>영웅 유물 기본 스탯</a:t>
            </a:r>
          </a:p>
        </p:txBody>
      </p:sp>
      <p:sp>
        <p:nvSpPr>
          <p:cNvPr id="12" name="Rectangle 11"/>
          <p:cNvSpPr/>
          <p:nvPr/>
        </p:nvSpPr>
        <p:spPr>
          <a:xfrm>
            <a:off x="548640" y="2093976"/>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93976"/>
            <a:ext cx="73152" cy="56692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167128"/>
            <a:ext cx="1188720" cy="256032"/>
          </a:xfrm>
          <a:prstGeom prst="rect">
            <a:avLst/>
          </a:prstGeom>
          <a:noFill/>
        </p:spPr>
        <p:txBody>
          <a:bodyPr wrap="square">
            <a:spAutoFit/>
          </a:bodyPr>
          <a:lstStyle/>
          <a:p>
            <a:pPr algn="l"/>
            <a:r>
              <a:rPr sz="1100" b="1">
                <a:solidFill>
                  <a:srgbClr val="4AC2B8"/>
                </a:solidFill>
                <a:latin typeface="맑은 고딕"/>
              </a:rPr>
              <a:t>② 서약</a:t>
            </a:r>
          </a:p>
        </p:txBody>
      </p:sp>
      <p:sp>
        <p:nvSpPr>
          <p:cNvPr id="15" name="TextBox 14"/>
          <p:cNvSpPr txBox="1"/>
          <p:nvPr/>
        </p:nvSpPr>
        <p:spPr>
          <a:xfrm>
            <a:off x="2057400" y="2185416"/>
            <a:ext cx="3017520" cy="256032"/>
          </a:xfrm>
          <a:prstGeom prst="rect">
            <a:avLst/>
          </a:prstGeom>
          <a:noFill/>
        </p:spPr>
        <p:txBody>
          <a:bodyPr wrap="square">
            <a:spAutoFit/>
          </a:bodyPr>
          <a:lstStyle/>
          <a:p>
            <a:pPr algn="l"/>
            <a:r>
              <a:rPr sz="1050" b="0">
                <a:solidFill>
                  <a:srgbClr val="B8BECC"/>
                </a:solidFill>
                <a:latin typeface="맑은 고딕"/>
              </a:rPr>
              <a:t>멀린의 서약 영구 보너스 (메타)</a:t>
            </a:r>
          </a:p>
        </p:txBody>
      </p:sp>
      <p:sp>
        <p:nvSpPr>
          <p:cNvPr id="16" name="Rectangle 15"/>
          <p:cNvSpPr/>
          <p:nvPr/>
        </p:nvSpPr>
        <p:spPr>
          <a:xfrm>
            <a:off x="548640" y="2770632"/>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770632"/>
            <a:ext cx="73152" cy="56692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843784"/>
            <a:ext cx="1188720" cy="256032"/>
          </a:xfrm>
          <a:prstGeom prst="rect">
            <a:avLst/>
          </a:prstGeom>
          <a:noFill/>
        </p:spPr>
        <p:txBody>
          <a:bodyPr wrap="square">
            <a:spAutoFit/>
          </a:bodyPr>
          <a:lstStyle/>
          <a:p>
            <a:pPr algn="l"/>
            <a:r>
              <a:rPr sz="1100" b="1">
                <a:solidFill>
                  <a:srgbClr val="6B3F8E"/>
                </a:solidFill>
                <a:latin typeface="맑은 고딕"/>
              </a:rPr>
              <a:t>③ 각성</a:t>
            </a:r>
          </a:p>
        </p:txBody>
      </p:sp>
      <p:sp>
        <p:nvSpPr>
          <p:cNvPr id="19" name="TextBox 18"/>
          <p:cNvSpPr txBox="1"/>
          <p:nvPr/>
        </p:nvSpPr>
        <p:spPr>
          <a:xfrm>
            <a:off x="2057400" y="2862072"/>
            <a:ext cx="3017520" cy="256032"/>
          </a:xfrm>
          <a:prstGeom prst="rect">
            <a:avLst/>
          </a:prstGeom>
          <a:noFill/>
        </p:spPr>
        <p:txBody>
          <a:bodyPr wrap="square">
            <a:spAutoFit/>
          </a:bodyPr>
          <a:lstStyle/>
          <a:p>
            <a:pPr algn="l"/>
            <a:r>
              <a:rPr sz="1050" b="0">
                <a:solidFill>
                  <a:srgbClr val="B8BECC"/>
                </a:solidFill>
                <a:latin typeface="맑은 고딕"/>
              </a:rPr>
              <a:t>유물 각성 효과 (메타)</a:t>
            </a:r>
          </a:p>
        </p:txBody>
      </p:sp>
      <p:sp>
        <p:nvSpPr>
          <p:cNvPr id="20" name="Rectangle 19"/>
          <p:cNvSpPr/>
          <p:nvPr/>
        </p:nvSpPr>
        <p:spPr>
          <a:xfrm>
            <a:off x="548640" y="3447287"/>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447287"/>
            <a:ext cx="7315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520439"/>
            <a:ext cx="1188720" cy="256032"/>
          </a:xfrm>
          <a:prstGeom prst="rect">
            <a:avLst/>
          </a:prstGeom>
          <a:noFill/>
        </p:spPr>
        <p:txBody>
          <a:bodyPr wrap="square">
            <a:spAutoFit/>
          </a:bodyPr>
          <a:lstStyle/>
          <a:p>
            <a:pPr algn="l"/>
            <a:r>
              <a:rPr sz="1100" b="1">
                <a:solidFill>
                  <a:srgbClr val="FFFFFF"/>
                </a:solidFill>
                <a:latin typeface="맑은 고딕"/>
              </a:rPr>
              <a:t>④ 장비</a:t>
            </a:r>
          </a:p>
        </p:txBody>
      </p:sp>
      <p:sp>
        <p:nvSpPr>
          <p:cNvPr id="23" name="TextBox 22"/>
          <p:cNvSpPr txBox="1"/>
          <p:nvPr/>
        </p:nvSpPr>
        <p:spPr>
          <a:xfrm>
            <a:off x="2057400" y="3538727"/>
            <a:ext cx="3017520" cy="256032"/>
          </a:xfrm>
          <a:prstGeom prst="rect">
            <a:avLst/>
          </a:prstGeom>
          <a:noFill/>
        </p:spPr>
        <p:txBody>
          <a:bodyPr wrap="square">
            <a:spAutoFit/>
          </a:bodyPr>
          <a:lstStyle/>
          <a:p>
            <a:pPr algn="l"/>
            <a:r>
              <a:rPr sz="1050" b="0">
                <a:solidFill>
                  <a:srgbClr val="B8BECC"/>
                </a:solidFill>
                <a:latin typeface="맑은 고딕"/>
              </a:rPr>
              <a:t>선택한 장비 스탯</a:t>
            </a:r>
          </a:p>
        </p:txBody>
      </p:sp>
      <p:sp>
        <p:nvSpPr>
          <p:cNvPr id="24" name="Rectangle 23"/>
          <p:cNvSpPr/>
          <p:nvPr/>
        </p:nvSpPr>
        <p:spPr>
          <a:xfrm>
            <a:off x="548640" y="4123944"/>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23944"/>
            <a:ext cx="73152" cy="5669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197096"/>
            <a:ext cx="1188720" cy="256032"/>
          </a:xfrm>
          <a:prstGeom prst="rect">
            <a:avLst/>
          </a:prstGeom>
          <a:noFill/>
        </p:spPr>
        <p:txBody>
          <a:bodyPr wrap="square">
            <a:spAutoFit/>
          </a:bodyPr>
          <a:lstStyle/>
          <a:p>
            <a:pPr algn="l"/>
            <a:r>
              <a:rPr sz="1100" b="1">
                <a:solidFill>
                  <a:srgbClr val="C9A84C"/>
                </a:solidFill>
                <a:latin typeface="맑은 고딕"/>
              </a:rPr>
              <a:t>⑤ 아이템</a:t>
            </a:r>
          </a:p>
        </p:txBody>
      </p:sp>
      <p:sp>
        <p:nvSpPr>
          <p:cNvPr id="27" name="TextBox 26"/>
          <p:cNvSpPr txBox="1"/>
          <p:nvPr/>
        </p:nvSpPr>
        <p:spPr>
          <a:xfrm>
            <a:off x="2057400" y="4215383"/>
            <a:ext cx="3017520" cy="256032"/>
          </a:xfrm>
          <a:prstGeom prst="rect">
            <a:avLst/>
          </a:prstGeom>
          <a:noFill/>
        </p:spPr>
        <p:txBody>
          <a:bodyPr wrap="square">
            <a:spAutoFit/>
          </a:bodyPr>
          <a:lstStyle/>
          <a:p>
            <a:pPr algn="l"/>
            <a:r>
              <a:rPr sz="1050" b="0">
                <a:solidFill>
                  <a:srgbClr val="B8BECC"/>
                </a:solidFill>
                <a:latin typeface="맑은 고딕"/>
              </a:rPr>
              <a:t>그리드 배치 아이템 합산</a:t>
            </a:r>
          </a:p>
        </p:txBody>
      </p:sp>
      <p:sp>
        <p:nvSpPr>
          <p:cNvPr id="28" name="Rectangle 27"/>
          <p:cNvSpPr/>
          <p:nvPr/>
        </p:nvSpPr>
        <p:spPr>
          <a:xfrm>
            <a:off x="548640" y="4800600"/>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800600"/>
            <a:ext cx="73152" cy="56692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873752"/>
            <a:ext cx="1188720" cy="256032"/>
          </a:xfrm>
          <a:prstGeom prst="rect">
            <a:avLst/>
          </a:prstGeom>
          <a:noFill/>
        </p:spPr>
        <p:txBody>
          <a:bodyPr wrap="square">
            <a:spAutoFit/>
          </a:bodyPr>
          <a:lstStyle/>
          <a:p>
            <a:pPr algn="l"/>
            <a:r>
              <a:rPr sz="1100" b="1">
                <a:solidFill>
                  <a:srgbClr val="4AC2B8"/>
                </a:solidFill>
                <a:latin typeface="맑은 고딕"/>
              </a:rPr>
              <a:t>⑥ 서약</a:t>
            </a:r>
          </a:p>
        </p:txBody>
      </p:sp>
      <p:sp>
        <p:nvSpPr>
          <p:cNvPr id="31" name="TextBox 30"/>
          <p:cNvSpPr txBox="1"/>
          <p:nvPr/>
        </p:nvSpPr>
        <p:spPr>
          <a:xfrm>
            <a:off x="2057400" y="4892040"/>
            <a:ext cx="3017520" cy="256032"/>
          </a:xfrm>
          <a:prstGeom prst="rect">
            <a:avLst/>
          </a:prstGeom>
          <a:noFill/>
        </p:spPr>
        <p:txBody>
          <a:bodyPr wrap="square">
            <a:spAutoFit/>
          </a:bodyPr>
          <a:lstStyle/>
          <a:p>
            <a:pPr algn="l"/>
            <a:r>
              <a:rPr sz="1050" b="0">
                <a:solidFill>
                  <a:srgbClr val="B8BECC"/>
                </a:solidFill>
                <a:latin typeface="맑은 고딕"/>
              </a:rPr>
              <a:t>활성화된 서약 효과 (런 내)</a:t>
            </a:r>
          </a:p>
        </p:txBody>
      </p:sp>
      <p:sp>
        <p:nvSpPr>
          <p:cNvPr id="32" name="Rectangle 31"/>
          <p:cNvSpPr/>
          <p:nvPr/>
        </p:nvSpPr>
        <p:spPr>
          <a:xfrm>
            <a:off x="548640" y="5477255"/>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477255"/>
            <a:ext cx="73152" cy="56692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50407"/>
            <a:ext cx="1188720" cy="256032"/>
          </a:xfrm>
          <a:prstGeom prst="rect">
            <a:avLst/>
          </a:prstGeom>
          <a:noFill/>
        </p:spPr>
        <p:txBody>
          <a:bodyPr wrap="square">
            <a:spAutoFit/>
          </a:bodyPr>
          <a:lstStyle/>
          <a:p>
            <a:pPr algn="l"/>
            <a:r>
              <a:rPr sz="1100" b="1">
                <a:solidFill>
                  <a:srgbClr val="6B3F8E"/>
                </a:solidFill>
                <a:latin typeface="맑은 고딕"/>
              </a:rPr>
              <a:t>⑦ 시너지</a:t>
            </a:r>
          </a:p>
        </p:txBody>
      </p:sp>
      <p:sp>
        <p:nvSpPr>
          <p:cNvPr id="35" name="TextBox 34"/>
          <p:cNvSpPr txBox="1"/>
          <p:nvPr/>
        </p:nvSpPr>
        <p:spPr>
          <a:xfrm>
            <a:off x="2057400" y="5568695"/>
            <a:ext cx="3017520" cy="256032"/>
          </a:xfrm>
          <a:prstGeom prst="rect">
            <a:avLst/>
          </a:prstGeom>
          <a:noFill/>
        </p:spPr>
        <p:txBody>
          <a:bodyPr wrap="square">
            <a:spAutoFit/>
          </a:bodyPr>
          <a:lstStyle/>
          <a:p>
            <a:pPr algn="l"/>
            <a:r>
              <a:rPr sz="1050" b="0">
                <a:solidFill>
                  <a:srgbClr val="B8BECC"/>
                </a:solidFill>
                <a:latin typeface="맑은 고딕"/>
              </a:rPr>
              <a:t>그리드 시너지 Always/조건부</a:t>
            </a:r>
          </a:p>
        </p:txBody>
      </p:sp>
      <p:sp>
        <p:nvSpPr>
          <p:cNvPr id="36" name="Rectangle 35"/>
          <p:cNvSpPr/>
          <p:nvPr/>
        </p:nvSpPr>
        <p:spPr>
          <a:xfrm>
            <a:off x="548640" y="5212080"/>
            <a:ext cx="4663440" cy="365760"/>
          </a:xfrm>
          <a:prstGeom prst="rect">
            <a:avLst/>
          </a:prstGeom>
          <a:solidFill>
            <a:srgbClr val="1A2218"/>
          </a:solidFill>
          <a:ln w="1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285232"/>
            <a:ext cx="4389120" cy="237744"/>
          </a:xfrm>
          <a:prstGeom prst="rect">
            <a:avLst/>
          </a:prstGeom>
          <a:noFill/>
        </p:spPr>
        <p:txBody>
          <a:bodyPr wrap="square">
            <a:spAutoFit/>
          </a:bodyPr>
          <a:lstStyle/>
          <a:p>
            <a:pPr algn="l"/>
            <a:r>
              <a:rPr sz="950" b="0">
                <a:solidFill>
                  <a:srgbClr val="4AC2B8"/>
                </a:solidFill>
                <a:latin typeface="맑은 고딕"/>
              </a:rPr>
              <a:t>v0.5: ⑥ 방버프 → 서약 (런 내 활성 서약 효과)로 교체 완료</a:t>
            </a:r>
          </a:p>
        </p:txBody>
      </p:sp>
      <p:sp>
        <p:nvSpPr>
          <p:cNvPr id="38" name="Rectangle 37"/>
          <p:cNvSpPr/>
          <p:nvPr/>
        </p:nvSpPr>
        <p:spPr>
          <a:xfrm>
            <a:off x="5669280" y="960120"/>
            <a:ext cx="292608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0" y="960120"/>
            <a:ext cx="29260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1014984"/>
            <a:ext cx="2651760" cy="256032"/>
          </a:xfrm>
          <a:prstGeom prst="rect">
            <a:avLst/>
          </a:prstGeom>
          <a:noFill/>
        </p:spPr>
        <p:txBody>
          <a:bodyPr wrap="square">
            <a:spAutoFit/>
          </a:bodyPr>
          <a:lstStyle/>
          <a:p>
            <a:pPr algn="l"/>
            <a:r>
              <a:rPr sz="1200" b="1">
                <a:solidFill>
                  <a:srgbClr val="C9A84C"/>
                </a:solidFill>
                <a:latin typeface="맑은 고딕"/>
              </a:rPr>
              <a:t>그리드 시너지 트리거</a:t>
            </a:r>
          </a:p>
        </p:txBody>
      </p:sp>
      <p:sp>
        <p:nvSpPr>
          <p:cNvPr id="41" name="Rectangle 40"/>
          <p:cNvSpPr/>
          <p:nvPr/>
        </p:nvSpPr>
        <p:spPr>
          <a:xfrm>
            <a:off x="5852160" y="1417320"/>
            <a:ext cx="2651760" cy="1371600"/>
          </a:xfrm>
          <a:prstGeom prst="rect">
            <a:avLst/>
          </a:prstGeom>
          <a:solidFill>
            <a:srgbClr val="1E243A"/>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52160" y="1508760"/>
            <a:ext cx="2651760" cy="411480"/>
          </a:xfrm>
          <a:prstGeom prst="rect">
            <a:avLst/>
          </a:prstGeom>
          <a:noFill/>
        </p:spPr>
        <p:txBody>
          <a:bodyPr wrap="square">
            <a:spAutoFit/>
          </a:bodyPr>
          <a:lstStyle/>
          <a:p>
            <a:pPr algn="ctr"/>
            <a:r>
              <a:rPr sz="1600" b="1">
                <a:solidFill>
                  <a:srgbClr val="C9A84C"/>
                </a:solidFill>
                <a:latin typeface="맑은 고딕"/>
              </a:rPr>
              <a:t>Always</a:t>
            </a:r>
          </a:p>
        </p:txBody>
      </p:sp>
      <p:sp>
        <p:nvSpPr>
          <p:cNvPr id="43" name="TextBox 42"/>
          <p:cNvSpPr txBox="1"/>
          <p:nvPr/>
        </p:nvSpPr>
        <p:spPr>
          <a:xfrm>
            <a:off x="5989320" y="1965960"/>
            <a:ext cx="2377440" cy="685800"/>
          </a:xfrm>
          <a:prstGeom prst="rect">
            <a:avLst/>
          </a:prstGeom>
          <a:noFill/>
        </p:spPr>
        <p:txBody>
          <a:bodyPr wrap="square">
            <a:spAutoFit/>
          </a:bodyPr>
          <a:lstStyle/>
          <a:p>
            <a:pPr algn="l"/>
            <a:r>
              <a:rPr sz="1000" b="0">
                <a:solidFill>
                  <a:srgbClr val="B8BECC"/>
                </a:solidFill>
                <a:latin typeface="맑은 고딕"/>
              </a:rPr>
              <a:t>그리드 완성 즉시
스탯 영구 반영</a:t>
            </a:r>
          </a:p>
        </p:txBody>
      </p:sp>
      <p:sp>
        <p:nvSpPr>
          <p:cNvPr id="44" name="Rectangle 43"/>
          <p:cNvSpPr/>
          <p:nvPr/>
        </p:nvSpPr>
        <p:spPr>
          <a:xfrm>
            <a:off x="5852160" y="2990088"/>
            <a:ext cx="2651760" cy="1371600"/>
          </a:xfrm>
          <a:prstGeom prst="rect">
            <a:avLst/>
          </a:prstGeom>
          <a:solidFill>
            <a:srgbClr val="1E243A"/>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52160" y="3081528"/>
            <a:ext cx="2651760" cy="411480"/>
          </a:xfrm>
          <a:prstGeom prst="rect">
            <a:avLst/>
          </a:prstGeom>
          <a:noFill/>
        </p:spPr>
        <p:txBody>
          <a:bodyPr wrap="square">
            <a:spAutoFit/>
          </a:bodyPr>
          <a:lstStyle/>
          <a:p>
            <a:pPr algn="ctr"/>
            <a:r>
              <a:rPr sz="1600" b="1">
                <a:solidFill>
                  <a:srgbClr val="4AC2B8"/>
                </a:solidFill>
                <a:latin typeface="맑은 고딕"/>
              </a:rPr>
              <a:t>OnHit</a:t>
            </a:r>
          </a:p>
        </p:txBody>
      </p:sp>
      <p:sp>
        <p:nvSpPr>
          <p:cNvPr id="46" name="TextBox 45"/>
          <p:cNvSpPr txBox="1"/>
          <p:nvPr/>
        </p:nvSpPr>
        <p:spPr>
          <a:xfrm>
            <a:off x="5989320" y="3538728"/>
            <a:ext cx="2377440" cy="685800"/>
          </a:xfrm>
          <a:prstGeom prst="rect">
            <a:avLst/>
          </a:prstGeom>
          <a:noFill/>
        </p:spPr>
        <p:txBody>
          <a:bodyPr wrap="square">
            <a:spAutoFit/>
          </a:bodyPr>
          <a:lstStyle/>
          <a:p>
            <a:pPr algn="l"/>
            <a:r>
              <a:rPr sz="1000" b="0">
                <a:solidFill>
                  <a:srgbClr val="B8BECC"/>
                </a:solidFill>
                <a:latin typeface="맑은 고딕"/>
              </a:rPr>
              <a:t>공격 적중 시 스택 누적
최대 스택까지, duration 유지</a:t>
            </a:r>
          </a:p>
        </p:txBody>
      </p:sp>
      <p:sp>
        <p:nvSpPr>
          <p:cNvPr id="47" name="Rectangle 46"/>
          <p:cNvSpPr/>
          <p:nvPr/>
        </p:nvSpPr>
        <p:spPr>
          <a:xfrm>
            <a:off x="5852160" y="4562856"/>
            <a:ext cx="2651760" cy="1371600"/>
          </a:xfrm>
          <a:prstGeom prst="rect">
            <a:avLst/>
          </a:prstGeom>
          <a:solidFill>
            <a:srgbClr val="1E243A"/>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60" y="4654296"/>
            <a:ext cx="2651760" cy="411480"/>
          </a:xfrm>
          <a:prstGeom prst="rect">
            <a:avLst/>
          </a:prstGeom>
          <a:noFill/>
        </p:spPr>
        <p:txBody>
          <a:bodyPr wrap="square">
            <a:spAutoFit/>
          </a:bodyPr>
          <a:lstStyle/>
          <a:p>
            <a:pPr algn="ctr"/>
            <a:r>
              <a:rPr sz="1600" b="1">
                <a:solidFill>
                  <a:srgbClr val="CC4444"/>
                </a:solidFill>
                <a:latin typeface="맑은 고딕"/>
              </a:rPr>
              <a:t>OnLowHp</a:t>
            </a:r>
          </a:p>
        </p:txBody>
      </p:sp>
      <p:sp>
        <p:nvSpPr>
          <p:cNvPr id="49" name="TextBox 48"/>
          <p:cNvSpPr txBox="1"/>
          <p:nvPr/>
        </p:nvSpPr>
        <p:spPr>
          <a:xfrm>
            <a:off x="5989320" y="5111496"/>
            <a:ext cx="2377440" cy="685800"/>
          </a:xfrm>
          <a:prstGeom prst="rect">
            <a:avLst/>
          </a:prstGeom>
          <a:noFill/>
        </p:spPr>
        <p:txBody>
          <a:bodyPr wrap="square">
            <a:spAutoFit/>
          </a:bodyPr>
          <a:lstStyle/>
          <a:p>
            <a:pPr algn="l"/>
            <a:r>
              <a:rPr sz="1000" b="0">
                <a:solidFill>
                  <a:srgbClr val="B8BECC"/>
                </a:solidFill>
                <a:latin typeface="맑은 고딕"/>
              </a:rPr>
              <a:t>HP ≤ threshold
조건 만족 시 활성화</a:t>
            </a:r>
          </a:p>
        </p:txBody>
      </p:sp>
      <p:sp>
        <p:nvSpPr>
          <p:cNvPr id="50" name="Rectangle 49"/>
          <p:cNvSpPr/>
          <p:nvPr/>
        </p:nvSpPr>
        <p:spPr>
          <a:xfrm>
            <a:off x="8778240" y="960120"/>
            <a:ext cx="3017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778240" y="960120"/>
            <a:ext cx="3017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15400" y="1014984"/>
            <a:ext cx="2743200" cy="256032"/>
          </a:xfrm>
          <a:prstGeom prst="rect">
            <a:avLst/>
          </a:prstGeom>
          <a:noFill/>
        </p:spPr>
        <p:txBody>
          <a:bodyPr wrap="square">
            <a:spAutoFit/>
          </a:bodyPr>
          <a:lstStyle/>
          <a:p>
            <a:pPr algn="l"/>
            <a:r>
              <a:rPr sz="1200" b="1">
                <a:solidFill>
                  <a:srgbClr val="C9A84C"/>
                </a:solidFill>
                <a:latin typeface="맑은 고딕"/>
              </a:rPr>
              <a:t>그리드 시너지 예시</a:t>
            </a:r>
          </a:p>
        </p:txBody>
      </p:sp>
      <p:sp>
        <p:nvSpPr>
          <p:cNvPr id="53" name="Rectangle 52"/>
          <p:cNvSpPr/>
          <p:nvPr/>
        </p:nvSpPr>
        <p:spPr>
          <a:xfrm>
            <a:off x="8961120" y="1417320"/>
            <a:ext cx="2651760" cy="1005840"/>
          </a:xfrm>
          <a:prstGeom prst="rect">
            <a:avLst/>
          </a:prstGeom>
          <a:solidFill>
            <a:srgbClr val="1E243A"/>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61120" y="1417320"/>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52560" y="1453896"/>
            <a:ext cx="2286000" cy="256032"/>
          </a:xfrm>
          <a:prstGeom prst="rect">
            <a:avLst/>
          </a:prstGeom>
          <a:noFill/>
        </p:spPr>
        <p:txBody>
          <a:bodyPr wrap="square">
            <a:spAutoFit/>
          </a:bodyPr>
          <a:lstStyle/>
          <a:p>
            <a:pPr algn="l"/>
            <a:r>
              <a:rPr sz="1100" b="1">
                <a:solidFill>
                  <a:srgbClr val="C9A84C"/>
                </a:solidFill>
                <a:latin typeface="맑은 고딕"/>
              </a:rPr>
              <a:t>기사의 각오</a:t>
            </a:r>
          </a:p>
        </p:txBody>
      </p:sp>
      <p:sp>
        <p:nvSpPr>
          <p:cNvPr id="56" name="TextBox 55"/>
          <p:cNvSpPr txBox="1"/>
          <p:nvPr/>
        </p:nvSpPr>
        <p:spPr>
          <a:xfrm>
            <a:off x="10424160" y="1472184"/>
            <a:ext cx="1143000" cy="219456"/>
          </a:xfrm>
          <a:prstGeom prst="rect">
            <a:avLst/>
          </a:prstGeom>
          <a:noFill/>
        </p:spPr>
        <p:txBody>
          <a:bodyPr wrap="square">
            <a:spAutoFit/>
          </a:bodyPr>
          <a:lstStyle/>
          <a:p>
            <a:pPr algn="r"/>
            <a:r>
              <a:rPr sz="900" b="0">
                <a:solidFill>
                  <a:srgbClr val="727A8E"/>
                </a:solidFill>
                <a:latin typeface="맑은 고딕"/>
              </a:rPr>
              <a:t>Always</a:t>
            </a:r>
          </a:p>
        </p:txBody>
      </p:sp>
      <p:sp>
        <p:nvSpPr>
          <p:cNvPr id="57" name="TextBox 56"/>
          <p:cNvSpPr txBox="1"/>
          <p:nvPr/>
        </p:nvSpPr>
        <p:spPr>
          <a:xfrm>
            <a:off x="9052560" y="1856232"/>
            <a:ext cx="2468880" cy="475488"/>
          </a:xfrm>
          <a:prstGeom prst="rect">
            <a:avLst/>
          </a:prstGeom>
          <a:noFill/>
        </p:spPr>
        <p:txBody>
          <a:bodyPr wrap="square">
            <a:spAutoFit/>
          </a:bodyPr>
          <a:lstStyle/>
          <a:p>
            <a:pPr algn="l"/>
            <a:r>
              <a:rPr sz="950" b="0">
                <a:solidFill>
                  <a:srgbClr val="FFFFFF"/>
                </a:solidFill>
                <a:latin typeface="맑은 고딕"/>
              </a:rPr>
              <a:t>공격력 +15%</a:t>
            </a:r>
          </a:p>
        </p:txBody>
      </p:sp>
      <p:sp>
        <p:nvSpPr>
          <p:cNvPr id="58" name="Rectangle 57"/>
          <p:cNvSpPr/>
          <p:nvPr/>
        </p:nvSpPr>
        <p:spPr>
          <a:xfrm>
            <a:off x="8961120" y="2587752"/>
            <a:ext cx="2651760" cy="1005840"/>
          </a:xfrm>
          <a:prstGeom prst="rect">
            <a:avLst/>
          </a:prstGeom>
          <a:solidFill>
            <a:srgbClr val="1E243A"/>
          </a:solidFill>
          <a:ln w="12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2587752"/>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52560" y="2624328"/>
            <a:ext cx="2286000" cy="256032"/>
          </a:xfrm>
          <a:prstGeom prst="rect">
            <a:avLst/>
          </a:prstGeom>
          <a:noFill/>
        </p:spPr>
        <p:txBody>
          <a:bodyPr wrap="square">
            <a:spAutoFit/>
          </a:bodyPr>
          <a:lstStyle/>
          <a:p>
            <a:pPr algn="l"/>
            <a:r>
              <a:rPr sz="1100" b="1">
                <a:solidFill>
                  <a:srgbClr val="4AC2B8"/>
                </a:solidFill>
                <a:latin typeface="맑은 고딕"/>
              </a:rPr>
              <a:t>원탁의 결속</a:t>
            </a:r>
          </a:p>
        </p:txBody>
      </p:sp>
      <p:sp>
        <p:nvSpPr>
          <p:cNvPr id="61" name="TextBox 60"/>
          <p:cNvSpPr txBox="1"/>
          <p:nvPr/>
        </p:nvSpPr>
        <p:spPr>
          <a:xfrm>
            <a:off x="10424160" y="2642616"/>
            <a:ext cx="1143000" cy="219456"/>
          </a:xfrm>
          <a:prstGeom prst="rect">
            <a:avLst/>
          </a:prstGeom>
          <a:noFill/>
        </p:spPr>
        <p:txBody>
          <a:bodyPr wrap="square">
            <a:spAutoFit/>
          </a:bodyPr>
          <a:lstStyle/>
          <a:p>
            <a:pPr algn="r"/>
            <a:r>
              <a:rPr sz="900" b="0">
                <a:solidFill>
                  <a:srgbClr val="727A8E"/>
                </a:solidFill>
                <a:latin typeface="맑은 고딕"/>
              </a:rPr>
              <a:t>Always</a:t>
            </a:r>
          </a:p>
        </p:txBody>
      </p:sp>
      <p:sp>
        <p:nvSpPr>
          <p:cNvPr id="62" name="TextBox 61"/>
          <p:cNvSpPr txBox="1"/>
          <p:nvPr/>
        </p:nvSpPr>
        <p:spPr>
          <a:xfrm>
            <a:off x="9052560" y="3026664"/>
            <a:ext cx="2468880" cy="475488"/>
          </a:xfrm>
          <a:prstGeom prst="rect">
            <a:avLst/>
          </a:prstGeom>
          <a:noFill/>
        </p:spPr>
        <p:txBody>
          <a:bodyPr wrap="square">
            <a:spAutoFit/>
          </a:bodyPr>
          <a:lstStyle/>
          <a:p>
            <a:pPr algn="l"/>
            <a:r>
              <a:rPr sz="950" b="0">
                <a:solidFill>
                  <a:srgbClr val="FFFFFF"/>
                </a:solidFill>
                <a:latin typeface="맑은 고딕"/>
              </a:rPr>
              <a:t>MaxHP +50</a:t>
            </a:r>
          </a:p>
        </p:txBody>
      </p:sp>
      <p:sp>
        <p:nvSpPr>
          <p:cNvPr id="63" name="Rectangle 62"/>
          <p:cNvSpPr/>
          <p:nvPr/>
        </p:nvSpPr>
        <p:spPr>
          <a:xfrm>
            <a:off x="8961120" y="3758184"/>
            <a:ext cx="2651760" cy="1005840"/>
          </a:xfrm>
          <a:prstGeom prst="rect">
            <a:avLst/>
          </a:prstGeom>
          <a:solidFill>
            <a:srgbClr val="1E243A"/>
          </a:solidFill>
          <a:ln w="12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961120" y="3758184"/>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52560" y="3794760"/>
            <a:ext cx="2286000" cy="256032"/>
          </a:xfrm>
          <a:prstGeom prst="rect">
            <a:avLst/>
          </a:prstGeom>
          <a:noFill/>
        </p:spPr>
        <p:txBody>
          <a:bodyPr wrap="square">
            <a:spAutoFit/>
          </a:bodyPr>
          <a:lstStyle/>
          <a:p>
            <a:pPr algn="l"/>
            <a:r>
              <a:rPr sz="1100" b="1">
                <a:solidFill>
                  <a:srgbClr val="FFB840"/>
                </a:solidFill>
                <a:latin typeface="맑은 고딕"/>
              </a:rPr>
              <a:t>심판의 일격</a:t>
            </a:r>
          </a:p>
        </p:txBody>
      </p:sp>
      <p:sp>
        <p:nvSpPr>
          <p:cNvPr id="66" name="TextBox 65"/>
          <p:cNvSpPr txBox="1"/>
          <p:nvPr/>
        </p:nvSpPr>
        <p:spPr>
          <a:xfrm>
            <a:off x="10424160" y="3813048"/>
            <a:ext cx="1143000" cy="219456"/>
          </a:xfrm>
          <a:prstGeom prst="rect">
            <a:avLst/>
          </a:prstGeom>
          <a:noFill/>
        </p:spPr>
        <p:txBody>
          <a:bodyPr wrap="square">
            <a:spAutoFit/>
          </a:bodyPr>
          <a:lstStyle/>
          <a:p>
            <a:pPr algn="r"/>
            <a:r>
              <a:rPr sz="900" b="0">
                <a:solidFill>
                  <a:srgbClr val="727A8E"/>
                </a:solidFill>
                <a:latin typeface="맑은 고딕"/>
              </a:rPr>
              <a:t>OnHit</a:t>
            </a:r>
          </a:p>
        </p:txBody>
      </p:sp>
      <p:sp>
        <p:nvSpPr>
          <p:cNvPr id="67" name="TextBox 66"/>
          <p:cNvSpPr txBox="1"/>
          <p:nvPr/>
        </p:nvSpPr>
        <p:spPr>
          <a:xfrm>
            <a:off x="9052560" y="4197096"/>
            <a:ext cx="2468880" cy="475488"/>
          </a:xfrm>
          <a:prstGeom prst="rect">
            <a:avLst/>
          </a:prstGeom>
          <a:noFill/>
        </p:spPr>
        <p:txBody>
          <a:bodyPr wrap="square">
            <a:spAutoFit/>
          </a:bodyPr>
          <a:lstStyle/>
          <a:p>
            <a:pPr algn="l"/>
            <a:r>
              <a:rPr sz="950" b="0">
                <a:solidFill>
                  <a:srgbClr val="FFFFFF"/>
                </a:solidFill>
                <a:latin typeface="맑은 고딕"/>
              </a:rPr>
              <a:t>스택당 공격력 +2% (최대 10스택)</a:t>
            </a:r>
          </a:p>
        </p:txBody>
      </p:sp>
      <p:sp>
        <p:nvSpPr>
          <p:cNvPr id="68" name="Rectangle 67"/>
          <p:cNvSpPr/>
          <p:nvPr/>
        </p:nvSpPr>
        <p:spPr>
          <a:xfrm>
            <a:off x="8961120" y="4928616"/>
            <a:ext cx="2651760" cy="1005840"/>
          </a:xfrm>
          <a:prstGeom prst="rect">
            <a:avLst/>
          </a:prstGeom>
          <a:solidFill>
            <a:srgbClr val="1E243A"/>
          </a:solidFill>
          <a:ln w="12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961120" y="4928616"/>
            <a:ext cx="2651760" cy="347472"/>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052560" y="4965192"/>
            <a:ext cx="2286000" cy="256032"/>
          </a:xfrm>
          <a:prstGeom prst="rect">
            <a:avLst/>
          </a:prstGeom>
          <a:noFill/>
        </p:spPr>
        <p:txBody>
          <a:bodyPr wrap="square">
            <a:spAutoFit/>
          </a:bodyPr>
          <a:lstStyle/>
          <a:p>
            <a:pPr algn="l"/>
            <a:r>
              <a:rPr sz="1100" b="1">
                <a:solidFill>
                  <a:srgbClr val="CC4444"/>
                </a:solidFill>
                <a:latin typeface="맑은 고딕"/>
              </a:rPr>
              <a:t>사지의 저항</a:t>
            </a:r>
          </a:p>
        </p:txBody>
      </p:sp>
      <p:sp>
        <p:nvSpPr>
          <p:cNvPr id="71" name="TextBox 70"/>
          <p:cNvSpPr txBox="1"/>
          <p:nvPr/>
        </p:nvSpPr>
        <p:spPr>
          <a:xfrm>
            <a:off x="10424160" y="4983479"/>
            <a:ext cx="1143000" cy="219456"/>
          </a:xfrm>
          <a:prstGeom prst="rect">
            <a:avLst/>
          </a:prstGeom>
          <a:noFill/>
        </p:spPr>
        <p:txBody>
          <a:bodyPr wrap="square">
            <a:spAutoFit/>
          </a:bodyPr>
          <a:lstStyle/>
          <a:p>
            <a:pPr algn="r"/>
            <a:r>
              <a:rPr sz="900" b="0">
                <a:solidFill>
                  <a:srgbClr val="727A8E"/>
                </a:solidFill>
                <a:latin typeface="맑은 고딕"/>
              </a:rPr>
              <a:t>OnLowHp</a:t>
            </a:r>
          </a:p>
        </p:txBody>
      </p:sp>
      <p:sp>
        <p:nvSpPr>
          <p:cNvPr id="72" name="TextBox 71"/>
          <p:cNvSpPr txBox="1"/>
          <p:nvPr/>
        </p:nvSpPr>
        <p:spPr>
          <a:xfrm>
            <a:off x="9052560" y="5367527"/>
            <a:ext cx="2468880" cy="475488"/>
          </a:xfrm>
          <a:prstGeom prst="rect">
            <a:avLst/>
          </a:prstGeom>
          <a:noFill/>
        </p:spPr>
        <p:txBody>
          <a:bodyPr wrap="square">
            <a:spAutoFit/>
          </a:bodyPr>
          <a:lstStyle/>
          <a:p>
            <a:pPr algn="l"/>
            <a:r>
              <a:rPr sz="950" b="0">
                <a:solidFill>
                  <a:srgbClr val="FFFFFF"/>
                </a:solidFill>
                <a:latin typeface="맑은 고딕"/>
              </a:rPr>
              <a:t>방어력 +40%, 이동속도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서약 시스템 — 개요 &amp; 획득 구조 (v0.5 핵심 신규)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0292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029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4754880" cy="256032"/>
          </a:xfrm>
          <a:prstGeom prst="rect">
            <a:avLst/>
          </a:prstGeom>
          <a:noFill/>
        </p:spPr>
        <p:txBody>
          <a:bodyPr wrap="square">
            <a:spAutoFit/>
          </a:bodyPr>
          <a:lstStyle/>
          <a:p>
            <a:pPr algn="l"/>
            <a:r>
              <a:rPr sz="1200" b="1">
                <a:solidFill>
                  <a:srgbClr val="C9A84C"/>
                </a:solidFill>
                <a:latin typeface="맑은 고딕"/>
              </a:rPr>
              <a:t>서약 시스템 개요</a:t>
            </a:r>
          </a:p>
        </p:txBody>
      </p:sp>
      <p:sp>
        <p:nvSpPr>
          <p:cNvPr id="8" name="TextBox 7"/>
          <p:cNvSpPr txBox="1"/>
          <p:nvPr/>
        </p:nvSpPr>
        <p:spPr>
          <a:xfrm>
            <a:off x="548640" y="1417320"/>
            <a:ext cx="4663440" cy="868680"/>
          </a:xfrm>
          <a:prstGeom prst="rect">
            <a:avLst/>
          </a:prstGeom>
          <a:noFill/>
        </p:spPr>
        <p:txBody>
          <a:bodyPr wrap="square">
            <a:spAutoFit/>
          </a:bodyPr>
          <a:lstStyle/>
          <a:p>
            <a:pPr algn="l"/>
            <a:r>
              <a:rPr sz="1050" b="0">
                <a:solidFill>
                  <a:srgbClr val="E8D08A"/>
                </a:solidFill>
                <a:latin typeface="맑은 고딕"/>
              </a:rPr>
              <a:t>"멀린이 살아있던 시절, 그는 강력한 존재들과 계약을 맺었다.
그 서약들은 지금도 봉인된 채로 남아있다.
런마다 봉인이 하나씩 열린다."</a:t>
            </a:r>
          </a:p>
        </p:txBody>
      </p:sp>
      <p:sp>
        <p:nvSpPr>
          <p:cNvPr id="9" name="Rectangle 8"/>
          <p:cNvSpPr/>
          <p:nvPr/>
        </p:nvSpPr>
        <p:spPr>
          <a:xfrm>
            <a:off x="548640" y="2331720"/>
            <a:ext cx="46634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95728"/>
            <a:ext cx="4663440" cy="502920"/>
          </a:xfrm>
          <a:prstGeom prst="rect">
            <a:avLst/>
          </a:prstGeom>
          <a:noFill/>
        </p:spPr>
        <p:txBody>
          <a:bodyPr wrap="square">
            <a:spAutoFit/>
          </a:bodyPr>
          <a:lstStyle/>
          <a:p>
            <a:pPr algn="l"/>
            <a:r>
              <a:rPr sz="1050" b="0">
                <a:solidFill>
                  <a:srgbClr val="FFFFFF"/>
                </a:solidFill>
                <a:latin typeface="맑은 고딕"/>
              </a:rPr>
              <a:t>서약은 단순 수치 강화가 아닌 플레이 방식 자체를 결정하는
아이덴티티 능력이다.</a:t>
            </a:r>
          </a:p>
        </p:txBody>
      </p:sp>
      <p:sp>
        <p:nvSpPr>
          <p:cNvPr id="11" name="TextBox 10"/>
          <p:cNvSpPr txBox="1"/>
          <p:nvPr/>
        </p:nvSpPr>
        <p:spPr>
          <a:xfrm>
            <a:off x="548640" y="2971800"/>
            <a:ext cx="4663440" cy="274320"/>
          </a:xfrm>
          <a:prstGeom prst="rect">
            <a:avLst/>
          </a:prstGeom>
          <a:noFill/>
        </p:spPr>
        <p:txBody>
          <a:bodyPr wrap="square">
            <a:spAutoFit/>
          </a:bodyPr>
          <a:lstStyle/>
          <a:p>
            <a:pPr algn="l"/>
            <a:r>
              <a:rPr sz="1100" b="1">
                <a:solidFill>
                  <a:srgbClr val="C9A84C"/>
                </a:solidFill>
                <a:latin typeface="맑은 고딕"/>
              </a:rPr>
              <a:t>전체 서약 수: 12종</a:t>
            </a:r>
          </a:p>
        </p:txBody>
      </p:sp>
      <p:sp>
        <p:nvSpPr>
          <p:cNvPr id="12" name="Rectangle 11"/>
          <p:cNvSpPr/>
          <p:nvPr/>
        </p:nvSpPr>
        <p:spPr>
          <a:xfrm>
            <a:off x="548640" y="3337560"/>
            <a:ext cx="4663440" cy="548640"/>
          </a:xfrm>
          <a:prstGeom prst="rect">
            <a:avLst/>
          </a:prstGeom>
          <a:solidFill>
            <a:srgbClr val="1E243A"/>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73152"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29000"/>
            <a:ext cx="1280160" cy="256032"/>
          </a:xfrm>
          <a:prstGeom prst="rect">
            <a:avLst/>
          </a:prstGeom>
          <a:noFill/>
        </p:spPr>
        <p:txBody>
          <a:bodyPr wrap="square">
            <a:spAutoFit/>
          </a:bodyPr>
          <a:lstStyle/>
          <a:p>
            <a:pPr algn="l"/>
            <a:r>
              <a:rPr sz="1100" b="1">
                <a:solidFill>
                  <a:srgbClr val="C9A84C"/>
                </a:solidFill>
                <a:latin typeface="맑은 고딕"/>
              </a:rPr>
              <a:t>아서 전설</a:t>
            </a:r>
          </a:p>
        </p:txBody>
      </p:sp>
      <p:sp>
        <p:nvSpPr>
          <p:cNvPr id="15" name="TextBox 14"/>
          <p:cNvSpPr txBox="1"/>
          <p:nvPr/>
        </p:nvSpPr>
        <p:spPr>
          <a:xfrm>
            <a:off x="2148840" y="3447288"/>
            <a:ext cx="2926080" cy="256032"/>
          </a:xfrm>
          <a:prstGeom prst="rect">
            <a:avLst/>
          </a:prstGeom>
          <a:noFill/>
        </p:spPr>
        <p:txBody>
          <a:bodyPr wrap="square">
            <a:spAutoFit/>
          </a:bodyPr>
          <a:lstStyle/>
          <a:p>
            <a:pPr algn="l"/>
            <a:r>
              <a:rPr sz="950" b="0">
                <a:solidFill>
                  <a:srgbClr val="B8BECC"/>
                </a:solidFill>
                <a:latin typeface="맑은 고딕"/>
              </a:rPr>
              <a:t>5종 — 니무에·모르가나·아서·갤러해드·모드레드</a:t>
            </a:r>
          </a:p>
        </p:txBody>
      </p:sp>
      <p:sp>
        <p:nvSpPr>
          <p:cNvPr id="16" name="Rectangle 15"/>
          <p:cNvSpPr/>
          <p:nvPr/>
        </p:nvSpPr>
        <p:spPr>
          <a:xfrm>
            <a:off x="548640" y="3995928"/>
            <a:ext cx="4663440" cy="548640"/>
          </a:xfrm>
          <a:prstGeom prst="rect">
            <a:avLst/>
          </a:prstGeom>
          <a:solidFill>
            <a:srgbClr val="1E243A"/>
          </a:solidFill>
          <a:ln w="12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95928"/>
            <a:ext cx="73152" cy="54864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87368"/>
            <a:ext cx="1280160" cy="256032"/>
          </a:xfrm>
          <a:prstGeom prst="rect">
            <a:avLst/>
          </a:prstGeom>
          <a:noFill/>
        </p:spPr>
        <p:txBody>
          <a:bodyPr wrap="square">
            <a:spAutoFit/>
          </a:bodyPr>
          <a:lstStyle/>
          <a:p>
            <a:pPr algn="l"/>
            <a:r>
              <a:rPr sz="1100" b="1">
                <a:solidFill>
                  <a:srgbClr val="4AC2B8"/>
                </a:solidFill>
                <a:latin typeface="맑은 고딕"/>
              </a:rPr>
              <a:t>켈트 신화</a:t>
            </a:r>
          </a:p>
        </p:txBody>
      </p:sp>
      <p:sp>
        <p:nvSpPr>
          <p:cNvPr id="19" name="TextBox 18"/>
          <p:cNvSpPr txBox="1"/>
          <p:nvPr/>
        </p:nvSpPr>
        <p:spPr>
          <a:xfrm>
            <a:off x="2148840" y="4105656"/>
            <a:ext cx="2926080" cy="256032"/>
          </a:xfrm>
          <a:prstGeom prst="rect">
            <a:avLst/>
          </a:prstGeom>
          <a:noFill/>
        </p:spPr>
        <p:txBody>
          <a:bodyPr wrap="square">
            <a:spAutoFit/>
          </a:bodyPr>
          <a:lstStyle/>
          <a:p>
            <a:pPr algn="l"/>
            <a:r>
              <a:rPr sz="950" b="0">
                <a:solidFill>
                  <a:srgbClr val="B8BECC"/>
                </a:solidFill>
                <a:latin typeface="맑은 고딕"/>
              </a:rPr>
              <a:t>4종 — 모리건·쿠훌린·루·발로르</a:t>
            </a:r>
          </a:p>
        </p:txBody>
      </p:sp>
      <p:sp>
        <p:nvSpPr>
          <p:cNvPr id="20" name="Rectangle 19"/>
          <p:cNvSpPr/>
          <p:nvPr/>
        </p:nvSpPr>
        <p:spPr>
          <a:xfrm>
            <a:off x="548640" y="4654296"/>
            <a:ext cx="4663440" cy="548640"/>
          </a:xfrm>
          <a:prstGeom prst="rect">
            <a:avLst/>
          </a:prstGeom>
          <a:solidFill>
            <a:srgbClr val="1E243A"/>
          </a:solidFill>
          <a:ln w="12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654296"/>
            <a:ext cx="73152" cy="548640"/>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45736"/>
            <a:ext cx="1280160" cy="256032"/>
          </a:xfrm>
          <a:prstGeom prst="rect">
            <a:avLst/>
          </a:prstGeom>
          <a:noFill/>
        </p:spPr>
        <p:txBody>
          <a:bodyPr wrap="square">
            <a:spAutoFit/>
          </a:bodyPr>
          <a:lstStyle/>
          <a:p>
            <a:pPr algn="l"/>
            <a:r>
              <a:rPr sz="1100" b="1">
                <a:solidFill>
                  <a:srgbClr val="6B3F8E"/>
                </a:solidFill>
                <a:latin typeface="맑은 고딕"/>
              </a:rPr>
              <a:t>외부 신화</a:t>
            </a:r>
          </a:p>
        </p:txBody>
      </p:sp>
      <p:sp>
        <p:nvSpPr>
          <p:cNvPr id="23" name="TextBox 22"/>
          <p:cNvSpPr txBox="1"/>
          <p:nvPr/>
        </p:nvSpPr>
        <p:spPr>
          <a:xfrm>
            <a:off x="2148840" y="4764024"/>
            <a:ext cx="2926080" cy="256032"/>
          </a:xfrm>
          <a:prstGeom prst="rect">
            <a:avLst/>
          </a:prstGeom>
          <a:noFill/>
        </p:spPr>
        <p:txBody>
          <a:bodyPr wrap="square">
            <a:spAutoFit/>
          </a:bodyPr>
          <a:lstStyle/>
          <a:p>
            <a:pPr algn="l"/>
            <a:r>
              <a:rPr sz="950" b="0">
                <a:solidFill>
                  <a:srgbClr val="B8BECC"/>
                </a:solidFill>
                <a:latin typeface="맑은 고딕"/>
              </a:rPr>
              <a:t>3종 — 헤카테·솔로몬·프로메테우스</a:t>
            </a:r>
          </a:p>
        </p:txBody>
      </p:sp>
      <p:sp>
        <p:nvSpPr>
          <p:cNvPr id="24" name="Rectangle 23"/>
          <p:cNvSpPr/>
          <p:nvPr/>
        </p:nvSpPr>
        <p:spPr>
          <a:xfrm>
            <a:off x="5669280" y="960120"/>
            <a:ext cx="621792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0" y="960120"/>
            <a:ext cx="6217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06440" y="1014984"/>
            <a:ext cx="5943600" cy="256032"/>
          </a:xfrm>
          <a:prstGeom prst="rect">
            <a:avLst/>
          </a:prstGeom>
          <a:noFill/>
        </p:spPr>
        <p:txBody>
          <a:bodyPr wrap="square">
            <a:spAutoFit/>
          </a:bodyPr>
          <a:lstStyle/>
          <a:p>
            <a:pPr algn="l"/>
            <a:r>
              <a:rPr sz="1200" b="1">
                <a:solidFill>
                  <a:srgbClr val="C9A84C"/>
                </a:solidFill>
                <a:latin typeface="맑은 고딕"/>
              </a:rPr>
              <a:t>3단계 성장 구조</a:t>
            </a:r>
          </a:p>
        </p:txBody>
      </p:sp>
      <p:sp>
        <p:nvSpPr>
          <p:cNvPr id="27" name="Rectangle 26"/>
          <p:cNvSpPr/>
          <p:nvPr/>
        </p:nvSpPr>
        <p:spPr>
          <a:xfrm>
            <a:off x="5852160" y="1417320"/>
            <a:ext cx="5852160" cy="5486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0" y="1417320"/>
            <a:ext cx="822960" cy="54864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1508760"/>
            <a:ext cx="822960" cy="347472"/>
          </a:xfrm>
          <a:prstGeom prst="rect">
            <a:avLst/>
          </a:prstGeom>
          <a:noFill/>
        </p:spPr>
        <p:txBody>
          <a:bodyPr wrap="square">
            <a:spAutoFit/>
          </a:bodyPr>
          <a:lstStyle/>
          <a:p>
            <a:pPr algn="ctr"/>
            <a:r>
              <a:rPr sz="1400" b="1">
                <a:solidFill>
                  <a:srgbClr val="0D111A"/>
                </a:solidFill>
                <a:latin typeface="맑은 고딕"/>
              </a:rPr>
              <a:t>기본</a:t>
            </a:r>
          </a:p>
        </p:txBody>
      </p:sp>
      <p:sp>
        <p:nvSpPr>
          <p:cNvPr id="30" name="TextBox 29"/>
          <p:cNvSpPr txBox="1"/>
          <p:nvPr/>
        </p:nvSpPr>
        <p:spPr>
          <a:xfrm>
            <a:off x="6812280" y="1472184"/>
            <a:ext cx="2377440" cy="219456"/>
          </a:xfrm>
          <a:prstGeom prst="rect">
            <a:avLst/>
          </a:prstGeom>
          <a:noFill/>
        </p:spPr>
        <p:txBody>
          <a:bodyPr wrap="square">
            <a:spAutoFit/>
          </a:bodyPr>
          <a:lstStyle/>
          <a:p>
            <a:pPr algn="l"/>
            <a:r>
              <a:rPr sz="900" b="0">
                <a:solidFill>
                  <a:srgbClr val="727A8E"/>
                </a:solidFill>
                <a:latin typeface="맑은 고딕"/>
              </a:rPr>
              <a:t>런 시작 / 특별 분기 구간</a:t>
            </a:r>
          </a:p>
        </p:txBody>
      </p:sp>
      <p:sp>
        <p:nvSpPr>
          <p:cNvPr id="31" name="TextBox 30"/>
          <p:cNvSpPr txBox="1"/>
          <p:nvPr/>
        </p:nvSpPr>
        <p:spPr>
          <a:xfrm>
            <a:off x="6812280" y="1691640"/>
            <a:ext cx="4572000" cy="219456"/>
          </a:xfrm>
          <a:prstGeom prst="rect">
            <a:avLst/>
          </a:prstGeom>
          <a:noFill/>
        </p:spPr>
        <p:txBody>
          <a:bodyPr wrap="square">
            <a:spAutoFit/>
          </a:bodyPr>
          <a:lstStyle/>
          <a:p>
            <a:pPr algn="l"/>
            <a:r>
              <a:rPr sz="1000" b="0">
                <a:solidFill>
                  <a:srgbClr val="FFFFFF"/>
                </a:solidFill>
                <a:latin typeface="맑은 고딕"/>
              </a:rPr>
              <a:t>서약 고유 기능 활성화</a:t>
            </a:r>
          </a:p>
        </p:txBody>
      </p:sp>
      <p:sp>
        <p:nvSpPr>
          <p:cNvPr id="32" name="Rectangle 31"/>
          <p:cNvSpPr/>
          <p:nvPr/>
        </p:nvSpPr>
        <p:spPr>
          <a:xfrm>
            <a:off x="5852160" y="2057400"/>
            <a:ext cx="5852160" cy="5486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0" y="2057400"/>
            <a:ext cx="822960"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0" y="2148840"/>
            <a:ext cx="822960" cy="347472"/>
          </a:xfrm>
          <a:prstGeom prst="rect">
            <a:avLst/>
          </a:prstGeom>
          <a:noFill/>
        </p:spPr>
        <p:txBody>
          <a:bodyPr wrap="square">
            <a:spAutoFit/>
          </a:bodyPr>
          <a:lstStyle/>
          <a:p>
            <a:pPr algn="ctr"/>
            <a:r>
              <a:rPr sz="1400" b="1">
                <a:solidFill>
                  <a:srgbClr val="0D111A"/>
                </a:solidFill>
                <a:latin typeface="맑은 고딕"/>
              </a:rPr>
              <a:t>강화</a:t>
            </a:r>
          </a:p>
        </p:txBody>
      </p:sp>
      <p:sp>
        <p:nvSpPr>
          <p:cNvPr id="35" name="TextBox 34"/>
          <p:cNvSpPr txBox="1"/>
          <p:nvPr/>
        </p:nvSpPr>
        <p:spPr>
          <a:xfrm>
            <a:off x="6812280" y="2112264"/>
            <a:ext cx="2377440" cy="219456"/>
          </a:xfrm>
          <a:prstGeom prst="rect">
            <a:avLst/>
          </a:prstGeom>
          <a:noFill/>
        </p:spPr>
        <p:txBody>
          <a:bodyPr wrap="square">
            <a:spAutoFit/>
          </a:bodyPr>
          <a:lstStyle/>
          <a:p>
            <a:pPr algn="l"/>
            <a:r>
              <a:rPr sz="900" b="0">
                <a:solidFill>
                  <a:srgbClr val="727A8E"/>
                </a:solidFill>
                <a:latin typeface="맑은 고딕"/>
              </a:rPr>
              <a:t>이벤트 방 클리어</a:t>
            </a:r>
          </a:p>
        </p:txBody>
      </p:sp>
      <p:sp>
        <p:nvSpPr>
          <p:cNvPr id="36" name="TextBox 35"/>
          <p:cNvSpPr txBox="1"/>
          <p:nvPr/>
        </p:nvSpPr>
        <p:spPr>
          <a:xfrm>
            <a:off x="6812280" y="2331720"/>
            <a:ext cx="4572000" cy="219456"/>
          </a:xfrm>
          <a:prstGeom prst="rect">
            <a:avLst/>
          </a:prstGeom>
          <a:noFill/>
        </p:spPr>
        <p:txBody>
          <a:bodyPr wrap="square">
            <a:spAutoFit/>
          </a:bodyPr>
          <a:lstStyle/>
          <a:p>
            <a:pPr algn="l"/>
            <a:r>
              <a:rPr sz="1000" b="0">
                <a:solidFill>
                  <a:srgbClr val="FFFFFF"/>
                </a:solidFill>
                <a:latin typeface="맑은 고딕"/>
              </a:rPr>
              <a:t>수치 개선 (기능 동일, 효과량 증가)</a:t>
            </a:r>
          </a:p>
        </p:txBody>
      </p:sp>
      <p:sp>
        <p:nvSpPr>
          <p:cNvPr id="37" name="Rectangle 36"/>
          <p:cNvSpPr/>
          <p:nvPr/>
        </p:nvSpPr>
        <p:spPr>
          <a:xfrm>
            <a:off x="5852160" y="2697480"/>
            <a:ext cx="5852160" cy="5486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52160" y="2697480"/>
            <a:ext cx="822960" cy="548640"/>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52160" y="2788920"/>
            <a:ext cx="822960" cy="347472"/>
          </a:xfrm>
          <a:prstGeom prst="rect">
            <a:avLst/>
          </a:prstGeom>
          <a:noFill/>
        </p:spPr>
        <p:txBody>
          <a:bodyPr wrap="square">
            <a:spAutoFit/>
          </a:bodyPr>
          <a:lstStyle/>
          <a:p>
            <a:pPr algn="ctr"/>
            <a:r>
              <a:rPr sz="1400" b="1">
                <a:solidFill>
                  <a:srgbClr val="0D111A"/>
                </a:solidFill>
                <a:latin typeface="맑은 고딕"/>
              </a:rPr>
              <a:t>진화</a:t>
            </a:r>
          </a:p>
        </p:txBody>
      </p:sp>
      <p:sp>
        <p:nvSpPr>
          <p:cNvPr id="40" name="TextBox 39"/>
          <p:cNvSpPr txBox="1"/>
          <p:nvPr/>
        </p:nvSpPr>
        <p:spPr>
          <a:xfrm>
            <a:off x="6812280" y="2752344"/>
            <a:ext cx="2377440" cy="219456"/>
          </a:xfrm>
          <a:prstGeom prst="rect">
            <a:avLst/>
          </a:prstGeom>
          <a:noFill/>
        </p:spPr>
        <p:txBody>
          <a:bodyPr wrap="square">
            <a:spAutoFit/>
          </a:bodyPr>
          <a:lstStyle/>
          <a:p>
            <a:pPr algn="l"/>
            <a:r>
              <a:rPr sz="900" b="0">
                <a:solidFill>
                  <a:srgbClr val="727A8E"/>
                </a:solidFill>
                <a:latin typeface="맑은 고딕"/>
              </a:rPr>
              <a:t>보스 처치</a:t>
            </a:r>
          </a:p>
        </p:txBody>
      </p:sp>
      <p:sp>
        <p:nvSpPr>
          <p:cNvPr id="41" name="TextBox 40"/>
          <p:cNvSpPr txBox="1"/>
          <p:nvPr/>
        </p:nvSpPr>
        <p:spPr>
          <a:xfrm>
            <a:off x="6812280" y="2971800"/>
            <a:ext cx="4572000" cy="219456"/>
          </a:xfrm>
          <a:prstGeom prst="rect">
            <a:avLst/>
          </a:prstGeom>
          <a:noFill/>
        </p:spPr>
        <p:txBody>
          <a:bodyPr wrap="square">
            <a:spAutoFit/>
          </a:bodyPr>
          <a:lstStyle/>
          <a:p>
            <a:pPr algn="l"/>
            <a:r>
              <a:rPr sz="1000" b="0">
                <a:solidFill>
                  <a:srgbClr val="FFFFFF"/>
                </a:solidFill>
                <a:latin typeface="맑은 고딕"/>
              </a:rPr>
              <a:t>기능 자체가 변형 — 플레이 스타일 전환</a:t>
            </a:r>
          </a:p>
        </p:txBody>
      </p:sp>
      <p:sp>
        <p:nvSpPr>
          <p:cNvPr id="42" name="Rectangle 41"/>
          <p:cNvSpPr/>
          <p:nvPr/>
        </p:nvSpPr>
        <p:spPr>
          <a:xfrm>
            <a:off x="5669280" y="3703320"/>
            <a:ext cx="621792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0" y="3703320"/>
            <a:ext cx="6217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06440" y="3758183"/>
            <a:ext cx="5943600" cy="256032"/>
          </a:xfrm>
          <a:prstGeom prst="rect">
            <a:avLst/>
          </a:prstGeom>
          <a:noFill/>
        </p:spPr>
        <p:txBody>
          <a:bodyPr wrap="square">
            <a:spAutoFit/>
          </a:bodyPr>
          <a:lstStyle/>
          <a:p>
            <a:pPr algn="l"/>
            <a:r>
              <a:rPr sz="1200" b="1">
                <a:solidFill>
                  <a:srgbClr val="C9A84C"/>
                </a:solidFill>
                <a:latin typeface="맑은 고딕"/>
              </a:rPr>
              <a:t>획득 구조 &amp; 런당 최대 보유</a:t>
            </a:r>
          </a:p>
        </p:txBody>
      </p:sp>
      <p:sp>
        <p:nvSpPr>
          <p:cNvPr id="45" name="Rectangle 44"/>
          <p:cNvSpPr/>
          <p:nvPr/>
        </p:nvSpPr>
        <p:spPr>
          <a:xfrm>
            <a:off x="5852160" y="4160520"/>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52160" y="4160520"/>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0" y="4233672"/>
            <a:ext cx="1371600" cy="256032"/>
          </a:xfrm>
          <a:prstGeom prst="rect">
            <a:avLst/>
          </a:prstGeom>
          <a:noFill/>
        </p:spPr>
        <p:txBody>
          <a:bodyPr wrap="square">
            <a:spAutoFit/>
          </a:bodyPr>
          <a:lstStyle/>
          <a:p>
            <a:pPr algn="l"/>
            <a:r>
              <a:rPr sz="950" b="1">
                <a:solidFill>
                  <a:srgbClr val="C9A84C"/>
                </a:solidFill>
                <a:latin typeface="맑은 고딕"/>
              </a:rPr>
              <a:t>런 시작</a:t>
            </a:r>
          </a:p>
        </p:txBody>
      </p:sp>
      <p:sp>
        <p:nvSpPr>
          <p:cNvPr id="48" name="TextBox 47"/>
          <p:cNvSpPr txBox="1"/>
          <p:nvPr/>
        </p:nvSpPr>
        <p:spPr>
          <a:xfrm>
            <a:off x="7452360" y="4233672"/>
            <a:ext cx="3931920" cy="256032"/>
          </a:xfrm>
          <a:prstGeom prst="rect">
            <a:avLst/>
          </a:prstGeom>
          <a:noFill/>
        </p:spPr>
        <p:txBody>
          <a:bodyPr wrap="square">
            <a:spAutoFit/>
          </a:bodyPr>
          <a:lstStyle/>
          <a:p>
            <a:pPr algn="l"/>
            <a:r>
              <a:rPr sz="1000" b="0">
                <a:solidFill>
                  <a:srgbClr val="B8BECC"/>
                </a:solidFill>
                <a:latin typeface="맑은 고딕"/>
              </a:rPr>
              <a:t>서약 3종 제시 → 1개 선택 (기본)</a:t>
            </a:r>
          </a:p>
        </p:txBody>
      </p:sp>
      <p:sp>
        <p:nvSpPr>
          <p:cNvPr id="49" name="Rectangle 48"/>
          <p:cNvSpPr/>
          <p:nvPr/>
        </p:nvSpPr>
        <p:spPr>
          <a:xfrm>
            <a:off x="5852160" y="4654296"/>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52160" y="4654296"/>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0" y="4727448"/>
            <a:ext cx="1371600" cy="256032"/>
          </a:xfrm>
          <a:prstGeom prst="rect">
            <a:avLst/>
          </a:prstGeom>
          <a:noFill/>
        </p:spPr>
        <p:txBody>
          <a:bodyPr wrap="square">
            <a:spAutoFit/>
          </a:bodyPr>
          <a:lstStyle/>
          <a:p>
            <a:pPr algn="l"/>
            <a:r>
              <a:rPr sz="950" b="1">
                <a:solidFill>
                  <a:srgbClr val="C9A84C"/>
                </a:solidFill>
                <a:latin typeface="맑은 고딕"/>
              </a:rPr>
              <a:t>이벤트방</a:t>
            </a:r>
          </a:p>
        </p:txBody>
      </p:sp>
      <p:sp>
        <p:nvSpPr>
          <p:cNvPr id="52" name="TextBox 51"/>
          <p:cNvSpPr txBox="1"/>
          <p:nvPr/>
        </p:nvSpPr>
        <p:spPr>
          <a:xfrm>
            <a:off x="7452360" y="4727448"/>
            <a:ext cx="3931920" cy="256032"/>
          </a:xfrm>
          <a:prstGeom prst="rect">
            <a:avLst/>
          </a:prstGeom>
          <a:noFill/>
        </p:spPr>
        <p:txBody>
          <a:bodyPr wrap="square">
            <a:spAutoFit/>
          </a:bodyPr>
          <a:lstStyle/>
          <a:p>
            <a:pPr algn="l"/>
            <a:r>
              <a:rPr sz="1000" b="0">
                <a:solidFill>
                  <a:srgbClr val="B8BECC"/>
                </a:solidFill>
                <a:latin typeface="맑은 고딕"/>
              </a:rPr>
              <a:t>보유 서약 중 1개 → 강화</a:t>
            </a:r>
          </a:p>
        </p:txBody>
      </p:sp>
      <p:sp>
        <p:nvSpPr>
          <p:cNvPr id="53" name="Rectangle 52"/>
          <p:cNvSpPr/>
          <p:nvPr/>
        </p:nvSpPr>
        <p:spPr>
          <a:xfrm>
            <a:off x="5852160" y="5148072"/>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852160" y="5148072"/>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0" y="5221224"/>
            <a:ext cx="1371600" cy="256032"/>
          </a:xfrm>
          <a:prstGeom prst="rect">
            <a:avLst/>
          </a:prstGeom>
          <a:noFill/>
        </p:spPr>
        <p:txBody>
          <a:bodyPr wrap="square">
            <a:spAutoFit/>
          </a:bodyPr>
          <a:lstStyle/>
          <a:p>
            <a:pPr algn="l"/>
            <a:r>
              <a:rPr sz="950" b="1">
                <a:solidFill>
                  <a:srgbClr val="C9A84C"/>
                </a:solidFill>
                <a:latin typeface="맑은 고딕"/>
              </a:rPr>
              <a:t>특별 분기 구간</a:t>
            </a:r>
          </a:p>
        </p:txBody>
      </p:sp>
      <p:sp>
        <p:nvSpPr>
          <p:cNvPr id="56" name="TextBox 55"/>
          <p:cNvSpPr txBox="1"/>
          <p:nvPr/>
        </p:nvSpPr>
        <p:spPr>
          <a:xfrm>
            <a:off x="7452360" y="5221224"/>
            <a:ext cx="3931920" cy="256032"/>
          </a:xfrm>
          <a:prstGeom prst="rect">
            <a:avLst/>
          </a:prstGeom>
          <a:noFill/>
        </p:spPr>
        <p:txBody>
          <a:bodyPr wrap="square">
            <a:spAutoFit/>
          </a:bodyPr>
          <a:lstStyle/>
          <a:p>
            <a:pPr algn="l"/>
            <a:r>
              <a:rPr sz="1000" b="0">
                <a:solidFill>
                  <a:srgbClr val="B8BECC"/>
                </a:solidFill>
                <a:latin typeface="맑은 고딕"/>
              </a:rPr>
              <a:t>서약 1개 추가 획득</a:t>
            </a:r>
          </a:p>
        </p:txBody>
      </p:sp>
      <p:sp>
        <p:nvSpPr>
          <p:cNvPr id="57" name="Rectangle 56"/>
          <p:cNvSpPr/>
          <p:nvPr/>
        </p:nvSpPr>
        <p:spPr>
          <a:xfrm>
            <a:off x="5852160" y="5641848"/>
            <a:ext cx="5852160" cy="402336"/>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852160" y="5641848"/>
            <a:ext cx="1508760" cy="402336"/>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0" y="5715000"/>
            <a:ext cx="1371600" cy="256032"/>
          </a:xfrm>
          <a:prstGeom prst="rect">
            <a:avLst/>
          </a:prstGeom>
          <a:noFill/>
        </p:spPr>
        <p:txBody>
          <a:bodyPr wrap="square">
            <a:spAutoFit/>
          </a:bodyPr>
          <a:lstStyle/>
          <a:p>
            <a:pPr algn="l"/>
            <a:r>
              <a:rPr sz="950" b="1">
                <a:solidFill>
                  <a:srgbClr val="C9A84C"/>
                </a:solidFill>
                <a:latin typeface="맑은 고딕"/>
              </a:rPr>
              <a:t>보스 처치</a:t>
            </a:r>
          </a:p>
        </p:txBody>
      </p:sp>
      <p:sp>
        <p:nvSpPr>
          <p:cNvPr id="60" name="TextBox 59"/>
          <p:cNvSpPr txBox="1"/>
          <p:nvPr/>
        </p:nvSpPr>
        <p:spPr>
          <a:xfrm>
            <a:off x="7452360" y="5715000"/>
            <a:ext cx="3931920" cy="256032"/>
          </a:xfrm>
          <a:prstGeom prst="rect">
            <a:avLst/>
          </a:prstGeom>
          <a:noFill/>
        </p:spPr>
        <p:txBody>
          <a:bodyPr wrap="square">
            <a:spAutoFit/>
          </a:bodyPr>
          <a:lstStyle/>
          <a:p>
            <a:pPr algn="l"/>
            <a:r>
              <a:rPr sz="1000" b="0">
                <a:solidFill>
                  <a:srgbClr val="B8BECC"/>
                </a:solidFill>
                <a:latin typeface="맑은 고딕"/>
              </a:rPr>
              <a:t>보유 서약 중 1개 → 진화</a:t>
            </a:r>
          </a:p>
        </p:txBody>
      </p:sp>
      <p:sp>
        <p:nvSpPr>
          <p:cNvPr id="61" name="Rectangle 60"/>
          <p:cNvSpPr/>
          <p:nvPr/>
        </p:nvSpPr>
        <p:spPr>
          <a:xfrm>
            <a:off x="5852160" y="6172200"/>
            <a:ext cx="5852160" cy="347472"/>
          </a:xfrm>
          <a:prstGeom prst="rect">
            <a:avLst/>
          </a:prstGeom>
          <a:solidFill>
            <a:srgbClr val="1A2218"/>
          </a:solidFill>
          <a:ln w="1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89320" y="6236208"/>
            <a:ext cx="5577840" cy="219456"/>
          </a:xfrm>
          <a:prstGeom prst="rect">
            <a:avLst/>
          </a:prstGeom>
          <a:noFill/>
        </p:spPr>
        <p:txBody>
          <a:bodyPr wrap="square">
            <a:spAutoFit/>
          </a:bodyPr>
          <a:lstStyle/>
          <a:p>
            <a:pPr algn="l"/>
            <a:r>
              <a:rPr sz="950" b="0">
                <a:solidFill>
                  <a:srgbClr val="4AC2B8"/>
                </a:solidFill>
                <a:latin typeface="맑은 고딕"/>
              </a:rPr>
              <a:t>런당 최대 보유 서약: 3~4개  |  보스를 잡지 못하면 진화 불가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서약 목록 — 아서 전설 레이어 (5종)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2240280" cy="548640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33271"/>
            <a:ext cx="2240280" cy="384048"/>
          </a:xfrm>
          <a:prstGeom prst="rect">
            <a:avLst/>
          </a:prstGeom>
          <a:noFill/>
        </p:spPr>
        <p:txBody>
          <a:bodyPr wrap="square">
            <a:spAutoFit/>
          </a:bodyPr>
          <a:lstStyle/>
          <a:p>
            <a:pPr algn="ctr"/>
            <a:r>
              <a:rPr sz="1000" b="1">
                <a:solidFill>
                  <a:srgbClr val="4AC2B8"/>
                </a:solidFill>
                <a:latin typeface="맑은 고딕"/>
              </a:rPr>
              <a:t>니무에의 서약</a:t>
            </a:r>
          </a:p>
        </p:txBody>
      </p:sp>
      <p:sp>
        <p:nvSpPr>
          <p:cNvPr id="8" name="Rectangle 7"/>
          <p:cNvSpPr/>
          <p:nvPr/>
        </p:nvSpPr>
        <p:spPr>
          <a:xfrm>
            <a:off x="411479"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10" name="Rectangle 9"/>
          <p:cNvSpPr/>
          <p:nvPr/>
        </p:nvSpPr>
        <p:spPr>
          <a:xfrm>
            <a:off x="411479"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83664"/>
            <a:ext cx="1874519" cy="1005840"/>
          </a:xfrm>
          <a:prstGeom prst="rect">
            <a:avLst/>
          </a:prstGeom>
          <a:noFill/>
        </p:spPr>
        <p:txBody>
          <a:bodyPr wrap="square">
            <a:spAutoFit/>
          </a:bodyPr>
          <a:lstStyle/>
          <a:p>
            <a:pPr algn="l"/>
            <a:r>
              <a:rPr sz="850" b="0">
                <a:solidFill>
                  <a:srgbClr val="FFFFFF"/>
                </a:solidFill>
                <a:latin typeface="맑은 고딕"/>
              </a:rPr>
              <a:t>피격 시 피해의 40%를 흡수하는
보호막 생성 (3초)</a:t>
            </a:r>
          </a:p>
        </p:txBody>
      </p:sp>
      <p:sp>
        <p:nvSpPr>
          <p:cNvPr id="12" name="Rectangle 11"/>
          <p:cNvSpPr/>
          <p:nvPr/>
        </p:nvSpPr>
        <p:spPr>
          <a:xfrm>
            <a:off x="411479"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14" name="Rectangle 13"/>
          <p:cNvSpPr/>
          <p:nvPr/>
        </p:nvSpPr>
        <p:spPr>
          <a:xfrm>
            <a:off x="411479"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438144"/>
            <a:ext cx="1874519" cy="1005840"/>
          </a:xfrm>
          <a:prstGeom prst="rect">
            <a:avLst/>
          </a:prstGeom>
          <a:noFill/>
        </p:spPr>
        <p:txBody>
          <a:bodyPr wrap="square">
            <a:spAutoFit/>
          </a:bodyPr>
          <a:lstStyle/>
          <a:p>
            <a:pPr algn="l"/>
            <a:r>
              <a:rPr sz="850" b="0">
                <a:solidFill>
                  <a:srgbClr val="FFFFFF"/>
                </a:solidFill>
                <a:latin typeface="맑은 고딕"/>
              </a:rPr>
              <a:t>흡수율 70%, 지속 4초</a:t>
            </a:r>
          </a:p>
        </p:txBody>
      </p:sp>
      <p:sp>
        <p:nvSpPr>
          <p:cNvPr id="16" name="Rectangle 15"/>
          <p:cNvSpPr/>
          <p:nvPr/>
        </p:nvSpPr>
        <p:spPr>
          <a:xfrm>
            <a:off x="411479"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18" name="Rectangle 17"/>
          <p:cNvSpPr/>
          <p:nvPr/>
        </p:nvSpPr>
        <p:spPr>
          <a:xfrm>
            <a:off x="411479"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92624"/>
            <a:ext cx="1874519" cy="1005840"/>
          </a:xfrm>
          <a:prstGeom prst="rect">
            <a:avLst/>
          </a:prstGeom>
          <a:noFill/>
        </p:spPr>
        <p:txBody>
          <a:bodyPr wrap="square">
            <a:spAutoFit/>
          </a:bodyPr>
          <a:lstStyle/>
          <a:p>
            <a:pPr algn="l"/>
            <a:r>
              <a:rPr sz="850" b="0">
                <a:solidFill>
                  <a:srgbClr val="FFFFFF"/>
                </a:solidFill>
                <a:latin typeface="맑은 고딕"/>
              </a:rPr>
              <a:t>보호막 만료 시 흡수 피해량을
주변 적에게 폭발로 반사</a:t>
            </a:r>
          </a:p>
        </p:txBody>
      </p:sp>
      <p:sp>
        <p:nvSpPr>
          <p:cNvPr id="20" name="Rectangle 19"/>
          <p:cNvSpPr/>
          <p:nvPr/>
        </p:nvSpPr>
        <p:spPr>
          <a:xfrm>
            <a:off x="2697480" y="1005840"/>
            <a:ext cx="2240280" cy="5486400"/>
          </a:xfrm>
          <a:prstGeom prst="rect">
            <a:avLst/>
          </a:prstGeom>
          <a:solidFill>
            <a:srgbClr val="161B2E"/>
          </a:solidFill>
          <a:ln w="15000">
            <a:solidFill>
              <a:srgbClr val="88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9748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97480" y="1033271"/>
            <a:ext cx="2240280" cy="384048"/>
          </a:xfrm>
          <a:prstGeom prst="rect">
            <a:avLst/>
          </a:prstGeom>
          <a:noFill/>
        </p:spPr>
        <p:txBody>
          <a:bodyPr wrap="square">
            <a:spAutoFit/>
          </a:bodyPr>
          <a:lstStyle/>
          <a:p>
            <a:pPr algn="ctr"/>
            <a:r>
              <a:rPr sz="1000" b="1">
                <a:solidFill>
                  <a:srgbClr val="8844AA"/>
                </a:solidFill>
                <a:latin typeface="맑은 고딕"/>
              </a:rPr>
              <a:t>모르가나의 서약</a:t>
            </a:r>
          </a:p>
        </p:txBody>
      </p:sp>
      <p:sp>
        <p:nvSpPr>
          <p:cNvPr id="23" name="Rectangle 22"/>
          <p:cNvSpPr/>
          <p:nvPr/>
        </p:nvSpPr>
        <p:spPr>
          <a:xfrm>
            <a:off x="2788920"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88920"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25" name="Rectangle 24"/>
          <p:cNvSpPr/>
          <p:nvPr/>
        </p:nvSpPr>
        <p:spPr>
          <a:xfrm>
            <a:off x="2788920"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1883664"/>
            <a:ext cx="1874519" cy="1005840"/>
          </a:xfrm>
          <a:prstGeom prst="rect">
            <a:avLst/>
          </a:prstGeom>
          <a:noFill/>
        </p:spPr>
        <p:txBody>
          <a:bodyPr wrap="square">
            <a:spAutoFit/>
          </a:bodyPr>
          <a:lstStyle/>
          <a:p>
            <a:pPr algn="l"/>
            <a:r>
              <a:rPr sz="850" b="0">
                <a:solidFill>
                  <a:srgbClr val="FFFFFF"/>
                </a:solidFill>
                <a:latin typeface="맑은 고딕"/>
              </a:rPr>
              <a:t>처치마다 최대 체력의 3% 흡혈</a:t>
            </a:r>
          </a:p>
        </p:txBody>
      </p:sp>
      <p:sp>
        <p:nvSpPr>
          <p:cNvPr id="27" name="Rectangle 26"/>
          <p:cNvSpPr/>
          <p:nvPr/>
        </p:nvSpPr>
        <p:spPr>
          <a:xfrm>
            <a:off x="2788920"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8920"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29" name="Rectangle 28"/>
          <p:cNvSpPr/>
          <p:nvPr/>
        </p:nvSpPr>
        <p:spPr>
          <a:xfrm>
            <a:off x="2788920"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3438144"/>
            <a:ext cx="1874519" cy="1005840"/>
          </a:xfrm>
          <a:prstGeom prst="rect">
            <a:avLst/>
          </a:prstGeom>
          <a:noFill/>
        </p:spPr>
        <p:txBody>
          <a:bodyPr wrap="square">
            <a:spAutoFit/>
          </a:bodyPr>
          <a:lstStyle/>
          <a:p>
            <a:pPr algn="l"/>
            <a:r>
              <a:rPr sz="850" b="0">
                <a:solidFill>
                  <a:srgbClr val="FFFFFF"/>
                </a:solidFill>
                <a:latin typeface="맑은 고딕"/>
              </a:rPr>
              <a:t>흡혈 5%, 누적 최대 30%까지</a:t>
            </a:r>
          </a:p>
        </p:txBody>
      </p:sp>
      <p:sp>
        <p:nvSpPr>
          <p:cNvPr id="31" name="Rectangle 30"/>
          <p:cNvSpPr/>
          <p:nvPr/>
        </p:nvSpPr>
        <p:spPr>
          <a:xfrm>
            <a:off x="2788920"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8920"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33" name="Rectangle 32"/>
          <p:cNvSpPr/>
          <p:nvPr/>
        </p:nvSpPr>
        <p:spPr>
          <a:xfrm>
            <a:off x="2788920"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360" y="4992624"/>
            <a:ext cx="1874519" cy="1005840"/>
          </a:xfrm>
          <a:prstGeom prst="rect">
            <a:avLst/>
          </a:prstGeom>
          <a:noFill/>
        </p:spPr>
        <p:txBody>
          <a:bodyPr wrap="square">
            <a:spAutoFit/>
          </a:bodyPr>
          <a:lstStyle/>
          <a:p>
            <a:pPr algn="l"/>
            <a:r>
              <a:rPr sz="850" b="0">
                <a:solidFill>
                  <a:srgbClr val="FFFFFF"/>
                </a:solidFill>
                <a:latin typeface="맑은 고딕"/>
              </a:rPr>
              <a:t>누적 흡혈량이 최대 체력 초과 시
초과분이 다음 공격의 추가 피해로 방출</a:t>
            </a:r>
          </a:p>
        </p:txBody>
      </p:sp>
      <p:sp>
        <p:nvSpPr>
          <p:cNvPr id="35" name="Rectangle 34"/>
          <p:cNvSpPr/>
          <p:nvPr/>
        </p:nvSpPr>
        <p:spPr>
          <a:xfrm>
            <a:off x="5074920" y="1005840"/>
            <a:ext cx="2240280" cy="548640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74920" y="1033271"/>
            <a:ext cx="2240280" cy="384048"/>
          </a:xfrm>
          <a:prstGeom prst="rect">
            <a:avLst/>
          </a:prstGeom>
          <a:noFill/>
        </p:spPr>
        <p:txBody>
          <a:bodyPr wrap="square">
            <a:spAutoFit/>
          </a:bodyPr>
          <a:lstStyle/>
          <a:p>
            <a:pPr algn="ctr"/>
            <a:r>
              <a:rPr sz="1000" b="1">
                <a:solidFill>
                  <a:srgbClr val="C9A84C"/>
                </a:solidFill>
                <a:latin typeface="맑은 고딕"/>
              </a:rPr>
              <a:t>아서의 서약</a:t>
            </a:r>
          </a:p>
        </p:txBody>
      </p:sp>
      <p:sp>
        <p:nvSpPr>
          <p:cNvPr id="38" name="Rectangle 37"/>
          <p:cNvSpPr/>
          <p:nvPr/>
        </p:nvSpPr>
        <p:spPr>
          <a:xfrm>
            <a:off x="5166359"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59"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40" name="Rectangle 39"/>
          <p:cNvSpPr/>
          <p:nvPr/>
        </p:nvSpPr>
        <p:spPr>
          <a:xfrm>
            <a:off x="5166359"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57800" y="1883664"/>
            <a:ext cx="1874519" cy="1005840"/>
          </a:xfrm>
          <a:prstGeom prst="rect">
            <a:avLst/>
          </a:prstGeom>
          <a:noFill/>
        </p:spPr>
        <p:txBody>
          <a:bodyPr wrap="square">
            <a:spAutoFit/>
          </a:bodyPr>
          <a:lstStyle/>
          <a:p>
            <a:pPr algn="l"/>
            <a:r>
              <a:rPr sz="850" b="0">
                <a:solidFill>
                  <a:srgbClr val="FFFFFF"/>
                </a:solidFill>
                <a:latin typeface="맑은 고딕"/>
              </a:rPr>
              <a:t>HP 30% 이하 시 공격력 +35%</a:t>
            </a:r>
          </a:p>
        </p:txBody>
      </p:sp>
      <p:sp>
        <p:nvSpPr>
          <p:cNvPr id="42" name="Rectangle 41"/>
          <p:cNvSpPr/>
          <p:nvPr/>
        </p:nvSpPr>
        <p:spPr>
          <a:xfrm>
            <a:off x="5166359"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66359"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44" name="Rectangle 43"/>
          <p:cNvSpPr/>
          <p:nvPr/>
        </p:nvSpPr>
        <p:spPr>
          <a:xfrm>
            <a:off x="5166359"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57800" y="3438144"/>
            <a:ext cx="1874519" cy="1005840"/>
          </a:xfrm>
          <a:prstGeom prst="rect">
            <a:avLst/>
          </a:prstGeom>
          <a:noFill/>
        </p:spPr>
        <p:txBody>
          <a:bodyPr wrap="square">
            <a:spAutoFit/>
          </a:bodyPr>
          <a:lstStyle/>
          <a:p>
            <a:pPr algn="l"/>
            <a:r>
              <a:rPr sz="850" b="0">
                <a:solidFill>
                  <a:srgbClr val="FFFFFF"/>
                </a:solidFill>
                <a:latin typeface="맑은 고딕"/>
              </a:rPr>
              <a:t>공격력 +55%, 이동속도 +20%</a:t>
            </a:r>
          </a:p>
        </p:txBody>
      </p:sp>
      <p:sp>
        <p:nvSpPr>
          <p:cNvPr id="46" name="Rectangle 45"/>
          <p:cNvSpPr/>
          <p:nvPr/>
        </p:nvSpPr>
        <p:spPr>
          <a:xfrm>
            <a:off x="5166359"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359"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48" name="Rectangle 47"/>
          <p:cNvSpPr/>
          <p:nvPr/>
        </p:nvSpPr>
        <p:spPr>
          <a:xfrm>
            <a:off x="5166359"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57800" y="4992624"/>
            <a:ext cx="1874519" cy="1005840"/>
          </a:xfrm>
          <a:prstGeom prst="rect">
            <a:avLst/>
          </a:prstGeom>
          <a:noFill/>
        </p:spPr>
        <p:txBody>
          <a:bodyPr wrap="square">
            <a:spAutoFit/>
          </a:bodyPr>
          <a:lstStyle/>
          <a:p>
            <a:pPr algn="l"/>
            <a:r>
              <a:rPr sz="850" b="0">
                <a:solidFill>
                  <a:srgbClr val="FFFFFF"/>
                </a:solidFill>
                <a:latin typeface="맑은 고딕"/>
              </a:rPr>
              <a:t>HP 30% 이하 구간에서 5초마다
방어력 무시 충격파 자동 발동</a:t>
            </a:r>
          </a:p>
        </p:txBody>
      </p:sp>
      <p:sp>
        <p:nvSpPr>
          <p:cNvPr id="50" name="Rectangle 49"/>
          <p:cNvSpPr/>
          <p:nvPr/>
        </p:nvSpPr>
        <p:spPr>
          <a:xfrm>
            <a:off x="7452360" y="1005840"/>
            <a:ext cx="2240280" cy="5486400"/>
          </a:xfrm>
          <a:prstGeom prst="rect">
            <a:avLst/>
          </a:prstGeom>
          <a:solidFill>
            <a:srgbClr val="161B2E"/>
          </a:solidFill>
          <a:ln w="150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45236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52360" y="1033271"/>
            <a:ext cx="2240280" cy="384048"/>
          </a:xfrm>
          <a:prstGeom prst="rect">
            <a:avLst/>
          </a:prstGeom>
          <a:noFill/>
        </p:spPr>
        <p:txBody>
          <a:bodyPr wrap="square">
            <a:spAutoFit/>
          </a:bodyPr>
          <a:lstStyle/>
          <a:p>
            <a:pPr algn="ctr"/>
            <a:r>
              <a:rPr sz="1000" b="1">
                <a:solidFill>
                  <a:srgbClr val="FFFFFF"/>
                </a:solidFill>
                <a:latin typeface="맑은 고딕"/>
              </a:rPr>
              <a:t>갤러해드의 서약</a:t>
            </a:r>
          </a:p>
        </p:txBody>
      </p:sp>
      <p:sp>
        <p:nvSpPr>
          <p:cNvPr id="53" name="Rectangle 52"/>
          <p:cNvSpPr/>
          <p:nvPr/>
        </p:nvSpPr>
        <p:spPr>
          <a:xfrm>
            <a:off x="7543800"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43800"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55" name="Rectangle 54"/>
          <p:cNvSpPr/>
          <p:nvPr/>
        </p:nvSpPr>
        <p:spPr>
          <a:xfrm>
            <a:off x="7543800"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35240" y="1883664"/>
            <a:ext cx="1874519" cy="1005840"/>
          </a:xfrm>
          <a:prstGeom prst="rect">
            <a:avLst/>
          </a:prstGeom>
          <a:noFill/>
        </p:spPr>
        <p:txBody>
          <a:bodyPr wrap="square">
            <a:spAutoFit/>
          </a:bodyPr>
          <a:lstStyle/>
          <a:p>
            <a:pPr algn="l"/>
            <a:r>
              <a:rPr sz="850" b="0">
                <a:solidFill>
                  <a:srgbClr val="FFFFFF"/>
                </a:solidFill>
                <a:latin typeface="맑은 고딕"/>
              </a:rPr>
              <a:t>10초마다 피해 1회 완전 무효</a:t>
            </a:r>
          </a:p>
        </p:txBody>
      </p:sp>
      <p:sp>
        <p:nvSpPr>
          <p:cNvPr id="57" name="Rectangle 56"/>
          <p:cNvSpPr/>
          <p:nvPr/>
        </p:nvSpPr>
        <p:spPr>
          <a:xfrm>
            <a:off x="7543800"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43800"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59" name="Rectangle 58"/>
          <p:cNvSpPr/>
          <p:nvPr/>
        </p:nvSpPr>
        <p:spPr>
          <a:xfrm>
            <a:off x="7543800"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35240" y="3438144"/>
            <a:ext cx="1874519" cy="1005840"/>
          </a:xfrm>
          <a:prstGeom prst="rect">
            <a:avLst/>
          </a:prstGeom>
          <a:noFill/>
        </p:spPr>
        <p:txBody>
          <a:bodyPr wrap="square">
            <a:spAutoFit/>
          </a:bodyPr>
          <a:lstStyle/>
          <a:p>
            <a:pPr algn="l"/>
            <a:r>
              <a:rPr sz="850" b="0">
                <a:solidFill>
                  <a:srgbClr val="FFFFFF"/>
                </a:solidFill>
                <a:latin typeface="맑은 고딕"/>
              </a:rPr>
              <a:t>쿨타임 7초</a:t>
            </a:r>
          </a:p>
        </p:txBody>
      </p:sp>
      <p:sp>
        <p:nvSpPr>
          <p:cNvPr id="61" name="Rectangle 60"/>
          <p:cNvSpPr/>
          <p:nvPr/>
        </p:nvSpPr>
        <p:spPr>
          <a:xfrm>
            <a:off x="7543800"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43800"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63" name="Rectangle 62"/>
          <p:cNvSpPr/>
          <p:nvPr/>
        </p:nvSpPr>
        <p:spPr>
          <a:xfrm>
            <a:off x="7543800"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35240" y="4992624"/>
            <a:ext cx="1874519" cy="1005840"/>
          </a:xfrm>
          <a:prstGeom prst="rect">
            <a:avLst/>
          </a:prstGeom>
          <a:noFill/>
        </p:spPr>
        <p:txBody>
          <a:bodyPr wrap="square">
            <a:spAutoFit/>
          </a:bodyPr>
          <a:lstStyle/>
          <a:p>
            <a:pPr algn="l"/>
            <a:r>
              <a:rPr sz="850" b="0">
                <a:solidFill>
                  <a:srgbClr val="FFFFFF"/>
                </a:solidFill>
                <a:latin typeface="맑은 고딕"/>
              </a:rPr>
              <a:t>무효 발동 직후 3초간 모든 공격에
신성 폭발 부가 (범위 피해)</a:t>
            </a:r>
          </a:p>
        </p:txBody>
      </p:sp>
      <p:sp>
        <p:nvSpPr>
          <p:cNvPr id="65" name="Rectangle 64"/>
          <p:cNvSpPr/>
          <p:nvPr/>
        </p:nvSpPr>
        <p:spPr>
          <a:xfrm>
            <a:off x="9829800" y="1005840"/>
            <a:ext cx="2240280" cy="548640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829800" y="1005840"/>
            <a:ext cx="224028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29800" y="1033271"/>
            <a:ext cx="2240280" cy="384048"/>
          </a:xfrm>
          <a:prstGeom prst="rect">
            <a:avLst/>
          </a:prstGeom>
          <a:noFill/>
        </p:spPr>
        <p:txBody>
          <a:bodyPr wrap="square">
            <a:spAutoFit/>
          </a:bodyPr>
          <a:lstStyle/>
          <a:p>
            <a:pPr algn="ctr"/>
            <a:r>
              <a:rPr sz="1000" b="1">
                <a:solidFill>
                  <a:srgbClr val="CC4444"/>
                </a:solidFill>
                <a:latin typeface="맑은 고딕"/>
              </a:rPr>
              <a:t>모드레드의 서약</a:t>
            </a:r>
          </a:p>
        </p:txBody>
      </p:sp>
      <p:sp>
        <p:nvSpPr>
          <p:cNvPr id="68" name="Rectangle 67"/>
          <p:cNvSpPr/>
          <p:nvPr/>
        </p:nvSpPr>
        <p:spPr>
          <a:xfrm>
            <a:off x="9921240" y="1536192"/>
            <a:ext cx="205740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21240" y="1554480"/>
            <a:ext cx="2057400" cy="219456"/>
          </a:xfrm>
          <a:prstGeom prst="rect">
            <a:avLst/>
          </a:prstGeom>
          <a:noFill/>
        </p:spPr>
        <p:txBody>
          <a:bodyPr wrap="square">
            <a:spAutoFit/>
          </a:bodyPr>
          <a:lstStyle/>
          <a:p>
            <a:pPr algn="ctr"/>
            <a:r>
              <a:rPr sz="900" b="1">
                <a:solidFill>
                  <a:srgbClr val="0D111A"/>
                </a:solidFill>
                <a:latin typeface="맑은 고딕"/>
              </a:rPr>
              <a:t>기본</a:t>
            </a:r>
          </a:p>
        </p:txBody>
      </p:sp>
      <p:sp>
        <p:nvSpPr>
          <p:cNvPr id="70" name="Rectangle 69"/>
          <p:cNvSpPr/>
          <p:nvPr/>
        </p:nvSpPr>
        <p:spPr>
          <a:xfrm>
            <a:off x="9921240" y="181051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012680" y="1883664"/>
            <a:ext cx="1874519" cy="1005840"/>
          </a:xfrm>
          <a:prstGeom prst="rect">
            <a:avLst/>
          </a:prstGeom>
          <a:noFill/>
        </p:spPr>
        <p:txBody>
          <a:bodyPr wrap="square">
            <a:spAutoFit/>
          </a:bodyPr>
          <a:lstStyle/>
          <a:p>
            <a:pPr algn="l"/>
            <a:r>
              <a:rPr sz="850" b="0">
                <a:solidFill>
                  <a:srgbClr val="FFFFFF"/>
                </a:solidFill>
                <a:latin typeface="맑은 고딕"/>
              </a:rPr>
              <a:t>공격력 +50%, 방어력 -30%</a:t>
            </a:r>
          </a:p>
        </p:txBody>
      </p:sp>
      <p:sp>
        <p:nvSpPr>
          <p:cNvPr id="72" name="Rectangle 71"/>
          <p:cNvSpPr/>
          <p:nvPr/>
        </p:nvSpPr>
        <p:spPr>
          <a:xfrm>
            <a:off x="9921240" y="3090672"/>
            <a:ext cx="205740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21240" y="3108960"/>
            <a:ext cx="2057400" cy="219456"/>
          </a:xfrm>
          <a:prstGeom prst="rect">
            <a:avLst/>
          </a:prstGeom>
          <a:noFill/>
        </p:spPr>
        <p:txBody>
          <a:bodyPr wrap="square">
            <a:spAutoFit/>
          </a:bodyPr>
          <a:lstStyle/>
          <a:p>
            <a:pPr algn="ctr"/>
            <a:r>
              <a:rPr sz="900" b="1">
                <a:solidFill>
                  <a:srgbClr val="0D111A"/>
                </a:solidFill>
                <a:latin typeface="맑은 고딕"/>
              </a:rPr>
              <a:t>강화</a:t>
            </a:r>
          </a:p>
        </p:txBody>
      </p:sp>
      <p:sp>
        <p:nvSpPr>
          <p:cNvPr id="74" name="Rectangle 73"/>
          <p:cNvSpPr/>
          <p:nvPr/>
        </p:nvSpPr>
        <p:spPr>
          <a:xfrm>
            <a:off x="9921240" y="3364991"/>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012680" y="3438144"/>
            <a:ext cx="1874519" cy="1005840"/>
          </a:xfrm>
          <a:prstGeom prst="rect">
            <a:avLst/>
          </a:prstGeom>
          <a:noFill/>
        </p:spPr>
        <p:txBody>
          <a:bodyPr wrap="square">
            <a:spAutoFit/>
          </a:bodyPr>
          <a:lstStyle/>
          <a:p>
            <a:pPr algn="l"/>
            <a:r>
              <a:rPr sz="850" b="0">
                <a:solidFill>
                  <a:srgbClr val="FFFFFF"/>
                </a:solidFill>
                <a:latin typeface="맑은 고딕"/>
              </a:rPr>
              <a:t>공격력 +70%, 방어력 -15%</a:t>
            </a:r>
          </a:p>
        </p:txBody>
      </p:sp>
      <p:sp>
        <p:nvSpPr>
          <p:cNvPr id="76" name="Rectangle 75"/>
          <p:cNvSpPr/>
          <p:nvPr/>
        </p:nvSpPr>
        <p:spPr>
          <a:xfrm>
            <a:off x="9921240" y="4645152"/>
            <a:ext cx="2057400" cy="2560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921240" y="4663440"/>
            <a:ext cx="2057400" cy="219456"/>
          </a:xfrm>
          <a:prstGeom prst="rect">
            <a:avLst/>
          </a:prstGeom>
          <a:noFill/>
        </p:spPr>
        <p:txBody>
          <a:bodyPr wrap="square">
            <a:spAutoFit/>
          </a:bodyPr>
          <a:lstStyle/>
          <a:p>
            <a:pPr algn="ctr"/>
            <a:r>
              <a:rPr sz="900" b="1">
                <a:solidFill>
                  <a:srgbClr val="0D111A"/>
                </a:solidFill>
                <a:latin typeface="맑은 고딕"/>
              </a:rPr>
              <a:t>진화</a:t>
            </a:r>
          </a:p>
        </p:txBody>
      </p:sp>
      <p:sp>
        <p:nvSpPr>
          <p:cNvPr id="78" name="Rectangle 77"/>
          <p:cNvSpPr/>
          <p:nvPr/>
        </p:nvSpPr>
        <p:spPr>
          <a:xfrm>
            <a:off x="9921240" y="4919472"/>
            <a:ext cx="2057400" cy="11887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012680" y="4992624"/>
            <a:ext cx="1874519" cy="1005840"/>
          </a:xfrm>
          <a:prstGeom prst="rect">
            <a:avLst/>
          </a:prstGeom>
          <a:noFill/>
        </p:spPr>
        <p:txBody>
          <a:bodyPr wrap="square">
            <a:spAutoFit/>
          </a:bodyPr>
          <a:lstStyle/>
          <a:p>
            <a:pPr algn="l"/>
            <a:r>
              <a:rPr sz="850" b="0">
                <a:solidFill>
                  <a:srgbClr val="FFFFFF"/>
                </a:solidFill>
                <a:latin typeface="맑은 고딕"/>
              </a:rPr>
              <a:t>처치 20마리 달성 시 방어력 패널티 제거,
공격력 +20% 추가 고정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서약 목록 — 켈트 신화 (4종) + 외부 신화 (3종)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2834640" cy="283464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60704"/>
            <a:ext cx="2834640" cy="274320"/>
          </a:xfrm>
          <a:prstGeom prst="rect">
            <a:avLst/>
          </a:prstGeom>
          <a:noFill/>
        </p:spPr>
        <p:txBody>
          <a:bodyPr wrap="square">
            <a:spAutoFit/>
          </a:bodyPr>
          <a:lstStyle/>
          <a:p>
            <a:pPr algn="ctr"/>
            <a:r>
              <a:rPr sz="1000" b="1">
                <a:solidFill>
                  <a:srgbClr val="4AC2B8"/>
                </a:solidFill>
                <a:latin typeface="맑은 고딕"/>
              </a:rPr>
              <a:t>모리건의 서약</a:t>
            </a:r>
          </a:p>
        </p:txBody>
      </p:sp>
      <p:sp>
        <p:nvSpPr>
          <p:cNvPr id="8" name="Rectangle 7"/>
          <p:cNvSpPr/>
          <p:nvPr/>
        </p:nvSpPr>
        <p:spPr>
          <a:xfrm>
            <a:off x="411479"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10" name="Rectangle 9"/>
          <p:cNvSpPr/>
          <p:nvPr/>
        </p:nvSpPr>
        <p:spPr>
          <a:xfrm>
            <a:off x="411479"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1691640"/>
            <a:ext cx="2505456" cy="457200"/>
          </a:xfrm>
          <a:prstGeom prst="rect">
            <a:avLst/>
          </a:prstGeom>
          <a:noFill/>
        </p:spPr>
        <p:txBody>
          <a:bodyPr wrap="square">
            <a:spAutoFit/>
          </a:bodyPr>
          <a:lstStyle/>
          <a:p>
            <a:pPr algn="l"/>
            <a:r>
              <a:rPr sz="800" b="0">
                <a:solidFill>
                  <a:srgbClr val="FFFFFF"/>
                </a:solidFill>
                <a:latin typeface="맑은 고딕"/>
              </a:rPr>
              <a:t>처치마다 공격속도 +2%
(최대 10중첩, 방 이동 시 초기화)</a:t>
            </a:r>
          </a:p>
        </p:txBody>
      </p:sp>
      <p:sp>
        <p:nvSpPr>
          <p:cNvPr id="12" name="Rectangle 11"/>
          <p:cNvSpPr/>
          <p:nvPr/>
        </p:nvSpPr>
        <p:spPr>
          <a:xfrm>
            <a:off x="411479"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14" name="Rectangle 13"/>
          <p:cNvSpPr/>
          <p:nvPr/>
        </p:nvSpPr>
        <p:spPr>
          <a:xfrm>
            <a:off x="411479"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 y="2459736"/>
            <a:ext cx="2505456" cy="457200"/>
          </a:xfrm>
          <a:prstGeom prst="rect">
            <a:avLst/>
          </a:prstGeom>
          <a:noFill/>
        </p:spPr>
        <p:txBody>
          <a:bodyPr wrap="square">
            <a:spAutoFit/>
          </a:bodyPr>
          <a:lstStyle/>
          <a:p>
            <a:pPr algn="l"/>
            <a:r>
              <a:rPr sz="800" b="0">
                <a:solidFill>
                  <a:srgbClr val="FFFFFF"/>
                </a:solidFill>
                <a:latin typeface="맑은 고딕"/>
              </a:rPr>
              <a:t>+3%, 최대 15중첩</a:t>
            </a:r>
          </a:p>
        </p:txBody>
      </p:sp>
      <p:sp>
        <p:nvSpPr>
          <p:cNvPr id="16" name="Rectangle 15"/>
          <p:cNvSpPr/>
          <p:nvPr/>
        </p:nvSpPr>
        <p:spPr>
          <a:xfrm>
            <a:off x="411479"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18" name="Rectangle 17"/>
          <p:cNvSpPr/>
          <p:nvPr/>
        </p:nvSpPr>
        <p:spPr>
          <a:xfrm>
            <a:off x="411479"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3227832"/>
            <a:ext cx="2505456" cy="457200"/>
          </a:xfrm>
          <a:prstGeom prst="rect">
            <a:avLst/>
          </a:prstGeom>
          <a:noFill/>
        </p:spPr>
        <p:txBody>
          <a:bodyPr wrap="square">
            <a:spAutoFit/>
          </a:bodyPr>
          <a:lstStyle/>
          <a:p>
            <a:pPr algn="l"/>
            <a:r>
              <a:rPr sz="800" b="0">
                <a:solidFill>
                  <a:srgbClr val="FFFFFF"/>
                </a:solidFill>
                <a:latin typeface="맑은 고딕"/>
              </a:rPr>
              <a:t>10중첩 달성 시 영구 유지
중첩마다 처치 시 폭발 발생</a:t>
            </a:r>
          </a:p>
        </p:txBody>
      </p:sp>
      <p:sp>
        <p:nvSpPr>
          <p:cNvPr id="20" name="Rectangle 19"/>
          <p:cNvSpPr/>
          <p:nvPr/>
        </p:nvSpPr>
        <p:spPr>
          <a:xfrm>
            <a:off x="3291840" y="1005840"/>
            <a:ext cx="2834640" cy="283464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918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1060704"/>
            <a:ext cx="2834640" cy="274320"/>
          </a:xfrm>
          <a:prstGeom prst="rect">
            <a:avLst/>
          </a:prstGeom>
          <a:noFill/>
        </p:spPr>
        <p:txBody>
          <a:bodyPr wrap="square">
            <a:spAutoFit/>
          </a:bodyPr>
          <a:lstStyle/>
          <a:p>
            <a:pPr algn="ctr"/>
            <a:r>
              <a:rPr sz="1000" b="1">
                <a:solidFill>
                  <a:srgbClr val="CC4444"/>
                </a:solidFill>
                <a:latin typeface="맑은 고딕"/>
              </a:rPr>
              <a:t>쿠훌린의 서약</a:t>
            </a:r>
          </a:p>
        </p:txBody>
      </p:sp>
      <p:sp>
        <p:nvSpPr>
          <p:cNvPr id="23" name="Rectangle 22"/>
          <p:cNvSpPr/>
          <p:nvPr/>
        </p:nvSpPr>
        <p:spPr>
          <a:xfrm>
            <a:off x="3383280"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25" name="Rectangle 24"/>
          <p:cNvSpPr/>
          <p:nvPr/>
        </p:nvSpPr>
        <p:spPr>
          <a:xfrm>
            <a:off x="3383280"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56432" y="1691640"/>
            <a:ext cx="2505456" cy="457200"/>
          </a:xfrm>
          <a:prstGeom prst="rect">
            <a:avLst/>
          </a:prstGeom>
          <a:noFill/>
        </p:spPr>
        <p:txBody>
          <a:bodyPr wrap="square">
            <a:spAutoFit/>
          </a:bodyPr>
          <a:lstStyle/>
          <a:p>
            <a:pPr algn="l"/>
            <a:r>
              <a:rPr sz="800" b="0">
                <a:solidFill>
                  <a:srgbClr val="FFFFFF"/>
                </a:solidFill>
                <a:latin typeface="맑은 고딕"/>
              </a:rPr>
              <a:t>HP 50% 이하 게시: 피해 +60%,
방어력 -40%</a:t>
            </a:r>
          </a:p>
        </p:txBody>
      </p:sp>
      <p:sp>
        <p:nvSpPr>
          <p:cNvPr id="27" name="Rectangle 26"/>
          <p:cNvSpPr/>
          <p:nvPr/>
        </p:nvSpPr>
        <p:spPr>
          <a:xfrm>
            <a:off x="3383280"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29" name="Rectangle 28"/>
          <p:cNvSpPr/>
          <p:nvPr/>
        </p:nvSpPr>
        <p:spPr>
          <a:xfrm>
            <a:off x="3383280"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6432" y="2459736"/>
            <a:ext cx="2505456" cy="457200"/>
          </a:xfrm>
          <a:prstGeom prst="rect">
            <a:avLst/>
          </a:prstGeom>
          <a:noFill/>
        </p:spPr>
        <p:txBody>
          <a:bodyPr wrap="square">
            <a:spAutoFit/>
          </a:bodyPr>
          <a:lstStyle/>
          <a:p>
            <a:pPr algn="l"/>
            <a:r>
              <a:rPr sz="800" b="0">
                <a:solidFill>
                  <a:srgbClr val="FFFFFF"/>
                </a:solidFill>
                <a:latin typeface="맑은 고딕"/>
              </a:rPr>
              <a:t>발동 HP 65%, 피해 +80%</a:t>
            </a:r>
          </a:p>
        </p:txBody>
      </p:sp>
      <p:sp>
        <p:nvSpPr>
          <p:cNvPr id="31" name="Rectangle 30"/>
          <p:cNvSpPr/>
          <p:nvPr/>
        </p:nvSpPr>
        <p:spPr>
          <a:xfrm>
            <a:off x="3383280"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33" name="Rectangle 32"/>
          <p:cNvSpPr/>
          <p:nvPr/>
        </p:nvSpPr>
        <p:spPr>
          <a:xfrm>
            <a:off x="3383280"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6432" y="3227832"/>
            <a:ext cx="2505456" cy="457200"/>
          </a:xfrm>
          <a:prstGeom prst="rect">
            <a:avLst/>
          </a:prstGeom>
          <a:noFill/>
        </p:spPr>
        <p:txBody>
          <a:bodyPr wrap="square">
            <a:spAutoFit/>
          </a:bodyPr>
          <a:lstStyle/>
          <a:p>
            <a:pPr algn="l"/>
            <a:r>
              <a:rPr sz="800" b="0">
                <a:solidFill>
                  <a:srgbClr val="FFFFFF"/>
                </a:solidFill>
                <a:latin typeface="맑은 고딕"/>
              </a:rPr>
              <a:t>게시 중 처치 시 HP 2% 회복
+ 게시 지속 연장 (사실상 무한)</a:t>
            </a:r>
          </a:p>
        </p:txBody>
      </p:sp>
      <p:sp>
        <p:nvSpPr>
          <p:cNvPr id="35" name="Rectangle 34"/>
          <p:cNvSpPr/>
          <p:nvPr/>
        </p:nvSpPr>
        <p:spPr>
          <a:xfrm>
            <a:off x="6263640" y="1005840"/>
            <a:ext cx="2834640" cy="283464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1060704"/>
            <a:ext cx="2834640" cy="274320"/>
          </a:xfrm>
          <a:prstGeom prst="rect">
            <a:avLst/>
          </a:prstGeom>
          <a:noFill/>
        </p:spPr>
        <p:txBody>
          <a:bodyPr wrap="square">
            <a:spAutoFit/>
          </a:bodyPr>
          <a:lstStyle/>
          <a:p>
            <a:pPr algn="ctr"/>
            <a:r>
              <a:rPr sz="1000" b="1">
                <a:solidFill>
                  <a:srgbClr val="C9A84C"/>
                </a:solidFill>
                <a:latin typeface="맑은 고딕"/>
              </a:rPr>
              <a:t>루의 서약</a:t>
            </a:r>
          </a:p>
        </p:txBody>
      </p:sp>
      <p:sp>
        <p:nvSpPr>
          <p:cNvPr id="38" name="Rectangle 37"/>
          <p:cNvSpPr/>
          <p:nvPr/>
        </p:nvSpPr>
        <p:spPr>
          <a:xfrm>
            <a:off x="6355079"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79"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40" name="Rectangle 39"/>
          <p:cNvSpPr/>
          <p:nvPr/>
        </p:nvSpPr>
        <p:spPr>
          <a:xfrm>
            <a:off x="6355079"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8231" y="1691640"/>
            <a:ext cx="2505456" cy="457200"/>
          </a:xfrm>
          <a:prstGeom prst="rect">
            <a:avLst/>
          </a:prstGeom>
          <a:noFill/>
        </p:spPr>
        <p:txBody>
          <a:bodyPr wrap="square">
            <a:spAutoFit/>
          </a:bodyPr>
          <a:lstStyle/>
          <a:p>
            <a:pPr algn="l"/>
            <a:r>
              <a:rPr sz="800" b="0">
                <a:solidFill>
                  <a:srgbClr val="FFFFFF"/>
                </a:solidFill>
                <a:latin typeface="맑은 고딕"/>
              </a:rPr>
              <a:t>방 입장마다 무작위 스탯 1종
+15% (방 종료 시 소멸)</a:t>
            </a:r>
          </a:p>
        </p:txBody>
      </p:sp>
      <p:sp>
        <p:nvSpPr>
          <p:cNvPr id="42" name="Rectangle 41"/>
          <p:cNvSpPr/>
          <p:nvPr/>
        </p:nvSpPr>
        <p:spPr>
          <a:xfrm>
            <a:off x="6355079"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79"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44" name="Rectangle 43"/>
          <p:cNvSpPr/>
          <p:nvPr/>
        </p:nvSpPr>
        <p:spPr>
          <a:xfrm>
            <a:off x="6355079"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28231" y="2459736"/>
            <a:ext cx="2505456" cy="457200"/>
          </a:xfrm>
          <a:prstGeom prst="rect">
            <a:avLst/>
          </a:prstGeom>
          <a:noFill/>
        </p:spPr>
        <p:txBody>
          <a:bodyPr wrap="square">
            <a:spAutoFit/>
          </a:bodyPr>
          <a:lstStyle/>
          <a:p>
            <a:pPr algn="l"/>
            <a:r>
              <a:rPr sz="800" b="0">
                <a:solidFill>
                  <a:srgbClr val="FFFFFF"/>
                </a:solidFill>
                <a:latin typeface="맑은 고딕"/>
              </a:rPr>
              <a:t>+25%, 2종 동시</a:t>
            </a:r>
          </a:p>
        </p:txBody>
      </p:sp>
      <p:sp>
        <p:nvSpPr>
          <p:cNvPr id="46" name="Rectangle 45"/>
          <p:cNvSpPr/>
          <p:nvPr/>
        </p:nvSpPr>
        <p:spPr>
          <a:xfrm>
            <a:off x="6355079"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79"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48" name="Rectangle 47"/>
          <p:cNvSpPr/>
          <p:nvPr/>
        </p:nvSpPr>
        <p:spPr>
          <a:xfrm>
            <a:off x="6355079"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28231" y="3227832"/>
            <a:ext cx="2505456" cy="457200"/>
          </a:xfrm>
          <a:prstGeom prst="rect">
            <a:avLst/>
          </a:prstGeom>
          <a:noFill/>
        </p:spPr>
        <p:txBody>
          <a:bodyPr wrap="square">
            <a:spAutoFit/>
          </a:bodyPr>
          <a:lstStyle/>
          <a:p>
            <a:pPr algn="l"/>
            <a:r>
              <a:rPr sz="800" b="0">
                <a:solidFill>
                  <a:srgbClr val="FFFFFF"/>
                </a:solidFill>
                <a:latin typeface="맑은 고딕"/>
              </a:rPr>
              <a:t>방마다 획득한 스탯 버프가
소멸하지 않고 런 내 영구 누적</a:t>
            </a:r>
          </a:p>
        </p:txBody>
      </p:sp>
      <p:sp>
        <p:nvSpPr>
          <p:cNvPr id="50" name="Rectangle 49"/>
          <p:cNvSpPr/>
          <p:nvPr/>
        </p:nvSpPr>
        <p:spPr>
          <a:xfrm>
            <a:off x="9235440" y="1005840"/>
            <a:ext cx="2834640" cy="283464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235440" y="100584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35440" y="1060704"/>
            <a:ext cx="2834640" cy="274320"/>
          </a:xfrm>
          <a:prstGeom prst="rect">
            <a:avLst/>
          </a:prstGeom>
          <a:noFill/>
        </p:spPr>
        <p:txBody>
          <a:bodyPr wrap="square">
            <a:spAutoFit/>
          </a:bodyPr>
          <a:lstStyle/>
          <a:p>
            <a:pPr algn="ctr"/>
            <a:r>
              <a:rPr sz="1000" b="1">
                <a:solidFill>
                  <a:srgbClr val="6B3F8E"/>
                </a:solidFill>
                <a:latin typeface="맑은 고딕"/>
              </a:rPr>
              <a:t>발로르의 서약</a:t>
            </a:r>
          </a:p>
        </p:txBody>
      </p:sp>
      <p:sp>
        <p:nvSpPr>
          <p:cNvPr id="53" name="Rectangle 52"/>
          <p:cNvSpPr/>
          <p:nvPr/>
        </p:nvSpPr>
        <p:spPr>
          <a:xfrm>
            <a:off x="9326880" y="146304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6880" y="147218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55" name="Rectangle 54"/>
          <p:cNvSpPr/>
          <p:nvPr/>
        </p:nvSpPr>
        <p:spPr>
          <a:xfrm>
            <a:off x="9326880" y="166420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00032" y="1691640"/>
            <a:ext cx="2505456" cy="457200"/>
          </a:xfrm>
          <a:prstGeom prst="rect">
            <a:avLst/>
          </a:prstGeom>
          <a:noFill/>
        </p:spPr>
        <p:txBody>
          <a:bodyPr wrap="square">
            <a:spAutoFit/>
          </a:bodyPr>
          <a:lstStyle/>
          <a:p>
            <a:pPr algn="l"/>
            <a:r>
              <a:rPr sz="800" b="0">
                <a:solidFill>
                  <a:srgbClr val="FFFFFF"/>
                </a:solidFill>
                <a:latin typeface="맑은 고딕"/>
              </a:rPr>
              <a:t>8초마다 전방 관통 시선 발동
(고정 피해)</a:t>
            </a:r>
          </a:p>
        </p:txBody>
      </p:sp>
      <p:sp>
        <p:nvSpPr>
          <p:cNvPr id="57" name="Rectangle 56"/>
          <p:cNvSpPr/>
          <p:nvPr/>
        </p:nvSpPr>
        <p:spPr>
          <a:xfrm>
            <a:off x="9326880" y="223113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326880" y="2240279"/>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59" name="Rectangle 58"/>
          <p:cNvSpPr/>
          <p:nvPr/>
        </p:nvSpPr>
        <p:spPr>
          <a:xfrm>
            <a:off x="9326880" y="243230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400032" y="2459736"/>
            <a:ext cx="2505456" cy="457200"/>
          </a:xfrm>
          <a:prstGeom prst="rect">
            <a:avLst/>
          </a:prstGeom>
          <a:noFill/>
        </p:spPr>
        <p:txBody>
          <a:bodyPr wrap="square">
            <a:spAutoFit/>
          </a:bodyPr>
          <a:lstStyle/>
          <a:p>
            <a:pPr algn="l"/>
            <a:r>
              <a:rPr sz="800" b="0">
                <a:solidFill>
                  <a:srgbClr val="FFFFFF"/>
                </a:solidFill>
                <a:latin typeface="맑은 고딕"/>
              </a:rPr>
              <a:t>쿨타임 5초, 피해 +50%</a:t>
            </a:r>
          </a:p>
        </p:txBody>
      </p:sp>
      <p:sp>
        <p:nvSpPr>
          <p:cNvPr id="61" name="Rectangle 60"/>
          <p:cNvSpPr/>
          <p:nvPr/>
        </p:nvSpPr>
        <p:spPr>
          <a:xfrm>
            <a:off x="9326880" y="299923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26880" y="300837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63" name="Rectangle 62"/>
          <p:cNvSpPr/>
          <p:nvPr/>
        </p:nvSpPr>
        <p:spPr>
          <a:xfrm>
            <a:off x="9326880" y="320040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400032" y="3227832"/>
            <a:ext cx="2505456" cy="457200"/>
          </a:xfrm>
          <a:prstGeom prst="rect">
            <a:avLst/>
          </a:prstGeom>
          <a:noFill/>
        </p:spPr>
        <p:txBody>
          <a:bodyPr wrap="square">
            <a:spAutoFit/>
          </a:bodyPr>
          <a:lstStyle/>
          <a:p>
            <a:pPr algn="l"/>
            <a:r>
              <a:rPr sz="800" b="0">
                <a:solidFill>
                  <a:srgbClr val="FFFFFF"/>
                </a:solidFill>
                <a:latin typeface="맑은 고딕"/>
              </a:rPr>
              <a:t>시선 적중 적에게 저주 부여
→ 처치 시 연쇄 폭발로 전파</a:t>
            </a:r>
          </a:p>
        </p:txBody>
      </p:sp>
      <p:sp>
        <p:nvSpPr>
          <p:cNvPr id="65" name="Rectangle 64"/>
          <p:cNvSpPr/>
          <p:nvPr/>
        </p:nvSpPr>
        <p:spPr>
          <a:xfrm>
            <a:off x="320040" y="4023360"/>
            <a:ext cx="2834640" cy="2834640"/>
          </a:xfrm>
          <a:prstGeom prst="rect">
            <a:avLst/>
          </a:prstGeom>
          <a:solidFill>
            <a:srgbClr val="161B2E"/>
          </a:solidFill>
          <a:ln w="15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20040" y="402336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4078224"/>
            <a:ext cx="2834640" cy="274320"/>
          </a:xfrm>
          <a:prstGeom prst="rect">
            <a:avLst/>
          </a:prstGeom>
          <a:noFill/>
        </p:spPr>
        <p:txBody>
          <a:bodyPr wrap="square">
            <a:spAutoFit/>
          </a:bodyPr>
          <a:lstStyle/>
          <a:p>
            <a:pPr algn="ctr"/>
            <a:r>
              <a:rPr sz="1000" b="1">
                <a:solidFill>
                  <a:srgbClr val="FFB840"/>
                </a:solidFill>
                <a:latin typeface="맑은 고딕"/>
              </a:rPr>
              <a:t>헤카테의 서약</a:t>
            </a:r>
          </a:p>
        </p:txBody>
      </p:sp>
      <p:sp>
        <p:nvSpPr>
          <p:cNvPr id="68" name="Rectangle 67"/>
          <p:cNvSpPr/>
          <p:nvPr/>
        </p:nvSpPr>
        <p:spPr>
          <a:xfrm>
            <a:off x="411479" y="448056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11479" y="448970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70" name="Rectangle 69"/>
          <p:cNvSpPr/>
          <p:nvPr/>
        </p:nvSpPr>
        <p:spPr>
          <a:xfrm>
            <a:off x="411479" y="468172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84632" y="4709160"/>
            <a:ext cx="2505456" cy="457200"/>
          </a:xfrm>
          <a:prstGeom prst="rect">
            <a:avLst/>
          </a:prstGeom>
          <a:noFill/>
        </p:spPr>
        <p:txBody>
          <a:bodyPr wrap="square">
            <a:spAutoFit/>
          </a:bodyPr>
          <a:lstStyle/>
          <a:p>
            <a:pPr algn="l"/>
            <a:r>
              <a:rPr sz="800" b="0">
                <a:solidFill>
                  <a:srgbClr val="FFFFFF"/>
                </a:solidFill>
                <a:latin typeface="맑은 고딕"/>
              </a:rPr>
              <a:t>스킬 사용 시 3가지 효과 중
무작위 1개 추가 발동</a:t>
            </a:r>
          </a:p>
        </p:txBody>
      </p:sp>
      <p:sp>
        <p:nvSpPr>
          <p:cNvPr id="72" name="Rectangle 71"/>
          <p:cNvSpPr/>
          <p:nvPr/>
        </p:nvSpPr>
        <p:spPr>
          <a:xfrm>
            <a:off x="411479" y="524865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11479" y="5257800"/>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74" name="Rectangle 73"/>
          <p:cNvSpPr/>
          <p:nvPr/>
        </p:nvSpPr>
        <p:spPr>
          <a:xfrm>
            <a:off x="411479" y="544982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84632" y="5477256"/>
            <a:ext cx="2505456" cy="457200"/>
          </a:xfrm>
          <a:prstGeom prst="rect">
            <a:avLst/>
          </a:prstGeom>
          <a:noFill/>
        </p:spPr>
        <p:txBody>
          <a:bodyPr wrap="square">
            <a:spAutoFit/>
          </a:bodyPr>
          <a:lstStyle/>
          <a:p>
            <a:pPr algn="l"/>
            <a:r>
              <a:rPr sz="800" b="0">
                <a:solidFill>
                  <a:srgbClr val="FFFFFF"/>
                </a:solidFill>
                <a:latin typeface="맑은 고딕"/>
              </a:rPr>
              <a:t>2개 동시 발동</a:t>
            </a:r>
          </a:p>
        </p:txBody>
      </p:sp>
      <p:sp>
        <p:nvSpPr>
          <p:cNvPr id="76" name="Rectangle 75"/>
          <p:cNvSpPr/>
          <p:nvPr/>
        </p:nvSpPr>
        <p:spPr>
          <a:xfrm>
            <a:off x="411479" y="601675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1479" y="602589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78" name="Rectangle 77"/>
          <p:cNvSpPr/>
          <p:nvPr/>
        </p:nvSpPr>
        <p:spPr>
          <a:xfrm>
            <a:off x="411479" y="621792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84632" y="6245352"/>
            <a:ext cx="2505456" cy="457200"/>
          </a:xfrm>
          <a:prstGeom prst="rect">
            <a:avLst/>
          </a:prstGeom>
          <a:noFill/>
        </p:spPr>
        <p:txBody>
          <a:bodyPr wrap="square">
            <a:spAutoFit/>
          </a:bodyPr>
          <a:lstStyle/>
          <a:p>
            <a:pPr algn="l"/>
            <a:r>
              <a:rPr sz="800" b="0">
                <a:solidFill>
                  <a:srgbClr val="FFFFFF"/>
                </a:solidFill>
                <a:latin typeface="맑은 고딕"/>
              </a:rPr>
              <a:t>3가지 전부 동시 발동
대신 스킬 쿨타임 +30%</a:t>
            </a:r>
          </a:p>
        </p:txBody>
      </p:sp>
      <p:sp>
        <p:nvSpPr>
          <p:cNvPr id="80" name="Rectangle 79"/>
          <p:cNvSpPr/>
          <p:nvPr/>
        </p:nvSpPr>
        <p:spPr>
          <a:xfrm>
            <a:off x="3291840" y="4023360"/>
            <a:ext cx="2834640" cy="283464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291840" y="402336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291840" y="4078224"/>
            <a:ext cx="2834640" cy="274320"/>
          </a:xfrm>
          <a:prstGeom prst="rect">
            <a:avLst/>
          </a:prstGeom>
          <a:noFill/>
        </p:spPr>
        <p:txBody>
          <a:bodyPr wrap="square">
            <a:spAutoFit/>
          </a:bodyPr>
          <a:lstStyle/>
          <a:p>
            <a:pPr algn="ctr"/>
            <a:r>
              <a:rPr sz="1000" b="1">
                <a:solidFill>
                  <a:srgbClr val="4AC2B8"/>
                </a:solidFill>
                <a:latin typeface="맑은 고딕"/>
              </a:rPr>
              <a:t>솔로몬의 서약</a:t>
            </a:r>
          </a:p>
        </p:txBody>
      </p:sp>
      <p:sp>
        <p:nvSpPr>
          <p:cNvPr id="83" name="Rectangle 82"/>
          <p:cNvSpPr/>
          <p:nvPr/>
        </p:nvSpPr>
        <p:spPr>
          <a:xfrm>
            <a:off x="3383280" y="448056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383280" y="448970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85" name="Rectangle 84"/>
          <p:cNvSpPr/>
          <p:nvPr/>
        </p:nvSpPr>
        <p:spPr>
          <a:xfrm>
            <a:off x="3383280" y="468172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456432" y="4709160"/>
            <a:ext cx="2505456" cy="457200"/>
          </a:xfrm>
          <a:prstGeom prst="rect">
            <a:avLst/>
          </a:prstGeom>
          <a:noFill/>
        </p:spPr>
        <p:txBody>
          <a:bodyPr wrap="square">
            <a:spAutoFit/>
          </a:bodyPr>
          <a:lstStyle/>
          <a:p>
            <a:pPr algn="l"/>
            <a:r>
              <a:rPr sz="800" b="0">
                <a:solidFill>
                  <a:srgbClr val="FFFFFF"/>
                </a:solidFill>
                <a:latin typeface="맑은 고딕"/>
              </a:rPr>
              <a:t>처치 시 25% 확률로
유령 소환 (10초, 자동 공격)</a:t>
            </a:r>
          </a:p>
        </p:txBody>
      </p:sp>
      <p:sp>
        <p:nvSpPr>
          <p:cNvPr id="87" name="Rectangle 86"/>
          <p:cNvSpPr/>
          <p:nvPr/>
        </p:nvSpPr>
        <p:spPr>
          <a:xfrm>
            <a:off x="3383280" y="524865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383280" y="5257800"/>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89" name="Rectangle 88"/>
          <p:cNvSpPr/>
          <p:nvPr/>
        </p:nvSpPr>
        <p:spPr>
          <a:xfrm>
            <a:off x="3383280" y="544982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56432" y="5477256"/>
            <a:ext cx="2505456" cy="457200"/>
          </a:xfrm>
          <a:prstGeom prst="rect">
            <a:avLst/>
          </a:prstGeom>
          <a:noFill/>
        </p:spPr>
        <p:txBody>
          <a:bodyPr wrap="square">
            <a:spAutoFit/>
          </a:bodyPr>
          <a:lstStyle/>
          <a:p>
            <a:pPr algn="l"/>
            <a:r>
              <a:rPr sz="800" b="0">
                <a:solidFill>
                  <a:srgbClr val="FFFFFF"/>
                </a:solidFill>
                <a:latin typeface="맑은 고딕"/>
              </a:rPr>
              <a:t>확률 45%, 최대 2기 동시</a:t>
            </a:r>
          </a:p>
        </p:txBody>
      </p:sp>
      <p:sp>
        <p:nvSpPr>
          <p:cNvPr id="91" name="Rectangle 90"/>
          <p:cNvSpPr/>
          <p:nvPr/>
        </p:nvSpPr>
        <p:spPr>
          <a:xfrm>
            <a:off x="3383280" y="601675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383280" y="602589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93" name="Rectangle 92"/>
          <p:cNvSpPr/>
          <p:nvPr/>
        </p:nvSpPr>
        <p:spPr>
          <a:xfrm>
            <a:off x="3383280" y="621792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456432" y="6245352"/>
            <a:ext cx="2505456" cy="457200"/>
          </a:xfrm>
          <a:prstGeom prst="rect">
            <a:avLst/>
          </a:prstGeom>
          <a:noFill/>
        </p:spPr>
        <p:txBody>
          <a:bodyPr wrap="square">
            <a:spAutoFit/>
          </a:bodyPr>
          <a:lstStyle/>
          <a:p>
            <a:pPr algn="l"/>
            <a:r>
              <a:rPr sz="800" b="0">
                <a:solidFill>
                  <a:srgbClr val="FFFFFF"/>
                </a:solidFill>
                <a:latin typeface="맑은 고딕"/>
              </a:rPr>
              <a:t>소환 유령이 처치한 적도 유령 소환
연쇄, 최대 5기</a:t>
            </a:r>
          </a:p>
        </p:txBody>
      </p:sp>
      <p:sp>
        <p:nvSpPr>
          <p:cNvPr id="95" name="Rectangle 94"/>
          <p:cNvSpPr/>
          <p:nvPr/>
        </p:nvSpPr>
        <p:spPr>
          <a:xfrm>
            <a:off x="6263640" y="4023360"/>
            <a:ext cx="2834640" cy="2834640"/>
          </a:xfrm>
          <a:prstGeom prst="rect">
            <a:avLst/>
          </a:prstGeom>
          <a:solidFill>
            <a:srgbClr val="161B2E"/>
          </a:solidFill>
          <a:ln w="15000">
            <a:solidFill>
              <a:srgbClr val="FF7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263640" y="4023360"/>
            <a:ext cx="283464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263640" y="4078224"/>
            <a:ext cx="2834640" cy="274320"/>
          </a:xfrm>
          <a:prstGeom prst="rect">
            <a:avLst/>
          </a:prstGeom>
          <a:noFill/>
        </p:spPr>
        <p:txBody>
          <a:bodyPr wrap="square">
            <a:spAutoFit/>
          </a:bodyPr>
          <a:lstStyle/>
          <a:p>
            <a:pPr algn="ctr"/>
            <a:r>
              <a:rPr sz="1000" b="1">
                <a:solidFill>
                  <a:srgbClr val="FF7020"/>
                </a:solidFill>
                <a:latin typeface="맑은 고딕"/>
              </a:rPr>
              <a:t>프로메테우스의 서약</a:t>
            </a:r>
          </a:p>
        </p:txBody>
      </p:sp>
      <p:sp>
        <p:nvSpPr>
          <p:cNvPr id="98" name="Rectangle 97"/>
          <p:cNvSpPr/>
          <p:nvPr/>
        </p:nvSpPr>
        <p:spPr>
          <a:xfrm>
            <a:off x="6355079" y="4480560"/>
            <a:ext cx="2651760" cy="20116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55079" y="4489704"/>
            <a:ext cx="2651760" cy="182880"/>
          </a:xfrm>
          <a:prstGeom prst="rect">
            <a:avLst/>
          </a:prstGeom>
          <a:noFill/>
        </p:spPr>
        <p:txBody>
          <a:bodyPr wrap="square">
            <a:spAutoFit/>
          </a:bodyPr>
          <a:lstStyle/>
          <a:p>
            <a:pPr algn="ctr"/>
            <a:r>
              <a:rPr sz="850" b="1">
                <a:solidFill>
                  <a:srgbClr val="0D111A"/>
                </a:solidFill>
                <a:latin typeface="맑은 고딕"/>
              </a:rPr>
              <a:t>기본</a:t>
            </a:r>
          </a:p>
        </p:txBody>
      </p:sp>
      <p:sp>
        <p:nvSpPr>
          <p:cNvPr id="100" name="Rectangle 99"/>
          <p:cNvSpPr/>
          <p:nvPr/>
        </p:nvSpPr>
        <p:spPr>
          <a:xfrm>
            <a:off x="6355079" y="4681728"/>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428231" y="4709160"/>
            <a:ext cx="2505456" cy="457200"/>
          </a:xfrm>
          <a:prstGeom prst="rect">
            <a:avLst/>
          </a:prstGeom>
          <a:noFill/>
        </p:spPr>
        <p:txBody>
          <a:bodyPr wrap="square">
            <a:spAutoFit/>
          </a:bodyPr>
          <a:lstStyle/>
          <a:p>
            <a:pPr algn="l"/>
            <a:r>
              <a:rPr sz="800" b="0">
                <a:solidFill>
                  <a:srgbClr val="FFFFFF"/>
                </a:solidFill>
                <a:latin typeface="맑은 고딕"/>
              </a:rPr>
              <a:t>스킬 쿨타임 -40%
사용마다 최대 체력 2% 소모</a:t>
            </a:r>
          </a:p>
        </p:txBody>
      </p:sp>
      <p:sp>
        <p:nvSpPr>
          <p:cNvPr id="102" name="Rectangle 101"/>
          <p:cNvSpPr/>
          <p:nvPr/>
        </p:nvSpPr>
        <p:spPr>
          <a:xfrm>
            <a:off x="6355079" y="5248656"/>
            <a:ext cx="265176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55079" y="5257800"/>
            <a:ext cx="2651760" cy="182880"/>
          </a:xfrm>
          <a:prstGeom prst="rect">
            <a:avLst/>
          </a:prstGeom>
          <a:noFill/>
        </p:spPr>
        <p:txBody>
          <a:bodyPr wrap="square">
            <a:spAutoFit/>
          </a:bodyPr>
          <a:lstStyle/>
          <a:p>
            <a:pPr algn="ctr"/>
            <a:r>
              <a:rPr sz="850" b="1">
                <a:solidFill>
                  <a:srgbClr val="0D111A"/>
                </a:solidFill>
                <a:latin typeface="맑은 고딕"/>
              </a:rPr>
              <a:t>강화</a:t>
            </a:r>
          </a:p>
        </p:txBody>
      </p:sp>
      <p:sp>
        <p:nvSpPr>
          <p:cNvPr id="104" name="Rectangle 103"/>
          <p:cNvSpPr/>
          <p:nvPr/>
        </p:nvSpPr>
        <p:spPr>
          <a:xfrm>
            <a:off x="6355079" y="5449824"/>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428231" y="5477256"/>
            <a:ext cx="2505456" cy="457200"/>
          </a:xfrm>
          <a:prstGeom prst="rect">
            <a:avLst/>
          </a:prstGeom>
          <a:noFill/>
        </p:spPr>
        <p:txBody>
          <a:bodyPr wrap="square">
            <a:spAutoFit/>
          </a:bodyPr>
          <a:lstStyle/>
          <a:p>
            <a:pPr algn="l"/>
            <a:r>
              <a:rPr sz="800" b="0">
                <a:solidFill>
                  <a:srgbClr val="FFFFFF"/>
                </a:solidFill>
                <a:latin typeface="맑은 고딕"/>
              </a:rPr>
              <a:t>쿨타임 -55%, 소모 1.5%</a:t>
            </a:r>
          </a:p>
        </p:txBody>
      </p:sp>
      <p:sp>
        <p:nvSpPr>
          <p:cNvPr id="106" name="Rectangle 105"/>
          <p:cNvSpPr/>
          <p:nvPr/>
        </p:nvSpPr>
        <p:spPr>
          <a:xfrm>
            <a:off x="6355079" y="6016752"/>
            <a:ext cx="2651760" cy="20116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355079" y="6025896"/>
            <a:ext cx="2651760" cy="182880"/>
          </a:xfrm>
          <a:prstGeom prst="rect">
            <a:avLst/>
          </a:prstGeom>
          <a:noFill/>
        </p:spPr>
        <p:txBody>
          <a:bodyPr wrap="square">
            <a:spAutoFit/>
          </a:bodyPr>
          <a:lstStyle/>
          <a:p>
            <a:pPr algn="ctr"/>
            <a:r>
              <a:rPr sz="850" b="1">
                <a:solidFill>
                  <a:srgbClr val="0D111A"/>
                </a:solidFill>
                <a:latin typeface="맑은 고딕"/>
              </a:rPr>
              <a:t>진화</a:t>
            </a:r>
          </a:p>
        </p:txBody>
      </p:sp>
      <p:sp>
        <p:nvSpPr>
          <p:cNvPr id="108" name="Rectangle 107"/>
          <p:cNvSpPr/>
          <p:nvPr/>
        </p:nvSpPr>
        <p:spPr>
          <a:xfrm>
            <a:off x="6355079" y="6217920"/>
            <a:ext cx="2651760" cy="51206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428231" y="6245352"/>
            <a:ext cx="2505456" cy="457200"/>
          </a:xfrm>
          <a:prstGeom prst="rect">
            <a:avLst/>
          </a:prstGeom>
          <a:noFill/>
        </p:spPr>
        <p:txBody>
          <a:bodyPr wrap="square">
            <a:spAutoFit/>
          </a:bodyPr>
          <a:lstStyle/>
          <a:p>
            <a:pPr algn="l"/>
            <a:r>
              <a:rPr sz="800" b="0">
                <a:solidFill>
                  <a:srgbClr val="FFFFFF"/>
                </a:solidFill>
                <a:latin typeface="맑은 고딕"/>
              </a:rPr>
              <a:t>체력 소모량이 즉시 다음 스킬의
추가 피해로 전환</a:t>
            </a:r>
          </a:p>
        </p:txBody>
      </p:sp>
      <p:sp>
        <p:nvSpPr>
          <p:cNvPr id="110" name="Rectangle 109"/>
          <p:cNvSpPr/>
          <p:nvPr/>
        </p:nvSpPr>
        <p:spPr>
          <a:xfrm>
            <a:off x="320040" y="4023360"/>
            <a:ext cx="114757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20040" y="4059936"/>
            <a:ext cx="11475720" cy="219456"/>
          </a:xfrm>
          <a:prstGeom prst="rect">
            <a:avLst/>
          </a:prstGeom>
          <a:noFill/>
        </p:spPr>
        <p:txBody>
          <a:bodyPr wrap="square">
            <a:spAutoFit/>
          </a:bodyPr>
          <a:lstStyle/>
          <a:p>
            <a:pPr algn="ctr"/>
            <a:r>
              <a:rPr sz="900" b="0">
                <a:solidFill>
                  <a:srgbClr val="727A8E"/>
                </a:solidFill>
                <a:latin typeface="맑은 고딕"/>
              </a:rPr>
              <a:t>↑ 켈트 신화 레이어 (4종)          외부 신화 레이어 (3종)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런 내 파워 커브 (v0.5 — 서약 기반)</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77724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7498079" cy="256032"/>
          </a:xfrm>
          <a:prstGeom prst="rect">
            <a:avLst/>
          </a:prstGeom>
          <a:noFill/>
        </p:spPr>
        <p:txBody>
          <a:bodyPr wrap="square">
            <a:spAutoFit/>
          </a:bodyPr>
          <a:lstStyle/>
          <a:p>
            <a:pPr algn="l"/>
            <a:r>
              <a:rPr sz="1200" b="1">
                <a:solidFill>
                  <a:srgbClr val="C9A84C"/>
                </a:solidFill>
                <a:latin typeface="맑은 고딕"/>
              </a:rPr>
              <a:t>목표 배율 (런 시작 기준 1.0×)</a:t>
            </a:r>
          </a:p>
        </p:txBody>
      </p:sp>
      <p:sp>
        <p:nvSpPr>
          <p:cNvPr id="8" name="Rectangle 7"/>
          <p:cNvSpPr/>
          <p:nvPr/>
        </p:nvSpPr>
        <p:spPr>
          <a:xfrm>
            <a:off x="502920" y="1417320"/>
            <a:ext cx="2926080" cy="56692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53896"/>
            <a:ext cx="2779776" cy="493776"/>
          </a:xfrm>
          <a:prstGeom prst="rect">
            <a:avLst/>
          </a:prstGeom>
          <a:noFill/>
        </p:spPr>
        <p:txBody>
          <a:bodyPr wrap="square">
            <a:spAutoFit/>
          </a:bodyPr>
          <a:lstStyle/>
          <a:p>
            <a:pPr algn="ctr"/>
            <a:r>
              <a:rPr sz="1000" b="1">
                <a:solidFill>
                  <a:srgbClr val="C9A84C"/>
                </a:solidFill>
                <a:latin typeface="맑은 고딕"/>
              </a:rPr>
              <a:t>지점</a:t>
            </a:r>
          </a:p>
        </p:txBody>
      </p:sp>
      <p:sp>
        <p:nvSpPr>
          <p:cNvPr id="10" name="Rectangle 9"/>
          <p:cNvSpPr/>
          <p:nvPr/>
        </p:nvSpPr>
        <p:spPr>
          <a:xfrm>
            <a:off x="3429000" y="1417320"/>
            <a:ext cx="1371600" cy="56692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2152" y="1453896"/>
            <a:ext cx="1225296" cy="493776"/>
          </a:xfrm>
          <a:prstGeom prst="rect">
            <a:avLst/>
          </a:prstGeom>
          <a:noFill/>
        </p:spPr>
        <p:txBody>
          <a:bodyPr wrap="square">
            <a:spAutoFit/>
          </a:bodyPr>
          <a:lstStyle/>
          <a:p>
            <a:pPr algn="ctr"/>
            <a:r>
              <a:rPr sz="1000" b="1">
                <a:solidFill>
                  <a:srgbClr val="C9A84C"/>
                </a:solidFill>
                <a:latin typeface="맑은 고딕"/>
              </a:rPr>
              <a:t>목표 배율</a:t>
            </a:r>
          </a:p>
        </p:txBody>
      </p:sp>
      <p:sp>
        <p:nvSpPr>
          <p:cNvPr id="12" name="Rectangle 11"/>
          <p:cNvSpPr/>
          <p:nvPr/>
        </p:nvSpPr>
        <p:spPr>
          <a:xfrm>
            <a:off x="4800600" y="1417320"/>
            <a:ext cx="3291840" cy="56692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73752" y="1453896"/>
            <a:ext cx="3145536" cy="493776"/>
          </a:xfrm>
          <a:prstGeom prst="rect">
            <a:avLst/>
          </a:prstGeom>
          <a:noFill/>
        </p:spPr>
        <p:txBody>
          <a:bodyPr wrap="square">
            <a:spAutoFit/>
          </a:bodyPr>
          <a:lstStyle/>
          <a:p>
            <a:pPr algn="ctr"/>
            <a:r>
              <a:rPr sz="1000" b="1">
                <a:solidFill>
                  <a:srgbClr val="C9A84C"/>
                </a:solidFill>
                <a:latin typeface="맑은 고딕"/>
              </a:rPr>
              <a:t>주요 출처</a:t>
            </a:r>
          </a:p>
        </p:txBody>
      </p:sp>
      <p:sp>
        <p:nvSpPr>
          <p:cNvPr id="14" name="Rectangle 13"/>
          <p:cNvSpPr/>
          <p:nvPr/>
        </p:nvSpPr>
        <p:spPr>
          <a:xfrm>
            <a:off x="502920" y="1984248"/>
            <a:ext cx="292608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2020824"/>
            <a:ext cx="2779776" cy="493776"/>
          </a:xfrm>
          <a:prstGeom prst="rect">
            <a:avLst/>
          </a:prstGeom>
          <a:noFill/>
        </p:spPr>
        <p:txBody>
          <a:bodyPr wrap="square">
            <a:spAutoFit/>
          </a:bodyPr>
          <a:lstStyle/>
          <a:p>
            <a:pPr algn="ctr"/>
            <a:r>
              <a:rPr sz="950" b="0">
                <a:solidFill>
                  <a:srgbClr val="FFFFFF"/>
                </a:solidFill>
                <a:latin typeface="맑은 고딕"/>
              </a:rPr>
              <a:t>런 시작</a:t>
            </a:r>
          </a:p>
        </p:txBody>
      </p:sp>
      <p:sp>
        <p:nvSpPr>
          <p:cNvPr id="16" name="Rectangle 15"/>
          <p:cNvSpPr/>
          <p:nvPr/>
        </p:nvSpPr>
        <p:spPr>
          <a:xfrm>
            <a:off x="3429000" y="1984248"/>
            <a:ext cx="137160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2020824"/>
            <a:ext cx="1225296" cy="493776"/>
          </a:xfrm>
          <a:prstGeom prst="rect">
            <a:avLst/>
          </a:prstGeom>
          <a:noFill/>
        </p:spPr>
        <p:txBody>
          <a:bodyPr wrap="square">
            <a:spAutoFit/>
          </a:bodyPr>
          <a:lstStyle/>
          <a:p>
            <a:pPr algn="ctr"/>
            <a:r>
              <a:rPr sz="950" b="0">
                <a:solidFill>
                  <a:srgbClr val="B8BECC"/>
                </a:solidFill>
                <a:latin typeface="맑은 고딕"/>
              </a:rPr>
              <a:t>1.0×</a:t>
            </a:r>
          </a:p>
        </p:txBody>
      </p:sp>
      <p:sp>
        <p:nvSpPr>
          <p:cNvPr id="18" name="Rectangle 17"/>
          <p:cNvSpPr/>
          <p:nvPr/>
        </p:nvSpPr>
        <p:spPr>
          <a:xfrm>
            <a:off x="4800600" y="1984248"/>
            <a:ext cx="329184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73752" y="2020824"/>
            <a:ext cx="3145536" cy="493776"/>
          </a:xfrm>
          <a:prstGeom prst="rect">
            <a:avLst/>
          </a:prstGeom>
          <a:noFill/>
        </p:spPr>
        <p:txBody>
          <a:bodyPr wrap="square">
            <a:spAutoFit/>
          </a:bodyPr>
          <a:lstStyle/>
          <a:p>
            <a:pPr algn="ctr"/>
            <a:r>
              <a:rPr sz="950" b="0">
                <a:solidFill>
                  <a:srgbClr val="B8BECC"/>
                </a:solidFill>
                <a:latin typeface="맑은 고딕"/>
              </a:rPr>
              <a:t>기본 스탯 + 서약 1개 (기본)</a:t>
            </a:r>
          </a:p>
        </p:txBody>
      </p:sp>
      <p:sp>
        <p:nvSpPr>
          <p:cNvPr id="20" name="Rectangle 19"/>
          <p:cNvSpPr/>
          <p:nvPr/>
        </p:nvSpPr>
        <p:spPr>
          <a:xfrm>
            <a:off x="502920" y="2551176"/>
            <a:ext cx="292608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587752"/>
            <a:ext cx="2779776" cy="493776"/>
          </a:xfrm>
          <a:prstGeom prst="rect">
            <a:avLst/>
          </a:prstGeom>
          <a:noFill/>
        </p:spPr>
        <p:txBody>
          <a:bodyPr wrap="square">
            <a:spAutoFit/>
          </a:bodyPr>
          <a:lstStyle/>
          <a:p>
            <a:pPr algn="ctr"/>
            <a:r>
              <a:rPr sz="950" b="0">
                <a:solidFill>
                  <a:srgbClr val="FFFFFF"/>
                </a:solidFill>
                <a:latin typeface="맑은 고딕"/>
              </a:rPr>
              <a:t>챕터1 중반</a:t>
            </a:r>
          </a:p>
        </p:txBody>
      </p:sp>
      <p:sp>
        <p:nvSpPr>
          <p:cNvPr id="22" name="Rectangle 21"/>
          <p:cNvSpPr/>
          <p:nvPr/>
        </p:nvSpPr>
        <p:spPr>
          <a:xfrm>
            <a:off x="3429000" y="2551176"/>
            <a:ext cx="137160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02152" y="2587752"/>
            <a:ext cx="1225296" cy="493776"/>
          </a:xfrm>
          <a:prstGeom prst="rect">
            <a:avLst/>
          </a:prstGeom>
          <a:noFill/>
        </p:spPr>
        <p:txBody>
          <a:bodyPr wrap="square">
            <a:spAutoFit/>
          </a:bodyPr>
          <a:lstStyle/>
          <a:p>
            <a:pPr algn="ctr"/>
            <a:r>
              <a:rPr sz="950" b="0">
                <a:solidFill>
                  <a:srgbClr val="B8BECC"/>
                </a:solidFill>
                <a:latin typeface="맑은 고딕"/>
              </a:rPr>
              <a:t>1.4×</a:t>
            </a:r>
          </a:p>
        </p:txBody>
      </p:sp>
      <p:sp>
        <p:nvSpPr>
          <p:cNvPr id="24" name="Rectangle 23"/>
          <p:cNvSpPr/>
          <p:nvPr/>
        </p:nvSpPr>
        <p:spPr>
          <a:xfrm>
            <a:off x="4800600" y="2551176"/>
            <a:ext cx="329184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73752" y="2587752"/>
            <a:ext cx="3145536" cy="493776"/>
          </a:xfrm>
          <a:prstGeom prst="rect">
            <a:avLst/>
          </a:prstGeom>
          <a:noFill/>
        </p:spPr>
        <p:txBody>
          <a:bodyPr wrap="square">
            <a:spAutoFit/>
          </a:bodyPr>
          <a:lstStyle/>
          <a:p>
            <a:pPr algn="ctr"/>
            <a:r>
              <a:rPr sz="950" b="0">
                <a:solidFill>
                  <a:srgbClr val="B8BECC"/>
                </a:solidFill>
                <a:latin typeface="맑은 고딕"/>
              </a:rPr>
              <a:t>서약 강화 + 아이템 그리드 누적</a:t>
            </a:r>
          </a:p>
        </p:txBody>
      </p:sp>
      <p:sp>
        <p:nvSpPr>
          <p:cNvPr id="26" name="Rectangle 25"/>
          <p:cNvSpPr/>
          <p:nvPr/>
        </p:nvSpPr>
        <p:spPr>
          <a:xfrm>
            <a:off x="502920" y="3118104"/>
            <a:ext cx="292608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 y="3154680"/>
            <a:ext cx="2779776" cy="493776"/>
          </a:xfrm>
          <a:prstGeom prst="rect">
            <a:avLst/>
          </a:prstGeom>
          <a:noFill/>
        </p:spPr>
        <p:txBody>
          <a:bodyPr wrap="square">
            <a:spAutoFit/>
          </a:bodyPr>
          <a:lstStyle/>
          <a:p>
            <a:pPr algn="ctr"/>
            <a:r>
              <a:rPr sz="950" b="0">
                <a:solidFill>
                  <a:srgbClr val="FFFFFF"/>
                </a:solidFill>
                <a:latin typeface="맑은 고딕"/>
              </a:rPr>
              <a:t>챕터1 보스 전</a:t>
            </a:r>
          </a:p>
        </p:txBody>
      </p:sp>
      <p:sp>
        <p:nvSpPr>
          <p:cNvPr id="28" name="Rectangle 27"/>
          <p:cNvSpPr/>
          <p:nvPr/>
        </p:nvSpPr>
        <p:spPr>
          <a:xfrm>
            <a:off x="3429000" y="3118104"/>
            <a:ext cx="137160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02152" y="3154680"/>
            <a:ext cx="1225296" cy="493776"/>
          </a:xfrm>
          <a:prstGeom prst="rect">
            <a:avLst/>
          </a:prstGeom>
          <a:noFill/>
        </p:spPr>
        <p:txBody>
          <a:bodyPr wrap="square">
            <a:spAutoFit/>
          </a:bodyPr>
          <a:lstStyle/>
          <a:p>
            <a:pPr algn="ctr"/>
            <a:r>
              <a:rPr sz="950" b="0">
                <a:solidFill>
                  <a:srgbClr val="B8BECC"/>
                </a:solidFill>
                <a:latin typeface="맑은 고딕"/>
              </a:rPr>
              <a:t>1.8×</a:t>
            </a:r>
          </a:p>
        </p:txBody>
      </p:sp>
      <p:sp>
        <p:nvSpPr>
          <p:cNvPr id="30" name="Rectangle 29"/>
          <p:cNvSpPr/>
          <p:nvPr/>
        </p:nvSpPr>
        <p:spPr>
          <a:xfrm>
            <a:off x="4800600" y="3118104"/>
            <a:ext cx="329184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73752" y="3154680"/>
            <a:ext cx="3145536" cy="493776"/>
          </a:xfrm>
          <a:prstGeom prst="rect">
            <a:avLst/>
          </a:prstGeom>
          <a:noFill/>
        </p:spPr>
        <p:txBody>
          <a:bodyPr wrap="square">
            <a:spAutoFit/>
          </a:bodyPr>
          <a:lstStyle/>
          <a:p>
            <a:pPr algn="ctr"/>
            <a:r>
              <a:rPr sz="950" b="0">
                <a:solidFill>
                  <a:srgbClr val="B8BECC"/>
                </a:solidFill>
                <a:latin typeface="맑은 고딕"/>
              </a:rPr>
              <a:t>서약 1개 진화 + 아이템 그리드 30~40%</a:t>
            </a:r>
          </a:p>
        </p:txBody>
      </p:sp>
      <p:sp>
        <p:nvSpPr>
          <p:cNvPr id="32" name="Rectangle 31"/>
          <p:cNvSpPr/>
          <p:nvPr/>
        </p:nvSpPr>
        <p:spPr>
          <a:xfrm>
            <a:off x="502920" y="3685032"/>
            <a:ext cx="292608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3721608"/>
            <a:ext cx="2779776" cy="493776"/>
          </a:xfrm>
          <a:prstGeom prst="rect">
            <a:avLst/>
          </a:prstGeom>
          <a:noFill/>
        </p:spPr>
        <p:txBody>
          <a:bodyPr wrap="square">
            <a:spAutoFit/>
          </a:bodyPr>
          <a:lstStyle/>
          <a:p>
            <a:pPr algn="ctr"/>
            <a:r>
              <a:rPr sz="950" b="0">
                <a:solidFill>
                  <a:srgbClr val="FFFFFF"/>
                </a:solidFill>
                <a:latin typeface="맑은 고딕"/>
              </a:rPr>
              <a:t>챕터2 보스 전</a:t>
            </a:r>
          </a:p>
        </p:txBody>
      </p:sp>
      <p:sp>
        <p:nvSpPr>
          <p:cNvPr id="34" name="Rectangle 33"/>
          <p:cNvSpPr/>
          <p:nvPr/>
        </p:nvSpPr>
        <p:spPr>
          <a:xfrm>
            <a:off x="3429000" y="3685032"/>
            <a:ext cx="137160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02152" y="3721608"/>
            <a:ext cx="1225296" cy="493776"/>
          </a:xfrm>
          <a:prstGeom prst="rect">
            <a:avLst/>
          </a:prstGeom>
          <a:noFill/>
        </p:spPr>
        <p:txBody>
          <a:bodyPr wrap="square">
            <a:spAutoFit/>
          </a:bodyPr>
          <a:lstStyle/>
          <a:p>
            <a:pPr algn="ctr"/>
            <a:r>
              <a:rPr sz="950" b="0">
                <a:solidFill>
                  <a:srgbClr val="B8BECC"/>
                </a:solidFill>
                <a:latin typeface="맑은 고딕"/>
              </a:rPr>
              <a:t>2.5×</a:t>
            </a:r>
          </a:p>
        </p:txBody>
      </p:sp>
      <p:sp>
        <p:nvSpPr>
          <p:cNvPr id="36" name="Rectangle 35"/>
          <p:cNvSpPr/>
          <p:nvPr/>
        </p:nvSpPr>
        <p:spPr>
          <a:xfrm>
            <a:off x="4800600" y="3685032"/>
            <a:ext cx="329184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73752" y="3721608"/>
            <a:ext cx="3145536" cy="493776"/>
          </a:xfrm>
          <a:prstGeom prst="rect">
            <a:avLst/>
          </a:prstGeom>
          <a:noFill/>
        </p:spPr>
        <p:txBody>
          <a:bodyPr wrap="square">
            <a:spAutoFit/>
          </a:bodyPr>
          <a:lstStyle/>
          <a:p>
            <a:pPr algn="ctr"/>
            <a:r>
              <a:rPr sz="950" b="0">
                <a:solidFill>
                  <a:srgbClr val="B8BECC"/>
                </a:solidFill>
                <a:latin typeface="맑은 고딕"/>
              </a:rPr>
              <a:t>서약 2개 + 그리드 55~65% + 서약 1개 진화</a:t>
            </a:r>
          </a:p>
        </p:txBody>
      </p:sp>
      <p:sp>
        <p:nvSpPr>
          <p:cNvPr id="38" name="Rectangle 37"/>
          <p:cNvSpPr/>
          <p:nvPr/>
        </p:nvSpPr>
        <p:spPr>
          <a:xfrm>
            <a:off x="502920" y="4251960"/>
            <a:ext cx="292608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072" y="4288536"/>
            <a:ext cx="2779776" cy="493776"/>
          </a:xfrm>
          <a:prstGeom prst="rect">
            <a:avLst/>
          </a:prstGeom>
          <a:noFill/>
        </p:spPr>
        <p:txBody>
          <a:bodyPr wrap="square">
            <a:spAutoFit/>
          </a:bodyPr>
          <a:lstStyle/>
          <a:p>
            <a:pPr algn="ctr"/>
            <a:r>
              <a:rPr sz="950" b="0">
                <a:solidFill>
                  <a:srgbClr val="FFFFFF"/>
                </a:solidFill>
                <a:latin typeface="맑은 고딕"/>
              </a:rPr>
              <a:t>챕터3 보스 전</a:t>
            </a:r>
          </a:p>
        </p:txBody>
      </p:sp>
      <p:sp>
        <p:nvSpPr>
          <p:cNvPr id="40" name="Rectangle 39"/>
          <p:cNvSpPr/>
          <p:nvPr/>
        </p:nvSpPr>
        <p:spPr>
          <a:xfrm>
            <a:off x="3429000" y="4251960"/>
            <a:ext cx="137160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02152" y="4288536"/>
            <a:ext cx="1225296" cy="493776"/>
          </a:xfrm>
          <a:prstGeom prst="rect">
            <a:avLst/>
          </a:prstGeom>
          <a:noFill/>
        </p:spPr>
        <p:txBody>
          <a:bodyPr wrap="square">
            <a:spAutoFit/>
          </a:bodyPr>
          <a:lstStyle/>
          <a:p>
            <a:pPr algn="ctr"/>
            <a:r>
              <a:rPr sz="950" b="0">
                <a:solidFill>
                  <a:srgbClr val="B8BECC"/>
                </a:solidFill>
                <a:latin typeface="맑은 고딕"/>
              </a:rPr>
              <a:t>3.5×</a:t>
            </a:r>
          </a:p>
        </p:txBody>
      </p:sp>
      <p:sp>
        <p:nvSpPr>
          <p:cNvPr id="42" name="Rectangle 41"/>
          <p:cNvSpPr/>
          <p:nvPr/>
        </p:nvSpPr>
        <p:spPr>
          <a:xfrm>
            <a:off x="4800600" y="4251960"/>
            <a:ext cx="3291840" cy="56692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73752" y="4288536"/>
            <a:ext cx="3145536" cy="493776"/>
          </a:xfrm>
          <a:prstGeom prst="rect">
            <a:avLst/>
          </a:prstGeom>
          <a:noFill/>
        </p:spPr>
        <p:txBody>
          <a:bodyPr wrap="square">
            <a:spAutoFit/>
          </a:bodyPr>
          <a:lstStyle/>
          <a:p>
            <a:pPr algn="ctr"/>
            <a:r>
              <a:rPr sz="950" b="0">
                <a:solidFill>
                  <a:srgbClr val="B8BECC"/>
                </a:solidFill>
                <a:latin typeface="맑은 고딕"/>
              </a:rPr>
              <a:t>서약 3개 + 그리드 75~85% + 시너지 발동 시작</a:t>
            </a:r>
          </a:p>
        </p:txBody>
      </p:sp>
      <p:sp>
        <p:nvSpPr>
          <p:cNvPr id="44" name="Rectangle 43"/>
          <p:cNvSpPr/>
          <p:nvPr/>
        </p:nvSpPr>
        <p:spPr>
          <a:xfrm>
            <a:off x="502920" y="4818888"/>
            <a:ext cx="292608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4855464"/>
            <a:ext cx="2779776" cy="493776"/>
          </a:xfrm>
          <a:prstGeom prst="rect">
            <a:avLst/>
          </a:prstGeom>
          <a:noFill/>
        </p:spPr>
        <p:txBody>
          <a:bodyPr wrap="square">
            <a:spAutoFit/>
          </a:bodyPr>
          <a:lstStyle/>
          <a:p>
            <a:pPr algn="ctr"/>
            <a:r>
              <a:rPr sz="950" b="0">
                <a:solidFill>
                  <a:srgbClr val="FFFFFF"/>
                </a:solidFill>
                <a:latin typeface="맑은 고딕"/>
              </a:rPr>
              <a:t>챕터4 보스 전</a:t>
            </a:r>
          </a:p>
        </p:txBody>
      </p:sp>
      <p:sp>
        <p:nvSpPr>
          <p:cNvPr id="46" name="Rectangle 45"/>
          <p:cNvSpPr/>
          <p:nvPr/>
        </p:nvSpPr>
        <p:spPr>
          <a:xfrm>
            <a:off x="3429000" y="4818888"/>
            <a:ext cx="137160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02152" y="4855464"/>
            <a:ext cx="1225296" cy="493776"/>
          </a:xfrm>
          <a:prstGeom prst="rect">
            <a:avLst/>
          </a:prstGeom>
          <a:noFill/>
        </p:spPr>
        <p:txBody>
          <a:bodyPr wrap="square">
            <a:spAutoFit/>
          </a:bodyPr>
          <a:lstStyle/>
          <a:p>
            <a:pPr algn="ctr"/>
            <a:r>
              <a:rPr sz="950" b="0">
                <a:solidFill>
                  <a:srgbClr val="B8BECC"/>
                </a:solidFill>
                <a:latin typeface="맑은 고딕"/>
              </a:rPr>
              <a:t>5.0×+</a:t>
            </a:r>
          </a:p>
        </p:txBody>
      </p:sp>
      <p:sp>
        <p:nvSpPr>
          <p:cNvPr id="48" name="Rectangle 47"/>
          <p:cNvSpPr/>
          <p:nvPr/>
        </p:nvSpPr>
        <p:spPr>
          <a:xfrm>
            <a:off x="4800600" y="4818888"/>
            <a:ext cx="3291840" cy="56692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73752" y="4855464"/>
            <a:ext cx="3145536" cy="493776"/>
          </a:xfrm>
          <a:prstGeom prst="rect">
            <a:avLst/>
          </a:prstGeom>
          <a:noFill/>
        </p:spPr>
        <p:txBody>
          <a:bodyPr wrap="square">
            <a:spAutoFit/>
          </a:bodyPr>
          <a:lstStyle/>
          <a:p>
            <a:pPr algn="ctr"/>
            <a:r>
              <a:rPr sz="950" b="0">
                <a:solidFill>
                  <a:srgbClr val="B8BECC"/>
                </a:solidFill>
                <a:latin typeface="맑은 고딕"/>
              </a:rPr>
              <a:t>서약 3~4개(진화 포함) + 풀빌드 + 시너지 완성</a:t>
            </a:r>
          </a:p>
        </p:txBody>
      </p:sp>
      <p:sp>
        <p:nvSpPr>
          <p:cNvPr id="50" name="Rectangle 49"/>
          <p:cNvSpPr/>
          <p:nvPr/>
        </p:nvSpPr>
        <p:spPr>
          <a:xfrm>
            <a:off x="365760" y="5029200"/>
            <a:ext cx="777240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02920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5084064"/>
            <a:ext cx="7498079" cy="256032"/>
          </a:xfrm>
          <a:prstGeom prst="rect">
            <a:avLst/>
          </a:prstGeom>
          <a:noFill/>
        </p:spPr>
        <p:txBody>
          <a:bodyPr wrap="square">
            <a:spAutoFit/>
          </a:bodyPr>
          <a:lstStyle/>
          <a:p>
            <a:pPr algn="l"/>
            <a:r>
              <a:rPr sz="1200" b="1">
                <a:solidFill>
                  <a:srgbClr val="C9A84C"/>
                </a:solidFill>
                <a:latin typeface="맑은 고딕"/>
              </a:rPr>
              <a:t>서약 성장 타임라인</a:t>
            </a:r>
          </a:p>
        </p:txBody>
      </p:sp>
      <p:sp>
        <p:nvSpPr>
          <p:cNvPr id="53" name="Rectangle 52"/>
          <p:cNvSpPr/>
          <p:nvPr/>
        </p:nvSpPr>
        <p:spPr>
          <a:xfrm>
            <a:off x="502920" y="5440680"/>
            <a:ext cx="2286000" cy="2926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072" y="5477256"/>
            <a:ext cx="2139696" cy="219456"/>
          </a:xfrm>
          <a:prstGeom prst="rect">
            <a:avLst/>
          </a:prstGeom>
          <a:noFill/>
        </p:spPr>
        <p:txBody>
          <a:bodyPr wrap="square">
            <a:spAutoFit/>
          </a:bodyPr>
          <a:lstStyle/>
          <a:p>
            <a:pPr algn="ctr"/>
            <a:r>
              <a:rPr sz="1000" b="1">
                <a:solidFill>
                  <a:srgbClr val="C9A84C"/>
                </a:solidFill>
                <a:latin typeface="맑은 고딕"/>
              </a:rPr>
              <a:t>구간</a:t>
            </a:r>
          </a:p>
        </p:txBody>
      </p:sp>
      <p:sp>
        <p:nvSpPr>
          <p:cNvPr id="55" name="Rectangle 54"/>
          <p:cNvSpPr/>
          <p:nvPr/>
        </p:nvSpPr>
        <p:spPr>
          <a:xfrm>
            <a:off x="2788920" y="5440680"/>
            <a:ext cx="2286000" cy="2926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62072" y="5477256"/>
            <a:ext cx="2139696" cy="219456"/>
          </a:xfrm>
          <a:prstGeom prst="rect">
            <a:avLst/>
          </a:prstGeom>
          <a:noFill/>
        </p:spPr>
        <p:txBody>
          <a:bodyPr wrap="square">
            <a:spAutoFit/>
          </a:bodyPr>
          <a:lstStyle/>
          <a:p>
            <a:pPr algn="ctr"/>
            <a:r>
              <a:rPr sz="1000" b="1">
                <a:solidFill>
                  <a:srgbClr val="C9A84C"/>
                </a:solidFill>
                <a:latin typeface="맑은 고딕"/>
              </a:rPr>
              <a:t>서약 상태</a:t>
            </a:r>
          </a:p>
        </p:txBody>
      </p:sp>
      <p:sp>
        <p:nvSpPr>
          <p:cNvPr id="57" name="Rectangle 56"/>
          <p:cNvSpPr/>
          <p:nvPr/>
        </p:nvSpPr>
        <p:spPr>
          <a:xfrm>
            <a:off x="5074920" y="5440680"/>
            <a:ext cx="3017520" cy="2926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48072" y="5477256"/>
            <a:ext cx="2871215" cy="219456"/>
          </a:xfrm>
          <a:prstGeom prst="rect">
            <a:avLst/>
          </a:prstGeom>
          <a:noFill/>
        </p:spPr>
        <p:txBody>
          <a:bodyPr wrap="square">
            <a:spAutoFit/>
          </a:bodyPr>
          <a:lstStyle/>
          <a:p>
            <a:pPr algn="ctr"/>
            <a:r>
              <a:rPr sz="1000" b="1">
                <a:solidFill>
                  <a:srgbClr val="C9A84C"/>
                </a:solidFill>
                <a:latin typeface="맑은 고딕"/>
              </a:rPr>
              <a:t>트리거</a:t>
            </a:r>
          </a:p>
        </p:txBody>
      </p:sp>
      <p:sp>
        <p:nvSpPr>
          <p:cNvPr id="59" name="Rectangle 58"/>
          <p:cNvSpPr/>
          <p:nvPr/>
        </p:nvSpPr>
        <p:spPr>
          <a:xfrm>
            <a:off x="502920" y="5733288"/>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6072" y="5769864"/>
            <a:ext cx="2139696" cy="219456"/>
          </a:xfrm>
          <a:prstGeom prst="rect">
            <a:avLst/>
          </a:prstGeom>
          <a:noFill/>
        </p:spPr>
        <p:txBody>
          <a:bodyPr wrap="square">
            <a:spAutoFit/>
          </a:bodyPr>
          <a:lstStyle/>
          <a:p>
            <a:pPr algn="ctr"/>
            <a:r>
              <a:rPr sz="950" b="0">
                <a:solidFill>
                  <a:srgbClr val="FFFFFF"/>
                </a:solidFill>
                <a:latin typeface="맑은 고딕"/>
              </a:rPr>
              <a:t>런 시작</a:t>
            </a:r>
          </a:p>
        </p:txBody>
      </p:sp>
      <p:sp>
        <p:nvSpPr>
          <p:cNvPr id="61" name="Rectangle 60"/>
          <p:cNvSpPr/>
          <p:nvPr/>
        </p:nvSpPr>
        <p:spPr>
          <a:xfrm>
            <a:off x="2788920" y="5733288"/>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62072" y="5769864"/>
            <a:ext cx="2139696" cy="219456"/>
          </a:xfrm>
          <a:prstGeom prst="rect">
            <a:avLst/>
          </a:prstGeom>
          <a:noFill/>
        </p:spPr>
        <p:txBody>
          <a:bodyPr wrap="square">
            <a:spAutoFit/>
          </a:bodyPr>
          <a:lstStyle/>
          <a:p>
            <a:pPr algn="ctr"/>
            <a:r>
              <a:rPr sz="950" b="0">
                <a:solidFill>
                  <a:srgbClr val="B8BECC"/>
                </a:solidFill>
                <a:latin typeface="맑은 고딕"/>
              </a:rPr>
              <a:t>서약 1개 (기본)</a:t>
            </a:r>
          </a:p>
        </p:txBody>
      </p:sp>
      <p:sp>
        <p:nvSpPr>
          <p:cNvPr id="63" name="Rectangle 62"/>
          <p:cNvSpPr/>
          <p:nvPr/>
        </p:nvSpPr>
        <p:spPr>
          <a:xfrm>
            <a:off x="5074920" y="5733288"/>
            <a:ext cx="301752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48072" y="5769864"/>
            <a:ext cx="2871215" cy="219456"/>
          </a:xfrm>
          <a:prstGeom prst="rect">
            <a:avLst/>
          </a:prstGeom>
          <a:noFill/>
        </p:spPr>
        <p:txBody>
          <a:bodyPr wrap="square">
            <a:spAutoFit/>
          </a:bodyPr>
          <a:lstStyle/>
          <a:p>
            <a:pPr algn="ctr"/>
            <a:r>
              <a:rPr sz="950" b="0">
                <a:solidFill>
                  <a:srgbClr val="B8BECC"/>
                </a:solidFill>
                <a:latin typeface="맑은 고딕"/>
              </a:rPr>
              <a:t>런 시작 시 선택</a:t>
            </a:r>
          </a:p>
        </p:txBody>
      </p:sp>
      <p:sp>
        <p:nvSpPr>
          <p:cNvPr id="65" name="Rectangle 64"/>
          <p:cNvSpPr/>
          <p:nvPr/>
        </p:nvSpPr>
        <p:spPr>
          <a:xfrm>
            <a:off x="502920" y="6025896"/>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76072" y="6062472"/>
            <a:ext cx="2139696" cy="219456"/>
          </a:xfrm>
          <a:prstGeom prst="rect">
            <a:avLst/>
          </a:prstGeom>
          <a:noFill/>
        </p:spPr>
        <p:txBody>
          <a:bodyPr wrap="square">
            <a:spAutoFit/>
          </a:bodyPr>
          <a:lstStyle/>
          <a:p>
            <a:pPr algn="ctr"/>
            <a:r>
              <a:rPr sz="950" b="0">
                <a:solidFill>
                  <a:srgbClr val="FFFFFF"/>
                </a:solidFill>
                <a:latin typeface="맑은 고딕"/>
              </a:rPr>
              <a:t>챕터1 이벤트방</a:t>
            </a:r>
          </a:p>
        </p:txBody>
      </p:sp>
      <p:sp>
        <p:nvSpPr>
          <p:cNvPr id="67" name="Rectangle 66"/>
          <p:cNvSpPr/>
          <p:nvPr/>
        </p:nvSpPr>
        <p:spPr>
          <a:xfrm>
            <a:off x="2788920" y="6025896"/>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62072" y="6062472"/>
            <a:ext cx="2139696" cy="219456"/>
          </a:xfrm>
          <a:prstGeom prst="rect">
            <a:avLst/>
          </a:prstGeom>
          <a:noFill/>
        </p:spPr>
        <p:txBody>
          <a:bodyPr wrap="square">
            <a:spAutoFit/>
          </a:bodyPr>
          <a:lstStyle/>
          <a:p>
            <a:pPr algn="ctr"/>
            <a:r>
              <a:rPr sz="950" b="0">
                <a:solidFill>
                  <a:srgbClr val="B8BECC"/>
                </a:solidFill>
                <a:latin typeface="맑은 고딕"/>
              </a:rPr>
              <a:t>서약 강화</a:t>
            </a:r>
          </a:p>
        </p:txBody>
      </p:sp>
      <p:sp>
        <p:nvSpPr>
          <p:cNvPr id="69" name="Rectangle 68"/>
          <p:cNvSpPr/>
          <p:nvPr/>
        </p:nvSpPr>
        <p:spPr>
          <a:xfrm>
            <a:off x="5074920" y="6025896"/>
            <a:ext cx="301752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48072" y="6062472"/>
            <a:ext cx="2871215" cy="219456"/>
          </a:xfrm>
          <a:prstGeom prst="rect">
            <a:avLst/>
          </a:prstGeom>
          <a:noFill/>
        </p:spPr>
        <p:txBody>
          <a:bodyPr wrap="square">
            <a:spAutoFit/>
          </a:bodyPr>
          <a:lstStyle/>
          <a:p>
            <a:pPr algn="ctr"/>
            <a:r>
              <a:rPr sz="950" b="0">
                <a:solidFill>
                  <a:srgbClr val="B8BECC"/>
                </a:solidFill>
                <a:latin typeface="맑은 고딕"/>
              </a:rPr>
              <a:t>이벤트 방 클리어</a:t>
            </a:r>
          </a:p>
        </p:txBody>
      </p:sp>
      <p:sp>
        <p:nvSpPr>
          <p:cNvPr id="71" name="Rectangle 70"/>
          <p:cNvSpPr/>
          <p:nvPr/>
        </p:nvSpPr>
        <p:spPr>
          <a:xfrm>
            <a:off x="502920" y="6318504"/>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76072" y="6355080"/>
            <a:ext cx="2139696" cy="219456"/>
          </a:xfrm>
          <a:prstGeom prst="rect">
            <a:avLst/>
          </a:prstGeom>
          <a:noFill/>
        </p:spPr>
        <p:txBody>
          <a:bodyPr wrap="square">
            <a:spAutoFit/>
          </a:bodyPr>
          <a:lstStyle/>
          <a:p>
            <a:pPr algn="ctr"/>
            <a:r>
              <a:rPr sz="950" b="0">
                <a:solidFill>
                  <a:srgbClr val="FFFFFF"/>
                </a:solidFill>
                <a:latin typeface="맑은 고딕"/>
              </a:rPr>
              <a:t>챕터1 보스</a:t>
            </a:r>
          </a:p>
        </p:txBody>
      </p:sp>
      <p:sp>
        <p:nvSpPr>
          <p:cNvPr id="73" name="Rectangle 72"/>
          <p:cNvSpPr/>
          <p:nvPr/>
        </p:nvSpPr>
        <p:spPr>
          <a:xfrm>
            <a:off x="2788920" y="6318504"/>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62072" y="6355080"/>
            <a:ext cx="2139696" cy="219456"/>
          </a:xfrm>
          <a:prstGeom prst="rect">
            <a:avLst/>
          </a:prstGeom>
          <a:noFill/>
        </p:spPr>
        <p:txBody>
          <a:bodyPr wrap="square">
            <a:spAutoFit/>
          </a:bodyPr>
          <a:lstStyle/>
          <a:p>
            <a:pPr algn="ctr"/>
            <a:r>
              <a:rPr sz="950" b="0">
                <a:solidFill>
                  <a:srgbClr val="B8BECC"/>
                </a:solidFill>
                <a:latin typeface="맑은 고딕"/>
              </a:rPr>
              <a:t>서약 1개 진화</a:t>
            </a:r>
          </a:p>
        </p:txBody>
      </p:sp>
      <p:sp>
        <p:nvSpPr>
          <p:cNvPr id="75" name="Rectangle 74"/>
          <p:cNvSpPr/>
          <p:nvPr/>
        </p:nvSpPr>
        <p:spPr>
          <a:xfrm>
            <a:off x="5074920" y="6318504"/>
            <a:ext cx="301752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48072" y="6355080"/>
            <a:ext cx="2871215" cy="219456"/>
          </a:xfrm>
          <a:prstGeom prst="rect">
            <a:avLst/>
          </a:prstGeom>
          <a:noFill/>
        </p:spPr>
        <p:txBody>
          <a:bodyPr wrap="square">
            <a:spAutoFit/>
          </a:bodyPr>
          <a:lstStyle/>
          <a:p>
            <a:pPr algn="ctr"/>
            <a:r>
              <a:rPr sz="950" b="0">
                <a:solidFill>
                  <a:srgbClr val="B8BECC"/>
                </a:solidFill>
                <a:latin typeface="맑은 고딕"/>
              </a:rPr>
              <a:t>챕터1 보스 처치</a:t>
            </a:r>
          </a:p>
        </p:txBody>
      </p:sp>
      <p:sp>
        <p:nvSpPr>
          <p:cNvPr id="77" name="Rectangle 76"/>
          <p:cNvSpPr/>
          <p:nvPr/>
        </p:nvSpPr>
        <p:spPr>
          <a:xfrm>
            <a:off x="502920" y="6611112"/>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76072" y="6647688"/>
            <a:ext cx="2139696" cy="219456"/>
          </a:xfrm>
          <a:prstGeom prst="rect">
            <a:avLst/>
          </a:prstGeom>
          <a:noFill/>
        </p:spPr>
        <p:txBody>
          <a:bodyPr wrap="square">
            <a:spAutoFit/>
          </a:bodyPr>
          <a:lstStyle/>
          <a:p>
            <a:pPr algn="ctr"/>
            <a:r>
              <a:rPr sz="950" b="0">
                <a:solidFill>
                  <a:srgbClr val="FFFFFF"/>
                </a:solidFill>
                <a:latin typeface="맑은 고딕"/>
              </a:rPr>
              <a:t>챕터2~3 진행</a:t>
            </a:r>
          </a:p>
        </p:txBody>
      </p:sp>
      <p:sp>
        <p:nvSpPr>
          <p:cNvPr id="79" name="Rectangle 78"/>
          <p:cNvSpPr/>
          <p:nvPr/>
        </p:nvSpPr>
        <p:spPr>
          <a:xfrm>
            <a:off x="2788920" y="6611112"/>
            <a:ext cx="228600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62072" y="6647688"/>
            <a:ext cx="2139696" cy="219456"/>
          </a:xfrm>
          <a:prstGeom prst="rect">
            <a:avLst/>
          </a:prstGeom>
          <a:noFill/>
        </p:spPr>
        <p:txBody>
          <a:bodyPr wrap="square">
            <a:spAutoFit/>
          </a:bodyPr>
          <a:lstStyle/>
          <a:p>
            <a:pPr algn="ctr"/>
            <a:r>
              <a:rPr sz="950" b="0">
                <a:solidFill>
                  <a:srgbClr val="B8BECC"/>
                </a:solidFill>
                <a:latin typeface="맑은 고딕"/>
              </a:rPr>
              <a:t>서약 2~3개 확장</a:t>
            </a:r>
          </a:p>
        </p:txBody>
      </p:sp>
      <p:sp>
        <p:nvSpPr>
          <p:cNvPr id="81" name="Rectangle 80"/>
          <p:cNvSpPr/>
          <p:nvPr/>
        </p:nvSpPr>
        <p:spPr>
          <a:xfrm>
            <a:off x="5074920" y="6611112"/>
            <a:ext cx="3017520" cy="2926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148072" y="6647688"/>
            <a:ext cx="2871215" cy="219456"/>
          </a:xfrm>
          <a:prstGeom prst="rect">
            <a:avLst/>
          </a:prstGeom>
          <a:noFill/>
        </p:spPr>
        <p:txBody>
          <a:bodyPr wrap="square">
            <a:spAutoFit/>
          </a:bodyPr>
          <a:lstStyle/>
          <a:p>
            <a:pPr algn="ctr"/>
            <a:r>
              <a:rPr sz="950" b="0">
                <a:solidFill>
                  <a:srgbClr val="B8BECC"/>
                </a:solidFill>
                <a:latin typeface="맑은 고딕"/>
              </a:rPr>
              <a:t>특별 분기 구간</a:t>
            </a:r>
          </a:p>
        </p:txBody>
      </p:sp>
      <p:sp>
        <p:nvSpPr>
          <p:cNvPr id="83" name="Rectangle 82"/>
          <p:cNvSpPr/>
          <p:nvPr/>
        </p:nvSpPr>
        <p:spPr>
          <a:xfrm>
            <a:off x="502920" y="6903720"/>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6072" y="6940296"/>
            <a:ext cx="2139696" cy="219456"/>
          </a:xfrm>
          <a:prstGeom prst="rect">
            <a:avLst/>
          </a:prstGeom>
          <a:noFill/>
        </p:spPr>
        <p:txBody>
          <a:bodyPr wrap="square">
            <a:spAutoFit/>
          </a:bodyPr>
          <a:lstStyle/>
          <a:p>
            <a:pPr algn="ctr"/>
            <a:r>
              <a:rPr sz="950" b="0">
                <a:solidFill>
                  <a:srgbClr val="FFFFFF"/>
                </a:solidFill>
                <a:latin typeface="맑은 고딕"/>
              </a:rPr>
              <a:t>챕터2~3 보스</a:t>
            </a:r>
          </a:p>
        </p:txBody>
      </p:sp>
      <p:sp>
        <p:nvSpPr>
          <p:cNvPr id="85" name="Rectangle 84"/>
          <p:cNvSpPr/>
          <p:nvPr/>
        </p:nvSpPr>
        <p:spPr>
          <a:xfrm>
            <a:off x="2788920" y="6903720"/>
            <a:ext cx="228600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62072" y="6940296"/>
            <a:ext cx="2139696" cy="219456"/>
          </a:xfrm>
          <a:prstGeom prst="rect">
            <a:avLst/>
          </a:prstGeom>
          <a:noFill/>
        </p:spPr>
        <p:txBody>
          <a:bodyPr wrap="square">
            <a:spAutoFit/>
          </a:bodyPr>
          <a:lstStyle/>
          <a:p>
            <a:pPr algn="ctr"/>
            <a:r>
              <a:rPr sz="950" b="0">
                <a:solidFill>
                  <a:srgbClr val="B8BECC"/>
                </a:solidFill>
                <a:latin typeface="맑은 고딕"/>
              </a:rPr>
              <a:t>추가 서약 진화</a:t>
            </a:r>
          </a:p>
        </p:txBody>
      </p:sp>
      <p:sp>
        <p:nvSpPr>
          <p:cNvPr id="87" name="Rectangle 86"/>
          <p:cNvSpPr/>
          <p:nvPr/>
        </p:nvSpPr>
        <p:spPr>
          <a:xfrm>
            <a:off x="5074920" y="6903720"/>
            <a:ext cx="3017520" cy="2926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148072" y="6940296"/>
            <a:ext cx="2871215" cy="219456"/>
          </a:xfrm>
          <a:prstGeom prst="rect">
            <a:avLst/>
          </a:prstGeom>
          <a:noFill/>
        </p:spPr>
        <p:txBody>
          <a:bodyPr wrap="square">
            <a:spAutoFit/>
          </a:bodyPr>
          <a:lstStyle/>
          <a:p>
            <a:pPr algn="ctr"/>
            <a:r>
              <a:rPr sz="950" b="0">
                <a:solidFill>
                  <a:srgbClr val="B8BECC"/>
                </a:solidFill>
                <a:latin typeface="맑은 고딕"/>
              </a:rPr>
              <a:t>각 챕터 보스 처치</a:t>
            </a:r>
          </a:p>
        </p:txBody>
      </p:sp>
      <p:sp>
        <p:nvSpPr>
          <p:cNvPr id="89" name="Rectangle 88"/>
          <p:cNvSpPr/>
          <p:nvPr/>
        </p:nvSpPr>
        <p:spPr>
          <a:xfrm>
            <a:off x="8366760" y="960120"/>
            <a:ext cx="347472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366760" y="96012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03920" y="1014984"/>
            <a:ext cx="3200400" cy="256032"/>
          </a:xfrm>
          <a:prstGeom prst="rect">
            <a:avLst/>
          </a:prstGeom>
          <a:noFill/>
        </p:spPr>
        <p:txBody>
          <a:bodyPr wrap="square">
            <a:spAutoFit/>
          </a:bodyPr>
          <a:lstStyle/>
          <a:p>
            <a:pPr algn="l"/>
            <a:r>
              <a:rPr sz="1200" b="1">
                <a:solidFill>
                  <a:srgbClr val="C9A84C"/>
                </a:solidFill>
                <a:latin typeface="맑은 고딕"/>
              </a:rPr>
              <a:t>아이템 그리드 채움 목표</a:t>
            </a:r>
          </a:p>
        </p:txBody>
      </p:sp>
      <p:sp>
        <p:nvSpPr>
          <p:cNvPr id="92" name="Rectangle 91"/>
          <p:cNvSpPr/>
          <p:nvPr/>
        </p:nvSpPr>
        <p:spPr>
          <a:xfrm>
            <a:off x="8549640" y="1417320"/>
            <a:ext cx="137160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622792" y="1453896"/>
            <a:ext cx="1225296" cy="310896"/>
          </a:xfrm>
          <a:prstGeom prst="rect">
            <a:avLst/>
          </a:prstGeom>
          <a:noFill/>
        </p:spPr>
        <p:txBody>
          <a:bodyPr wrap="square">
            <a:spAutoFit/>
          </a:bodyPr>
          <a:lstStyle/>
          <a:p>
            <a:pPr algn="ctr"/>
            <a:r>
              <a:rPr sz="1000" b="1">
                <a:solidFill>
                  <a:srgbClr val="C9A84C"/>
                </a:solidFill>
                <a:latin typeface="맑은 고딕"/>
              </a:rPr>
              <a:t>챕터</a:t>
            </a:r>
          </a:p>
        </p:txBody>
      </p:sp>
      <p:sp>
        <p:nvSpPr>
          <p:cNvPr id="94" name="Rectangle 93"/>
          <p:cNvSpPr/>
          <p:nvPr/>
        </p:nvSpPr>
        <p:spPr>
          <a:xfrm>
            <a:off x="9921240" y="1417320"/>
            <a:ext cx="91440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994392" y="1453896"/>
            <a:ext cx="768096" cy="310896"/>
          </a:xfrm>
          <a:prstGeom prst="rect">
            <a:avLst/>
          </a:prstGeom>
          <a:noFill/>
        </p:spPr>
        <p:txBody>
          <a:bodyPr wrap="square">
            <a:spAutoFit/>
          </a:bodyPr>
          <a:lstStyle/>
          <a:p>
            <a:pPr algn="ctr"/>
            <a:r>
              <a:rPr sz="1000" b="1">
                <a:solidFill>
                  <a:srgbClr val="C9A84C"/>
                </a:solidFill>
                <a:latin typeface="맑은 고딕"/>
              </a:rPr>
              <a:t>채움률</a:t>
            </a:r>
          </a:p>
        </p:txBody>
      </p:sp>
      <p:sp>
        <p:nvSpPr>
          <p:cNvPr id="96" name="Rectangle 95"/>
          <p:cNvSpPr/>
          <p:nvPr/>
        </p:nvSpPr>
        <p:spPr>
          <a:xfrm>
            <a:off x="10835640" y="1417320"/>
            <a:ext cx="100584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908792" y="1453896"/>
            <a:ext cx="859536" cy="310896"/>
          </a:xfrm>
          <a:prstGeom prst="rect">
            <a:avLst/>
          </a:prstGeom>
          <a:noFill/>
        </p:spPr>
        <p:txBody>
          <a:bodyPr wrap="square">
            <a:spAutoFit/>
          </a:bodyPr>
          <a:lstStyle/>
          <a:p>
            <a:pPr algn="ctr"/>
            <a:r>
              <a:rPr sz="1000" b="1">
                <a:solidFill>
                  <a:srgbClr val="C9A84C"/>
                </a:solidFill>
                <a:latin typeface="맑은 고딕"/>
              </a:rPr>
              <a:t>칸 수(30칸)</a:t>
            </a:r>
          </a:p>
        </p:txBody>
      </p:sp>
      <p:sp>
        <p:nvSpPr>
          <p:cNvPr id="98" name="Rectangle 97"/>
          <p:cNvSpPr/>
          <p:nvPr/>
        </p:nvSpPr>
        <p:spPr>
          <a:xfrm>
            <a:off x="8549640" y="1801368"/>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622792" y="1837943"/>
            <a:ext cx="1225296" cy="310896"/>
          </a:xfrm>
          <a:prstGeom prst="rect">
            <a:avLst/>
          </a:prstGeom>
          <a:noFill/>
        </p:spPr>
        <p:txBody>
          <a:bodyPr wrap="square">
            <a:spAutoFit/>
          </a:bodyPr>
          <a:lstStyle/>
          <a:p>
            <a:pPr algn="ctr"/>
            <a:r>
              <a:rPr sz="950" b="0">
                <a:solidFill>
                  <a:srgbClr val="FFFFFF"/>
                </a:solidFill>
                <a:latin typeface="맑은 고딕"/>
              </a:rPr>
              <a:t>CH.1 완료</a:t>
            </a:r>
          </a:p>
        </p:txBody>
      </p:sp>
      <p:sp>
        <p:nvSpPr>
          <p:cNvPr id="100" name="Rectangle 99"/>
          <p:cNvSpPr/>
          <p:nvPr/>
        </p:nvSpPr>
        <p:spPr>
          <a:xfrm>
            <a:off x="9921240" y="1801368"/>
            <a:ext cx="9144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994392" y="1837943"/>
            <a:ext cx="768096" cy="310896"/>
          </a:xfrm>
          <a:prstGeom prst="rect">
            <a:avLst/>
          </a:prstGeom>
          <a:noFill/>
        </p:spPr>
        <p:txBody>
          <a:bodyPr wrap="square">
            <a:spAutoFit/>
          </a:bodyPr>
          <a:lstStyle/>
          <a:p>
            <a:pPr algn="ctr"/>
            <a:r>
              <a:rPr sz="950" b="0">
                <a:solidFill>
                  <a:srgbClr val="B8BECC"/>
                </a:solidFill>
                <a:latin typeface="맑은 고딕"/>
              </a:rPr>
              <a:t>30~40%</a:t>
            </a:r>
          </a:p>
        </p:txBody>
      </p:sp>
      <p:sp>
        <p:nvSpPr>
          <p:cNvPr id="102" name="Rectangle 101"/>
          <p:cNvSpPr/>
          <p:nvPr/>
        </p:nvSpPr>
        <p:spPr>
          <a:xfrm>
            <a:off x="10835640" y="1801368"/>
            <a:ext cx="100584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908792" y="1837943"/>
            <a:ext cx="859536" cy="310896"/>
          </a:xfrm>
          <a:prstGeom prst="rect">
            <a:avLst/>
          </a:prstGeom>
          <a:noFill/>
        </p:spPr>
        <p:txBody>
          <a:bodyPr wrap="square">
            <a:spAutoFit/>
          </a:bodyPr>
          <a:lstStyle/>
          <a:p>
            <a:pPr algn="ctr"/>
            <a:r>
              <a:rPr sz="950" b="0">
                <a:solidFill>
                  <a:srgbClr val="B8BECC"/>
                </a:solidFill>
                <a:latin typeface="맑은 고딕"/>
              </a:rPr>
              <a:t>9~12칸</a:t>
            </a:r>
          </a:p>
        </p:txBody>
      </p:sp>
      <p:sp>
        <p:nvSpPr>
          <p:cNvPr id="104" name="Rectangle 103"/>
          <p:cNvSpPr/>
          <p:nvPr/>
        </p:nvSpPr>
        <p:spPr>
          <a:xfrm>
            <a:off x="8549640" y="2185416"/>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622792" y="2221992"/>
            <a:ext cx="1225296" cy="310896"/>
          </a:xfrm>
          <a:prstGeom prst="rect">
            <a:avLst/>
          </a:prstGeom>
          <a:noFill/>
        </p:spPr>
        <p:txBody>
          <a:bodyPr wrap="square">
            <a:spAutoFit/>
          </a:bodyPr>
          <a:lstStyle/>
          <a:p>
            <a:pPr algn="ctr"/>
            <a:r>
              <a:rPr sz="950" b="0">
                <a:solidFill>
                  <a:srgbClr val="FFFFFF"/>
                </a:solidFill>
                <a:latin typeface="맑은 고딕"/>
              </a:rPr>
              <a:t>CH.2 완료</a:t>
            </a:r>
          </a:p>
        </p:txBody>
      </p:sp>
      <p:sp>
        <p:nvSpPr>
          <p:cNvPr id="106" name="Rectangle 105"/>
          <p:cNvSpPr/>
          <p:nvPr/>
        </p:nvSpPr>
        <p:spPr>
          <a:xfrm>
            <a:off x="9921240" y="2185416"/>
            <a:ext cx="9144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994392" y="2221992"/>
            <a:ext cx="768096" cy="310896"/>
          </a:xfrm>
          <a:prstGeom prst="rect">
            <a:avLst/>
          </a:prstGeom>
          <a:noFill/>
        </p:spPr>
        <p:txBody>
          <a:bodyPr wrap="square">
            <a:spAutoFit/>
          </a:bodyPr>
          <a:lstStyle/>
          <a:p>
            <a:pPr algn="ctr"/>
            <a:r>
              <a:rPr sz="950" b="0">
                <a:solidFill>
                  <a:srgbClr val="B8BECC"/>
                </a:solidFill>
                <a:latin typeface="맑은 고딕"/>
              </a:rPr>
              <a:t>55~65%</a:t>
            </a:r>
          </a:p>
        </p:txBody>
      </p:sp>
      <p:sp>
        <p:nvSpPr>
          <p:cNvPr id="108" name="Rectangle 107"/>
          <p:cNvSpPr/>
          <p:nvPr/>
        </p:nvSpPr>
        <p:spPr>
          <a:xfrm>
            <a:off x="10835640" y="2185416"/>
            <a:ext cx="100584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908792" y="2221992"/>
            <a:ext cx="859536" cy="310896"/>
          </a:xfrm>
          <a:prstGeom prst="rect">
            <a:avLst/>
          </a:prstGeom>
          <a:noFill/>
        </p:spPr>
        <p:txBody>
          <a:bodyPr wrap="square">
            <a:spAutoFit/>
          </a:bodyPr>
          <a:lstStyle/>
          <a:p>
            <a:pPr algn="ctr"/>
            <a:r>
              <a:rPr sz="950" b="0">
                <a:solidFill>
                  <a:srgbClr val="B8BECC"/>
                </a:solidFill>
                <a:latin typeface="맑은 고딕"/>
              </a:rPr>
              <a:t>16~20칸</a:t>
            </a:r>
          </a:p>
        </p:txBody>
      </p:sp>
      <p:sp>
        <p:nvSpPr>
          <p:cNvPr id="110" name="Rectangle 109"/>
          <p:cNvSpPr/>
          <p:nvPr/>
        </p:nvSpPr>
        <p:spPr>
          <a:xfrm>
            <a:off x="8549640" y="2569464"/>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622792" y="2606040"/>
            <a:ext cx="1225296" cy="310896"/>
          </a:xfrm>
          <a:prstGeom prst="rect">
            <a:avLst/>
          </a:prstGeom>
          <a:noFill/>
        </p:spPr>
        <p:txBody>
          <a:bodyPr wrap="square">
            <a:spAutoFit/>
          </a:bodyPr>
          <a:lstStyle/>
          <a:p>
            <a:pPr algn="ctr"/>
            <a:r>
              <a:rPr sz="950" b="0">
                <a:solidFill>
                  <a:srgbClr val="FFFFFF"/>
                </a:solidFill>
                <a:latin typeface="맑은 고딕"/>
              </a:rPr>
              <a:t>CH.3 완료</a:t>
            </a:r>
          </a:p>
        </p:txBody>
      </p:sp>
      <p:sp>
        <p:nvSpPr>
          <p:cNvPr id="112" name="Rectangle 111"/>
          <p:cNvSpPr/>
          <p:nvPr/>
        </p:nvSpPr>
        <p:spPr>
          <a:xfrm>
            <a:off x="9921240" y="2569464"/>
            <a:ext cx="9144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994392" y="2606040"/>
            <a:ext cx="768096" cy="310896"/>
          </a:xfrm>
          <a:prstGeom prst="rect">
            <a:avLst/>
          </a:prstGeom>
          <a:noFill/>
        </p:spPr>
        <p:txBody>
          <a:bodyPr wrap="square">
            <a:spAutoFit/>
          </a:bodyPr>
          <a:lstStyle/>
          <a:p>
            <a:pPr algn="ctr"/>
            <a:r>
              <a:rPr sz="950" b="0">
                <a:solidFill>
                  <a:srgbClr val="B8BECC"/>
                </a:solidFill>
                <a:latin typeface="맑은 고딕"/>
              </a:rPr>
              <a:t>75~85%</a:t>
            </a:r>
          </a:p>
        </p:txBody>
      </p:sp>
      <p:sp>
        <p:nvSpPr>
          <p:cNvPr id="114" name="Rectangle 113"/>
          <p:cNvSpPr/>
          <p:nvPr/>
        </p:nvSpPr>
        <p:spPr>
          <a:xfrm>
            <a:off x="10835640" y="2569464"/>
            <a:ext cx="100584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908792" y="2606040"/>
            <a:ext cx="859536" cy="310896"/>
          </a:xfrm>
          <a:prstGeom prst="rect">
            <a:avLst/>
          </a:prstGeom>
          <a:noFill/>
        </p:spPr>
        <p:txBody>
          <a:bodyPr wrap="square">
            <a:spAutoFit/>
          </a:bodyPr>
          <a:lstStyle/>
          <a:p>
            <a:pPr algn="ctr"/>
            <a:r>
              <a:rPr sz="950" b="0">
                <a:solidFill>
                  <a:srgbClr val="B8BECC"/>
                </a:solidFill>
                <a:latin typeface="맑은 고딕"/>
              </a:rPr>
              <a:t>23~25칸</a:t>
            </a:r>
          </a:p>
        </p:txBody>
      </p:sp>
      <p:sp>
        <p:nvSpPr>
          <p:cNvPr id="116" name="Rectangle 115"/>
          <p:cNvSpPr/>
          <p:nvPr/>
        </p:nvSpPr>
        <p:spPr>
          <a:xfrm>
            <a:off x="8549640" y="2953512"/>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622792" y="2990088"/>
            <a:ext cx="1225296" cy="310896"/>
          </a:xfrm>
          <a:prstGeom prst="rect">
            <a:avLst/>
          </a:prstGeom>
          <a:noFill/>
        </p:spPr>
        <p:txBody>
          <a:bodyPr wrap="square">
            <a:spAutoFit/>
          </a:bodyPr>
          <a:lstStyle/>
          <a:p>
            <a:pPr algn="ctr"/>
            <a:r>
              <a:rPr sz="950" b="0">
                <a:solidFill>
                  <a:srgbClr val="FFFFFF"/>
                </a:solidFill>
                <a:latin typeface="맑은 고딕"/>
              </a:rPr>
              <a:t>CH.4 보스 전</a:t>
            </a:r>
          </a:p>
        </p:txBody>
      </p:sp>
      <p:sp>
        <p:nvSpPr>
          <p:cNvPr id="118" name="Rectangle 117"/>
          <p:cNvSpPr/>
          <p:nvPr/>
        </p:nvSpPr>
        <p:spPr>
          <a:xfrm>
            <a:off x="9921240" y="2953512"/>
            <a:ext cx="9144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994392" y="2990088"/>
            <a:ext cx="768096" cy="310896"/>
          </a:xfrm>
          <a:prstGeom prst="rect">
            <a:avLst/>
          </a:prstGeom>
          <a:noFill/>
        </p:spPr>
        <p:txBody>
          <a:bodyPr wrap="square">
            <a:spAutoFit/>
          </a:bodyPr>
          <a:lstStyle/>
          <a:p>
            <a:pPr algn="ctr"/>
            <a:r>
              <a:rPr sz="950" b="0">
                <a:solidFill>
                  <a:srgbClr val="B8BECC"/>
                </a:solidFill>
                <a:latin typeface="맑은 고딕"/>
              </a:rPr>
              <a:t>90~100%</a:t>
            </a:r>
          </a:p>
        </p:txBody>
      </p:sp>
      <p:sp>
        <p:nvSpPr>
          <p:cNvPr id="120" name="Rectangle 119"/>
          <p:cNvSpPr/>
          <p:nvPr/>
        </p:nvSpPr>
        <p:spPr>
          <a:xfrm>
            <a:off x="10835640" y="2953512"/>
            <a:ext cx="100584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908792" y="2990088"/>
            <a:ext cx="859536" cy="310896"/>
          </a:xfrm>
          <a:prstGeom prst="rect">
            <a:avLst/>
          </a:prstGeom>
          <a:noFill/>
        </p:spPr>
        <p:txBody>
          <a:bodyPr wrap="square">
            <a:spAutoFit/>
          </a:bodyPr>
          <a:lstStyle/>
          <a:p>
            <a:pPr algn="ctr"/>
            <a:r>
              <a:rPr sz="950" b="0">
                <a:solidFill>
                  <a:srgbClr val="B8BECC"/>
                </a:solidFill>
                <a:latin typeface="맑은 고딕"/>
              </a:rPr>
              <a:t>27~30칸</a:t>
            </a:r>
          </a:p>
        </p:txBody>
      </p:sp>
      <p:sp>
        <p:nvSpPr>
          <p:cNvPr id="122" name="Rectangle 121"/>
          <p:cNvSpPr/>
          <p:nvPr/>
        </p:nvSpPr>
        <p:spPr>
          <a:xfrm>
            <a:off x="8366760" y="3886200"/>
            <a:ext cx="3474720" cy="24688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366760" y="388620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503920" y="3941063"/>
            <a:ext cx="3200400" cy="256032"/>
          </a:xfrm>
          <a:prstGeom prst="rect">
            <a:avLst/>
          </a:prstGeom>
          <a:noFill/>
        </p:spPr>
        <p:txBody>
          <a:bodyPr wrap="square">
            <a:spAutoFit/>
          </a:bodyPr>
          <a:lstStyle/>
          <a:p>
            <a:pPr algn="l"/>
            <a:r>
              <a:rPr sz="1200" b="1">
                <a:solidFill>
                  <a:srgbClr val="C9A84C"/>
                </a:solidFill>
                <a:latin typeface="맑은 고딕"/>
              </a:rPr>
              <a:t>파워 설계 방향</a:t>
            </a:r>
          </a:p>
        </p:txBody>
      </p:sp>
      <p:sp>
        <p:nvSpPr>
          <p:cNvPr id="125" name="TextBox 124"/>
          <p:cNvSpPr txBox="1"/>
          <p:nvPr/>
        </p:nvSpPr>
        <p:spPr>
          <a:xfrm>
            <a:off x="8549640" y="4297680"/>
            <a:ext cx="3108960" cy="1920240"/>
          </a:xfrm>
          <a:prstGeom prst="rect">
            <a:avLst/>
          </a:prstGeom>
          <a:noFill/>
        </p:spPr>
        <p:txBody>
          <a:bodyPr wrap="square">
            <a:spAutoFit/>
          </a:bodyPr>
          <a:lstStyle/>
          <a:p>
            <a:pPr algn="l"/>
            <a:r>
              <a:rPr sz="1000" b="0">
                <a:solidFill>
                  <a:srgbClr val="FFFFFF"/>
                </a:solidFill>
                <a:latin typeface="맑은 고딕"/>
              </a:rPr>
              <a:t>▸ 챕터1~2: 아이템 개별 효과 중심
▸ 챕터3~4: 시너지 조합 파워 피크
▸ 서약 진화 = 보스 클리어의 직접 보상
  → 보스를 못 잡으면 성장 막힘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메타 진행 — 재화 4종 &amp; 성장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60120"/>
            <a:ext cx="2834640" cy="3383280"/>
          </a:xfrm>
          <a:prstGeom prst="rect">
            <a:avLst/>
          </a:prstGeom>
          <a:solidFill>
            <a:srgbClr val="161B2E"/>
          </a:solidFill>
          <a:ln w="20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05840"/>
            <a:ext cx="2834640" cy="411480"/>
          </a:xfrm>
          <a:prstGeom prst="rect">
            <a:avLst/>
          </a:prstGeom>
          <a:noFill/>
        </p:spPr>
        <p:txBody>
          <a:bodyPr wrap="square">
            <a:spAutoFit/>
          </a:bodyPr>
          <a:lstStyle/>
          <a:p>
            <a:pPr algn="ctr"/>
            <a:r>
              <a:rPr sz="1400" b="1">
                <a:solidFill>
                  <a:srgbClr val="C9A84C"/>
                </a:solidFill>
                <a:latin typeface="맑은 고딕"/>
              </a:rPr>
              <a:t>영혼의 잔재</a:t>
            </a:r>
          </a:p>
        </p:txBody>
      </p:sp>
      <p:sp>
        <p:nvSpPr>
          <p:cNvPr id="8" name="TextBox 7"/>
          <p:cNvSpPr txBox="1"/>
          <p:nvPr/>
        </p:nvSpPr>
        <p:spPr>
          <a:xfrm>
            <a:off x="320040" y="1508760"/>
            <a:ext cx="2834640" cy="640080"/>
          </a:xfrm>
          <a:prstGeom prst="rect">
            <a:avLst/>
          </a:prstGeom>
          <a:noFill/>
        </p:spPr>
        <p:txBody>
          <a:bodyPr wrap="square">
            <a:spAutoFit/>
          </a:bodyPr>
          <a:lstStyle/>
          <a:p>
            <a:pPr algn="ctr"/>
            <a:r>
              <a:rPr sz="3200" b="0">
                <a:solidFill>
                  <a:srgbClr val="C9A84C"/>
                </a:solidFill>
                <a:latin typeface="맑은 고딕"/>
              </a:rPr>
              <a:t>◈</a:t>
            </a:r>
          </a:p>
        </p:txBody>
      </p:sp>
      <p:sp>
        <p:nvSpPr>
          <p:cNvPr id="9" name="TextBox 8"/>
          <p:cNvSpPr txBox="1"/>
          <p:nvPr/>
        </p:nvSpPr>
        <p:spPr>
          <a:xfrm>
            <a:off x="320040" y="2194560"/>
            <a:ext cx="2834640" cy="256032"/>
          </a:xfrm>
          <a:prstGeom prst="rect">
            <a:avLst/>
          </a:prstGeom>
          <a:noFill/>
        </p:spPr>
        <p:txBody>
          <a:bodyPr wrap="square">
            <a:spAutoFit/>
          </a:bodyPr>
          <a:lstStyle/>
          <a:p>
            <a:pPr algn="ctr"/>
            <a:r>
              <a:rPr sz="950" b="0">
                <a:solidFill>
                  <a:srgbClr val="E8D08A"/>
                </a:solidFill>
                <a:latin typeface="맑은 고딕"/>
              </a:rPr>
              <a:t>★ 풍부</a:t>
            </a:r>
          </a:p>
        </p:txBody>
      </p:sp>
      <p:sp>
        <p:nvSpPr>
          <p:cNvPr id="10" name="Rectangle 9"/>
          <p:cNvSpPr/>
          <p:nvPr/>
        </p:nvSpPr>
        <p:spPr>
          <a:xfrm>
            <a:off x="502920"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12" name="TextBox 11"/>
          <p:cNvSpPr txBox="1"/>
          <p:nvPr/>
        </p:nvSpPr>
        <p:spPr>
          <a:xfrm>
            <a:off x="1143000" y="2578608"/>
            <a:ext cx="1828800" cy="457200"/>
          </a:xfrm>
          <a:prstGeom prst="rect">
            <a:avLst/>
          </a:prstGeom>
          <a:noFill/>
        </p:spPr>
        <p:txBody>
          <a:bodyPr wrap="square">
            <a:spAutoFit/>
          </a:bodyPr>
          <a:lstStyle/>
          <a:p>
            <a:pPr algn="l"/>
            <a:r>
              <a:rPr sz="850" b="0">
                <a:solidFill>
                  <a:srgbClr val="B8BECC"/>
                </a:solidFill>
                <a:latin typeface="맑은 고딕"/>
              </a:rPr>
              <a:t>런 종료 시 진행 거리 기반</a:t>
            </a:r>
          </a:p>
        </p:txBody>
      </p:sp>
      <p:sp>
        <p:nvSpPr>
          <p:cNvPr id="13" name="TextBox 12"/>
          <p:cNvSpPr txBox="1"/>
          <p:nvPr/>
        </p:nvSpPr>
        <p:spPr>
          <a:xfrm>
            <a:off x="502920" y="3090672"/>
            <a:ext cx="548640" cy="201168"/>
          </a:xfrm>
          <a:prstGeom prst="rect">
            <a:avLst/>
          </a:prstGeom>
          <a:noFill/>
        </p:spPr>
        <p:txBody>
          <a:bodyPr wrap="square">
            <a:spAutoFit/>
          </a:bodyPr>
          <a:lstStyle/>
          <a:p>
            <a:pPr algn="l"/>
            <a:r>
              <a:rPr sz="800" b="1">
                <a:solidFill>
                  <a:srgbClr val="C9A84C"/>
                </a:solidFill>
                <a:latin typeface="맑은 고딕"/>
              </a:rPr>
              <a:t>소비</a:t>
            </a:r>
          </a:p>
        </p:txBody>
      </p:sp>
      <p:sp>
        <p:nvSpPr>
          <p:cNvPr id="14" name="TextBox 13"/>
          <p:cNvSpPr txBox="1"/>
          <p:nvPr/>
        </p:nvSpPr>
        <p:spPr>
          <a:xfrm>
            <a:off x="1143000" y="3072384"/>
            <a:ext cx="1828800" cy="457200"/>
          </a:xfrm>
          <a:prstGeom prst="rect">
            <a:avLst/>
          </a:prstGeom>
          <a:noFill/>
        </p:spPr>
        <p:txBody>
          <a:bodyPr wrap="square">
            <a:spAutoFit/>
          </a:bodyPr>
          <a:lstStyle/>
          <a:p>
            <a:pPr algn="l"/>
            <a:r>
              <a:rPr sz="1000" b="1">
                <a:solidFill>
                  <a:srgbClr val="FFFFFF"/>
                </a:solidFill>
                <a:latin typeface="맑은 고딕"/>
              </a:rPr>
              <a:t>멀린의 서약
영구 스탯 강화</a:t>
            </a:r>
          </a:p>
        </p:txBody>
      </p:sp>
      <p:sp>
        <p:nvSpPr>
          <p:cNvPr id="15" name="Rectangle 14"/>
          <p:cNvSpPr/>
          <p:nvPr/>
        </p:nvSpPr>
        <p:spPr>
          <a:xfrm>
            <a:off x="3310128" y="960120"/>
            <a:ext cx="2834640" cy="3383280"/>
          </a:xfrm>
          <a:prstGeom prst="rect">
            <a:avLst/>
          </a:prstGeom>
          <a:solidFill>
            <a:srgbClr val="161B2E"/>
          </a:solidFill>
          <a:ln w="2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128"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0128" y="1005840"/>
            <a:ext cx="2834640" cy="411480"/>
          </a:xfrm>
          <a:prstGeom prst="rect">
            <a:avLst/>
          </a:prstGeom>
          <a:noFill/>
        </p:spPr>
        <p:txBody>
          <a:bodyPr wrap="square">
            <a:spAutoFit/>
          </a:bodyPr>
          <a:lstStyle/>
          <a:p>
            <a:pPr algn="ctr"/>
            <a:r>
              <a:rPr sz="1400" b="1">
                <a:solidFill>
                  <a:srgbClr val="4AC2B8"/>
                </a:solidFill>
                <a:latin typeface="맑은 고딕"/>
              </a:rPr>
              <a:t>봉인된 기억</a:t>
            </a:r>
          </a:p>
        </p:txBody>
      </p:sp>
      <p:sp>
        <p:nvSpPr>
          <p:cNvPr id="18" name="TextBox 17"/>
          <p:cNvSpPr txBox="1"/>
          <p:nvPr/>
        </p:nvSpPr>
        <p:spPr>
          <a:xfrm>
            <a:off x="3310128" y="1508760"/>
            <a:ext cx="2834640" cy="640080"/>
          </a:xfrm>
          <a:prstGeom prst="rect">
            <a:avLst/>
          </a:prstGeom>
          <a:noFill/>
        </p:spPr>
        <p:txBody>
          <a:bodyPr wrap="square">
            <a:spAutoFit/>
          </a:bodyPr>
          <a:lstStyle/>
          <a:p>
            <a:pPr algn="ctr"/>
            <a:r>
              <a:rPr sz="3200" b="0">
                <a:solidFill>
                  <a:srgbClr val="4AC2B8"/>
                </a:solidFill>
                <a:latin typeface="맑은 고딕"/>
              </a:rPr>
              <a:t>◉</a:t>
            </a:r>
          </a:p>
        </p:txBody>
      </p:sp>
      <p:sp>
        <p:nvSpPr>
          <p:cNvPr id="19" name="TextBox 18"/>
          <p:cNvSpPr txBox="1"/>
          <p:nvPr/>
        </p:nvSpPr>
        <p:spPr>
          <a:xfrm>
            <a:off x="3310128" y="2194560"/>
            <a:ext cx="2834640" cy="256032"/>
          </a:xfrm>
          <a:prstGeom prst="rect">
            <a:avLst/>
          </a:prstGeom>
          <a:noFill/>
        </p:spPr>
        <p:txBody>
          <a:bodyPr wrap="square">
            <a:spAutoFit/>
          </a:bodyPr>
          <a:lstStyle/>
          <a:p>
            <a:pPr algn="ctr"/>
            <a:r>
              <a:rPr sz="950" b="0">
                <a:solidFill>
                  <a:srgbClr val="E8D08A"/>
                </a:solidFill>
                <a:latin typeface="맑은 고딕"/>
              </a:rPr>
              <a:t>★★★ 희귀</a:t>
            </a:r>
          </a:p>
        </p:txBody>
      </p:sp>
      <p:sp>
        <p:nvSpPr>
          <p:cNvPr id="20" name="Rectangle 19"/>
          <p:cNvSpPr/>
          <p:nvPr/>
        </p:nvSpPr>
        <p:spPr>
          <a:xfrm>
            <a:off x="3493008"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93008"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22" name="TextBox 21"/>
          <p:cNvSpPr txBox="1"/>
          <p:nvPr/>
        </p:nvSpPr>
        <p:spPr>
          <a:xfrm>
            <a:off x="4133088" y="2578608"/>
            <a:ext cx="1828800" cy="457200"/>
          </a:xfrm>
          <a:prstGeom prst="rect">
            <a:avLst/>
          </a:prstGeom>
          <a:noFill/>
        </p:spPr>
        <p:txBody>
          <a:bodyPr wrap="square">
            <a:spAutoFit/>
          </a:bodyPr>
          <a:lstStyle/>
          <a:p>
            <a:pPr algn="l"/>
            <a:r>
              <a:rPr sz="850" b="0">
                <a:solidFill>
                  <a:srgbClr val="B8BECC"/>
                </a:solidFill>
                <a:latin typeface="맑은 고딕"/>
              </a:rPr>
              <a:t>챕터 보스 처치 보장 +
확률 드롭</a:t>
            </a:r>
          </a:p>
        </p:txBody>
      </p:sp>
      <p:sp>
        <p:nvSpPr>
          <p:cNvPr id="23" name="TextBox 22"/>
          <p:cNvSpPr txBox="1"/>
          <p:nvPr/>
        </p:nvSpPr>
        <p:spPr>
          <a:xfrm>
            <a:off x="3493008" y="3090672"/>
            <a:ext cx="548640" cy="201168"/>
          </a:xfrm>
          <a:prstGeom prst="rect">
            <a:avLst/>
          </a:prstGeom>
          <a:noFill/>
        </p:spPr>
        <p:txBody>
          <a:bodyPr wrap="square">
            <a:spAutoFit/>
          </a:bodyPr>
          <a:lstStyle/>
          <a:p>
            <a:pPr algn="l"/>
            <a:r>
              <a:rPr sz="800" b="1">
                <a:solidFill>
                  <a:srgbClr val="4AC2B8"/>
                </a:solidFill>
                <a:latin typeface="맑은 고딕"/>
              </a:rPr>
              <a:t>소비</a:t>
            </a:r>
          </a:p>
        </p:txBody>
      </p:sp>
      <p:sp>
        <p:nvSpPr>
          <p:cNvPr id="24" name="TextBox 23"/>
          <p:cNvSpPr txBox="1"/>
          <p:nvPr/>
        </p:nvSpPr>
        <p:spPr>
          <a:xfrm>
            <a:off x="4133088" y="3072384"/>
            <a:ext cx="1828800" cy="457200"/>
          </a:xfrm>
          <a:prstGeom prst="rect">
            <a:avLst/>
          </a:prstGeom>
          <a:noFill/>
        </p:spPr>
        <p:txBody>
          <a:bodyPr wrap="square">
            <a:spAutoFit/>
          </a:bodyPr>
          <a:lstStyle/>
          <a:p>
            <a:pPr algn="l"/>
            <a:r>
              <a:rPr sz="1000" b="1">
                <a:solidFill>
                  <a:srgbClr val="FFFFFF"/>
                </a:solidFill>
                <a:latin typeface="맑은 고딕"/>
              </a:rPr>
              <a:t>유물 해방
새 영웅 언락</a:t>
            </a:r>
          </a:p>
        </p:txBody>
      </p:sp>
      <p:sp>
        <p:nvSpPr>
          <p:cNvPr id="25" name="Rectangle 24"/>
          <p:cNvSpPr/>
          <p:nvPr/>
        </p:nvSpPr>
        <p:spPr>
          <a:xfrm>
            <a:off x="6300216" y="960120"/>
            <a:ext cx="2834640" cy="3383280"/>
          </a:xfrm>
          <a:prstGeom prst="rect">
            <a:avLst/>
          </a:prstGeom>
          <a:solidFill>
            <a:srgbClr val="161B2E"/>
          </a:solidFill>
          <a:ln w="20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0216"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0216" y="1005840"/>
            <a:ext cx="2834640" cy="411480"/>
          </a:xfrm>
          <a:prstGeom prst="rect">
            <a:avLst/>
          </a:prstGeom>
          <a:noFill/>
        </p:spPr>
        <p:txBody>
          <a:bodyPr wrap="square">
            <a:spAutoFit/>
          </a:bodyPr>
          <a:lstStyle/>
          <a:p>
            <a:pPr algn="ctr"/>
            <a:r>
              <a:rPr sz="1400" b="1">
                <a:solidFill>
                  <a:srgbClr val="6B3F8E"/>
                </a:solidFill>
                <a:latin typeface="맑은 고딕"/>
              </a:rPr>
              <a:t>유물 코어</a:t>
            </a:r>
          </a:p>
        </p:txBody>
      </p:sp>
      <p:sp>
        <p:nvSpPr>
          <p:cNvPr id="28" name="TextBox 27"/>
          <p:cNvSpPr txBox="1"/>
          <p:nvPr/>
        </p:nvSpPr>
        <p:spPr>
          <a:xfrm>
            <a:off x="6300216" y="1508760"/>
            <a:ext cx="2834640" cy="640080"/>
          </a:xfrm>
          <a:prstGeom prst="rect">
            <a:avLst/>
          </a:prstGeom>
          <a:noFill/>
        </p:spPr>
        <p:txBody>
          <a:bodyPr wrap="square">
            <a:spAutoFit/>
          </a:bodyPr>
          <a:lstStyle/>
          <a:p>
            <a:pPr algn="ctr"/>
            <a:r>
              <a:rPr sz="3200" b="0">
                <a:solidFill>
                  <a:srgbClr val="6B3F8E"/>
                </a:solidFill>
                <a:latin typeface="맑은 고딕"/>
              </a:rPr>
              <a:t>✦</a:t>
            </a:r>
          </a:p>
        </p:txBody>
      </p:sp>
      <p:sp>
        <p:nvSpPr>
          <p:cNvPr id="29" name="TextBox 28"/>
          <p:cNvSpPr txBox="1"/>
          <p:nvPr/>
        </p:nvSpPr>
        <p:spPr>
          <a:xfrm>
            <a:off x="6300216" y="2194560"/>
            <a:ext cx="2834640" cy="256032"/>
          </a:xfrm>
          <a:prstGeom prst="rect">
            <a:avLst/>
          </a:prstGeom>
          <a:noFill/>
        </p:spPr>
        <p:txBody>
          <a:bodyPr wrap="square">
            <a:spAutoFit/>
          </a:bodyPr>
          <a:lstStyle/>
          <a:p>
            <a:pPr algn="ctr"/>
            <a:r>
              <a:rPr sz="950" b="0">
                <a:solidFill>
                  <a:srgbClr val="E8D08A"/>
                </a:solidFill>
                <a:latin typeface="맑은 고딕"/>
              </a:rPr>
              <a:t>★★★★★ 극희귀</a:t>
            </a:r>
          </a:p>
        </p:txBody>
      </p:sp>
      <p:sp>
        <p:nvSpPr>
          <p:cNvPr id="30" name="Rectangle 29"/>
          <p:cNvSpPr/>
          <p:nvPr/>
        </p:nvSpPr>
        <p:spPr>
          <a:xfrm>
            <a:off x="6483096"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83096"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32" name="TextBox 31"/>
          <p:cNvSpPr txBox="1"/>
          <p:nvPr/>
        </p:nvSpPr>
        <p:spPr>
          <a:xfrm>
            <a:off x="7123176" y="2578608"/>
            <a:ext cx="1828800" cy="457200"/>
          </a:xfrm>
          <a:prstGeom prst="rect">
            <a:avLst/>
          </a:prstGeom>
          <a:noFill/>
        </p:spPr>
        <p:txBody>
          <a:bodyPr wrap="square">
            <a:spAutoFit/>
          </a:bodyPr>
          <a:lstStyle/>
          <a:p>
            <a:pPr algn="l"/>
            <a:r>
              <a:rPr sz="850" b="0">
                <a:solidFill>
                  <a:srgbClr val="B8BECC"/>
                </a:solidFill>
                <a:latin typeface="맑은 고딕"/>
              </a:rPr>
              <a:t>리치 첫 격파 ×4 일괄
+ 완전해방 보스 첫 격파 ×1</a:t>
            </a:r>
          </a:p>
        </p:txBody>
      </p:sp>
      <p:sp>
        <p:nvSpPr>
          <p:cNvPr id="33" name="TextBox 32"/>
          <p:cNvSpPr txBox="1"/>
          <p:nvPr/>
        </p:nvSpPr>
        <p:spPr>
          <a:xfrm>
            <a:off x="6483096" y="3090672"/>
            <a:ext cx="548640" cy="201168"/>
          </a:xfrm>
          <a:prstGeom prst="rect">
            <a:avLst/>
          </a:prstGeom>
          <a:noFill/>
        </p:spPr>
        <p:txBody>
          <a:bodyPr wrap="square">
            <a:spAutoFit/>
          </a:bodyPr>
          <a:lstStyle/>
          <a:p>
            <a:pPr algn="l"/>
            <a:r>
              <a:rPr sz="800" b="1">
                <a:solidFill>
                  <a:srgbClr val="6B3F8E"/>
                </a:solidFill>
                <a:latin typeface="맑은 고딕"/>
              </a:rPr>
              <a:t>소비</a:t>
            </a:r>
          </a:p>
        </p:txBody>
      </p:sp>
      <p:sp>
        <p:nvSpPr>
          <p:cNvPr id="34" name="TextBox 33"/>
          <p:cNvSpPr txBox="1"/>
          <p:nvPr/>
        </p:nvSpPr>
        <p:spPr>
          <a:xfrm>
            <a:off x="7123176" y="3072384"/>
            <a:ext cx="1828800" cy="457200"/>
          </a:xfrm>
          <a:prstGeom prst="rect">
            <a:avLst/>
          </a:prstGeom>
          <a:noFill/>
        </p:spPr>
        <p:txBody>
          <a:bodyPr wrap="square">
            <a:spAutoFit/>
          </a:bodyPr>
          <a:lstStyle/>
          <a:p>
            <a:pPr algn="l"/>
            <a:r>
              <a:rPr sz="1000" b="1">
                <a:solidFill>
                  <a:srgbClr val="FFFFFF"/>
                </a:solidFill>
                <a:latin typeface="맑은 고딕"/>
              </a:rPr>
              <a:t>유물 각성
메커닉 심화</a:t>
            </a:r>
          </a:p>
        </p:txBody>
      </p:sp>
      <p:sp>
        <p:nvSpPr>
          <p:cNvPr id="35" name="Rectangle 34"/>
          <p:cNvSpPr/>
          <p:nvPr/>
        </p:nvSpPr>
        <p:spPr>
          <a:xfrm>
            <a:off x="9290304" y="960120"/>
            <a:ext cx="2834640" cy="3383280"/>
          </a:xfrm>
          <a:prstGeom prst="rect">
            <a:avLst/>
          </a:prstGeom>
          <a:solidFill>
            <a:srgbClr val="161B2E"/>
          </a:solidFill>
          <a:ln w="20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90304" y="960120"/>
            <a:ext cx="283464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90304" y="1005840"/>
            <a:ext cx="2834640" cy="411480"/>
          </a:xfrm>
          <a:prstGeom prst="rect">
            <a:avLst/>
          </a:prstGeom>
          <a:noFill/>
        </p:spPr>
        <p:txBody>
          <a:bodyPr wrap="square">
            <a:spAutoFit/>
          </a:bodyPr>
          <a:lstStyle/>
          <a:p>
            <a:pPr algn="ctr"/>
            <a:r>
              <a:rPr sz="1400" b="1">
                <a:solidFill>
                  <a:srgbClr val="FFB840"/>
                </a:solidFill>
                <a:latin typeface="맑은 고딕"/>
              </a:rPr>
              <a:t>잔류 각인</a:t>
            </a:r>
          </a:p>
        </p:txBody>
      </p:sp>
      <p:sp>
        <p:nvSpPr>
          <p:cNvPr id="38" name="TextBox 37"/>
          <p:cNvSpPr txBox="1"/>
          <p:nvPr/>
        </p:nvSpPr>
        <p:spPr>
          <a:xfrm>
            <a:off x="9290304" y="1508760"/>
            <a:ext cx="2834640" cy="640080"/>
          </a:xfrm>
          <a:prstGeom prst="rect">
            <a:avLst/>
          </a:prstGeom>
          <a:noFill/>
        </p:spPr>
        <p:txBody>
          <a:bodyPr wrap="square">
            <a:spAutoFit/>
          </a:bodyPr>
          <a:lstStyle/>
          <a:p>
            <a:pPr algn="ctr"/>
            <a:r>
              <a:rPr sz="3200" b="0">
                <a:solidFill>
                  <a:srgbClr val="FFB840"/>
                </a:solidFill>
                <a:latin typeface="맑은 고딕"/>
              </a:rPr>
              <a:t>◆</a:t>
            </a:r>
          </a:p>
        </p:txBody>
      </p:sp>
      <p:sp>
        <p:nvSpPr>
          <p:cNvPr id="39" name="TextBox 38"/>
          <p:cNvSpPr txBox="1"/>
          <p:nvPr/>
        </p:nvSpPr>
        <p:spPr>
          <a:xfrm>
            <a:off x="9290304" y="2194560"/>
            <a:ext cx="2834640" cy="256032"/>
          </a:xfrm>
          <a:prstGeom prst="rect">
            <a:avLst/>
          </a:prstGeom>
          <a:noFill/>
        </p:spPr>
        <p:txBody>
          <a:bodyPr wrap="square">
            <a:spAutoFit/>
          </a:bodyPr>
          <a:lstStyle/>
          <a:p>
            <a:pPr algn="ctr"/>
            <a:r>
              <a:rPr sz="950" b="0">
                <a:solidFill>
                  <a:srgbClr val="E8D08A"/>
                </a:solidFill>
                <a:latin typeface="맑은 고딕"/>
              </a:rPr>
              <a:t>★★★ 희귀</a:t>
            </a:r>
          </a:p>
        </p:txBody>
      </p:sp>
      <p:sp>
        <p:nvSpPr>
          <p:cNvPr id="40" name="Rectangle 39"/>
          <p:cNvSpPr/>
          <p:nvPr/>
        </p:nvSpPr>
        <p:spPr>
          <a:xfrm>
            <a:off x="9473184" y="25146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73184" y="2596896"/>
            <a:ext cx="548640" cy="201168"/>
          </a:xfrm>
          <a:prstGeom prst="rect">
            <a:avLst/>
          </a:prstGeom>
          <a:noFill/>
        </p:spPr>
        <p:txBody>
          <a:bodyPr wrap="square">
            <a:spAutoFit/>
          </a:bodyPr>
          <a:lstStyle/>
          <a:p>
            <a:pPr algn="l"/>
            <a:r>
              <a:rPr sz="800" b="1">
                <a:solidFill>
                  <a:srgbClr val="727A8E"/>
                </a:solidFill>
                <a:latin typeface="맑은 고딕"/>
              </a:rPr>
              <a:t>획득</a:t>
            </a:r>
          </a:p>
        </p:txBody>
      </p:sp>
      <p:sp>
        <p:nvSpPr>
          <p:cNvPr id="42" name="TextBox 41"/>
          <p:cNvSpPr txBox="1"/>
          <p:nvPr/>
        </p:nvSpPr>
        <p:spPr>
          <a:xfrm>
            <a:off x="10113264" y="2578608"/>
            <a:ext cx="1828800" cy="457200"/>
          </a:xfrm>
          <a:prstGeom prst="rect">
            <a:avLst/>
          </a:prstGeom>
          <a:noFill/>
        </p:spPr>
        <p:txBody>
          <a:bodyPr wrap="square">
            <a:spAutoFit/>
          </a:bodyPr>
          <a:lstStyle/>
          <a:p>
            <a:pPr algn="l"/>
            <a:r>
              <a:rPr sz="850" b="0">
                <a:solidFill>
                  <a:srgbClr val="B8BECC"/>
                </a:solidFill>
                <a:latin typeface="맑은 고딕"/>
              </a:rPr>
              <a:t>완전 해방 보스 재격파 시
×3~5</a:t>
            </a:r>
          </a:p>
        </p:txBody>
      </p:sp>
      <p:sp>
        <p:nvSpPr>
          <p:cNvPr id="43" name="TextBox 42"/>
          <p:cNvSpPr txBox="1"/>
          <p:nvPr/>
        </p:nvSpPr>
        <p:spPr>
          <a:xfrm>
            <a:off x="9473184" y="3090672"/>
            <a:ext cx="548640" cy="201168"/>
          </a:xfrm>
          <a:prstGeom prst="rect">
            <a:avLst/>
          </a:prstGeom>
          <a:noFill/>
        </p:spPr>
        <p:txBody>
          <a:bodyPr wrap="square">
            <a:spAutoFit/>
          </a:bodyPr>
          <a:lstStyle/>
          <a:p>
            <a:pPr algn="l"/>
            <a:r>
              <a:rPr sz="800" b="1">
                <a:solidFill>
                  <a:srgbClr val="FFB840"/>
                </a:solidFill>
                <a:latin typeface="맑은 고딕"/>
              </a:rPr>
              <a:t>소비</a:t>
            </a:r>
          </a:p>
        </p:txBody>
      </p:sp>
      <p:sp>
        <p:nvSpPr>
          <p:cNvPr id="44" name="TextBox 43"/>
          <p:cNvSpPr txBox="1"/>
          <p:nvPr/>
        </p:nvSpPr>
        <p:spPr>
          <a:xfrm>
            <a:off x="10113264" y="3072384"/>
            <a:ext cx="1828800" cy="457200"/>
          </a:xfrm>
          <a:prstGeom prst="rect">
            <a:avLst/>
          </a:prstGeom>
          <a:noFill/>
        </p:spPr>
        <p:txBody>
          <a:bodyPr wrap="square">
            <a:spAutoFit/>
          </a:bodyPr>
          <a:lstStyle/>
          <a:p>
            <a:pPr algn="l"/>
            <a:r>
              <a:rPr sz="1000" b="1">
                <a:solidFill>
                  <a:srgbClr val="FFFFFF"/>
                </a:solidFill>
                <a:latin typeface="맑은 고딕"/>
              </a:rPr>
              <a:t>유물 코어 교환
(각인 ×5 = 코어 ×1)</a:t>
            </a:r>
          </a:p>
        </p:txBody>
      </p:sp>
      <p:sp>
        <p:nvSpPr>
          <p:cNvPr id="45" name="Rectangle 44"/>
          <p:cNvSpPr/>
          <p:nvPr/>
        </p:nvSpPr>
        <p:spPr>
          <a:xfrm>
            <a:off x="320040" y="4526280"/>
            <a:ext cx="1152144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040" y="4526280"/>
            <a:ext cx="115214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581144"/>
            <a:ext cx="11247119" cy="256032"/>
          </a:xfrm>
          <a:prstGeom prst="rect">
            <a:avLst/>
          </a:prstGeom>
          <a:noFill/>
        </p:spPr>
        <p:txBody>
          <a:bodyPr wrap="square">
            <a:spAutoFit/>
          </a:bodyPr>
          <a:lstStyle/>
          <a:p>
            <a:pPr algn="l"/>
            <a:r>
              <a:rPr sz="1200" b="1">
                <a:solidFill>
                  <a:srgbClr val="C9A84C"/>
                </a:solidFill>
                <a:latin typeface="맑은 고딕"/>
              </a:rPr>
              <a:t>런당 평균 획득량 (풀클리어 기준)</a:t>
            </a:r>
          </a:p>
        </p:txBody>
      </p:sp>
      <p:sp>
        <p:nvSpPr>
          <p:cNvPr id="48" name="Rectangle 47"/>
          <p:cNvSpPr/>
          <p:nvPr/>
        </p:nvSpPr>
        <p:spPr>
          <a:xfrm>
            <a:off x="502920" y="4956048"/>
            <a:ext cx="201168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6072" y="4992624"/>
            <a:ext cx="1865376" cy="292608"/>
          </a:xfrm>
          <a:prstGeom prst="rect">
            <a:avLst/>
          </a:prstGeom>
          <a:noFill/>
        </p:spPr>
        <p:txBody>
          <a:bodyPr wrap="square">
            <a:spAutoFit/>
          </a:bodyPr>
          <a:lstStyle/>
          <a:p>
            <a:pPr algn="ctr"/>
            <a:r>
              <a:rPr sz="1000" b="1">
                <a:solidFill>
                  <a:srgbClr val="C9A84C"/>
                </a:solidFill>
                <a:latin typeface="맑은 고딕"/>
              </a:rPr>
              <a:t>재화</a:t>
            </a:r>
          </a:p>
        </p:txBody>
      </p:sp>
      <p:sp>
        <p:nvSpPr>
          <p:cNvPr id="50" name="Rectangle 49"/>
          <p:cNvSpPr/>
          <p:nvPr/>
        </p:nvSpPr>
        <p:spPr>
          <a:xfrm>
            <a:off x="2514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87752" y="4992624"/>
            <a:ext cx="2139696" cy="292608"/>
          </a:xfrm>
          <a:prstGeom prst="rect">
            <a:avLst/>
          </a:prstGeom>
          <a:noFill/>
        </p:spPr>
        <p:txBody>
          <a:bodyPr wrap="square">
            <a:spAutoFit/>
          </a:bodyPr>
          <a:lstStyle/>
          <a:p>
            <a:pPr algn="ctr"/>
            <a:r>
              <a:rPr sz="1000" b="1">
                <a:solidFill>
                  <a:srgbClr val="C9A84C"/>
                </a:solidFill>
                <a:latin typeface="맑은 고딕"/>
              </a:rPr>
              <a:t>CH.1 클리어</a:t>
            </a:r>
          </a:p>
        </p:txBody>
      </p:sp>
      <p:sp>
        <p:nvSpPr>
          <p:cNvPr id="52" name="Rectangle 51"/>
          <p:cNvSpPr/>
          <p:nvPr/>
        </p:nvSpPr>
        <p:spPr>
          <a:xfrm>
            <a:off x="4800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73752" y="4992624"/>
            <a:ext cx="2139696" cy="292608"/>
          </a:xfrm>
          <a:prstGeom prst="rect">
            <a:avLst/>
          </a:prstGeom>
          <a:noFill/>
        </p:spPr>
        <p:txBody>
          <a:bodyPr wrap="square">
            <a:spAutoFit/>
          </a:bodyPr>
          <a:lstStyle/>
          <a:p>
            <a:pPr algn="ctr"/>
            <a:r>
              <a:rPr sz="1000" b="1">
                <a:solidFill>
                  <a:srgbClr val="C9A84C"/>
                </a:solidFill>
                <a:latin typeface="맑은 고딕"/>
              </a:rPr>
              <a:t>CH.2 클리어</a:t>
            </a:r>
          </a:p>
        </p:txBody>
      </p:sp>
      <p:sp>
        <p:nvSpPr>
          <p:cNvPr id="54" name="Rectangle 53"/>
          <p:cNvSpPr/>
          <p:nvPr/>
        </p:nvSpPr>
        <p:spPr>
          <a:xfrm>
            <a:off x="7086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59752" y="4992624"/>
            <a:ext cx="2139696" cy="292608"/>
          </a:xfrm>
          <a:prstGeom prst="rect">
            <a:avLst/>
          </a:prstGeom>
          <a:noFill/>
        </p:spPr>
        <p:txBody>
          <a:bodyPr wrap="square">
            <a:spAutoFit/>
          </a:bodyPr>
          <a:lstStyle/>
          <a:p>
            <a:pPr algn="ctr"/>
            <a:r>
              <a:rPr sz="1000" b="1">
                <a:solidFill>
                  <a:srgbClr val="C9A84C"/>
                </a:solidFill>
                <a:latin typeface="맑은 고딕"/>
              </a:rPr>
              <a:t>CH.3 클리어</a:t>
            </a:r>
          </a:p>
        </p:txBody>
      </p:sp>
      <p:sp>
        <p:nvSpPr>
          <p:cNvPr id="56" name="Rectangle 55"/>
          <p:cNvSpPr/>
          <p:nvPr/>
        </p:nvSpPr>
        <p:spPr>
          <a:xfrm>
            <a:off x="9372600" y="4956048"/>
            <a:ext cx="2286000" cy="36576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45752" y="4992624"/>
            <a:ext cx="2139696" cy="292608"/>
          </a:xfrm>
          <a:prstGeom prst="rect">
            <a:avLst/>
          </a:prstGeom>
          <a:noFill/>
        </p:spPr>
        <p:txBody>
          <a:bodyPr wrap="square">
            <a:spAutoFit/>
          </a:bodyPr>
          <a:lstStyle/>
          <a:p>
            <a:pPr algn="ctr"/>
            <a:r>
              <a:rPr sz="1000" b="1">
                <a:solidFill>
                  <a:srgbClr val="C9A84C"/>
                </a:solidFill>
                <a:latin typeface="맑은 고딕"/>
              </a:rPr>
              <a:t>CH.4 클리어</a:t>
            </a:r>
          </a:p>
        </p:txBody>
      </p:sp>
      <p:sp>
        <p:nvSpPr>
          <p:cNvPr id="58" name="Rectangle 57"/>
          <p:cNvSpPr/>
          <p:nvPr/>
        </p:nvSpPr>
        <p:spPr>
          <a:xfrm>
            <a:off x="502920" y="5321808"/>
            <a:ext cx="201168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6072" y="5358384"/>
            <a:ext cx="1865376" cy="292608"/>
          </a:xfrm>
          <a:prstGeom prst="rect">
            <a:avLst/>
          </a:prstGeom>
          <a:noFill/>
        </p:spPr>
        <p:txBody>
          <a:bodyPr wrap="square">
            <a:spAutoFit/>
          </a:bodyPr>
          <a:lstStyle/>
          <a:p>
            <a:pPr algn="ctr"/>
            <a:r>
              <a:rPr sz="950" b="0">
                <a:solidFill>
                  <a:srgbClr val="FFFFFF"/>
                </a:solidFill>
                <a:latin typeface="맑은 고딕"/>
              </a:rPr>
              <a:t>영혼의 잔재</a:t>
            </a:r>
          </a:p>
        </p:txBody>
      </p:sp>
      <p:sp>
        <p:nvSpPr>
          <p:cNvPr id="60" name="Rectangle 59"/>
          <p:cNvSpPr/>
          <p:nvPr/>
        </p:nvSpPr>
        <p:spPr>
          <a:xfrm>
            <a:off x="2514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87752" y="5358384"/>
            <a:ext cx="2139696" cy="292608"/>
          </a:xfrm>
          <a:prstGeom prst="rect">
            <a:avLst/>
          </a:prstGeom>
          <a:noFill/>
        </p:spPr>
        <p:txBody>
          <a:bodyPr wrap="square">
            <a:spAutoFit/>
          </a:bodyPr>
          <a:lstStyle/>
          <a:p>
            <a:pPr algn="ctr"/>
            <a:r>
              <a:rPr sz="950" b="0">
                <a:solidFill>
                  <a:srgbClr val="B8BECC"/>
                </a:solidFill>
                <a:latin typeface="맑은 고딕"/>
              </a:rPr>
              <a:t>400~600</a:t>
            </a:r>
          </a:p>
        </p:txBody>
      </p:sp>
      <p:sp>
        <p:nvSpPr>
          <p:cNvPr id="62" name="Rectangle 61"/>
          <p:cNvSpPr/>
          <p:nvPr/>
        </p:nvSpPr>
        <p:spPr>
          <a:xfrm>
            <a:off x="4800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73752" y="5358384"/>
            <a:ext cx="2139696" cy="292608"/>
          </a:xfrm>
          <a:prstGeom prst="rect">
            <a:avLst/>
          </a:prstGeom>
          <a:noFill/>
        </p:spPr>
        <p:txBody>
          <a:bodyPr wrap="square">
            <a:spAutoFit/>
          </a:bodyPr>
          <a:lstStyle/>
          <a:p>
            <a:pPr algn="ctr"/>
            <a:r>
              <a:rPr sz="950" b="0">
                <a:solidFill>
                  <a:srgbClr val="B8BECC"/>
                </a:solidFill>
                <a:latin typeface="맑은 고딕"/>
              </a:rPr>
              <a:t>700~900</a:t>
            </a:r>
          </a:p>
        </p:txBody>
      </p:sp>
      <p:sp>
        <p:nvSpPr>
          <p:cNvPr id="64" name="Rectangle 63"/>
          <p:cNvSpPr/>
          <p:nvPr/>
        </p:nvSpPr>
        <p:spPr>
          <a:xfrm>
            <a:off x="7086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59752" y="5358384"/>
            <a:ext cx="2139696" cy="292608"/>
          </a:xfrm>
          <a:prstGeom prst="rect">
            <a:avLst/>
          </a:prstGeom>
          <a:noFill/>
        </p:spPr>
        <p:txBody>
          <a:bodyPr wrap="square">
            <a:spAutoFit/>
          </a:bodyPr>
          <a:lstStyle/>
          <a:p>
            <a:pPr algn="ctr"/>
            <a:r>
              <a:rPr sz="950" b="0">
                <a:solidFill>
                  <a:srgbClr val="B8BECC"/>
                </a:solidFill>
                <a:latin typeface="맑은 고딕"/>
              </a:rPr>
              <a:t>900~1,100</a:t>
            </a:r>
          </a:p>
        </p:txBody>
      </p:sp>
      <p:sp>
        <p:nvSpPr>
          <p:cNvPr id="66" name="Rectangle 65"/>
          <p:cNvSpPr/>
          <p:nvPr/>
        </p:nvSpPr>
        <p:spPr>
          <a:xfrm>
            <a:off x="9372600" y="532180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45752" y="5358384"/>
            <a:ext cx="2139696" cy="292608"/>
          </a:xfrm>
          <a:prstGeom prst="rect">
            <a:avLst/>
          </a:prstGeom>
          <a:noFill/>
        </p:spPr>
        <p:txBody>
          <a:bodyPr wrap="square">
            <a:spAutoFit/>
          </a:bodyPr>
          <a:lstStyle/>
          <a:p>
            <a:pPr algn="ctr"/>
            <a:r>
              <a:rPr sz="950" b="0">
                <a:solidFill>
                  <a:srgbClr val="B8BECC"/>
                </a:solidFill>
                <a:latin typeface="맑은 고딕"/>
              </a:rPr>
              <a:t>1,200~1,500</a:t>
            </a:r>
          </a:p>
        </p:txBody>
      </p:sp>
      <p:sp>
        <p:nvSpPr>
          <p:cNvPr id="68" name="Rectangle 67"/>
          <p:cNvSpPr/>
          <p:nvPr/>
        </p:nvSpPr>
        <p:spPr>
          <a:xfrm>
            <a:off x="502920" y="5687568"/>
            <a:ext cx="201168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76072" y="5724144"/>
            <a:ext cx="1865376" cy="292608"/>
          </a:xfrm>
          <a:prstGeom prst="rect">
            <a:avLst/>
          </a:prstGeom>
          <a:noFill/>
        </p:spPr>
        <p:txBody>
          <a:bodyPr wrap="square">
            <a:spAutoFit/>
          </a:bodyPr>
          <a:lstStyle/>
          <a:p>
            <a:pPr algn="ctr"/>
            <a:r>
              <a:rPr sz="950" b="0">
                <a:solidFill>
                  <a:srgbClr val="FFFFFF"/>
                </a:solidFill>
                <a:latin typeface="맑은 고딕"/>
              </a:rPr>
              <a:t>봉인된 기억</a:t>
            </a:r>
          </a:p>
        </p:txBody>
      </p:sp>
      <p:sp>
        <p:nvSpPr>
          <p:cNvPr id="70" name="Rectangle 69"/>
          <p:cNvSpPr/>
          <p:nvPr/>
        </p:nvSpPr>
        <p:spPr>
          <a:xfrm>
            <a:off x="2514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587752" y="5724144"/>
            <a:ext cx="2139696" cy="292608"/>
          </a:xfrm>
          <a:prstGeom prst="rect">
            <a:avLst/>
          </a:prstGeom>
          <a:noFill/>
        </p:spPr>
        <p:txBody>
          <a:bodyPr wrap="square">
            <a:spAutoFit/>
          </a:bodyPr>
          <a:lstStyle/>
          <a:p>
            <a:pPr algn="ctr"/>
            <a:r>
              <a:rPr sz="950" b="0">
                <a:solidFill>
                  <a:srgbClr val="B8BECC"/>
                </a:solidFill>
                <a:latin typeface="맑은 고딕"/>
              </a:rPr>
              <a:t>×1 보장</a:t>
            </a:r>
          </a:p>
        </p:txBody>
      </p:sp>
      <p:sp>
        <p:nvSpPr>
          <p:cNvPr id="72" name="Rectangle 71"/>
          <p:cNvSpPr/>
          <p:nvPr/>
        </p:nvSpPr>
        <p:spPr>
          <a:xfrm>
            <a:off x="4800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873752" y="5724144"/>
            <a:ext cx="2139696" cy="292608"/>
          </a:xfrm>
          <a:prstGeom prst="rect">
            <a:avLst/>
          </a:prstGeom>
          <a:noFill/>
        </p:spPr>
        <p:txBody>
          <a:bodyPr wrap="square">
            <a:spAutoFit/>
          </a:bodyPr>
          <a:lstStyle/>
          <a:p>
            <a:pPr algn="ctr"/>
            <a:r>
              <a:rPr sz="950" b="0">
                <a:solidFill>
                  <a:srgbClr val="B8BECC"/>
                </a:solidFill>
                <a:latin typeface="맑은 고딕"/>
              </a:rPr>
              <a:t>×1 보장</a:t>
            </a:r>
          </a:p>
        </p:txBody>
      </p:sp>
      <p:sp>
        <p:nvSpPr>
          <p:cNvPr id="74" name="Rectangle 73"/>
          <p:cNvSpPr/>
          <p:nvPr/>
        </p:nvSpPr>
        <p:spPr>
          <a:xfrm>
            <a:off x="7086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59752" y="5724144"/>
            <a:ext cx="2139696" cy="292608"/>
          </a:xfrm>
          <a:prstGeom prst="rect">
            <a:avLst/>
          </a:prstGeom>
          <a:noFill/>
        </p:spPr>
        <p:txBody>
          <a:bodyPr wrap="square">
            <a:spAutoFit/>
          </a:bodyPr>
          <a:lstStyle/>
          <a:p>
            <a:pPr algn="ctr"/>
            <a:r>
              <a:rPr sz="950" b="0">
                <a:solidFill>
                  <a:srgbClr val="B8BECC"/>
                </a:solidFill>
                <a:latin typeface="맑은 고딕"/>
              </a:rPr>
              <a:t>×2 보장</a:t>
            </a:r>
          </a:p>
        </p:txBody>
      </p:sp>
      <p:sp>
        <p:nvSpPr>
          <p:cNvPr id="76" name="Rectangle 75"/>
          <p:cNvSpPr/>
          <p:nvPr/>
        </p:nvSpPr>
        <p:spPr>
          <a:xfrm>
            <a:off x="9372600" y="568756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445752" y="5724144"/>
            <a:ext cx="2139696" cy="292608"/>
          </a:xfrm>
          <a:prstGeom prst="rect">
            <a:avLst/>
          </a:prstGeom>
          <a:noFill/>
        </p:spPr>
        <p:txBody>
          <a:bodyPr wrap="square">
            <a:spAutoFit/>
          </a:bodyPr>
          <a:lstStyle/>
          <a:p>
            <a:pPr algn="ctr"/>
            <a:r>
              <a:rPr sz="950" b="0">
                <a:solidFill>
                  <a:srgbClr val="B8BECC"/>
                </a:solidFill>
                <a:latin typeface="맑은 고딕"/>
              </a:rPr>
              <a:t>×2 보장</a:t>
            </a:r>
          </a:p>
        </p:txBody>
      </p:sp>
      <p:sp>
        <p:nvSpPr>
          <p:cNvPr id="78" name="Rectangle 77"/>
          <p:cNvSpPr/>
          <p:nvPr/>
        </p:nvSpPr>
        <p:spPr>
          <a:xfrm>
            <a:off x="502920" y="6053328"/>
            <a:ext cx="201168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76072" y="6089904"/>
            <a:ext cx="1865376" cy="292608"/>
          </a:xfrm>
          <a:prstGeom prst="rect">
            <a:avLst/>
          </a:prstGeom>
          <a:noFill/>
        </p:spPr>
        <p:txBody>
          <a:bodyPr wrap="square">
            <a:spAutoFit/>
          </a:bodyPr>
          <a:lstStyle/>
          <a:p>
            <a:pPr algn="ctr"/>
            <a:r>
              <a:rPr sz="950" b="0">
                <a:solidFill>
                  <a:srgbClr val="FFFFFF"/>
                </a:solidFill>
                <a:latin typeface="맑은 고딕"/>
              </a:rPr>
              <a:t>유물 코어</a:t>
            </a:r>
          </a:p>
        </p:txBody>
      </p:sp>
      <p:sp>
        <p:nvSpPr>
          <p:cNvPr id="80" name="Rectangle 79"/>
          <p:cNvSpPr/>
          <p:nvPr/>
        </p:nvSpPr>
        <p:spPr>
          <a:xfrm>
            <a:off x="2514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587752" y="608990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82" name="Rectangle 81"/>
          <p:cNvSpPr/>
          <p:nvPr/>
        </p:nvSpPr>
        <p:spPr>
          <a:xfrm>
            <a:off x="4800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873752" y="608990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84" name="Rectangle 83"/>
          <p:cNvSpPr/>
          <p:nvPr/>
        </p:nvSpPr>
        <p:spPr>
          <a:xfrm>
            <a:off x="7086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159752" y="608990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86" name="Rectangle 85"/>
          <p:cNvSpPr/>
          <p:nvPr/>
        </p:nvSpPr>
        <p:spPr>
          <a:xfrm>
            <a:off x="9372600" y="6053328"/>
            <a:ext cx="2286000" cy="36576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445752" y="6089904"/>
            <a:ext cx="2139696" cy="292608"/>
          </a:xfrm>
          <a:prstGeom prst="rect">
            <a:avLst/>
          </a:prstGeom>
          <a:noFill/>
        </p:spPr>
        <p:txBody>
          <a:bodyPr wrap="square">
            <a:spAutoFit/>
          </a:bodyPr>
          <a:lstStyle/>
          <a:p>
            <a:pPr algn="ctr"/>
            <a:r>
              <a:rPr sz="950" b="0">
                <a:solidFill>
                  <a:srgbClr val="B8BECC"/>
                </a:solidFill>
                <a:latin typeface="맑은 고딕"/>
              </a:rPr>
              <a:t>×4 (리치 첫 격파 일괄)</a:t>
            </a:r>
          </a:p>
        </p:txBody>
      </p:sp>
      <p:sp>
        <p:nvSpPr>
          <p:cNvPr id="88" name="Rectangle 87"/>
          <p:cNvSpPr/>
          <p:nvPr/>
        </p:nvSpPr>
        <p:spPr>
          <a:xfrm>
            <a:off x="502920" y="6419088"/>
            <a:ext cx="201168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76072" y="6455664"/>
            <a:ext cx="1865376" cy="292608"/>
          </a:xfrm>
          <a:prstGeom prst="rect">
            <a:avLst/>
          </a:prstGeom>
          <a:noFill/>
        </p:spPr>
        <p:txBody>
          <a:bodyPr wrap="square">
            <a:spAutoFit/>
          </a:bodyPr>
          <a:lstStyle/>
          <a:p>
            <a:pPr algn="ctr"/>
            <a:r>
              <a:rPr sz="950" b="0">
                <a:solidFill>
                  <a:srgbClr val="FFFFFF"/>
                </a:solidFill>
                <a:latin typeface="맑은 고딕"/>
              </a:rPr>
              <a:t>잔류 각인</a:t>
            </a:r>
          </a:p>
        </p:txBody>
      </p:sp>
      <p:sp>
        <p:nvSpPr>
          <p:cNvPr id="90" name="Rectangle 89"/>
          <p:cNvSpPr/>
          <p:nvPr/>
        </p:nvSpPr>
        <p:spPr>
          <a:xfrm>
            <a:off x="2514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587752" y="645566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92" name="Rectangle 91"/>
          <p:cNvSpPr/>
          <p:nvPr/>
        </p:nvSpPr>
        <p:spPr>
          <a:xfrm>
            <a:off x="4800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873752" y="645566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94" name="Rectangle 93"/>
          <p:cNvSpPr/>
          <p:nvPr/>
        </p:nvSpPr>
        <p:spPr>
          <a:xfrm>
            <a:off x="7086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159752" y="6455664"/>
            <a:ext cx="2139696" cy="292608"/>
          </a:xfrm>
          <a:prstGeom prst="rect">
            <a:avLst/>
          </a:prstGeom>
          <a:noFill/>
        </p:spPr>
        <p:txBody>
          <a:bodyPr wrap="square">
            <a:spAutoFit/>
          </a:bodyPr>
          <a:lstStyle/>
          <a:p>
            <a:pPr algn="ctr"/>
            <a:r>
              <a:rPr sz="950" b="0">
                <a:solidFill>
                  <a:srgbClr val="B8BECC"/>
                </a:solidFill>
                <a:latin typeface="맑은 고딕"/>
              </a:rPr>
              <a:t>—</a:t>
            </a:r>
          </a:p>
        </p:txBody>
      </p:sp>
      <p:sp>
        <p:nvSpPr>
          <p:cNvPr id="96" name="Rectangle 95"/>
          <p:cNvSpPr/>
          <p:nvPr/>
        </p:nvSpPr>
        <p:spPr>
          <a:xfrm>
            <a:off x="9372600" y="6419088"/>
            <a:ext cx="2286000" cy="36576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445752" y="6455664"/>
            <a:ext cx="2139696" cy="292608"/>
          </a:xfrm>
          <a:prstGeom prst="rect">
            <a:avLst/>
          </a:prstGeom>
          <a:noFill/>
        </p:spPr>
        <p:txBody>
          <a:bodyPr wrap="square">
            <a:spAutoFit/>
          </a:bodyPr>
          <a:lstStyle/>
          <a:p>
            <a:pPr algn="ctr"/>
            <a:r>
              <a:rPr sz="950" b="0">
                <a:solidFill>
                  <a:srgbClr val="B8BECC"/>
                </a:solidFill>
                <a:latin typeface="맑은 고딕"/>
              </a:rPr>
              <a:t>리치 이후 보스당 ×3~5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멀린의 서약 — 영구 강화 항목 &amp; 비용</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7315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구조 설명</a:t>
            </a:r>
          </a:p>
        </p:txBody>
      </p:sp>
      <p:sp>
        <p:nvSpPr>
          <p:cNvPr id="8" name="TextBox 7"/>
          <p:cNvSpPr txBox="1"/>
          <p:nvPr/>
        </p:nvSpPr>
        <p:spPr>
          <a:xfrm>
            <a:off x="548640" y="1097280"/>
            <a:ext cx="11064240" cy="411480"/>
          </a:xfrm>
          <a:prstGeom prst="rect">
            <a:avLst/>
          </a:prstGeom>
          <a:noFill/>
        </p:spPr>
        <p:txBody>
          <a:bodyPr wrap="square">
            <a:spAutoFit/>
          </a:bodyPr>
          <a:lstStyle/>
          <a:p>
            <a:pPr algn="l"/>
            <a:r>
              <a:rPr sz="1100" b="0">
                <a:solidFill>
                  <a:srgbClr val="B8BECC"/>
                </a:solidFill>
                <a:latin typeface="맑은 고딕"/>
              </a:rPr>
              <a:t>6개 슬롯  |  각 슬롯마다 좌(적색) / 우(청색) 선택  |  언제든 리셋 가능 (소비 잔재 전액 환급)  |  Tier 1~5, 비용 2배씩 증가</a:t>
            </a:r>
          </a:p>
        </p:txBody>
      </p:sp>
      <p:sp>
        <p:nvSpPr>
          <p:cNvPr id="9" name="Rectangle 8"/>
          <p:cNvSpPr/>
          <p:nvPr/>
        </p:nvSpPr>
        <p:spPr>
          <a:xfrm>
            <a:off x="365760" y="1874519"/>
            <a:ext cx="118872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911095"/>
            <a:ext cx="1042416" cy="566928"/>
          </a:xfrm>
          <a:prstGeom prst="rect">
            <a:avLst/>
          </a:prstGeom>
          <a:noFill/>
        </p:spPr>
        <p:txBody>
          <a:bodyPr wrap="square">
            <a:spAutoFit/>
          </a:bodyPr>
          <a:lstStyle/>
          <a:p>
            <a:pPr algn="ctr"/>
            <a:r>
              <a:rPr sz="1000" b="1">
                <a:solidFill>
                  <a:srgbClr val="C9A84C"/>
                </a:solidFill>
                <a:latin typeface="맑은 고딕"/>
              </a:rPr>
              <a:t>슬롯</a:t>
            </a:r>
          </a:p>
        </p:txBody>
      </p:sp>
      <p:sp>
        <p:nvSpPr>
          <p:cNvPr id="11" name="Rectangle 10"/>
          <p:cNvSpPr/>
          <p:nvPr/>
        </p:nvSpPr>
        <p:spPr>
          <a:xfrm>
            <a:off x="1554480" y="1874519"/>
            <a:ext cx="210312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27632" y="1911095"/>
            <a:ext cx="1956815" cy="566928"/>
          </a:xfrm>
          <a:prstGeom prst="rect">
            <a:avLst/>
          </a:prstGeom>
          <a:noFill/>
        </p:spPr>
        <p:txBody>
          <a:bodyPr wrap="square">
            <a:spAutoFit/>
          </a:bodyPr>
          <a:lstStyle/>
          <a:p>
            <a:pPr algn="ctr"/>
            <a:r>
              <a:rPr sz="1000" b="1">
                <a:solidFill>
                  <a:srgbClr val="C9A84C"/>
                </a:solidFill>
                <a:latin typeface="맑은 고딕"/>
              </a:rPr>
              <a:t>해금 조건</a:t>
            </a:r>
          </a:p>
        </p:txBody>
      </p:sp>
      <p:sp>
        <p:nvSpPr>
          <p:cNvPr id="13" name="Rectangle 12"/>
          <p:cNvSpPr/>
          <p:nvPr/>
        </p:nvSpPr>
        <p:spPr>
          <a:xfrm>
            <a:off x="3657600" y="1874519"/>
            <a:ext cx="246888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0752" y="1911095"/>
            <a:ext cx="2322576" cy="566928"/>
          </a:xfrm>
          <a:prstGeom prst="rect">
            <a:avLst/>
          </a:prstGeom>
          <a:noFill/>
        </p:spPr>
        <p:txBody>
          <a:bodyPr wrap="square">
            <a:spAutoFit/>
          </a:bodyPr>
          <a:lstStyle/>
          <a:p>
            <a:pPr algn="ctr"/>
            <a:r>
              <a:rPr sz="1000" b="1">
                <a:solidFill>
                  <a:srgbClr val="C9A84C"/>
                </a:solidFill>
                <a:latin typeface="맑은 고딕"/>
              </a:rPr>
              <a:t>좌 선택 (적색)</a:t>
            </a:r>
          </a:p>
        </p:txBody>
      </p:sp>
      <p:sp>
        <p:nvSpPr>
          <p:cNvPr id="15" name="Rectangle 14"/>
          <p:cNvSpPr/>
          <p:nvPr/>
        </p:nvSpPr>
        <p:spPr>
          <a:xfrm>
            <a:off x="6126480" y="1874519"/>
            <a:ext cx="246888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911095"/>
            <a:ext cx="2322576" cy="566928"/>
          </a:xfrm>
          <a:prstGeom prst="rect">
            <a:avLst/>
          </a:prstGeom>
          <a:noFill/>
        </p:spPr>
        <p:txBody>
          <a:bodyPr wrap="square">
            <a:spAutoFit/>
          </a:bodyPr>
          <a:lstStyle/>
          <a:p>
            <a:pPr algn="ctr"/>
            <a:r>
              <a:rPr sz="1000" b="1">
                <a:solidFill>
                  <a:srgbClr val="C9A84C"/>
                </a:solidFill>
                <a:latin typeface="맑은 고딕"/>
              </a:rPr>
              <a:t>우 선택 (청색)</a:t>
            </a:r>
          </a:p>
        </p:txBody>
      </p:sp>
      <p:sp>
        <p:nvSpPr>
          <p:cNvPr id="17" name="Rectangle 16"/>
          <p:cNvSpPr/>
          <p:nvPr/>
        </p:nvSpPr>
        <p:spPr>
          <a:xfrm>
            <a:off x="8595360" y="1874519"/>
            <a:ext cx="91440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68512" y="1911095"/>
            <a:ext cx="768096" cy="566928"/>
          </a:xfrm>
          <a:prstGeom prst="rect">
            <a:avLst/>
          </a:prstGeom>
          <a:noFill/>
        </p:spPr>
        <p:txBody>
          <a:bodyPr wrap="square">
            <a:spAutoFit/>
          </a:bodyPr>
          <a:lstStyle/>
          <a:p>
            <a:pPr algn="ctr"/>
            <a:r>
              <a:rPr sz="1000" b="1">
                <a:solidFill>
                  <a:srgbClr val="C9A84C"/>
                </a:solidFill>
                <a:latin typeface="맑은 고딕"/>
              </a:rPr>
              <a:t>Tier 1</a:t>
            </a:r>
          </a:p>
        </p:txBody>
      </p:sp>
      <p:sp>
        <p:nvSpPr>
          <p:cNvPr id="19" name="Rectangle 18"/>
          <p:cNvSpPr/>
          <p:nvPr/>
        </p:nvSpPr>
        <p:spPr>
          <a:xfrm>
            <a:off x="9509760" y="1874519"/>
            <a:ext cx="914400" cy="6400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82912" y="1911095"/>
            <a:ext cx="768096" cy="566928"/>
          </a:xfrm>
          <a:prstGeom prst="rect">
            <a:avLst/>
          </a:prstGeom>
          <a:noFill/>
        </p:spPr>
        <p:txBody>
          <a:bodyPr wrap="square">
            <a:spAutoFit/>
          </a:bodyPr>
          <a:lstStyle/>
          <a:p>
            <a:pPr algn="ctr"/>
            <a:r>
              <a:rPr sz="1000" b="1">
                <a:solidFill>
                  <a:srgbClr val="C9A84C"/>
                </a:solidFill>
                <a:latin typeface="맑은 고딕"/>
              </a:rPr>
              <a:t>Tier 5</a:t>
            </a:r>
          </a:p>
        </p:txBody>
      </p:sp>
      <p:sp>
        <p:nvSpPr>
          <p:cNvPr id="21" name="Rectangle 20"/>
          <p:cNvSpPr/>
          <p:nvPr/>
        </p:nvSpPr>
        <p:spPr>
          <a:xfrm>
            <a:off x="365760" y="2514600"/>
            <a:ext cx="11887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2551176"/>
            <a:ext cx="1042416" cy="566928"/>
          </a:xfrm>
          <a:prstGeom prst="rect">
            <a:avLst/>
          </a:prstGeom>
          <a:noFill/>
        </p:spPr>
        <p:txBody>
          <a:bodyPr wrap="square">
            <a:spAutoFit/>
          </a:bodyPr>
          <a:lstStyle/>
          <a:p>
            <a:pPr algn="ctr"/>
            <a:r>
              <a:rPr sz="950" b="0">
                <a:solidFill>
                  <a:srgbClr val="FFFFFF"/>
                </a:solidFill>
                <a:latin typeface="맑은 고딕"/>
              </a:rPr>
              <a:t>생존</a:t>
            </a:r>
          </a:p>
        </p:txBody>
      </p:sp>
      <p:sp>
        <p:nvSpPr>
          <p:cNvPr id="23" name="Rectangle 22"/>
          <p:cNvSpPr/>
          <p:nvPr/>
        </p:nvSpPr>
        <p:spPr>
          <a:xfrm>
            <a:off x="1554480" y="2514600"/>
            <a:ext cx="21031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27632" y="2551176"/>
            <a:ext cx="1956815" cy="566928"/>
          </a:xfrm>
          <a:prstGeom prst="rect">
            <a:avLst/>
          </a:prstGeom>
          <a:noFill/>
        </p:spPr>
        <p:txBody>
          <a:bodyPr wrap="square">
            <a:spAutoFit/>
          </a:bodyPr>
          <a:lstStyle/>
          <a:p>
            <a:pPr algn="ctr"/>
            <a:r>
              <a:rPr sz="950" b="0">
                <a:solidFill>
                  <a:srgbClr val="B8BECC"/>
                </a:solidFill>
                <a:latin typeface="맑은 고딕"/>
              </a:rPr>
              <a:t>기본 제공</a:t>
            </a:r>
          </a:p>
        </p:txBody>
      </p:sp>
      <p:sp>
        <p:nvSpPr>
          <p:cNvPr id="25" name="Rectangle 24"/>
          <p:cNvSpPr/>
          <p:nvPr/>
        </p:nvSpPr>
        <p:spPr>
          <a:xfrm>
            <a:off x="3657600" y="251460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30752" y="2551176"/>
            <a:ext cx="2322576" cy="566928"/>
          </a:xfrm>
          <a:prstGeom prst="rect">
            <a:avLst/>
          </a:prstGeom>
          <a:noFill/>
        </p:spPr>
        <p:txBody>
          <a:bodyPr wrap="square">
            <a:spAutoFit/>
          </a:bodyPr>
          <a:lstStyle/>
          <a:p>
            <a:pPr algn="ctr"/>
            <a:r>
              <a:rPr sz="950" b="0">
                <a:solidFill>
                  <a:srgbClr val="B8BECC"/>
                </a:solidFill>
                <a:latin typeface="맑은 고딕"/>
              </a:rPr>
              <a:t>MaxHP +15/Tier</a:t>
            </a:r>
          </a:p>
        </p:txBody>
      </p:sp>
      <p:sp>
        <p:nvSpPr>
          <p:cNvPr id="27" name="Rectangle 26"/>
          <p:cNvSpPr/>
          <p:nvPr/>
        </p:nvSpPr>
        <p:spPr>
          <a:xfrm>
            <a:off x="6126480" y="251460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551176"/>
            <a:ext cx="2322576" cy="566928"/>
          </a:xfrm>
          <a:prstGeom prst="rect">
            <a:avLst/>
          </a:prstGeom>
          <a:noFill/>
        </p:spPr>
        <p:txBody>
          <a:bodyPr wrap="square">
            <a:spAutoFit/>
          </a:bodyPr>
          <a:lstStyle/>
          <a:p>
            <a:pPr algn="ctr"/>
            <a:r>
              <a:rPr sz="950" b="0">
                <a:solidFill>
                  <a:srgbClr val="B8BECC"/>
                </a:solidFill>
                <a:latin typeface="맑은 고딕"/>
              </a:rPr>
              <a:t>피격 시 HP 1% 회복</a:t>
            </a:r>
          </a:p>
        </p:txBody>
      </p:sp>
      <p:sp>
        <p:nvSpPr>
          <p:cNvPr id="29" name="Rectangle 28"/>
          <p:cNvSpPr/>
          <p:nvPr/>
        </p:nvSpPr>
        <p:spPr>
          <a:xfrm>
            <a:off x="8595360" y="251460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68512" y="2551176"/>
            <a:ext cx="768096" cy="566928"/>
          </a:xfrm>
          <a:prstGeom prst="rect">
            <a:avLst/>
          </a:prstGeom>
          <a:noFill/>
        </p:spPr>
        <p:txBody>
          <a:bodyPr wrap="square">
            <a:spAutoFit/>
          </a:bodyPr>
          <a:lstStyle/>
          <a:p>
            <a:pPr algn="ctr"/>
            <a:r>
              <a:rPr sz="950" b="0">
                <a:solidFill>
                  <a:srgbClr val="B8BECC"/>
                </a:solidFill>
                <a:latin typeface="맑은 고딕"/>
              </a:rPr>
              <a:t>100</a:t>
            </a:r>
          </a:p>
        </p:txBody>
      </p:sp>
      <p:sp>
        <p:nvSpPr>
          <p:cNvPr id="31" name="Rectangle 30"/>
          <p:cNvSpPr/>
          <p:nvPr/>
        </p:nvSpPr>
        <p:spPr>
          <a:xfrm>
            <a:off x="9509760" y="251460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82912" y="2551176"/>
            <a:ext cx="768096" cy="566928"/>
          </a:xfrm>
          <a:prstGeom prst="rect">
            <a:avLst/>
          </a:prstGeom>
          <a:noFill/>
        </p:spPr>
        <p:txBody>
          <a:bodyPr wrap="square">
            <a:spAutoFit/>
          </a:bodyPr>
          <a:lstStyle/>
          <a:p>
            <a:pPr algn="ctr"/>
            <a:r>
              <a:rPr sz="950" b="0">
                <a:solidFill>
                  <a:srgbClr val="B8BECC"/>
                </a:solidFill>
                <a:latin typeface="맑은 고딕"/>
              </a:rPr>
              <a:t>1,600</a:t>
            </a:r>
          </a:p>
        </p:txBody>
      </p:sp>
      <p:sp>
        <p:nvSpPr>
          <p:cNvPr id="33" name="Rectangle 32"/>
          <p:cNvSpPr/>
          <p:nvPr/>
        </p:nvSpPr>
        <p:spPr>
          <a:xfrm>
            <a:off x="365760" y="3154679"/>
            <a:ext cx="11887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3191256"/>
            <a:ext cx="1042416" cy="566928"/>
          </a:xfrm>
          <a:prstGeom prst="rect">
            <a:avLst/>
          </a:prstGeom>
          <a:noFill/>
        </p:spPr>
        <p:txBody>
          <a:bodyPr wrap="square">
            <a:spAutoFit/>
          </a:bodyPr>
          <a:lstStyle/>
          <a:p>
            <a:pPr algn="ctr"/>
            <a:r>
              <a:rPr sz="950" b="0">
                <a:solidFill>
                  <a:srgbClr val="FFFFFF"/>
                </a:solidFill>
                <a:latin typeface="맑은 고딕"/>
              </a:rPr>
              <a:t>공격</a:t>
            </a:r>
          </a:p>
        </p:txBody>
      </p:sp>
      <p:sp>
        <p:nvSpPr>
          <p:cNvPr id="35" name="Rectangle 34"/>
          <p:cNvSpPr/>
          <p:nvPr/>
        </p:nvSpPr>
        <p:spPr>
          <a:xfrm>
            <a:off x="1554480" y="3154679"/>
            <a:ext cx="21031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27632" y="3191256"/>
            <a:ext cx="1956815" cy="566928"/>
          </a:xfrm>
          <a:prstGeom prst="rect">
            <a:avLst/>
          </a:prstGeom>
          <a:noFill/>
        </p:spPr>
        <p:txBody>
          <a:bodyPr wrap="square">
            <a:spAutoFit/>
          </a:bodyPr>
          <a:lstStyle/>
          <a:p>
            <a:pPr algn="ctr"/>
            <a:r>
              <a:rPr sz="950" b="0">
                <a:solidFill>
                  <a:srgbClr val="B8BECC"/>
                </a:solidFill>
                <a:latin typeface="맑은 고딕"/>
              </a:rPr>
              <a:t>챕터 2 첫 도달</a:t>
            </a:r>
          </a:p>
        </p:txBody>
      </p:sp>
      <p:sp>
        <p:nvSpPr>
          <p:cNvPr id="37" name="Rectangle 36"/>
          <p:cNvSpPr/>
          <p:nvPr/>
        </p:nvSpPr>
        <p:spPr>
          <a:xfrm>
            <a:off x="3657600" y="315467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30752" y="3191256"/>
            <a:ext cx="2322576" cy="566928"/>
          </a:xfrm>
          <a:prstGeom prst="rect">
            <a:avLst/>
          </a:prstGeom>
          <a:noFill/>
        </p:spPr>
        <p:txBody>
          <a:bodyPr wrap="square">
            <a:spAutoFit/>
          </a:bodyPr>
          <a:lstStyle/>
          <a:p>
            <a:pPr algn="ctr"/>
            <a:r>
              <a:rPr sz="950" b="0">
                <a:solidFill>
                  <a:srgbClr val="B8BECC"/>
                </a:solidFill>
                <a:latin typeface="맑은 고딕"/>
              </a:rPr>
              <a:t>기본 공격력 +3%/Tier</a:t>
            </a:r>
          </a:p>
        </p:txBody>
      </p:sp>
      <p:sp>
        <p:nvSpPr>
          <p:cNvPr id="39" name="Rectangle 38"/>
          <p:cNvSpPr/>
          <p:nvPr/>
        </p:nvSpPr>
        <p:spPr>
          <a:xfrm>
            <a:off x="6126480" y="315467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3191256"/>
            <a:ext cx="2322576" cy="566928"/>
          </a:xfrm>
          <a:prstGeom prst="rect">
            <a:avLst/>
          </a:prstGeom>
          <a:noFill/>
        </p:spPr>
        <p:txBody>
          <a:bodyPr wrap="square">
            <a:spAutoFit/>
          </a:bodyPr>
          <a:lstStyle/>
          <a:p>
            <a:pPr algn="ctr"/>
            <a:r>
              <a:rPr sz="950" b="0">
                <a:solidFill>
                  <a:srgbClr val="B8BECC"/>
                </a:solidFill>
                <a:latin typeface="맑은 고딕"/>
              </a:rPr>
              <a:t>치명타율 +2%/Tier</a:t>
            </a:r>
          </a:p>
        </p:txBody>
      </p:sp>
      <p:sp>
        <p:nvSpPr>
          <p:cNvPr id="41" name="Rectangle 40"/>
          <p:cNvSpPr/>
          <p:nvPr/>
        </p:nvSpPr>
        <p:spPr>
          <a:xfrm>
            <a:off x="8595360" y="315467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68512" y="3191256"/>
            <a:ext cx="768096" cy="566928"/>
          </a:xfrm>
          <a:prstGeom prst="rect">
            <a:avLst/>
          </a:prstGeom>
          <a:noFill/>
        </p:spPr>
        <p:txBody>
          <a:bodyPr wrap="square">
            <a:spAutoFit/>
          </a:bodyPr>
          <a:lstStyle/>
          <a:p>
            <a:pPr algn="ctr"/>
            <a:r>
              <a:rPr sz="950" b="0">
                <a:solidFill>
                  <a:srgbClr val="B8BECC"/>
                </a:solidFill>
                <a:latin typeface="맑은 고딕"/>
              </a:rPr>
              <a:t>150</a:t>
            </a:r>
          </a:p>
        </p:txBody>
      </p:sp>
      <p:sp>
        <p:nvSpPr>
          <p:cNvPr id="43" name="Rectangle 42"/>
          <p:cNvSpPr/>
          <p:nvPr/>
        </p:nvSpPr>
        <p:spPr>
          <a:xfrm>
            <a:off x="9509760" y="315467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2" y="3191256"/>
            <a:ext cx="768096" cy="566928"/>
          </a:xfrm>
          <a:prstGeom prst="rect">
            <a:avLst/>
          </a:prstGeom>
          <a:noFill/>
        </p:spPr>
        <p:txBody>
          <a:bodyPr wrap="square">
            <a:spAutoFit/>
          </a:bodyPr>
          <a:lstStyle/>
          <a:p>
            <a:pPr algn="ctr"/>
            <a:r>
              <a:rPr sz="950" b="0">
                <a:solidFill>
                  <a:srgbClr val="B8BECC"/>
                </a:solidFill>
                <a:latin typeface="맑은 고딕"/>
              </a:rPr>
              <a:t>2,400</a:t>
            </a:r>
          </a:p>
        </p:txBody>
      </p:sp>
      <p:sp>
        <p:nvSpPr>
          <p:cNvPr id="45" name="Rectangle 44"/>
          <p:cNvSpPr/>
          <p:nvPr/>
        </p:nvSpPr>
        <p:spPr>
          <a:xfrm>
            <a:off x="365760" y="3794759"/>
            <a:ext cx="11887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8912" y="3831335"/>
            <a:ext cx="1042416" cy="566928"/>
          </a:xfrm>
          <a:prstGeom prst="rect">
            <a:avLst/>
          </a:prstGeom>
          <a:noFill/>
        </p:spPr>
        <p:txBody>
          <a:bodyPr wrap="square">
            <a:spAutoFit/>
          </a:bodyPr>
          <a:lstStyle/>
          <a:p>
            <a:pPr algn="ctr"/>
            <a:r>
              <a:rPr sz="950" b="0">
                <a:solidFill>
                  <a:srgbClr val="FFFFFF"/>
                </a:solidFill>
                <a:latin typeface="맑은 고딕"/>
              </a:rPr>
              <a:t>이동</a:t>
            </a:r>
          </a:p>
        </p:txBody>
      </p:sp>
      <p:sp>
        <p:nvSpPr>
          <p:cNvPr id="47" name="Rectangle 46"/>
          <p:cNvSpPr/>
          <p:nvPr/>
        </p:nvSpPr>
        <p:spPr>
          <a:xfrm>
            <a:off x="1554480" y="3794759"/>
            <a:ext cx="21031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27632" y="3831335"/>
            <a:ext cx="1956815" cy="566928"/>
          </a:xfrm>
          <a:prstGeom prst="rect">
            <a:avLst/>
          </a:prstGeom>
          <a:noFill/>
        </p:spPr>
        <p:txBody>
          <a:bodyPr wrap="square">
            <a:spAutoFit/>
          </a:bodyPr>
          <a:lstStyle/>
          <a:p>
            <a:pPr algn="ctr"/>
            <a:r>
              <a:rPr sz="950" b="0">
                <a:solidFill>
                  <a:srgbClr val="B8BECC"/>
                </a:solidFill>
                <a:latin typeface="맑은 고딕"/>
              </a:rPr>
              <a:t>챕터 3 첫 도달</a:t>
            </a:r>
          </a:p>
        </p:txBody>
      </p:sp>
      <p:sp>
        <p:nvSpPr>
          <p:cNvPr id="49" name="Rectangle 48"/>
          <p:cNvSpPr/>
          <p:nvPr/>
        </p:nvSpPr>
        <p:spPr>
          <a:xfrm>
            <a:off x="3657600" y="3794759"/>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30752" y="3831335"/>
            <a:ext cx="2322576" cy="566928"/>
          </a:xfrm>
          <a:prstGeom prst="rect">
            <a:avLst/>
          </a:prstGeom>
          <a:noFill/>
        </p:spPr>
        <p:txBody>
          <a:bodyPr wrap="square">
            <a:spAutoFit/>
          </a:bodyPr>
          <a:lstStyle/>
          <a:p>
            <a:pPr algn="ctr"/>
            <a:r>
              <a:rPr sz="950" b="0">
                <a:solidFill>
                  <a:srgbClr val="B8BECC"/>
                </a:solidFill>
                <a:latin typeface="맑은 고딕"/>
              </a:rPr>
              <a:t>이동속도 +3%/Tier</a:t>
            </a:r>
          </a:p>
        </p:txBody>
      </p:sp>
      <p:sp>
        <p:nvSpPr>
          <p:cNvPr id="51" name="Rectangle 50"/>
          <p:cNvSpPr/>
          <p:nvPr/>
        </p:nvSpPr>
        <p:spPr>
          <a:xfrm>
            <a:off x="6126480" y="3794759"/>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99632" y="3831335"/>
            <a:ext cx="2322576" cy="566928"/>
          </a:xfrm>
          <a:prstGeom prst="rect">
            <a:avLst/>
          </a:prstGeom>
          <a:noFill/>
        </p:spPr>
        <p:txBody>
          <a:bodyPr wrap="square">
            <a:spAutoFit/>
          </a:bodyPr>
          <a:lstStyle/>
          <a:p>
            <a:pPr algn="ctr"/>
            <a:r>
              <a:rPr sz="950" b="0">
                <a:solidFill>
                  <a:srgbClr val="B8BECC"/>
                </a:solidFill>
                <a:latin typeface="맑은 고딕"/>
              </a:rPr>
              <a:t>구르기 쿨다운 -5%/Tier</a:t>
            </a:r>
          </a:p>
        </p:txBody>
      </p:sp>
      <p:sp>
        <p:nvSpPr>
          <p:cNvPr id="53" name="Rectangle 52"/>
          <p:cNvSpPr/>
          <p:nvPr/>
        </p:nvSpPr>
        <p:spPr>
          <a:xfrm>
            <a:off x="8595360" y="3794759"/>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68512" y="3831335"/>
            <a:ext cx="768096" cy="566928"/>
          </a:xfrm>
          <a:prstGeom prst="rect">
            <a:avLst/>
          </a:prstGeom>
          <a:noFill/>
        </p:spPr>
        <p:txBody>
          <a:bodyPr wrap="square">
            <a:spAutoFit/>
          </a:bodyPr>
          <a:lstStyle/>
          <a:p>
            <a:pPr algn="ctr"/>
            <a:r>
              <a:rPr sz="950" b="0">
                <a:solidFill>
                  <a:srgbClr val="B8BECC"/>
                </a:solidFill>
                <a:latin typeface="맑은 고딕"/>
              </a:rPr>
              <a:t>120</a:t>
            </a:r>
          </a:p>
        </p:txBody>
      </p:sp>
      <p:sp>
        <p:nvSpPr>
          <p:cNvPr id="55" name="Rectangle 54"/>
          <p:cNvSpPr/>
          <p:nvPr/>
        </p:nvSpPr>
        <p:spPr>
          <a:xfrm>
            <a:off x="9509760" y="3794759"/>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82912" y="3831335"/>
            <a:ext cx="768096" cy="566928"/>
          </a:xfrm>
          <a:prstGeom prst="rect">
            <a:avLst/>
          </a:prstGeom>
          <a:noFill/>
        </p:spPr>
        <p:txBody>
          <a:bodyPr wrap="square">
            <a:spAutoFit/>
          </a:bodyPr>
          <a:lstStyle/>
          <a:p>
            <a:pPr algn="ctr"/>
            <a:r>
              <a:rPr sz="950" b="0">
                <a:solidFill>
                  <a:srgbClr val="B8BECC"/>
                </a:solidFill>
                <a:latin typeface="맑은 고딕"/>
              </a:rPr>
              <a:t>1,920</a:t>
            </a:r>
          </a:p>
        </p:txBody>
      </p:sp>
      <p:sp>
        <p:nvSpPr>
          <p:cNvPr id="57" name="Rectangle 56"/>
          <p:cNvSpPr/>
          <p:nvPr/>
        </p:nvSpPr>
        <p:spPr>
          <a:xfrm>
            <a:off x="365760" y="4434840"/>
            <a:ext cx="11887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8912" y="4471416"/>
            <a:ext cx="1042416" cy="566928"/>
          </a:xfrm>
          <a:prstGeom prst="rect">
            <a:avLst/>
          </a:prstGeom>
          <a:noFill/>
        </p:spPr>
        <p:txBody>
          <a:bodyPr wrap="square">
            <a:spAutoFit/>
          </a:bodyPr>
          <a:lstStyle/>
          <a:p>
            <a:pPr algn="ctr"/>
            <a:r>
              <a:rPr sz="950" b="0">
                <a:solidFill>
                  <a:srgbClr val="FFFFFF"/>
                </a:solidFill>
                <a:latin typeface="맑은 고딕"/>
              </a:rPr>
              <a:t>지속력</a:t>
            </a:r>
          </a:p>
        </p:txBody>
      </p:sp>
      <p:sp>
        <p:nvSpPr>
          <p:cNvPr id="59" name="Rectangle 58"/>
          <p:cNvSpPr/>
          <p:nvPr/>
        </p:nvSpPr>
        <p:spPr>
          <a:xfrm>
            <a:off x="1554480" y="4434840"/>
            <a:ext cx="21031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27632" y="4471416"/>
            <a:ext cx="1956815" cy="566928"/>
          </a:xfrm>
          <a:prstGeom prst="rect">
            <a:avLst/>
          </a:prstGeom>
          <a:noFill/>
        </p:spPr>
        <p:txBody>
          <a:bodyPr wrap="square">
            <a:spAutoFit/>
          </a:bodyPr>
          <a:lstStyle/>
          <a:p>
            <a:pPr algn="ctr"/>
            <a:r>
              <a:rPr sz="950" b="0">
                <a:solidFill>
                  <a:srgbClr val="B8BECC"/>
                </a:solidFill>
                <a:latin typeface="맑은 고딕"/>
              </a:rPr>
              <a:t>챕터 4 첫 도달</a:t>
            </a:r>
          </a:p>
        </p:txBody>
      </p:sp>
      <p:sp>
        <p:nvSpPr>
          <p:cNvPr id="61" name="Rectangle 60"/>
          <p:cNvSpPr/>
          <p:nvPr/>
        </p:nvSpPr>
        <p:spPr>
          <a:xfrm>
            <a:off x="3657600" y="4434840"/>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730752" y="4471416"/>
            <a:ext cx="2322576" cy="566928"/>
          </a:xfrm>
          <a:prstGeom prst="rect">
            <a:avLst/>
          </a:prstGeom>
          <a:noFill/>
        </p:spPr>
        <p:txBody>
          <a:bodyPr wrap="square">
            <a:spAutoFit/>
          </a:bodyPr>
          <a:lstStyle/>
          <a:p>
            <a:pPr algn="ctr"/>
            <a:r>
              <a:rPr sz="950" b="0">
                <a:solidFill>
                  <a:srgbClr val="B8BECC"/>
                </a:solidFill>
                <a:latin typeface="맑은 고딕"/>
              </a:rPr>
              <a:t>방 클리어 HP 2% 회복</a:t>
            </a:r>
          </a:p>
        </p:txBody>
      </p:sp>
      <p:sp>
        <p:nvSpPr>
          <p:cNvPr id="63" name="Rectangle 62"/>
          <p:cNvSpPr/>
          <p:nvPr/>
        </p:nvSpPr>
        <p:spPr>
          <a:xfrm>
            <a:off x="6126480" y="4434840"/>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99632" y="4471416"/>
            <a:ext cx="2322576" cy="566928"/>
          </a:xfrm>
          <a:prstGeom prst="rect">
            <a:avLst/>
          </a:prstGeom>
          <a:noFill/>
        </p:spPr>
        <p:txBody>
          <a:bodyPr wrap="square">
            <a:spAutoFit/>
          </a:bodyPr>
          <a:lstStyle/>
          <a:p>
            <a:pPr algn="ctr"/>
            <a:r>
              <a:rPr sz="950" b="0">
                <a:solidFill>
                  <a:srgbClr val="B8BECC"/>
                </a:solidFill>
                <a:latin typeface="맑은 고딕"/>
              </a:rPr>
              <a:t>보스전 피해 -5%/Tier</a:t>
            </a:r>
          </a:p>
        </p:txBody>
      </p:sp>
      <p:sp>
        <p:nvSpPr>
          <p:cNvPr id="65" name="Rectangle 64"/>
          <p:cNvSpPr/>
          <p:nvPr/>
        </p:nvSpPr>
        <p:spPr>
          <a:xfrm>
            <a:off x="8595360" y="4434840"/>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68512" y="4471416"/>
            <a:ext cx="768096" cy="566928"/>
          </a:xfrm>
          <a:prstGeom prst="rect">
            <a:avLst/>
          </a:prstGeom>
          <a:noFill/>
        </p:spPr>
        <p:txBody>
          <a:bodyPr wrap="square">
            <a:spAutoFit/>
          </a:bodyPr>
          <a:lstStyle/>
          <a:p>
            <a:pPr algn="ctr"/>
            <a:r>
              <a:rPr sz="950" b="0">
                <a:solidFill>
                  <a:srgbClr val="B8BECC"/>
                </a:solidFill>
                <a:latin typeface="맑은 고딕"/>
              </a:rPr>
              <a:t>200</a:t>
            </a:r>
          </a:p>
        </p:txBody>
      </p:sp>
      <p:sp>
        <p:nvSpPr>
          <p:cNvPr id="67" name="Rectangle 66"/>
          <p:cNvSpPr/>
          <p:nvPr/>
        </p:nvSpPr>
        <p:spPr>
          <a:xfrm>
            <a:off x="9509760" y="4434840"/>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582912" y="4471416"/>
            <a:ext cx="768096" cy="566928"/>
          </a:xfrm>
          <a:prstGeom prst="rect">
            <a:avLst/>
          </a:prstGeom>
          <a:noFill/>
        </p:spPr>
        <p:txBody>
          <a:bodyPr wrap="square">
            <a:spAutoFit/>
          </a:bodyPr>
          <a:lstStyle/>
          <a:p>
            <a:pPr algn="ctr"/>
            <a:r>
              <a:rPr sz="950" b="0">
                <a:solidFill>
                  <a:srgbClr val="B8BECC"/>
                </a:solidFill>
                <a:latin typeface="맑은 고딕"/>
              </a:rPr>
              <a:t>3,200</a:t>
            </a:r>
          </a:p>
        </p:txBody>
      </p:sp>
      <p:sp>
        <p:nvSpPr>
          <p:cNvPr id="69" name="Rectangle 68"/>
          <p:cNvSpPr/>
          <p:nvPr/>
        </p:nvSpPr>
        <p:spPr>
          <a:xfrm>
            <a:off x="365760" y="5074920"/>
            <a:ext cx="11887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8912" y="5111496"/>
            <a:ext cx="1042416" cy="566928"/>
          </a:xfrm>
          <a:prstGeom prst="rect">
            <a:avLst/>
          </a:prstGeom>
          <a:noFill/>
        </p:spPr>
        <p:txBody>
          <a:bodyPr wrap="square">
            <a:spAutoFit/>
          </a:bodyPr>
          <a:lstStyle/>
          <a:p>
            <a:pPr algn="ctr"/>
            <a:r>
              <a:rPr sz="950" b="0">
                <a:solidFill>
                  <a:srgbClr val="FFFFFF"/>
                </a:solidFill>
                <a:latin typeface="맑은 고딕"/>
              </a:rPr>
              <a:t>획득</a:t>
            </a:r>
          </a:p>
        </p:txBody>
      </p:sp>
      <p:sp>
        <p:nvSpPr>
          <p:cNvPr id="71" name="Rectangle 70"/>
          <p:cNvSpPr/>
          <p:nvPr/>
        </p:nvSpPr>
        <p:spPr>
          <a:xfrm>
            <a:off x="1554480" y="5074920"/>
            <a:ext cx="210312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627632" y="5111496"/>
            <a:ext cx="1956815" cy="566928"/>
          </a:xfrm>
          <a:prstGeom prst="rect">
            <a:avLst/>
          </a:prstGeom>
          <a:noFill/>
        </p:spPr>
        <p:txBody>
          <a:bodyPr wrap="square">
            <a:spAutoFit/>
          </a:bodyPr>
          <a:lstStyle/>
          <a:p>
            <a:pPr algn="ctr"/>
            <a:r>
              <a:rPr sz="950" b="0">
                <a:solidFill>
                  <a:srgbClr val="B8BECC"/>
                </a:solidFill>
                <a:latin typeface="맑은 고딕"/>
              </a:rPr>
              <a:t>리치 첫 격파</a:t>
            </a:r>
          </a:p>
        </p:txBody>
      </p:sp>
      <p:sp>
        <p:nvSpPr>
          <p:cNvPr id="73" name="Rectangle 72"/>
          <p:cNvSpPr/>
          <p:nvPr/>
        </p:nvSpPr>
        <p:spPr>
          <a:xfrm>
            <a:off x="3657600" y="507492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730752" y="5111496"/>
            <a:ext cx="2322576" cy="566928"/>
          </a:xfrm>
          <a:prstGeom prst="rect">
            <a:avLst/>
          </a:prstGeom>
          <a:noFill/>
        </p:spPr>
        <p:txBody>
          <a:bodyPr wrap="square">
            <a:spAutoFit/>
          </a:bodyPr>
          <a:lstStyle/>
          <a:p>
            <a:pPr algn="ctr"/>
            <a:r>
              <a:rPr sz="950" b="0">
                <a:solidFill>
                  <a:srgbClr val="B8BECC"/>
                </a:solidFill>
                <a:latin typeface="맑은 고딕"/>
              </a:rPr>
              <a:t>잔재 획득 +10%/Tier</a:t>
            </a:r>
          </a:p>
        </p:txBody>
      </p:sp>
      <p:sp>
        <p:nvSpPr>
          <p:cNvPr id="75" name="Rectangle 74"/>
          <p:cNvSpPr/>
          <p:nvPr/>
        </p:nvSpPr>
        <p:spPr>
          <a:xfrm>
            <a:off x="6126480" y="5074920"/>
            <a:ext cx="246888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99632" y="5111496"/>
            <a:ext cx="2322576" cy="566928"/>
          </a:xfrm>
          <a:prstGeom prst="rect">
            <a:avLst/>
          </a:prstGeom>
          <a:noFill/>
        </p:spPr>
        <p:txBody>
          <a:bodyPr wrap="square">
            <a:spAutoFit/>
          </a:bodyPr>
          <a:lstStyle/>
          <a:p>
            <a:pPr algn="ctr"/>
            <a:r>
              <a:rPr sz="950" b="0">
                <a:solidFill>
                  <a:srgbClr val="B8BECC"/>
                </a:solidFill>
                <a:latin typeface="맑은 고딕"/>
              </a:rPr>
              <a:t>기억 드롭률 +5%/Tier</a:t>
            </a:r>
          </a:p>
        </p:txBody>
      </p:sp>
      <p:sp>
        <p:nvSpPr>
          <p:cNvPr id="77" name="Rectangle 76"/>
          <p:cNvSpPr/>
          <p:nvPr/>
        </p:nvSpPr>
        <p:spPr>
          <a:xfrm>
            <a:off x="8595360" y="507492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68512" y="5111496"/>
            <a:ext cx="768096" cy="566928"/>
          </a:xfrm>
          <a:prstGeom prst="rect">
            <a:avLst/>
          </a:prstGeom>
          <a:noFill/>
        </p:spPr>
        <p:txBody>
          <a:bodyPr wrap="square">
            <a:spAutoFit/>
          </a:bodyPr>
          <a:lstStyle/>
          <a:p>
            <a:pPr algn="ctr"/>
            <a:r>
              <a:rPr sz="950" b="0">
                <a:solidFill>
                  <a:srgbClr val="B8BECC"/>
                </a:solidFill>
                <a:latin typeface="맑은 고딕"/>
              </a:rPr>
              <a:t>300</a:t>
            </a:r>
          </a:p>
        </p:txBody>
      </p:sp>
      <p:sp>
        <p:nvSpPr>
          <p:cNvPr id="79" name="Rectangle 78"/>
          <p:cNvSpPr/>
          <p:nvPr/>
        </p:nvSpPr>
        <p:spPr>
          <a:xfrm>
            <a:off x="9509760" y="5074920"/>
            <a:ext cx="914400" cy="6400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582912" y="5111496"/>
            <a:ext cx="768096" cy="566928"/>
          </a:xfrm>
          <a:prstGeom prst="rect">
            <a:avLst/>
          </a:prstGeom>
          <a:noFill/>
        </p:spPr>
        <p:txBody>
          <a:bodyPr wrap="square">
            <a:spAutoFit/>
          </a:bodyPr>
          <a:lstStyle/>
          <a:p>
            <a:pPr algn="ctr"/>
            <a:r>
              <a:rPr sz="950" b="0">
                <a:solidFill>
                  <a:srgbClr val="B8BECC"/>
                </a:solidFill>
                <a:latin typeface="맑은 고딕"/>
              </a:rPr>
              <a:t>4,800</a:t>
            </a:r>
          </a:p>
        </p:txBody>
      </p:sp>
      <p:sp>
        <p:nvSpPr>
          <p:cNvPr id="81" name="Rectangle 80"/>
          <p:cNvSpPr/>
          <p:nvPr/>
        </p:nvSpPr>
        <p:spPr>
          <a:xfrm>
            <a:off x="365760" y="5714999"/>
            <a:ext cx="11887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8912" y="5751575"/>
            <a:ext cx="1042416" cy="566928"/>
          </a:xfrm>
          <a:prstGeom prst="rect">
            <a:avLst/>
          </a:prstGeom>
          <a:noFill/>
        </p:spPr>
        <p:txBody>
          <a:bodyPr wrap="square">
            <a:spAutoFit/>
          </a:bodyPr>
          <a:lstStyle/>
          <a:p>
            <a:pPr algn="ctr"/>
            <a:r>
              <a:rPr sz="950" b="0">
                <a:solidFill>
                  <a:srgbClr val="FFFFFF"/>
                </a:solidFill>
                <a:latin typeface="맑은 고딕"/>
              </a:rPr>
              <a:t>아이템</a:t>
            </a:r>
          </a:p>
        </p:txBody>
      </p:sp>
      <p:sp>
        <p:nvSpPr>
          <p:cNvPr id="83" name="Rectangle 82"/>
          <p:cNvSpPr/>
          <p:nvPr/>
        </p:nvSpPr>
        <p:spPr>
          <a:xfrm>
            <a:off x="1554480" y="5714999"/>
            <a:ext cx="210312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627632" y="5751575"/>
            <a:ext cx="1956815" cy="566928"/>
          </a:xfrm>
          <a:prstGeom prst="rect">
            <a:avLst/>
          </a:prstGeom>
          <a:noFill/>
        </p:spPr>
        <p:txBody>
          <a:bodyPr wrap="square">
            <a:spAutoFit/>
          </a:bodyPr>
          <a:lstStyle/>
          <a:p>
            <a:pPr algn="ctr"/>
            <a:r>
              <a:rPr sz="950" b="0">
                <a:solidFill>
                  <a:srgbClr val="B8BECC"/>
                </a:solidFill>
                <a:latin typeface="맑은 고딕"/>
              </a:rPr>
              <a:t>리치 첫 격파 후 허브</a:t>
            </a:r>
          </a:p>
        </p:txBody>
      </p:sp>
      <p:sp>
        <p:nvSpPr>
          <p:cNvPr id="85" name="Rectangle 84"/>
          <p:cNvSpPr/>
          <p:nvPr/>
        </p:nvSpPr>
        <p:spPr>
          <a:xfrm>
            <a:off x="3657600" y="571499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30752" y="5751575"/>
            <a:ext cx="2322576" cy="566928"/>
          </a:xfrm>
          <a:prstGeom prst="rect">
            <a:avLst/>
          </a:prstGeom>
          <a:noFill/>
        </p:spPr>
        <p:txBody>
          <a:bodyPr wrap="square">
            <a:spAutoFit/>
          </a:bodyPr>
          <a:lstStyle/>
          <a:p>
            <a:pPr algn="ctr"/>
            <a:r>
              <a:rPr sz="950" b="0">
                <a:solidFill>
                  <a:srgbClr val="B8BECC"/>
                </a:solidFill>
                <a:latin typeface="맑은 고딕"/>
              </a:rPr>
              <a:t>등급 상승 확률 +5%/Tier</a:t>
            </a:r>
          </a:p>
        </p:txBody>
      </p:sp>
      <p:sp>
        <p:nvSpPr>
          <p:cNvPr id="87" name="Rectangle 86"/>
          <p:cNvSpPr/>
          <p:nvPr/>
        </p:nvSpPr>
        <p:spPr>
          <a:xfrm>
            <a:off x="6126480" y="5714999"/>
            <a:ext cx="246888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99632" y="5751575"/>
            <a:ext cx="2322576" cy="566928"/>
          </a:xfrm>
          <a:prstGeom prst="rect">
            <a:avLst/>
          </a:prstGeom>
          <a:noFill/>
        </p:spPr>
        <p:txBody>
          <a:bodyPr wrap="square">
            <a:spAutoFit/>
          </a:bodyPr>
          <a:lstStyle/>
          <a:p>
            <a:pPr algn="ctr"/>
            <a:r>
              <a:rPr sz="950" b="0">
                <a:solidFill>
                  <a:srgbClr val="B8BECC"/>
                </a:solidFill>
                <a:latin typeface="맑은 고딕"/>
              </a:rPr>
              <a:t>변형 아이템 +8%/Tier</a:t>
            </a:r>
          </a:p>
        </p:txBody>
      </p:sp>
      <p:sp>
        <p:nvSpPr>
          <p:cNvPr id="89" name="Rectangle 88"/>
          <p:cNvSpPr/>
          <p:nvPr/>
        </p:nvSpPr>
        <p:spPr>
          <a:xfrm>
            <a:off x="8595360" y="571499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668512" y="5751575"/>
            <a:ext cx="768096" cy="566928"/>
          </a:xfrm>
          <a:prstGeom prst="rect">
            <a:avLst/>
          </a:prstGeom>
          <a:noFill/>
        </p:spPr>
        <p:txBody>
          <a:bodyPr wrap="square">
            <a:spAutoFit/>
          </a:bodyPr>
          <a:lstStyle/>
          <a:p>
            <a:pPr algn="ctr"/>
            <a:r>
              <a:rPr sz="950" b="0">
                <a:solidFill>
                  <a:srgbClr val="B8BECC"/>
                </a:solidFill>
                <a:latin typeface="맑은 고딕"/>
              </a:rPr>
              <a:t>400</a:t>
            </a:r>
          </a:p>
        </p:txBody>
      </p:sp>
      <p:sp>
        <p:nvSpPr>
          <p:cNvPr id="91" name="Rectangle 90"/>
          <p:cNvSpPr/>
          <p:nvPr/>
        </p:nvSpPr>
        <p:spPr>
          <a:xfrm>
            <a:off x="9509760" y="5714999"/>
            <a:ext cx="914400" cy="6400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582912" y="5751575"/>
            <a:ext cx="768096" cy="566928"/>
          </a:xfrm>
          <a:prstGeom prst="rect">
            <a:avLst/>
          </a:prstGeom>
          <a:noFill/>
        </p:spPr>
        <p:txBody>
          <a:bodyPr wrap="square">
            <a:spAutoFit/>
          </a:bodyPr>
          <a:lstStyle/>
          <a:p>
            <a:pPr algn="ctr"/>
            <a:r>
              <a:rPr sz="950" b="0">
                <a:solidFill>
                  <a:srgbClr val="B8BECC"/>
                </a:solidFill>
                <a:latin typeface="맑은 고딕"/>
              </a:rPr>
              <a:t>6,400</a:t>
            </a:r>
          </a:p>
        </p:txBody>
      </p:sp>
      <p:sp>
        <p:nvSpPr>
          <p:cNvPr id="93" name="Rectangle 92"/>
          <p:cNvSpPr/>
          <p:nvPr/>
        </p:nvSpPr>
        <p:spPr>
          <a:xfrm>
            <a:off x="365760" y="5806440"/>
            <a:ext cx="114300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48640" y="5870448"/>
            <a:ext cx="11064240" cy="347472"/>
          </a:xfrm>
          <a:prstGeom prst="rect">
            <a:avLst/>
          </a:prstGeom>
          <a:noFill/>
        </p:spPr>
        <p:txBody>
          <a:bodyPr wrap="square">
            <a:spAutoFit/>
          </a:bodyPr>
          <a:lstStyle/>
          <a:p>
            <a:pPr algn="l"/>
            <a:r>
              <a:rPr sz="1100" b="1">
                <a:solidFill>
                  <a:srgbClr val="E8D08A"/>
                </a:solidFill>
                <a:latin typeface="맑은 고딕"/>
              </a:rPr>
              <a:t>전체 최대 강화 완료 시 필요 영혼의 잔재:  약 42,000  (100런 이상 소요 예상)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보스 봉인 시스템 (Boss Seal System)</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00584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핵심 컨셉</a:t>
            </a:r>
          </a:p>
        </p:txBody>
      </p:sp>
      <p:sp>
        <p:nvSpPr>
          <p:cNvPr id="8" name="TextBox 7"/>
          <p:cNvSpPr txBox="1"/>
          <p:nvPr/>
        </p:nvSpPr>
        <p:spPr>
          <a:xfrm>
            <a:off x="548640" y="1234440"/>
            <a:ext cx="11064240" cy="594360"/>
          </a:xfrm>
          <a:prstGeom prst="rect">
            <a:avLst/>
          </a:prstGeom>
          <a:noFill/>
        </p:spPr>
        <p:txBody>
          <a:bodyPr wrap="square">
            <a:spAutoFit/>
          </a:bodyPr>
          <a:lstStyle/>
          <a:p>
            <a:pPr algn="l"/>
            <a:r>
              <a:rPr sz="1050" b="0">
                <a:solidFill>
                  <a:srgbClr val="E8D08A"/>
                </a:solidFill>
                <a:latin typeface="맑은 고딕"/>
              </a:rPr>
              <a:t>"균열이 충분히 쌓이면 봉인은 스스로 파열된다."
보스는 매 런 조우할 때마다 균열이 누적된다. 리치는 봉인 해제가 아닌 부패 변이 수식어 해금의 마일스톤.</a:t>
            </a:r>
          </a:p>
        </p:txBody>
      </p:sp>
      <p:sp>
        <p:nvSpPr>
          <p:cNvPr id="9" name="Rectangle 8"/>
          <p:cNvSpPr/>
          <p:nvPr/>
        </p:nvSpPr>
        <p:spPr>
          <a:xfrm>
            <a:off x="365760" y="2103120"/>
            <a:ext cx="2788920" cy="2560320"/>
          </a:xfrm>
          <a:prstGeom prst="rect">
            <a:avLst/>
          </a:prstGeom>
          <a:solidFill>
            <a:srgbClr val="161B2E"/>
          </a:solidFill>
          <a:ln w="18000">
            <a:solidFill>
              <a:srgbClr val="727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03120"/>
            <a:ext cx="2788920" cy="4114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130552"/>
            <a:ext cx="2788920" cy="365760"/>
          </a:xfrm>
          <a:prstGeom prst="rect">
            <a:avLst/>
          </a:prstGeom>
          <a:noFill/>
        </p:spPr>
        <p:txBody>
          <a:bodyPr wrap="square">
            <a:spAutoFit/>
          </a:bodyPr>
          <a:lstStyle/>
          <a:p>
            <a:pPr algn="ctr"/>
            <a:r>
              <a:rPr sz="1200" b="1">
                <a:solidFill>
                  <a:srgbClr val="727A8E"/>
                </a:solidFill>
                <a:latin typeface="맑은 고딕"/>
              </a:rPr>
              <a:t>봉인 상태</a:t>
            </a:r>
          </a:p>
        </p:txBody>
      </p:sp>
      <p:sp>
        <p:nvSpPr>
          <p:cNvPr id="12" name="TextBox 11"/>
          <p:cNvSpPr txBox="1"/>
          <p:nvPr/>
        </p:nvSpPr>
        <p:spPr>
          <a:xfrm>
            <a:off x="502920" y="2587752"/>
            <a:ext cx="502920" cy="201168"/>
          </a:xfrm>
          <a:prstGeom prst="rect">
            <a:avLst/>
          </a:prstGeom>
          <a:noFill/>
        </p:spPr>
        <p:txBody>
          <a:bodyPr wrap="square">
            <a:spAutoFit/>
          </a:bodyPr>
          <a:lstStyle/>
          <a:p>
            <a:pPr algn="l"/>
            <a:r>
              <a:rPr sz="800" b="1">
                <a:solidFill>
                  <a:srgbClr val="727A8E"/>
                </a:solidFill>
                <a:latin typeface="맑은 고딕"/>
              </a:rPr>
              <a:t>조건</a:t>
            </a:r>
          </a:p>
        </p:txBody>
      </p:sp>
      <p:sp>
        <p:nvSpPr>
          <p:cNvPr id="13" name="TextBox 12"/>
          <p:cNvSpPr txBox="1"/>
          <p:nvPr/>
        </p:nvSpPr>
        <p:spPr>
          <a:xfrm>
            <a:off x="502920" y="2816352"/>
            <a:ext cx="2514600" cy="274320"/>
          </a:xfrm>
          <a:prstGeom prst="rect">
            <a:avLst/>
          </a:prstGeom>
          <a:noFill/>
        </p:spPr>
        <p:txBody>
          <a:bodyPr wrap="square">
            <a:spAutoFit/>
          </a:bodyPr>
          <a:lstStyle/>
          <a:p>
            <a:pPr algn="l"/>
            <a:r>
              <a:rPr sz="950" b="0">
                <a:solidFill>
                  <a:srgbClr val="FFFFFF"/>
                </a:solidFill>
                <a:latin typeface="맑은 고딕"/>
              </a:rPr>
              <a:t>1차 조우</a:t>
            </a:r>
          </a:p>
        </p:txBody>
      </p:sp>
      <p:sp>
        <p:nvSpPr>
          <p:cNvPr id="14" name="Rectangle 13"/>
          <p:cNvSpPr/>
          <p:nvPr/>
        </p:nvSpPr>
        <p:spPr>
          <a:xfrm>
            <a:off x="502920" y="312724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200400"/>
            <a:ext cx="640080" cy="201168"/>
          </a:xfrm>
          <a:prstGeom prst="rect">
            <a:avLst/>
          </a:prstGeom>
          <a:noFill/>
        </p:spPr>
        <p:txBody>
          <a:bodyPr wrap="square">
            <a:spAutoFit/>
          </a:bodyPr>
          <a:lstStyle/>
          <a:p>
            <a:pPr algn="l"/>
            <a:r>
              <a:rPr sz="800" b="1">
                <a:solidFill>
                  <a:srgbClr val="727A8E"/>
                </a:solidFill>
                <a:latin typeface="맑은 고딕"/>
              </a:rPr>
              <a:t>페이즈</a:t>
            </a:r>
          </a:p>
        </p:txBody>
      </p:sp>
      <p:sp>
        <p:nvSpPr>
          <p:cNvPr id="16" name="TextBox 15"/>
          <p:cNvSpPr txBox="1"/>
          <p:nvPr/>
        </p:nvSpPr>
        <p:spPr>
          <a:xfrm>
            <a:off x="502920" y="3429000"/>
            <a:ext cx="2514600" cy="292608"/>
          </a:xfrm>
          <a:prstGeom prst="rect">
            <a:avLst/>
          </a:prstGeom>
          <a:noFill/>
        </p:spPr>
        <p:txBody>
          <a:bodyPr wrap="square">
            <a:spAutoFit/>
          </a:bodyPr>
          <a:lstStyle/>
          <a:p>
            <a:pPr algn="l"/>
            <a:r>
              <a:rPr sz="950" b="0">
                <a:solidFill>
                  <a:srgbClr val="727A8E"/>
                </a:solidFill>
                <a:latin typeface="맑은 고딕"/>
              </a:rPr>
              <a:t>Phase 1만</a:t>
            </a:r>
          </a:p>
        </p:txBody>
      </p:sp>
      <p:sp>
        <p:nvSpPr>
          <p:cNvPr id="17" name="Rectangle 16"/>
          <p:cNvSpPr/>
          <p:nvPr/>
        </p:nvSpPr>
        <p:spPr>
          <a:xfrm>
            <a:off x="502920" y="376732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840480"/>
            <a:ext cx="502920" cy="201168"/>
          </a:xfrm>
          <a:prstGeom prst="rect">
            <a:avLst/>
          </a:prstGeom>
          <a:noFill/>
        </p:spPr>
        <p:txBody>
          <a:bodyPr wrap="square">
            <a:spAutoFit/>
          </a:bodyPr>
          <a:lstStyle/>
          <a:p>
            <a:pPr algn="l"/>
            <a:r>
              <a:rPr sz="800" b="1">
                <a:solidFill>
                  <a:srgbClr val="C9A84C"/>
                </a:solidFill>
                <a:latin typeface="맑은 고딕"/>
              </a:rPr>
              <a:t>보상</a:t>
            </a:r>
          </a:p>
        </p:txBody>
      </p:sp>
      <p:sp>
        <p:nvSpPr>
          <p:cNvPr id="19" name="TextBox 18"/>
          <p:cNvSpPr txBox="1"/>
          <p:nvPr/>
        </p:nvSpPr>
        <p:spPr>
          <a:xfrm>
            <a:off x="502920" y="4069080"/>
            <a:ext cx="2514600" cy="274320"/>
          </a:xfrm>
          <a:prstGeom prst="rect">
            <a:avLst/>
          </a:prstGeom>
          <a:noFill/>
        </p:spPr>
        <p:txBody>
          <a:bodyPr wrap="square">
            <a:spAutoFit/>
          </a:bodyPr>
          <a:lstStyle/>
          <a:p>
            <a:pPr algn="l"/>
            <a:r>
              <a:rPr sz="950" b="0">
                <a:solidFill>
                  <a:srgbClr val="E8D08A"/>
                </a:solidFill>
                <a:latin typeface="맑은 고딕"/>
              </a:rPr>
              <a:t>봉인된 기억 보장 + 잔재</a:t>
            </a:r>
          </a:p>
        </p:txBody>
      </p:sp>
      <p:sp>
        <p:nvSpPr>
          <p:cNvPr id="20" name="TextBox 19"/>
          <p:cNvSpPr txBox="1"/>
          <p:nvPr/>
        </p:nvSpPr>
        <p:spPr>
          <a:xfrm>
            <a:off x="3172968" y="3246120"/>
            <a:ext cx="182880" cy="365760"/>
          </a:xfrm>
          <a:prstGeom prst="rect">
            <a:avLst/>
          </a:prstGeom>
          <a:noFill/>
        </p:spPr>
        <p:txBody>
          <a:bodyPr wrap="square">
            <a:spAutoFit/>
          </a:bodyPr>
          <a:lstStyle/>
          <a:p>
            <a:pPr algn="ctr"/>
            <a:r>
              <a:rPr sz="1800" b="0">
                <a:solidFill>
                  <a:srgbClr val="2E364A"/>
                </a:solidFill>
                <a:latin typeface="맑은 고딕"/>
              </a:rPr>
              <a:t>→</a:t>
            </a:r>
          </a:p>
        </p:txBody>
      </p:sp>
      <p:sp>
        <p:nvSpPr>
          <p:cNvPr id="21" name="Rectangle 20"/>
          <p:cNvSpPr/>
          <p:nvPr/>
        </p:nvSpPr>
        <p:spPr>
          <a:xfrm>
            <a:off x="3291840" y="2103120"/>
            <a:ext cx="2788920" cy="2560320"/>
          </a:xfrm>
          <a:prstGeom prst="rect">
            <a:avLst/>
          </a:prstGeom>
          <a:solidFill>
            <a:srgbClr val="161B2E"/>
          </a:solidFill>
          <a:ln w="18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91840" y="2103120"/>
            <a:ext cx="2788920" cy="4114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30552"/>
            <a:ext cx="2788920" cy="365760"/>
          </a:xfrm>
          <a:prstGeom prst="rect">
            <a:avLst/>
          </a:prstGeom>
          <a:noFill/>
        </p:spPr>
        <p:txBody>
          <a:bodyPr wrap="square">
            <a:spAutoFit/>
          </a:bodyPr>
          <a:lstStyle/>
          <a:p>
            <a:pPr algn="ctr"/>
            <a:r>
              <a:rPr sz="1200" b="1">
                <a:solidFill>
                  <a:srgbClr val="4AC2B8"/>
                </a:solidFill>
                <a:latin typeface="맑은 고딕"/>
              </a:rPr>
              <a:t>봉인 균열 예고</a:t>
            </a:r>
          </a:p>
        </p:txBody>
      </p:sp>
      <p:sp>
        <p:nvSpPr>
          <p:cNvPr id="24" name="TextBox 23"/>
          <p:cNvSpPr txBox="1"/>
          <p:nvPr/>
        </p:nvSpPr>
        <p:spPr>
          <a:xfrm>
            <a:off x="3429000" y="2587752"/>
            <a:ext cx="502920" cy="201168"/>
          </a:xfrm>
          <a:prstGeom prst="rect">
            <a:avLst/>
          </a:prstGeom>
          <a:noFill/>
        </p:spPr>
        <p:txBody>
          <a:bodyPr wrap="square">
            <a:spAutoFit/>
          </a:bodyPr>
          <a:lstStyle/>
          <a:p>
            <a:pPr algn="l"/>
            <a:r>
              <a:rPr sz="800" b="1">
                <a:solidFill>
                  <a:srgbClr val="727A8E"/>
                </a:solidFill>
                <a:latin typeface="맑은 고딕"/>
              </a:rPr>
              <a:t>조건</a:t>
            </a:r>
          </a:p>
        </p:txBody>
      </p:sp>
      <p:sp>
        <p:nvSpPr>
          <p:cNvPr id="25" name="TextBox 24"/>
          <p:cNvSpPr txBox="1"/>
          <p:nvPr/>
        </p:nvSpPr>
        <p:spPr>
          <a:xfrm>
            <a:off x="3429000" y="2816352"/>
            <a:ext cx="2514600" cy="274320"/>
          </a:xfrm>
          <a:prstGeom prst="rect">
            <a:avLst/>
          </a:prstGeom>
          <a:noFill/>
        </p:spPr>
        <p:txBody>
          <a:bodyPr wrap="square">
            <a:spAutoFit/>
          </a:bodyPr>
          <a:lstStyle/>
          <a:p>
            <a:pPr algn="l"/>
            <a:r>
              <a:rPr sz="950" b="0">
                <a:solidFill>
                  <a:srgbClr val="FFFFFF"/>
                </a:solidFill>
                <a:latin typeface="맑은 고딕"/>
              </a:rPr>
              <a:t>2차 조우</a:t>
            </a:r>
          </a:p>
        </p:txBody>
      </p:sp>
      <p:sp>
        <p:nvSpPr>
          <p:cNvPr id="26" name="Rectangle 25"/>
          <p:cNvSpPr/>
          <p:nvPr/>
        </p:nvSpPr>
        <p:spPr>
          <a:xfrm>
            <a:off x="3429000" y="312724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200400"/>
            <a:ext cx="640080" cy="201168"/>
          </a:xfrm>
          <a:prstGeom prst="rect">
            <a:avLst/>
          </a:prstGeom>
          <a:noFill/>
        </p:spPr>
        <p:txBody>
          <a:bodyPr wrap="square">
            <a:spAutoFit/>
          </a:bodyPr>
          <a:lstStyle/>
          <a:p>
            <a:pPr algn="l"/>
            <a:r>
              <a:rPr sz="800" b="1">
                <a:solidFill>
                  <a:srgbClr val="727A8E"/>
                </a:solidFill>
                <a:latin typeface="맑은 고딕"/>
              </a:rPr>
              <a:t>페이즈</a:t>
            </a:r>
          </a:p>
        </p:txBody>
      </p:sp>
      <p:sp>
        <p:nvSpPr>
          <p:cNvPr id="28" name="TextBox 27"/>
          <p:cNvSpPr txBox="1"/>
          <p:nvPr/>
        </p:nvSpPr>
        <p:spPr>
          <a:xfrm>
            <a:off x="3429000" y="3429000"/>
            <a:ext cx="2514600" cy="292608"/>
          </a:xfrm>
          <a:prstGeom prst="rect">
            <a:avLst/>
          </a:prstGeom>
          <a:noFill/>
        </p:spPr>
        <p:txBody>
          <a:bodyPr wrap="square">
            <a:spAutoFit/>
          </a:bodyPr>
          <a:lstStyle/>
          <a:p>
            <a:pPr algn="l"/>
            <a:r>
              <a:rPr sz="950" b="0">
                <a:solidFill>
                  <a:srgbClr val="4AC2B8"/>
                </a:solidFill>
                <a:latin typeface="맑은 고딕"/>
              </a:rPr>
              <a:t>Phase 2 예고 (10~20초 노출)</a:t>
            </a:r>
          </a:p>
        </p:txBody>
      </p:sp>
      <p:sp>
        <p:nvSpPr>
          <p:cNvPr id="29" name="Rectangle 28"/>
          <p:cNvSpPr/>
          <p:nvPr/>
        </p:nvSpPr>
        <p:spPr>
          <a:xfrm>
            <a:off x="3429000" y="376732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29000" y="3840480"/>
            <a:ext cx="502920" cy="201168"/>
          </a:xfrm>
          <a:prstGeom prst="rect">
            <a:avLst/>
          </a:prstGeom>
          <a:noFill/>
        </p:spPr>
        <p:txBody>
          <a:bodyPr wrap="square">
            <a:spAutoFit/>
          </a:bodyPr>
          <a:lstStyle/>
          <a:p>
            <a:pPr algn="l"/>
            <a:r>
              <a:rPr sz="800" b="1">
                <a:solidFill>
                  <a:srgbClr val="C9A84C"/>
                </a:solidFill>
                <a:latin typeface="맑은 고딕"/>
              </a:rPr>
              <a:t>보상</a:t>
            </a:r>
          </a:p>
        </p:txBody>
      </p:sp>
      <p:sp>
        <p:nvSpPr>
          <p:cNvPr id="31" name="TextBox 30"/>
          <p:cNvSpPr txBox="1"/>
          <p:nvPr/>
        </p:nvSpPr>
        <p:spPr>
          <a:xfrm>
            <a:off x="3429000" y="4069080"/>
            <a:ext cx="2514600" cy="274320"/>
          </a:xfrm>
          <a:prstGeom prst="rect">
            <a:avLst/>
          </a:prstGeom>
          <a:noFill/>
        </p:spPr>
        <p:txBody>
          <a:bodyPr wrap="square">
            <a:spAutoFit/>
          </a:bodyPr>
          <a:lstStyle/>
          <a:p>
            <a:pPr algn="l"/>
            <a:r>
              <a:rPr sz="950" b="0">
                <a:solidFill>
                  <a:srgbClr val="E8D08A"/>
                </a:solidFill>
                <a:latin typeface="맑은 고딕"/>
              </a:rPr>
              <a:t>봉인된 기억 보장 + 잔재</a:t>
            </a:r>
          </a:p>
        </p:txBody>
      </p:sp>
      <p:sp>
        <p:nvSpPr>
          <p:cNvPr id="32" name="TextBox 31"/>
          <p:cNvSpPr txBox="1"/>
          <p:nvPr/>
        </p:nvSpPr>
        <p:spPr>
          <a:xfrm>
            <a:off x="6099048" y="3246120"/>
            <a:ext cx="182880" cy="365760"/>
          </a:xfrm>
          <a:prstGeom prst="rect">
            <a:avLst/>
          </a:prstGeom>
          <a:noFill/>
        </p:spPr>
        <p:txBody>
          <a:bodyPr wrap="square">
            <a:spAutoFit/>
          </a:bodyPr>
          <a:lstStyle/>
          <a:p>
            <a:pPr algn="ctr"/>
            <a:r>
              <a:rPr sz="1800" b="0">
                <a:solidFill>
                  <a:srgbClr val="2E364A"/>
                </a:solidFill>
                <a:latin typeface="맑은 고딕"/>
              </a:rPr>
              <a:t>→</a:t>
            </a:r>
          </a:p>
        </p:txBody>
      </p:sp>
      <p:sp>
        <p:nvSpPr>
          <p:cNvPr id="33" name="Rectangle 32"/>
          <p:cNvSpPr/>
          <p:nvPr/>
        </p:nvSpPr>
        <p:spPr>
          <a:xfrm>
            <a:off x="6217920" y="2103120"/>
            <a:ext cx="2788920" cy="2560320"/>
          </a:xfrm>
          <a:prstGeom prst="rect">
            <a:avLst/>
          </a:prstGeom>
          <a:solidFill>
            <a:srgbClr val="161B2E"/>
          </a:solidFill>
          <a:ln w="1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2103120"/>
            <a:ext cx="2788920" cy="4114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2130552"/>
            <a:ext cx="2788920" cy="365760"/>
          </a:xfrm>
          <a:prstGeom prst="rect">
            <a:avLst/>
          </a:prstGeom>
          <a:noFill/>
        </p:spPr>
        <p:txBody>
          <a:bodyPr wrap="square">
            <a:spAutoFit/>
          </a:bodyPr>
          <a:lstStyle/>
          <a:p>
            <a:pPr algn="ctr"/>
            <a:r>
              <a:rPr sz="1200" b="1">
                <a:solidFill>
                  <a:srgbClr val="C9A84C"/>
                </a:solidFill>
                <a:latin typeface="맑은 고딕"/>
              </a:rPr>
              <a:t>완전 해방</a:t>
            </a:r>
          </a:p>
        </p:txBody>
      </p:sp>
      <p:sp>
        <p:nvSpPr>
          <p:cNvPr id="36" name="TextBox 35"/>
          <p:cNvSpPr txBox="1"/>
          <p:nvPr/>
        </p:nvSpPr>
        <p:spPr>
          <a:xfrm>
            <a:off x="6355080" y="2587752"/>
            <a:ext cx="502920" cy="201168"/>
          </a:xfrm>
          <a:prstGeom prst="rect">
            <a:avLst/>
          </a:prstGeom>
          <a:noFill/>
        </p:spPr>
        <p:txBody>
          <a:bodyPr wrap="square">
            <a:spAutoFit/>
          </a:bodyPr>
          <a:lstStyle/>
          <a:p>
            <a:pPr algn="l"/>
            <a:r>
              <a:rPr sz="800" b="1">
                <a:solidFill>
                  <a:srgbClr val="727A8E"/>
                </a:solidFill>
                <a:latin typeface="맑은 고딕"/>
              </a:rPr>
              <a:t>조건</a:t>
            </a:r>
          </a:p>
        </p:txBody>
      </p:sp>
      <p:sp>
        <p:nvSpPr>
          <p:cNvPr id="37" name="TextBox 36"/>
          <p:cNvSpPr txBox="1"/>
          <p:nvPr/>
        </p:nvSpPr>
        <p:spPr>
          <a:xfrm>
            <a:off x="6355080" y="2816352"/>
            <a:ext cx="2514600" cy="274320"/>
          </a:xfrm>
          <a:prstGeom prst="rect">
            <a:avLst/>
          </a:prstGeom>
          <a:noFill/>
        </p:spPr>
        <p:txBody>
          <a:bodyPr wrap="square">
            <a:spAutoFit/>
          </a:bodyPr>
          <a:lstStyle/>
          <a:p>
            <a:pPr algn="l"/>
            <a:r>
              <a:rPr sz="950" b="0">
                <a:solidFill>
                  <a:srgbClr val="FFFFFF"/>
                </a:solidFill>
                <a:latin typeface="맑은 고딕"/>
              </a:rPr>
              <a:t>3차+ 조우</a:t>
            </a:r>
          </a:p>
        </p:txBody>
      </p:sp>
      <p:sp>
        <p:nvSpPr>
          <p:cNvPr id="38" name="Rectangle 37"/>
          <p:cNvSpPr/>
          <p:nvPr/>
        </p:nvSpPr>
        <p:spPr>
          <a:xfrm>
            <a:off x="6355080" y="312724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3200400"/>
            <a:ext cx="640080" cy="201168"/>
          </a:xfrm>
          <a:prstGeom prst="rect">
            <a:avLst/>
          </a:prstGeom>
          <a:noFill/>
        </p:spPr>
        <p:txBody>
          <a:bodyPr wrap="square">
            <a:spAutoFit/>
          </a:bodyPr>
          <a:lstStyle/>
          <a:p>
            <a:pPr algn="l"/>
            <a:r>
              <a:rPr sz="800" b="1">
                <a:solidFill>
                  <a:srgbClr val="727A8E"/>
                </a:solidFill>
                <a:latin typeface="맑은 고딕"/>
              </a:rPr>
              <a:t>페이즈</a:t>
            </a:r>
          </a:p>
        </p:txBody>
      </p:sp>
      <p:sp>
        <p:nvSpPr>
          <p:cNvPr id="40" name="TextBox 39"/>
          <p:cNvSpPr txBox="1"/>
          <p:nvPr/>
        </p:nvSpPr>
        <p:spPr>
          <a:xfrm>
            <a:off x="6355080" y="3429000"/>
            <a:ext cx="2514600" cy="292608"/>
          </a:xfrm>
          <a:prstGeom prst="rect">
            <a:avLst/>
          </a:prstGeom>
          <a:noFill/>
        </p:spPr>
        <p:txBody>
          <a:bodyPr wrap="square">
            <a:spAutoFit/>
          </a:bodyPr>
          <a:lstStyle/>
          <a:p>
            <a:pPr algn="l"/>
            <a:r>
              <a:rPr sz="950" b="0">
                <a:solidFill>
                  <a:srgbClr val="C9A84C"/>
                </a:solidFill>
                <a:latin typeface="맑은 고딕"/>
              </a:rPr>
              <a:t>Phase 1 + Phase 2 완전 해금</a:t>
            </a:r>
          </a:p>
        </p:txBody>
      </p:sp>
      <p:sp>
        <p:nvSpPr>
          <p:cNvPr id="41" name="Rectangle 40"/>
          <p:cNvSpPr/>
          <p:nvPr/>
        </p:nvSpPr>
        <p:spPr>
          <a:xfrm>
            <a:off x="6355080" y="376732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840480"/>
            <a:ext cx="502920" cy="201168"/>
          </a:xfrm>
          <a:prstGeom prst="rect">
            <a:avLst/>
          </a:prstGeom>
          <a:noFill/>
        </p:spPr>
        <p:txBody>
          <a:bodyPr wrap="square">
            <a:spAutoFit/>
          </a:bodyPr>
          <a:lstStyle/>
          <a:p>
            <a:pPr algn="l"/>
            <a:r>
              <a:rPr sz="800" b="1">
                <a:solidFill>
                  <a:srgbClr val="C9A84C"/>
                </a:solidFill>
                <a:latin typeface="맑은 고딕"/>
              </a:rPr>
              <a:t>보상</a:t>
            </a:r>
          </a:p>
        </p:txBody>
      </p:sp>
      <p:sp>
        <p:nvSpPr>
          <p:cNvPr id="43" name="TextBox 42"/>
          <p:cNvSpPr txBox="1"/>
          <p:nvPr/>
        </p:nvSpPr>
        <p:spPr>
          <a:xfrm>
            <a:off x="6355080" y="4069080"/>
            <a:ext cx="2514600" cy="274320"/>
          </a:xfrm>
          <a:prstGeom prst="rect">
            <a:avLst/>
          </a:prstGeom>
          <a:noFill/>
        </p:spPr>
        <p:txBody>
          <a:bodyPr wrap="square">
            <a:spAutoFit/>
          </a:bodyPr>
          <a:lstStyle/>
          <a:p>
            <a:pPr algn="l"/>
            <a:r>
              <a:rPr sz="950" b="0">
                <a:solidFill>
                  <a:srgbClr val="E8D08A"/>
                </a:solidFill>
                <a:latin typeface="맑은 고딕"/>
              </a:rPr>
              <a:t>유물 코어 ×1</a:t>
            </a:r>
          </a:p>
        </p:txBody>
      </p:sp>
      <p:sp>
        <p:nvSpPr>
          <p:cNvPr id="44" name="TextBox 43"/>
          <p:cNvSpPr txBox="1"/>
          <p:nvPr/>
        </p:nvSpPr>
        <p:spPr>
          <a:xfrm>
            <a:off x="9025128" y="3246120"/>
            <a:ext cx="182880" cy="365760"/>
          </a:xfrm>
          <a:prstGeom prst="rect">
            <a:avLst/>
          </a:prstGeom>
          <a:noFill/>
        </p:spPr>
        <p:txBody>
          <a:bodyPr wrap="square">
            <a:spAutoFit/>
          </a:bodyPr>
          <a:lstStyle/>
          <a:p>
            <a:pPr algn="ctr"/>
            <a:r>
              <a:rPr sz="1800" b="0">
                <a:solidFill>
                  <a:srgbClr val="2E364A"/>
                </a:solidFill>
                <a:latin typeface="맑은 고딕"/>
              </a:rPr>
              <a:t>→</a:t>
            </a:r>
          </a:p>
        </p:txBody>
      </p:sp>
      <p:sp>
        <p:nvSpPr>
          <p:cNvPr id="45" name="Rectangle 44"/>
          <p:cNvSpPr/>
          <p:nvPr/>
        </p:nvSpPr>
        <p:spPr>
          <a:xfrm>
            <a:off x="9144000" y="2103120"/>
            <a:ext cx="2788920" cy="2560320"/>
          </a:xfrm>
          <a:prstGeom prst="rect">
            <a:avLst/>
          </a:prstGeom>
          <a:solidFill>
            <a:srgbClr val="161B2E"/>
          </a:solidFill>
          <a:ln w="18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144000" y="2103120"/>
            <a:ext cx="2788920" cy="4114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0" y="2130552"/>
            <a:ext cx="2788920" cy="365760"/>
          </a:xfrm>
          <a:prstGeom prst="rect">
            <a:avLst/>
          </a:prstGeom>
          <a:noFill/>
        </p:spPr>
        <p:txBody>
          <a:bodyPr wrap="square">
            <a:spAutoFit/>
          </a:bodyPr>
          <a:lstStyle/>
          <a:p>
            <a:pPr algn="ctr"/>
            <a:r>
              <a:rPr sz="1200" b="1">
                <a:solidFill>
                  <a:srgbClr val="6B3F8E"/>
                </a:solidFill>
                <a:latin typeface="맑은 고딕"/>
              </a:rPr>
              <a:t>부패 변이</a:t>
            </a:r>
          </a:p>
        </p:txBody>
      </p:sp>
      <p:sp>
        <p:nvSpPr>
          <p:cNvPr id="48" name="TextBox 47"/>
          <p:cNvSpPr txBox="1"/>
          <p:nvPr/>
        </p:nvSpPr>
        <p:spPr>
          <a:xfrm>
            <a:off x="9281160" y="2587752"/>
            <a:ext cx="502920" cy="201168"/>
          </a:xfrm>
          <a:prstGeom prst="rect">
            <a:avLst/>
          </a:prstGeom>
          <a:noFill/>
        </p:spPr>
        <p:txBody>
          <a:bodyPr wrap="square">
            <a:spAutoFit/>
          </a:bodyPr>
          <a:lstStyle/>
          <a:p>
            <a:pPr algn="l"/>
            <a:r>
              <a:rPr sz="800" b="1">
                <a:solidFill>
                  <a:srgbClr val="727A8E"/>
                </a:solidFill>
                <a:latin typeface="맑은 고딕"/>
              </a:rPr>
              <a:t>조건</a:t>
            </a:r>
          </a:p>
        </p:txBody>
      </p:sp>
      <p:sp>
        <p:nvSpPr>
          <p:cNvPr id="49" name="TextBox 48"/>
          <p:cNvSpPr txBox="1"/>
          <p:nvPr/>
        </p:nvSpPr>
        <p:spPr>
          <a:xfrm>
            <a:off x="9281160" y="2816352"/>
            <a:ext cx="2514600" cy="274320"/>
          </a:xfrm>
          <a:prstGeom prst="rect">
            <a:avLst/>
          </a:prstGeom>
          <a:noFill/>
        </p:spPr>
        <p:txBody>
          <a:bodyPr wrap="square">
            <a:spAutoFit/>
          </a:bodyPr>
          <a:lstStyle/>
          <a:p>
            <a:pPr algn="l"/>
            <a:r>
              <a:rPr sz="950" b="0">
                <a:solidFill>
                  <a:srgbClr val="FFFFFF"/>
                </a:solidFill>
                <a:latin typeface="맑은 고딕"/>
              </a:rPr>
              <a:t>리치 격파 이후 재도전</a:t>
            </a:r>
          </a:p>
        </p:txBody>
      </p:sp>
      <p:sp>
        <p:nvSpPr>
          <p:cNvPr id="50" name="Rectangle 49"/>
          <p:cNvSpPr/>
          <p:nvPr/>
        </p:nvSpPr>
        <p:spPr>
          <a:xfrm>
            <a:off x="9281160" y="312724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81160" y="3200400"/>
            <a:ext cx="640080" cy="201168"/>
          </a:xfrm>
          <a:prstGeom prst="rect">
            <a:avLst/>
          </a:prstGeom>
          <a:noFill/>
        </p:spPr>
        <p:txBody>
          <a:bodyPr wrap="square">
            <a:spAutoFit/>
          </a:bodyPr>
          <a:lstStyle/>
          <a:p>
            <a:pPr algn="l"/>
            <a:r>
              <a:rPr sz="800" b="1">
                <a:solidFill>
                  <a:srgbClr val="727A8E"/>
                </a:solidFill>
                <a:latin typeface="맑은 고딕"/>
              </a:rPr>
              <a:t>페이즈</a:t>
            </a:r>
          </a:p>
        </p:txBody>
      </p:sp>
      <p:sp>
        <p:nvSpPr>
          <p:cNvPr id="52" name="TextBox 51"/>
          <p:cNvSpPr txBox="1"/>
          <p:nvPr/>
        </p:nvSpPr>
        <p:spPr>
          <a:xfrm>
            <a:off x="9281160" y="3429000"/>
            <a:ext cx="2514600" cy="292608"/>
          </a:xfrm>
          <a:prstGeom prst="rect">
            <a:avLst/>
          </a:prstGeom>
          <a:noFill/>
        </p:spPr>
        <p:txBody>
          <a:bodyPr wrap="square">
            <a:spAutoFit/>
          </a:bodyPr>
          <a:lstStyle/>
          <a:p>
            <a:pPr algn="l"/>
            <a:r>
              <a:rPr sz="950" b="0">
                <a:solidFill>
                  <a:srgbClr val="6B3F8E"/>
                </a:solidFill>
                <a:latin typeface="맑은 고딕"/>
              </a:rPr>
              <a:t>Phase 1+2 + 변이 수식어</a:t>
            </a:r>
          </a:p>
        </p:txBody>
      </p:sp>
      <p:sp>
        <p:nvSpPr>
          <p:cNvPr id="53" name="Rectangle 52"/>
          <p:cNvSpPr/>
          <p:nvPr/>
        </p:nvSpPr>
        <p:spPr>
          <a:xfrm>
            <a:off x="9281160" y="3767328"/>
            <a:ext cx="251460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81160" y="3840480"/>
            <a:ext cx="502920" cy="201168"/>
          </a:xfrm>
          <a:prstGeom prst="rect">
            <a:avLst/>
          </a:prstGeom>
          <a:noFill/>
        </p:spPr>
        <p:txBody>
          <a:bodyPr wrap="square">
            <a:spAutoFit/>
          </a:bodyPr>
          <a:lstStyle/>
          <a:p>
            <a:pPr algn="l"/>
            <a:r>
              <a:rPr sz="800" b="1">
                <a:solidFill>
                  <a:srgbClr val="C9A84C"/>
                </a:solidFill>
                <a:latin typeface="맑은 고딕"/>
              </a:rPr>
              <a:t>보상</a:t>
            </a:r>
          </a:p>
        </p:txBody>
      </p:sp>
      <p:sp>
        <p:nvSpPr>
          <p:cNvPr id="55" name="TextBox 54"/>
          <p:cNvSpPr txBox="1"/>
          <p:nvPr/>
        </p:nvSpPr>
        <p:spPr>
          <a:xfrm>
            <a:off x="9281160" y="4069080"/>
            <a:ext cx="2514600" cy="274320"/>
          </a:xfrm>
          <a:prstGeom prst="rect">
            <a:avLst/>
          </a:prstGeom>
          <a:noFill/>
        </p:spPr>
        <p:txBody>
          <a:bodyPr wrap="square">
            <a:spAutoFit/>
          </a:bodyPr>
          <a:lstStyle/>
          <a:p>
            <a:pPr algn="l"/>
            <a:r>
              <a:rPr sz="950" b="0">
                <a:solidFill>
                  <a:srgbClr val="E8D08A"/>
                </a:solidFill>
                <a:latin typeface="맑은 고딕"/>
              </a:rPr>
              <a:t>잔류 각인 ×3~5</a:t>
            </a:r>
          </a:p>
        </p:txBody>
      </p:sp>
      <p:sp>
        <p:nvSpPr>
          <p:cNvPr id="56" name="Rectangle 55"/>
          <p:cNvSpPr/>
          <p:nvPr/>
        </p:nvSpPr>
        <p:spPr>
          <a:xfrm>
            <a:off x="365760" y="4828032"/>
            <a:ext cx="5669280" cy="18288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5760" y="4828032"/>
            <a:ext cx="56692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4882896"/>
            <a:ext cx="5394960" cy="256032"/>
          </a:xfrm>
          <a:prstGeom prst="rect">
            <a:avLst/>
          </a:prstGeom>
          <a:noFill/>
        </p:spPr>
        <p:txBody>
          <a:bodyPr wrap="square">
            <a:spAutoFit/>
          </a:bodyPr>
          <a:lstStyle/>
          <a:p>
            <a:pPr algn="l"/>
            <a:r>
              <a:rPr sz="1200" b="1">
                <a:solidFill>
                  <a:srgbClr val="C9A84C"/>
                </a:solidFill>
                <a:latin typeface="맑은 고딕"/>
              </a:rPr>
              <a:t>균열 예고 — 조우 횟수별 Phase 2 노출 시간</a:t>
            </a:r>
          </a:p>
        </p:txBody>
      </p:sp>
      <p:sp>
        <p:nvSpPr>
          <p:cNvPr id="59" name="Rectangle 58"/>
          <p:cNvSpPr/>
          <p:nvPr/>
        </p:nvSpPr>
        <p:spPr>
          <a:xfrm>
            <a:off x="548640" y="5230368"/>
            <a:ext cx="640080" cy="34747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 y="5266944"/>
            <a:ext cx="493775" cy="274320"/>
          </a:xfrm>
          <a:prstGeom prst="rect">
            <a:avLst/>
          </a:prstGeom>
          <a:noFill/>
        </p:spPr>
        <p:txBody>
          <a:bodyPr wrap="square">
            <a:spAutoFit/>
          </a:bodyPr>
          <a:lstStyle/>
          <a:p>
            <a:pPr algn="ctr"/>
            <a:r>
              <a:rPr sz="1000" b="1">
                <a:solidFill>
                  <a:srgbClr val="C9A84C"/>
                </a:solidFill>
                <a:latin typeface="맑은 고딕"/>
              </a:rPr>
              <a:t>조우</a:t>
            </a:r>
          </a:p>
        </p:txBody>
      </p:sp>
      <p:sp>
        <p:nvSpPr>
          <p:cNvPr id="61" name="Rectangle 60"/>
          <p:cNvSpPr/>
          <p:nvPr/>
        </p:nvSpPr>
        <p:spPr>
          <a:xfrm>
            <a:off x="1188719" y="5230368"/>
            <a:ext cx="1097280" cy="34747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61872" y="5266944"/>
            <a:ext cx="950976" cy="274320"/>
          </a:xfrm>
          <a:prstGeom prst="rect">
            <a:avLst/>
          </a:prstGeom>
          <a:noFill/>
        </p:spPr>
        <p:txBody>
          <a:bodyPr wrap="square">
            <a:spAutoFit/>
          </a:bodyPr>
          <a:lstStyle/>
          <a:p>
            <a:pPr algn="ctr"/>
            <a:r>
              <a:rPr sz="1000" b="1">
                <a:solidFill>
                  <a:srgbClr val="C9A84C"/>
                </a:solidFill>
                <a:latin typeface="맑은 고딕"/>
              </a:rPr>
              <a:t>Phase 2 노출</a:t>
            </a:r>
          </a:p>
        </p:txBody>
      </p:sp>
      <p:sp>
        <p:nvSpPr>
          <p:cNvPr id="63" name="Rectangle 62"/>
          <p:cNvSpPr/>
          <p:nvPr/>
        </p:nvSpPr>
        <p:spPr>
          <a:xfrm>
            <a:off x="2286000" y="5230368"/>
            <a:ext cx="3749039" cy="34747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59152" y="5266944"/>
            <a:ext cx="3602735" cy="274320"/>
          </a:xfrm>
          <a:prstGeom prst="rect">
            <a:avLst/>
          </a:prstGeom>
          <a:noFill/>
        </p:spPr>
        <p:txBody>
          <a:bodyPr wrap="square">
            <a:spAutoFit/>
          </a:bodyPr>
          <a:lstStyle/>
          <a:p>
            <a:pPr algn="ctr"/>
            <a:r>
              <a:rPr sz="1000" b="1">
                <a:solidFill>
                  <a:srgbClr val="C9A84C"/>
                </a:solidFill>
                <a:latin typeface="맑은 고딕"/>
              </a:rPr>
              <a:t>연출</a:t>
            </a:r>
          </a:p>
        </p:txBody>
      </p:sp>
      <p:sp>
        <p:nvSpPr>
          <p:cNvPr id="65" name="Rectangle 64"/>
          <p:cNvSpPr/>
          <p:nvPr/>
        </p:nvSpPr>
        <p:spPr>
          <a:xfrm>
            <a:off x="548640" y="5577840"/>
            <a:ext cx="64008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1792" y="5614416"/>
            <a:ext cx="493775" cy="274320"/>
          </a:xfrm>
          <a:prstGeom prst="rect">
            <a:avLst/>
          </a:prstGeom>
          <a:noFill/>
        </p:spPr>
        <p:txBody>
          <a:bodyPr wrap="square">
            <a:spAutoFit/>
          </a:bodyPr>
          <a:lstStyle/>
          <a:p>
            <a:pPr algn="ctr"/>
            <a:r>
              <a:rPr sz="950" b="0">
                <a:solidFill>
                  <a:srgbClr val="FFFFFF"/>
                </a:solidFill>
                <a:latin typeface="맑은 고딕"/>
              </a:rPr>
              <a:t>1차</a:t>
            </a:r>
          </a:p>
        </p:txBody>
      </p:sp>
      <p:sp>
        <p:nvSpPr>
          <p:cNvPr id="67" name="Rectangle 66"/>
          <p:cNvSpPr/>
          <p:nvPr/>
        </p:nvSpPr>
        <p:spPr>
          <a:xfrm>
            <a:off x="1188719" y="5577840"/>
            <a:ext cx="109728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61872" y="5614416"/>
            <a:ext cx="950976" cy="274320"/>
          </a:xfrm>
          <a:prstGeom prst="rect">
            <a:avLst/>
          </a:prstGeom>
          <a:noFill/>
        </p:spPr>
        <p:txBody>
          <a:bodyPr wrap="square">
            <a:spAutoFit/>
          </a:bodyPr>
          <a:lstStyle/>
          <a:p>
            <a:pPr algn="ctr"/>
            <a:r>
              <a:rPr sz="950" b="0">
                <a:solidFill>
                  <a:srgbClr val="B8BECC"/>
                </a:solidFill>
                <a:latin typeface="맑은 고딕"/>
              </a:rPr>
              <a:t>없음</a:t>
            </a:r>
          </a:p>
        </p:txBody>
      </p:sp>
      <p:sp>
        <p:nvSpPr>
          <p:cNvPr id="69" name="Rectangle 68"/>
          <p:cNvSpPr/>
          <p:nvPr/>
        </p:nvSpPr>
        <p:spPr>
          <a:xfrm>
            <a:off x="2286000" y="5577840"/>
            <a:ext cx="3749039"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59152" y="5614416"/>
            <a:ext cx="3602735" cy="274320"/>
          </a:xfrm>
          <a:prstGeom prst="rect">
            <a:avLst/>
          </a:prstGeom>
          <a:noFill/>
        </p:spPr>
        <p:txBody>
          <a:bodyPr wrap="square">
            <a:spAutoFit/>
          </a:bodyPr>
          <a:lstStyle/>
          <a:p>
            <a:pPr algn="ctr"/>
            <a:r>
              <a:rPr sz="950" b="0">
                <a:solidFill>
                  <a:srgbClr val="B8BECC"/>
                </a:solidFill>
                <a:latin typeface="맑은 고딕"/>
              </a:rPr>
              <a:t>HP 0 → 봉인 파열 연출 → 퇴각</a:t>
            </a:r>
          </a:p>
        </p:txBody>
      </p:sp>
      <p:sp>
        <p:nvSpPr>
          <p:cNvPr id="71" name="Rectangle 70"/>
          <p:cNvSpPr/>
          <p:nvPr/>
        </p:nvSpPr>
        <p:spPr>
          <a:xfrm>
            <a:off x="548640" y="5925312"/>
            <a:ext cx="64008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1792" y="5961888"/>
            <a:ext cx="493775" cy="274320"/>
          </a:xfrm>
          <a:prstGeom prst="rect">
            <a:avLst/>
          </a:prstGeom>
          <a:noFill/>
        </p:spPr>
        <p:txBody>
          <a:bodyPr wrap="square">
            <a:spAutoFit/>
          </a:bodyPr>
          <a:lstStyle/>
          <a:p>
            <a:pPr algn="ctr"/>
            <a:r>
              <a:rPr sz="950" b="0">
                <a:solidFill>
                  <a:srgbClr val="FFFFFF"/>
                </a:solidFill>
                <a:latin typeface="맑은 고딕"/>
              </a:rPr>
              <a:t>2차</a:t>
            </a:r>
          </a:p>
        </p:txBody>
      </p:sp>
      <p:sp>
        <p:nvSpPr>
          <p:cNvPr id="73" name="Rectangle 72"/>
          <p:cNvSpPr/>
          <p:nvPr/>
        </p:nvSpPr>
        <p:spPr>
          <a:xfrm>
            <a:off x="1188719" y="5925312"/>
            <a:ext cx="109728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261872" y="5961888"/>
            <a:ext cx="950976" cy="274320"/>
          </a:xfrm>
          <a:prstGeom prst="rect">
            <a:avLst/>
          </a:prstGeom>
          <a:noFill/>
        </p:spPr>
        <p:txBody>
          <a:bodyPr wrap="square">
            <a:spAutoFit/>
          </a:bodyPr>
          <a:lstStyle/>
          <a:p>
            <a:pPr algn="ctr"/>
            <a:r>
              <a:rPr sz="950" b="0">
                <a:solidFill>
                  <a:srgbClr val="B8BECC"/>
                </a:solidFill>
                <a:latin typeface="맑은 고딕"/>
              </a:rPr>
              <a:t>10~20초</a:t>
            </a:r>
          </a:p>
        </p:txBody>
      </p:sp>
      <p:sp>
        <p:nvSpPr>
          <p:cNvPr id="75" name="Rectangle 74"/>
          <p:cNvSpPr/>
          <p:nvPr/>
        </p:nvSpPr>
        <p:spPr>
          <a:xfrm>
            <a:off x="2286000" y="5925312"/>
            <a:ext cx="3749039"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59152" y="5961888"/>
            <a:ext cx="3602735" cy="274320"/>
          </a:xfrm>
          <a:prstGeom prst="rect">
            <a:avLst/>
          </a:prstGeom>
          <a:noFill/>
        </p:spPr>
        <p:txBody>
          <a:bodyPr wrap="square">
            <a:spAutoFit/>
          </a:bodyPr>
          <a:lstStyle/>
          <a:p>
            <a:pPr algn="ctr"/>
            <a:r>
              <a:rPr sz="950" b="0">
                <a:solidFill>
                  <a:srgbClr val="B8BECC"/>
                </a:solidFill>
                <a:latin typeface="맑은 고딕"/>
              </a:rPr>
              <a:t>Phase 2 형태 노출 후 재봉인 — 다음 조우 예고</a:t>
            </a:r>
          </a:p>
        </p:txBody>
      </p:sp>
      <p:sp>
        <p:nvSpPr>
          <p:cNvPr id="77" name="Rectangle 76"/>
          <p:cNvSpPr/>
          <p:nvPr/>
        </p:nvSpPr>
        <p:spPr>
          <a:xfrm>
            <a:off x="548640" y="6272783"/>
            <a:ext cx="64008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21792" y="6309359"/>
            <a:ext cx="493775" cy="274320"/>
          </a:xfrm>
          <a:prstGeom prst="rect">
            <a:avLst/>
          </a:prstGeom>
          <a:noFill/>
        </p:spPr>
        <p:txBody>
          <a:bodyPr wrap="square">
            <a:spAutoFit/>
          </a:bodyPr>
          <a:lstStyle/>
          <a:p>
            <a:pPr algn="ctr"/>
            <a:r>
              <a:rPr sz="950" b="0">
                <a:solidFill>
                  <a:srgbClr val="FFFFFF"/>
                </a:solidFill>
                <a:latin typeface="맑은 고딕"/>
              </a:rPr>
              <a:t>3차+</a:t>
            </a:r>
          </a:p>
        </p:txBody>
      </p:sp>
      <p:sp>
        <p:nvSpPr>
          <p:cNvPr id="79" name="Rectangle 78"/>
          <p:cNvSpPr/>
          <p:nvPr/>
        </p:nvSpPr>
        <p:spPr>
          <a:xfrm>
            <a:off x="1188719" y="6272783"/>
            <a:ext cx="109728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261872" y="6309359"/>
            <a:ext cx="950976" cy="274320"/>
          </a:xfrm>
          <a:prstGeom prst="rect">
            <a:avLst/>
          </a:prstGeom>
          <a:noFill/>
        </p:spPr>
        <p:txBody>
          <a:bodyPr wrap="square">
            <a:spAutoFit/>
          </a:bodyPr>
          <a:lstStyle/>
          <a:p>
            <a:pPr algn="ctr"/>
            <a:r>
              <a:rPr sz="950" b="0">
                <a:solidFill>
                  <a:srgbClr val="B8BECC"/>
                </a:solidFill>
                <a:latin typeface="맑은 고딕"/>
              </a:rPr>
              <a:t>완전 해방</a:t>
            </a:r>
          </a:p>
        </p:txBody>
      </p:sp>
      <p:sp>
        <p:nvSpPr>
          <p:cNvPr id="81" name="Rectangle 80"/>
          <p:cNvSpPr/>
          <p:nvPr/>
        </p:nvSpPr>
        <p:spPr>
          <a:xfrm>
            <a:off x="2286000" y="6272783"/>
            <a:ext cx="3749039"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359152" y="6309359"/>
            <a:ext cx="3602735" cy="274320"/>
          </a:xfrm>
          <a:prstGeom prst="rect">
            <a:avLst/>
          </a:prstGeom>
          <a:noFill/>
        </p:spPr>
        <p:txBody>
          <a:bodyPr wrap="square">
            <a:spAutoFit/>
          </a:bodyPr>
          <a:lstStyle/>
          <a:p>
            <a:pPr algn="ctr"/>
            <a:r>
              <a:rPr sz="950" b="0">
                <a:solidFill>
                  <a:srgbClr val="B8BECC"/>
                </a:solidFill>
                <a:latin typeface="맑은 고딕"/>
              </a:rPr>
              <a:t>Phase 1 + Phase 2 완전 해금</a:t>
            </a:r>
          </a:p>
        </p:txBody>
      </p:sp>
      <p:sp>
        <p:nvSpPr>
          <p:cNvPr id="83" name="Rectangle 82"/>
          <p:cNvSpPr/>
          <p:nvPr/>
        </p:nvSpPr>
        <p:spPr>
          <a:xfrm>
            <a:off x="6263640" y="4828032"/>
            <a:ext cx="5577840" cy="18288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263640" y="4828032"/>
            <a:ext cx="55778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00800" y="4882896"/>
            <a:ext cx="5303520" cy="256032"/>
          </a:xfrm>
          <a:prstGeom prst="rect">
            <a:avLst/>
          </a:prstGeom>
          <a:noFill/>
        </p:spPr>
        <p:txBody>
          <a:bodyPr wrap="square">
            <a:spAutoFit/>
          </a:bodyPr>
          <a:lstStyle/>
          <a:p>
            <a:pPr algn="l"/>
            <a:r>
              <a:rPr sz="1200" b="1">
                <a:solidFill>
                  <a:srgbClr val="C9A84C"/>
                </a:solidFill>
                <a:latin typeface="맑은 고딕"/>
              </a:rPr>
              <a:t>리치 격파 — 부패 변이 해금 흐름</a:t>
            </a:r>
          </a:p>
        </p:txBody>
      </p:sp>
      <p:sp>
        <p:nvSpPr>
          <p:cNvPr id="86" name="TextBox 85"/>
          <p:cNvSpPr txBox="1"/>
          <p:nvPr/>
        </p:nvSpPr>
        <p:spPr>
          <a:xfrm>
            <a:off x="6446520" y="5230368"/>
            <a:ext cx="5212080" cy="1280160"/>
          </a:xfrm>
          <a:prstGeom prst="rect">
            <a:avLst/>
          </a:prstGeom>
          <a:noFill/>
        </p:spPr>
        <p:txBody>
          <a:bodyPr wrap="square">
            <a:spAutoFit/>
          </a:bodyPr>
          <a:lstStyle/>
          <a:p>
            <a:pPr algn="l"/>
            <a:r>
              <a:rPr sz="950" b="0">
                <a:solidFill>
                  <a:srgbClr val="B8BECC"/>
                </a:solidFill>
                <a:latin typeface="맑은 고딕"/>
              </a:rPr>
              <a:t>리치 사망 (1차)
  → 봉인 파열 연출 후 퇴각
  → 부패 변이 수식어 해금
  → 유물 코어 ×1 지급
  → 멀린: "부패가 남긴 흔적들이 변이를 일으키고 있어."
  → 이후 런 리치 재조우 시 변이 수식어 적용</a:t>
            </a:r>
          </a:p>
        </p:txBody>
      </p:sp>
      <p:sp>
        <p:nvSpPr>
          <p:cNvPr id="87" name="Rectangle 86"/>
          <p:cNvSpPr/>
          <p:nvPr/>
        </p:nvSpPr>
        <p:spPr>
          <a:xfrm>
            <a:off x="365760" y="6693408"/>
            <a:ext cx="11430000" cy="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부패 변이 수식어 &amp; 사망 카운터 시스템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71323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71323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6858000" cy="256032"/>
          </a:xfrm>
          <a:prstGeom prst="rect">
            <a:avLst/>
          </a:prstGeom>
          <a:noFill/>
        </p:spPr>
        <p:txBody>
          <a:bodyPr wrap="square">
            <a:spAutoFit/>
          </a:bodyPr>
          <a:lstStyle/>
          <a:p>
            <a:pPr algn="l"/>
            <a:r>
              <a:rPr sz="1200" b="1">
                <a:solidFill>
                  <a:srgbClr val="C9A84C"/>
                </a:solidFill>
                <a:latin typeface="맑은 고딕"/>
              </a:rPr>
              <a:t>부패 변이 수식어 풀 (완전 해방 보스 재도전 시 랜덤 1개)</a:t>
            </a:r>
          </a:p>
        </p:txBody>
      </p:sp>
      <p:sp>
        <p:nvSpPr>
          <p:cNvPr id="8" name="Rectangle 7"/>
          <p:cNvSpPr/>
          <p:nvPr/>
        </p:nvSpPr>
        <p:spPr>
          <a:xfrm>
            <a:off x="548640" y="1417320"/>
            <a:ext cx="1005840" cy="47548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453896"/>
            <a:ext cx="859536" cy="402336"/>
          </a:xfrm>
          <a:prstGeom prst="rect">
            <a:avLst/>
          </a:prstGeom>
          <a:noFill/>
        </p:spPr>
        <p:txBody>
          <a:bodyPr wrap="square">
            <a:spAutoFit/>
          </a:bodyPr>
          <a:lstStyle/>
          <a:p>
            <a:pPr algn="ctr"/>
            <a:r>
              <a:rPr sz="1000" b="1">
                <a:solidFill>
                  <a:srgbClr val="C9A84C"/>
                </a:solidFill>
                <a:latin typeface="맑은 고딕"/>
              </a:rPr>
              <a:t>분류</a:t>
            </a:r>
          </a:p>
        </p:txBody>
      </p:sp>
      <p:sp>
        <p:nvSpPr>
          <p:cNvPr id="10" name="Rectangle 9"/>
          <p:cNvSpPr/>
          <p:nvPr/>
        </p:nvSpPr>
        <p:spPr>
          <a:xfrm>
            <a:off x="1554480" y="1417320"/>
            <a:ext cx="2011680" cy="47548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27632" y="1453896"/>
            <a:ext cx="1865376" cy="402336"/>
          </a:xfrm>
          <a:prstGeom prst="rect">
            <a:avLst/>
          </a:prstGeom>
          <a:noFill/>
        </p:spPr>
        <p:txBody>
          <a:bodyPr wrap="square">
            <a:spAutoFit/>
          </a:bodyPr>
          <a:lstStyle/>
          <a:p>
            <a:pPr algn="ctr"/>
            <a:r>
              <a:rPr sz="1000" b="1">
                <a:solidFill>
                  <a:srgbClr val="C9A84C"/>
                </a:solidFill>
                <a:latin typeface="맑은 고딕"/>
              </a:rPr>
              <a:t>수식어명</a:t>
            </a:r>
          </a:p>
        </p:txBody>
      </p:sp>
      <p:sp>
        <p:nvSpPr>
          <p:cNvPr id="12" name="Rectangle 11"/>
          <p:cNvSpPr/>
          <p:nvPr/>
        </p:nvSpPr>
        <p:spPr>
          <a:xfrm>
            <a:off x="3566160" y="1417320"/>
            <a:ext cx="3931920" cy="47548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1453896"/>
            <a:ext cx="3785615" cy="402336"/>
          </a:xfrm>
          <a:prstGeom prst="rect">
            <a:avLst/>
          </a:prstGeom>
          <a:noFill/>
        </p:spPr>
        <p:txBody>
          <a:bodyPr wrap="square">
            <a:spAutoFit/>
          </a:bodyPr>
          <a:lstStyle/>
          <a:p>
            <a:pPr algn="ctr"/>
            <a:r>
              <a:rPr sz="1000" b="1">
                <a:solidFill>
                  <a:srgbClr val="C9A84C"/>
                </a:solidFill>
                <a:latin typeface="맑은 고딕"/>
              </a:rPr>
              <a:t>효과</a:t>
            </a:r>
          </a:p>
        </p:txBody>
      </p:sp>
      <p:sp>
        <p:nvSpPr>
          <p:cNvPr id="14" name="Rectangle 13"/>
          <p:cNvSpPr/>
          <p:nvPr/>
        </p:nvSpPr>
        <p:spPr>
          <a:xfrm>
            <a:off x="548640" y="1892808"/>
            <a:ext cx="1005840" cy="47548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1929384"/>
            <a:ext cx="859536" cy="402336"/>
          </a:xfrm>
          <a:prstGeom prst="rect">
            <a:avLst/>
          </a:prstGeom>
          <a:noFill/>
        </p:spPr>
        <p:txBody>
          <a:bodyPr wrap="square">
            <a:spAutoFit/>
          </a:bodyPr>
          <a:lstStyle/>
          <a:p>
            <a:pPr algn="ctr"/>
            <a:r>
              <a:rPr sz="950" b="0">
                <a:solidFill>
                  <a:srgbClr val="FFFFFF"/>
                </a:solidFill>
                <a:latin typeface="맑은 고딕"/>
              </a:rPr>
              <a:t>공격</a:t>
            </a:r>
          </a:p>
        </p:txBody>
      </p:sp>
      <p:sp>
        <p:nvSpPr>
          <p:cNvPr id="16" name="Rectangle 15"/>
          <p:cNvSpPr/>
          <p:nvPr/>
        </p:nvSpPr>
        <p:spPr>
          <a:xfrm>
            <a:off x="1554480" y="1892808"/>
            <a:ext cx="2011680" cy="47548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27632" y="1929384"/>
            <a:ext cx="1865376" cy="402336"/>
          </a:xfrm>
          <a:prstGeom prst="rect">
            <a:avLst/>
          </a:prstGeom>
          <a:noFill/>
        </p:spPr>
        <p:txBody>
          <a:bodyPr wrap="square">
            <a:spAutoFit/>
          </a:bodyPr>
          <a:lstStyle/>
          <a:p>
            <a:pPr algn="ctr"/>
            <a:r>
              <a:rPr sz="950" b="0">
                <a:solidFill>
                  <a:srgbClr val="B8BECC"/>
                </a:solidFill>
                <a:latin typeface="맑은 고딕"/>
              </a:rPr>
              <a:t>분노의 부패</a:t>
            </a:r>
          </a:p>
        </p:txBody>
      </p:sp>
      <p:sp>
        <p:nvSpPr>
          <p:cNvPr id="18" name="Rectangle 17"/>
          <p:cNvSpPr/>
          <p:nvPr/>
        </p:nvSpPr>
        <p:spPr>
          <a:xfrm>
            <a:off x="3566160" y="1892808"/>
            <a:ext cx="3931920" cy="47548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1929384"/>
            <a:ext cx="3785615" cy="402336"/>
          </a:xfrm>
          <a:prstGeom prst="rect">
            <a:avLst/>
          </a:prstGeom>
          <a:noFill/>
        </p:spPr>
        <p:txBody>
          <a:bodyPr wrap="square">
            <a:spAutoFit/>
          </a:bodyPr>
          <a:lstStyle/>
          <a:p>
            <a:pPr algn="ctr"/>
            <a:r>
              <a:rPr sz="950" b="0">
                <a:solidFill>
                  <a:srgbClr val="B8BECC"/>
                </a:solidFill>
                <a:latin typeface="맑은 고딕"/>
              </a:rPr>
              <a:t>공격력 +40%, 공격 속도 +20%</a:t>
            </a:r>
          </a:p>
        </p:txBody>
      </p:sp>
      <p:sp>
        <p:nvSpPr>
          <p:cNvPr id="20" name="Rectangle 19"/>
          <p:cNvSpPr/>
          <p:nvPr/>
        </p:nvSpPr>
        <p:spPr>
          <a:xfrm>
            <a:off x="548640" y="2368296"/>
            <a:ext cx="1005840" cy="47548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2404872"/>
            <a:ext cx="859536" cy="402336"/>
          </a:xfrm>
          <a:prstGeom prst="rect">
            <a:avLst/>
          </a:prstGeom>
          <a:noFill/>
        </p:spPr>
        <p:txBody>
          <a:bodyPr wrap="square">
            <a:spAutoFit/>
          </a:bodyPr>
          <a:lstStyle/>
          <a:p>
            <a:pPr algn="ctr"/>
            <a:r>
              <a:rPr sz="950" b="0">
                <a:solidFill>
                  <a:srgbClr val="FFFFFF"/>
                </a:solidFill>
                <a:latin typeface="맑은 고딕"/>
              </a:rPr>
              <a:t>공격</a:t>
            </a:r>
          </a:p>
        </p:txBody>
      </p:sp>
      <p:sp>
        <p:nvSpPr>
          <p:cNvPr id="22" name="Rectangle 21"/>
          <p:cNvSpPr/>
          <p:nvPr/>
        </p:nvSpPr>
        <p:spPr>
          <a:xfrm>
            <a:off x="1554480" y="2368296"/>
            <a:ext cx="2011680" cy="47548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2404872"/>
            <a:ext cx="1865376" cy="402336"/>
          </a:xfrm>
          <a:prstGeom prst="rect">
            <a:avLst/>
          </a:prstGeom>
          <a:noFill/>
        </p:spPr>
        <p:txBody>
          <a:bodyPr wrap="square">
            <a:spAutoFit/>
          </a:bodyPr>
          <a:lstStyle/>
          <a:p>
            <a:pPr algn="ctr"/>
            <a:r>
              <a:rPr sz="950" b="0">
                <a:solidFill>
                  <a:srgbClr val="B8BECC"/>
                </a:solidFill>
                <a:latin typeface="맑은 고딕"/>
              </a:rPr>
              <a:t>관통의 저주</a:t>
            </a:r>
          </a:p>
        </p:txBody>
      </p:sp>
      <p:sp>
        <p:nvSpPr>
          <p:cNvPr id="24" name="Rectangle 23"/>
          <p:cNvSpPr/>
          <p:nvPr/>
        </p:nvSpPr>
        <p:spPr>
          <a:xfrm>
            <a:off x="3566160" y="2368296"/>
            <a:ext cx="3931920" cy="47548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39312" y="2404872"/>
            <a:ext cx="3785615" cy="402336"/>
          </a:xfrm>
          <a:prstGeom prst="rect">
            <a:avLst/>
          </a:prstGeom>
          <a:noFill/>
        </p:spPr>
        <p:txBody>
          <a:bodyPr wrap="square">
            <a:spAutoFit/>
          </a:bodyPr>
          <a:lstStyle/>
          <a:p>
            <a:pPr algn="ctr"/>
            <a:r>
              <a:rPr sz="950" b="0">
                <a:solidFill>
                  <a:srgbClr val="B8BECC"/>
                </a:solidFill>
                <a:latin typeface="맑은 고딕"/>
              </a:rPr>
              <a:t>모든 공격 방어 무시</a:t>
            </a:r>
          </a:p>
        </p:txBody>
      </p:sp>
      <p:sp>
        <p:nvSpPr>
          <p:cNvPr id="26" name="Rectangle 25"/>
          <p:cNvSpPr/>
          <p:nvPr/>
        </p:nvSpPr>
        <p:spPr>
          <a:xfrm>
            <a:off x="548640" y="2843784"/>
            <a:ext cx="1005840" cy="47548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2880360"/>
            <a:ext cx="859536" cy="402336"/>
          </a:xfrm>
          <a:prstGeom prst="rect">
            <a:avLst/>
          </a:prstGeom>
          <a:noFill/>
        </p:spPr>
        <p:txBody>
          <a:bodyPr wrap="square">
            <a:spAutoFit/>
          </a:bodyPr>
          <a:lstStyle/>
          <a:p>
            <a:pPr algn="ctr"/>
            <a:r>
              <a:rPr sz="950" b="0">
                <a:solidFill>
                  <a:srgbClr val="FFFFFF"/>
                </a:solidFill>
                <a:latin typeface="맑은 고딕"/>
              </a:rPr>
              <a:t>공격</a:t>
            </a:r>
          </a:p>
        </p:txBody>
      </p:sp>
      <p:sp>
        <p:nvSpPr>
          <p:cNvPr id="28" name="Rectangle 27"/>
          <p:cNvSpPr/>
          <p:nvPr/>
        </p:nvSpPr>
        <p:spPr>
          <a:xfrm>
            <a:off x="1554480" y="2843784"/>
            <a:ext cx="2011680" cy="47548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27632" y="2880360"/>
            <a:ext cx="1865376" cy="402336"/>
          </a:xfrm>
          <a:prstGeom prst="rect">
            <a:avLst/>
          </a:prstGeom>
          <a:noFill/>
        </p:spPr>
        <p:txBody>
          <a:bodyPr wrap="square">
            <a:spAutoFit/>
          </a:bodyPr>
          <a:lstStyle/>
          <a:p>
            <a:pPr algn="ctr"/>
            <a:r>
              <a:rPr sz="950" b="0">
                <a:solidFill>
                  <a:srgbClr val="B8BECC"/>
                </a:solidFill>
                <a:latin typeface="맑은 고딕"/>
              </a:rPr>
              <a:t>연쇄의 광기</a:t>
            </a:r>
          </a:p>
        </p:txBody>
      </p:sp>
      <p:sp>
        <p:nvSpPr>
          <p:cNvPr id="30" name="Rectangle 29"/>
          <p:cNvSpPr/>
          <p:nvPr/>
        </p:nvSpPr>
        <p:spPr>
          <a:xfrm>
            <a:off x="3566160" y="2843784"/>
            <a:ext cx="3931920" cy="47548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9312" y="2880360"/>
            <a:ext cx="3785615" cy="402336"/>
          </a:xfrm>
          <a:prstGeom prst="rect">
            <a:avLst/>
          </a:prstGeom>
          <a:noFill/>
        </p:spPr>
        <p:txBody>
          <a:bodyPr wrap="square">
            <a:spAutoFit/>
          </a:bodyPr>
          <a:lstStyle/>
          <a:p>
            <a:pPr algn="ctr"/>
            <a:r>
              <a:rPr sz="950" b="0">
                <a:solidFill>
                  <a:srgbClr val="B8BECC"/>
                </a:solidFill>
                <a:latin typeface="맑은 고딕"/>
              </a:rPr>
              <a:t>피격 시 주변에 연쇄 피해</a:t>
            </a:r>
          </a:p>
        </p:txBody>
      </p:sp>
      <p:sp>
        <p:nvSpPr>
          <p:cNvPr id="32" name="Rectangle 31"/>
          <p:cNvSpPr/>
          <p:nvPr/>
        </p:nvSpPr>
        <p:spPr>
          <a:xfrm>
            <a:off x="548640" y="3319272"/>
            <a:ext cx="1005840" cy="475488"/>
          </a:xfrm>
          <a:prstGeom prst="rect">
            <a:avLst/>
          </a:prstGeom>
          <a:solidFill>
            <a:srgbClr val="1A10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3355848"/>
            <a:ext cx="859536" cy="402336"/>
          </a:xfrm>
          <a:prstGeom prst="rect">
            <a:avLst/>
          </a:prstGeom>
          <a:noFill/>
        </p:spPr>
        <p:txBody>
          <a:bodyPr wrap="square">
            <a:spAutoFit/>
          </a:bodyPr>
          <a:lstStyle/>
          <a:p>
            <a:pPr algn="ctr"/>
            <a:r>
              <a:rPr sz="950" b="0">
                <a:solidFill>
                  <a:srgbClr val="FFFFFF"/>
                </a:solidFill>
                <a:latin typeface="맑은 고딕"/>
              </a:rPr>
              <a:t>방어</a:t>
            </a:r>
          </a:p>
        </p:txBody>
      </p:sp>
      <p:sp>
        <p:nvSpPr>
          <p:cNvPr id="34" name="Rectangle 33"/>
          <p:cNvSpPr/>
          <p:nvPr/>
        </p:nvSpPr>
        <p:spPr>
          <a:xfrm>
            <a:off x="1554480" y="3319272"/>
            <a:ext cx="2011680" cy="475488"/>
          </a:xfrm>
          <a:prstGeom prst="rect">
            <a:avLst/>
          </a:prstGeom>
          <a:solidFill>
            <a:srgbClr val="1A10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3355848"/>
            <a:ext cx="1865376" cy="402336"/>
          </a:xfrm>
          <a:prstGeom prst="rect">
            <a:avLst/>
          </a:prstGeom>
          <a:noFill/>
        </p:spPr>
        <p:txBody>
          <a:bodyPr wrap="square">
            <a:spAutoFit/>
          </a:bodyPr>
          <a:lstStyle/>
          <a:p>
            <a:pPr algn="ctr"/>
            <a:r>
              <a:rPr sz="950" b="0">
                <a:solidFill>
                  <a:srgbClr val="B8BECC"/>
                </a:solidFill>
                <a:latin typeface="맑은 고딕"/>
              </a:rPr>
              <a:t>철갑의 잠식</a:t>
            </a:r>
          </a:p>
        </p:txBody>
      </p:sp>
      <p:sp>
        <p:nvSpPr>
          <p:cNvPr id="36" name="Rectangle 35"/>
          <p:cNvSpPr/>
          <p:nvPr/>
        </p:nvSpPr>
        <p:spPr>
          <a:xfrm>
            <a:off x="3566160" y="3319272"/>
            <a:ext cx="3931920" cy="475488"/>
          </a:xfrm>
          <a:prstGeom prst="rect">
            <a:avLst/>
          </a:prstGeom>
          <a:solidFill>
            <a:srgbClr val="1A10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39312" y="3355848"/>
            <a:ext cx="3785615" cy="402336"/>
          </a:xfrm>
          <a:prstGeom prst="rect">
            <a:avLst/>
          </a:prstGeom>
          <a:noFill/>
        </p:spPr>
        <p:txBody>
          <a:bodyPr wrap="square">
            <a:spAutoFit/>
          </a:bodyPr>
          <a:lstStyle/>
          <a:p>
            <a:pPr algn="ctr"/>
            <a:r>
              <a:rPr sz="950" b="0">
                <a:solidFill>
                  <a:srgbClr val="B8BECC"/>
                </a:solidFill>
                <a:latin typeface="맑은 고딕"/>
              </a:rPr>
              <a:t>받는 피해 -40%, HP 회복 불가</a:t>
            </a:r>
          </a:p>
        </p:txBody>
      </p:sp>
      <p:sp>
        <p:nvSpPr>
          <p:cNvPr id="38" name="Rectangle 37"/>
          <p:cNvSpPr/>
          <p:nvPr/>
        </p:nvSpPr>
        <p:spPr>
          <a:xfrm>
            <a:off x="548640" y="3794760"/>
            <a:ext cx="1005840" cy="475488"/>
          </a:xfrm>
          <a:prstGeom prst="rect">
            <a:avLst/>
          </a:prstGeom>
          <a:solidFill>
            <a:srgbClr val="1A10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3831336"/>
            <a:ext cx="859536" cy="402336"/>
          </a:xfrm>
          <a:prstGeom prst="rect">
            <a:avLst/>
          </a:prstGeom>
          <a:noFill/>
        </p:spPr>
        <p:txBody>
          <a:bodyPr wrap="square">
            <a:spAutoFit/>
          </a:bodyPr>
          <a:lstStyle/>
          <a:p>
            <a:pPr algn="ctr"/>
            <a:r>
              <a:rPr sz="950" b="0">
                <a:solidFill>
                  <a:srgbClr val="FFFFFF"/>
                </a:solidFill>
                <a:latin typeface="맑은 고딕"/>
              </a:rPr>
              <a:t>방어</a:t>
            </a:r>
          </a:p>
        </p:txBody>
      </p:sp>
      <p:sp>
        <p:nvSpPr>
          <p:cNvPr id="40" name="Rectangle 39"/>
          <p:cNvSpPr/>
          <p:nvPr/>
        </p:nvSpPr>
        <p:spPr>
          <a:xfrm>
            <a:off x="1554480" y="3794760"/>
            <a:ext cx="2011680" cy="475488"/>
          </a:xfrm>
          <a:prstGeom prst="rect">
            <a:avLst/>
          </a:prstGeom>
          <a:solidFill>
            <a:srgbClr val="1A10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27632" y="3831336"/>
            <a:ext cx="1865376" cy="402336"/>
          </a:xfrm>
          <a:prstGeom prst="rect">
            <a:avLst/>
          </a:prstGeom>
          <a:noFill/>
        </p:spPr>
        <p:txBody>
          <a:bodyPr wrap="square">
            <a:spAutoFit/>
          </a:bodyPr>
          <a:lstStyle/>
          <a:p>
            <a:pPr algn="ctr"/>
            <a:r>
              <a:rPr sz="950" b="0">
                <a:solidFill>
                  <a:srgbClr val="B8BECC"/>
                </a:solidFill>
                <a:latin typeface="맑은 고딕"/>
              </a:rPr>
              <a:t>재생의 부패</a:t>
            </a:r>
          </a:p>
        </p:txBody>
      </p:sp>
      <p:sp>
        <p:nvSpPr>
          <p:cNvPr id="42" name="Rectangle 41"/>
          <p:cNvSpPr/>
          <p:nvPr/>
        </p:nvSpPr>
        <p:spPr>
          <a:xfrm>
            <a:off x="3566160" y="3794760"/>
            <a:ext cx="3931920" cy="475488"/>
          </a:xfrm>
          <a:prstGeom prst="rect">
            <a:avLst/>
          </a:prstGeom>
          <a:solidFill>
            <a:srgbClr val="1A10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39312" y="3831336"/>
            <a:ext cx="3785615" cy="402336"/>
          </a:xfrm>
          <a:prstGeom prst="rect">
            <a:avLst/>
          </a:prstGeom>
          <a:noFill/>
        </p:spPr>
        <p:txBody>
          <a:bodyPr wrap="square">
            <a:spAutoFit/>
          </a:bodyPr>
          <a:lstStyle/>
          <a:p>
            <a:pPr algn="ctr"/>
            <a:r>
              <a:rPr sz="950" b="0">
                <a:solidFill>
                  <a:srgbClr val="B8BECC"/>
                </a:solidFill>
                <a:latin typeface="맑은 고딕"/>
              </a:rPr>
              <a:t>초당 최대HP 0.3% 회복</a:t>
            </a:r>
          </a:p>
        </p:txBody>
      </p:sp>
      <p:sp>
        <p:nvSpPr>
          <p:cNvPr id="44" name="Rectangle 43"/>
          <p:cNvSpPr/>
          <p:nvPr/>
        </p:nvSpPr>
        <p:spPr>
          <a:xfrm>
            <a:off x="548640" y="4270248"/>
            <a:ext cx="1005840" cy="475488"/>
          </a:xfrm>
          <a:prstGeom prst="rect">
            <a:avLst/>
          </a:prstGeom>
          <a:solidFill>
            <a:srgbClr val="0A18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 y="4306824"/>
            <a:ext cx="859536" cy="402336"/>
          </a:xfrm>
          <a:prstGeom prst="rect">
            <a:avLst/>
          </a:prstGeom>
          <a:noFill/>
        </p:spPr>
        <p:txBody>
          <a:bodyPr wrap="square">
            <a:spAutoFit/>
          </a:bodyPr>
          <a:lstStyle/>
          <a:p>
            <a:pPr algn="ctr"/>
            <a:r>
              <a:rPr sz="950" b="0">
                <a:solidFill>
                  <a:srgbClr val="FFFFFF"/>
                </a:solidFill>
                <a:latin typeface="맑은 고딕"/>
              </a:rPr>
              <a:t>환경</a:t>
            </a:r>
          </a:p>
        </p:txBody>
      </p:sp>
      <p:sp>
        <p:nvSpPr>
          <p:cNvPr id="46" name="Rectangle 45"/>
          <p:cNvSpPr/>
          <p:nvPr/>
        </p:nvSpPr>
        <p:spPr>
          <a:xfrm>
            <a:off x="1554480" y="4270248"/>
            <a:ext cx="2011680" cy="475488"/>
          </a:xfrm>
          <a:prstGeom prst="rect">
            <a:avLst/>
          </a:prstGeom>
          <a:solidFill>
            <a:srgbClr val="0A18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27632" y="4306824"/>
            <a:ext cx="1865376" cy="402336"/>
          </a:xfrm>
          <a:prstGeom prst="rect">
            <a:avLst/>
          </a:prstGeom>
          <a:noFill/>
        </p:spPr>
        <p:txBody>
          <a:bodyPr wrap="square">
            <a:spAutoFit/>
          </a:bodyPr>
          <a:lstStyle/>
          <a:p>
            <a:pPr algn="ctr"/>
            <a:r>
              <a:rPr sz="950" b="0">
                <a:solidFill>
                  <a:srgbClr val="B8BECC"/>
                </a:solidFill>
                <a:latin typeface="맑은 고딕"/>
              </a:rPr>
              <a:t>독안개 확산</a:t>
            </a:r>
          </a:p>
        </p:txBody>
      </p:sp>
      <p:sp>
        <p:nvSpPr>
          <p:cNvPr id="48" name="Rectangle 47"/>
          <p:cNvSpPr/>
          <p:nvPr/>
        </p:nvSpPr>
        <p:spPr>
          <a:xfrm>
            <a:off x="3566160" y="4270248"/>
            <a:ext cx="3931920" cy="475488"/>
          </a:xfrm>
          <a:prstGeom prst="rect">
            <a:avLst/>
          </a:prstGeom>
          <a:solidFill>
            <a:srgbClr val="0A18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39312" y="4306824"/>
            <a:ext cx="3785615" cy="402336"/>
          </a:xfrm>
          <a:prstGeom prst="rect">
            <a:avLst/>
          </a:prstGeom>
          <a:noFill/>
        </p:spPr>
        <p:txBody>
          <a:bodyPr wrap="square">
            <a:spAutoFit/>
          </a:bodyPr>
          <a:lstStyle/>
          <a:p>
            <a:pPr algn="ctr"/>
            <a:r>
              <a:rPr sz="950" b="0">
                <a:solidFill>
                  <a:srgbClr val="B8BECC"/>
                </a:solidFill>
                <a:latin typeface="맑은 고딕"/>
              </a:rPr>
              <a:t>전장 외곽에서 독 안개 서서히 수축</a:t>
            </a:r>
          </a:p>
        </p:txBody>
      </p:sp>
      <p:sp>
        <p:nvSpPr>
          <p:cNvPr id="50" name="Rectangle 49"/>
          <p:cNvSpPr/>
          <p:nvPr/>
        </p:nvSpPr>
        <p:spPr>
          <a:xfrm>
            <a:off x="548640" y="4745736"/>
            <a:ext cx="1005840" cy="475488"/>
          </a:xfrm>
          <a:prstGeom prst="rect">
            <a:avLst/>
          </a:prstGeom>
          <a:solidFill>
            <a:srgbClr val="0A18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 y="4782312"/>
            <a:ext cx="859536" cy="402336"/>
          </a:xfrm>
          <a:prstGeom prst="rect">
            <a:avLst/>
          </a:prstGeom>
          <a:noFill/>
        </p:spPr>
        <p:txBody>
          <a:bodyPr wrap="square">
            <a:spAutoFit/>
          </a:bodyPr>
          <a:lstStyle/>
          <a:p>
            <a:pPr algn="ctr"/>
            <a:r>
              <a:rPr sz="950" b="0">
                <a:solidFill>
                  <a:srgbClr val="FFFFFF"/>
                </a:solidFill>
                <a:latin typeface="맑은 고딕"/>
              </a:rPr>
              <a:t>환경</a:t>
            </a:r>
          </a:p>
        </p:txBody>
      </p:sp>
      <p:sp>
        <p:nvSpPr>
          <p:cNvPr id="52" name="Rectangle 51"/>
          <p:cNvSpPr/>
          <p:nvPr/>
        </p:nvSpPr>
        <p:spPr>
          <a:xfrm>
            <a:off x="1554480" y="4745736"/>
            <a:ext cx="2011680" cy="475488"/>
          </a:xfrm>
          <a:prstGeom prst="rect">
            <a:avLst/>
          </a:prstGeom>
          <a:solidFill>
            <a:srgbClr val="0A18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627632" y="4782312"/>
            <a:ext cx="1865376" cy="402336"/>
          </a:xfrm>
          <a:prstGeom prst="rect">
            <a:avLst/>
          </a:prstGeom>
          <a:noFill/>
        </p:spPr>
        <p:txBody>
          <a:bodyPr wrap="square">
            <a:spAutoFit/>
          </a:bodyPr>
          <a:lstStyle/>
          <a:p>
            <a:pPr algn="ctr"/>
            <a:r>
              <a:rPr sz="950" b="0">
                <a:solidFill>
                  <a:srgbClr val="B8BECC"/>
                </a:solidFill>
                <a:latin typeface="맑은 고딕"/>
              </a:rPr>
              <a:t>중력 왜곡</a:t>
            </a:r>
          </a:p>
        </p:txBody>
      </p:sp>
      <p:sp>
        <p:nvSpPr>
          <p:cNvPr id="54" name="Rectangle 53"/>
          <p:cNvSpPr/>
          <p:nvPr/>
        </p:nvSpPr>
        <p:spPr>
          <a:xfrm>
            <a:off x="3566160" y="4745736"/>
            <a:ext cx="3931920" cy="475488"/>
          </a:xfrm>
          <a:prstGeom prst="rect">
            <a:avLst/>
          </a:prstGeom>
          <a:solidFill>
            <a:srgbClr val="0A181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39312" y="4782312"/>
            <a:ext cx="3785615" cy="402336"/>
          </a:xfrm>
          <a:prstGeom prst="rect">
            <a:avLst/>
          </a:prstGeom>
          <a:noFill/>
        </p:spPr>
        <p:txBody>
          <a:bodyPr wrap="square">
            <a:spAutoFit/>
          </a:bodyPr>
          <a:lstStyle/>
          <a:p>
            <a:pPr algn="ctr"/>
            <a:r>
              <a:rPr sz="950" b="0">
                <a:solidFill>
                  <a:srgbClr val="B8BECC"/>
                </a:solidFill>
                <a:latin typeface="맑은 고딕"/>
              </a:rPr>
              <a:t>플레이어 대시/점프 거리 -30%</a:t>
            </a:r>
          </a:p>
        </p:txBody>
      </p:sp>
      <p:sp>
        <p:nvSpPr>
          <p:cNvPr id="56" name="Rectangle 55"/>
          <p:cNvSpPr/>
          <p:nvPr/>
        </p:nvSpPr>
        <p:spPr>
          <a:xfrm>
            <a:off x="548640" y="5221224"/>
            <a:ext cx="1005840" cy="47548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 y="5257800"/>
            <a:ext cx="859536" cy="402336"/>
          </a:xfrm>
          <a:prstGeom prst="rect">
            <a:avLst/>
          </a:prstGeom>
          <a:noFill/>
        </p:spPr>
        <p:txBody>
          <a:bodyPr wrap="square">
            <a:spAutoFit/>
          </a:bodyPr>
          <a:lstStyle/>
          <a:p>
            <a:pPr algn="ctr"/>
            <a:r>
              <a:rPr sz="950" b="0">
                <a:solidFill>
                  <a:srgbClr val="FFFFFF"/>
                </a:solidFill>
                <a:latin typeface="맑은 고딕"/>
              </a:rPr>
              <a:t>특수</a:t>
            </a:r>
          </a:p>
        </p:txBody>
      </p:sp>
      <p:sp>
        <p:nvSpPr>
          <p:cNvPr id="58" name="Rectangle 57"/>
          <p:cNvSpPr/>
          <p:nvPr/>
        </p:nvSpPr>
        <p:spPr>
          <a:xfrm>
            <a:off x="1554480" y="5221224"/>
            <a:ext cx="2011680" cy="47548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627632" y="5257800"/>
            <a:ext cx="1865376" cy="402336"/>
          </a:xfrm>
          <a:prstGeom prst="rect">
            <a:avLst/>
          </a:prstGeom>
          <a:noFill/>
        </p:spPr>
        <p:txBody>
          <a:bodyPr wrap="square">
            <a:spAutoFit/>
          </a:bodyPr>
          <a:lstStyle/>
          <a:p>
            <a:pPr algn="ctr"/>
            <a:r>
              <a:rPr sz="950" b="0">
                <a:solidFill>
                  <a:srgbClr val="B8BECC"/>
                </a:solidFill>
                <a:latin typeface="맑은 고딕"/>
              </a:rPr>
              <a:t>기억 역류</a:t>
            </a:r>
          </a:p>
        </p:txBody>
      </p:sp>
      <p:sp>
        <p:nvSpPr>
          <p:cNvPr id="60" name="Rectangle 59"/>
          <p:cNvSpPr/>
          <p:nvPr/>
        </p:nvSpPr>
        <p:spPr>
          <a:xfrm>
            <a:off x="3566160" y="5221224"/>
            <a:ext cx="3931920" cy="47548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39312" y="5257800"/>
            <a:ext cx="3785615" cy="402336"/>
          </a:xfrm>
          <a:prstGeom prst="rect">
            <a:avLst/>
          </a:prstGeom>
          <a:noFill/>
        </p:spPr>
        <p:txBody>
          <a:bodyPr wrap="square">
            <a:spAutoFit/>
          </a:bodyPr>
          <a:lstStyle/>
          <a:p>
            <a:pPr algn="ctr"/>
            <a:r>
              <a:rPr sz="950" b="0">
                <a:solidFill>
                  <a:srgbClr val="B8BECC"/>
                </a:solidFill>
                <a:latin typeface="맑은 고딕"/>
              </a:rPr>
              <a:t>이번 런 첫 획득 아이템 효과를 보스가 사용</a:t>
            </a:r>
          </a:p>
        </p:txBody>
      </p:sp>
      <p:sp>
        <p:nvSpPr>
          <p:cNvPr id="62" name="Rectangle 61"/>
          <p:cNvSpPr/>
          <p:nvPr/>
        </p:nvSpPr>
        <p:spPr>
          <a:xfrm>
            <a:off x="7726679" y="960120"/>
            <a:ext cx="4023360" cy="22860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726679" y="960120"/>
            <a:ext cx="402336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63840" y="1014984"/>
            <a:ext cx="3749040" cy="256032"/>
          </a:xfrm>
          <a:prstGeom prst="rect">
            <a:avLst/>
          </a:prstGeom>
          <a:noFill/>
        </p:spPr>
        <p:txBody>
          <a:bodyPr wrap="square">
            <a:spAutoFit/>
          </a:bodyPr>
          <a:lstStyle/>
          <a:p>
            <a:pPr algn="l"/>
            <a:r>
              <a:rPr sz="1200" b="1">
                <a:solidFill>
                  <a:srgbClr val="C9A84C"/>
                </a:solidFill>
                <a:latin typeface="맑은 고딕"/>
              </a:rPr>
              <a:t>사망 카운터 시스템</a:t>
            </a:r>
          </a:p>
        </p:txBody>
      </p:sp>
      <p:sp>
        <p:nvSpPr>
          <p:cNvPr id="65" name="TextBox 64"/>
          <p:cNvSpPr txBox="1"/>
          <p:nvPr/>
        </p:nvSpPr>
        <p:spPr>
          <a:xfrm>
            <a:off x="7909560" y="1371600"/>
            <a:ext cx="3657600" cy="320040"/>
          </a:xfrm>
          <a:prstGeom prst="rect">
            <a:avLst/>
          </a:prstGeom>
          <a:noFill/>
        </p:spPr>
        <p:txBody>
          <a:bodyPr wrap="square">
            <a:spAutoFit/>
          </a:bodyPr>
          <a:lstStyle/>
          <a:p>
            <a:pPr algn="l"/>
            <a:r>
              <a:rPr sz="1100" b="0">
                <a:solidFill>
                  <a:srgbClr val="E8D08A"/>
                </a:solidFill>
                <a:latin typeface="맑은 고딕"/>
              </a:rPr>
              <a:t>"고통도 기억이다."</a:t>
            </a:r>
          </a:p>
        </p:txBody>
      </p:sp>
      <p:sp>
        <p:nvSpPr>
          <p:cNvPr id="66" name="TextBox 65"/>
          <p:cNvSpPr txBox="1"/>
          <p:nvPr/>
        </p:nvSpPr>
        <p:spPr>
          <a:xfrm>
            <a:off x="7909560" y="1737360"/>
            <a:ext cx="3657600" cy="1371600"/>
          </a:xfrm>
          <a:prstGeom prst="rect">
            <a:avLst/>
          </a:prstGeom>
          <a:noFill/>
        </p:spPr>
        <p:txBody>
          <a:bodyPr wrap="square">
            <a:spAutoFit/>
          </a:bodyPr>
          <a:lstStyle/>
          <a:p>
            <a:pPr algn="l"/>
            <a:r>
              <a:rPr sz="1000" b="0">
                <a:solidFill>
                  <a:srgbClr val="B8BECC"/>
                </a:solidFill>
                <a:latin typeface="맑은 고딕"/>
              </a:rPr>
              <a:t>5회 사망 누적 시 봉인된 기억 ×1 보장 지급.
카운터 초기화.
사망: 0 → 1 → 2 → 3 → 4 → [5] → 기억 +1
멀린: "고통도 기억이다. 받아라."</a:t>
            </a:r>
          </a:p>
        </p:txBody>
      </p:sp>
      <p:sp>
        <p:nvSpPr>
          <p:cNvPr id="67" name="Rectangle 66"/>
          <p:cNvSpPr/>
          <p:nvPr/>
        </p:nvSpPr>
        <p:spPr>
          <a:xfrm>
            <a:off x="7726679" y="3429000"/>
            <a:ext cx="4023360" cy="29260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26679" y="3429000"/>
            <a:ext cx="402336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863840" y="3483864"/>
            <a:ext cx="3749040" cy="256032"/>
          </a:xfrm>
          <a:prstGeom prst="rect">
            <a:avLst/>
          </a:prstGeom>
          <a:noFill/>
        </p:spPr>
        <p:txBody>
          <a:bodyPr wrap="square">
            <a:spAutoFit/>
          </a:bodyPr>
          <a:lstStyle/>
          <a:p>
            <a:pPr algn="l"/>
            <a:r>
              <a:rPr sz="1200" b="1">
                <a:solidFill>
                  <a:srgbClr val="C9A84C"/>
                </a:solidFill>
                <a:latin typeface="맑은 고딕"/>
              </a:rPr>
              <a:t>성장 시간대 설계</a:t>
            </a:r>
          </a:p>
        </p:txBody>
      </p:sp>
      <p:sp>
        <p:nvSpPr>
          <p:cNvPr id="70" name="Rectangle 69"/>
          <p:cNvSpPr/>
          <p:nvPr/>
        </p:nvSpPr>
        <p:spPr>
          <a:xfrm>
            <a:off x="7909560" y="3840480"/>
            <a:ext cx="1280160" cy="38404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909560" y="3895344"/>
            <a:ext cx="1280160" cy="274320"/>
          </a:xfrm>
          <a:prstGeom prst="rect">
            <a:avLst/>
          </a:prstGeom>
          <a:noFill/>
        </p:spPr>
        <p:txBody>
          <a:bodyPr wrap="square">
            <a:spAutoFit/>
          </a:bodyPr>
          <a:lstStyle/>
          <a:p>
            <a:pPr algn="ctr"/>
            <a:r>
              <a:rPr sz="850" b="1">
                <a:solidFill>
                  <a:srgbClr val="0D111A"/>
                </a:solidFill>
                <a:latin typeface="맑은 고딕"/>
              </a:rPr>
              <a:t>1~5런</a:t>
            </a:r>
          </a:p>
        </p:txBody>
      </p:sp>
      <p:sp>
        <p:nvSpPr>
          <p:cNvPr id="72" name="TextBox 71"/>
          <p:cNvSpPr txBox="1"/>
          <p:nvPr/>
        </p:nvSpPr>
        <p:spPr>
          <a:xfrm>
            <a:off x="9281160" y="3895344"/>
            <a:ext cx="2331720" cy="274320"/>
          </a:xfrm>
          <a:prstGeom prst="rect">
            <a:avLst/>
          </a:prstGeom>
          <a:noFill/>
        </p:spPr>
        <p:txBody>
          <a:bodyPr wrap="square">
            <a:spAutoFit/>
          </a:bodyPr>
          <a:lstStyle/>
          <a:p>
            <a:pPr algn="l"/>
            <a:r>
              <a:rPr sz="850" b="0">
                <a:solidFill>
                  <a:srgbClr val="B8BECC"/>
                </a:solidFill>
                <a:latin typeface="맑은 고딕"/>
              </a:rPr>
              <a:t>서약 생존 안정화
챕터2 첫 도달</a:t>
            </a:r>
          </a:p>
        </p:txBody>
      </p:sp>
      <p:sp>
        <p:nvSpPr>
          <p:cNvPr id="73" name="Rectangle 72"/>
          <p:cNvSpPr/>
          <p:nvPr/>
        </p:nvSpPr>
        <p:spPr>
          <a:xfrm>
            <a:off x="7909560" y="4315968"/>
            <a:ext cx="128016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09560" y="4370832"/>
            <a:ext cx="1280160" cy="274320"/>
          </a:xfrm>
          <a:prstGeom prst="rect">
            <a:avLst/>
          </a:prstGeom>
          <a:noFill/>
        </p:spPr>
        <p:txBody>
          <a:bodyPr wrap="square">
            <a:spAutoFit/>
          </a:bodyPr>
          <a:lstStyle/>
          <a:p>
            <a:pPr algn="ctr"/>
            <a:r>
              <a:rPr sz="850" b="1">
                <a:solidFill>
                  <a:srgbClr val="0D111A"/>
                </a:solidFill>
                <a:latin typeface="맑은 고딕"/>
              </a:rPr>
              <a:t>5~15런</a:t>
            </a:r>
          </a:p>
        </p:txBody>
      </p:sp>
      <p:sp>
        <p:nvSpPr>
          <p:cNvPr id="75" name="TextBox 74"/>
          <p:cNvSpPr txBox="1"/>
          <p:nvPr/>
        </p:nvSpPr>
        <p:spPr>
          <a:xfrm>
            <a:off x="9281160" y="4370832"/>
            <a:ext cx="2331720" cy="274320"/>
          </a:xfrm>
          <a:prstGeom prst="rect">
            <a:avLst/>
          </a:prstGeom>
          <a:noFill/>
        </p:spPr>
        <p:txBody>
          <a:bodyPr wrap="square">
            <a:spAutoFit/>
          </a:bodyPr>
          <a:lstStyle/>
          <a:p>
            <a:pPr algn="l"/>
            <a:r>
              <a:rPr sz="850" b="0">
                <a:solidFill>
                  <a:srgbClr val="B8BECC"/>
                </a:solidFill>
                <a:latin typeface="맑은 고딕"/>
              </a:rPr>
              <a:t>유물 해방 1~2개
서약 공격/이동 해금</a:t>
            </a:r>
          </a:p>
        </p:txBody>
      </p:sp>
      <p:sp>
        <p:nvSpPr>
          <p:cNvPr id="76" name="Rectangle 75"/>
          <p:cNvSpPr/>
          <p:nvPr/>
        </p:nvSpPr>
        <p:spPr>
          <a:xfrm>
            <a:off x="7909560" y="4791456"/>
            <a:ext cx="1280160" cy="38404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909560" y="4846320"/>
            <a:ext cx="1280160" cy="274320"/>
          </a:xfrm>
          <a:prstGeom prst="rect">
            <a:avLst/>
          </a:prstGeom>
          <a:noFill/>
        </p:spPr>
        <p:txBody>
          <a:bodyPr wrap="square">
            <a:spAutoFit/>
          </a:bodyPr>
          <a:lstStyle/>
          <a:p>
            <a:pPr algn="ctr"/>
            <a:r>
              <a:rPr sz="850" b="1">
                <a:solidFill>
                  <a:srgbClr val="0D111A"/>
                </a:solidFill>
                <a:latin typeface="맑은 고딕"/>
              </a:rPr>
              <a:t>15~30런</a:t>
            </a:r>
          </a:p>
        </p:txBody>
      </p:sp>
      <p:sp>
        <p:nvSpPr>
          <p:cNvPr id="78" name="TextBox 77"/>
          <p:cNvSpPr txBox="1"/>
          <p:nvPr/>
        </p:nvSpPr>
        <p:spPr>
          <a:xfrm>
            <a:off x="9281160" y="4846320"/>
            <a:ext cx="2331720" cy="274320"/>
          </a:xfrm>
          <a:prstGeom prst="rect">
            <a:avLst/>
          </a:prstGeom>
          <a:noFill/>
        </p:spPr>
        <p:txBody>
          <a:bodyPr wrap="square">
            <a:spAutoFit/>
          </a:bodyPr>
          <a:lstStyle/>
          <a:p>
            <a:pPr algn="l"/>
            <a:r>
              <a:rPr sz="850" b="0">
                <a:solidFill>
                  <a:srgbClr val="B8BECC"/>
                </a:solidFill>
                <a:latin typeface="맑은 고딕"/>
              </a:rPr>
              <a:t>완전 해방 보스 도전
(3차+ 조우, 코어 획득 시작)</a:t>
            </a:r>
          </a:p>
        </p:txBody>
      </p:sp>
      <p:sp>
        <p:nvSpPr>
          <p:cNvPr id="79" name="Rectangle 78"/>
          <p:cNvSpPr/>
          <p:nvPr/>
        </p:nvSpPr>
        <p:spPr>
          <a:xfrm>
            <a:off x="7909560" y="5266944"/>
            <a:ext cx="1280160" cy="384048"/>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909560" y="5321807"/>
            <a:ext cx="1280160" cy="274320"/>
          </a:xfrm>
          <a:prstGeom prst="rect">
            <a:avLst/>
          </a:prstGeom>
          <a:noFill/>
        </p:spPr>
        <p:txBody>
          <a:bodyPr wrap="square">
            <a:spAutoFit/>
          </a:bodyPr>
          <a:lstStyle/>
          <a:p>
            <a:pPr algn="ctr"/>
            <a:r>
              <a:rPr sz="850" b="1">
                <a:solidFill>
                  <a:srgbClr val="0D111A"/>
                </a:solidFill>
                <a:latin typeface="맑은 고딕"/>
              </a:rPr>
              <a:t>리치 격파</a:t>
            </a:r>
          </a:p>
        </p:txBody>
      </p:sp>
      <p:sp>
        <p:nvSpPr>
          <p:cNvPr id="81" name="TextBox 80"/>
          <p:cNvSpPr txBox="1"/>
          <p:nvPr/>
        </p:nvSpPr>
        <p:spPr>
          <a:xfrm>
            <a:off x="9281160" y="5321807"/>
            <a:ext cx="2331720" cy="274320"/>
          </a:xfrm>
          <a:prstGeom prst="rect">
            <a:avLst/>
          </a:prstGeom>
          <a:noFill/>
        </p:spPr>
        <p:txBody>
          <a:bodyPr wrap="square">
            <a:spAutoFit/>
          </a:bodyPr>
          <a:lstStyle/>
          <a:p>
            <a:pPr algn="l"/>
            <a:r>
              <a:rPr sz="850" b="0">
                <a:solidFill>
                  <a:srgbClr val="B8BECC"/>
                </a:solidFill>
                <a:latin typeface="맑은 고딕"/>
              </a:rPr>
              <a:t>부패 변이 해금 + 코어 ×1
서약 5~6번 해금</a:t>
            </a:r>
          </a:p>
        </p:txBody>
      </p:sp>
      <p:sp>
        <p:nvSpPr>
          <p:cNvPr id="82" name="Rectangle 81"/>
          <p:cNvSpPr/>
          <p:nvPr/>
        </p:nvSpPr>
        <p:spPr>
          <a:xfrm>
            <a:off x="7909560" y="5742432"/>
            <a:ext cx="1280160" cy="384048"/>
          </a:xfrm>
          <a:prstGeom prst="rect">
            <a:avLst/>
          </a:prstGeom>
          <a:solidFill>
            <a:srgbClr val="FFB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909560" y="5797296"/>
            <a:ext cx="1280160" cy="274320"/>
          </a:xfrm>
          <a:prstGeom prst="rect">
            <a:avLst/>
          </a:prstGeom>
          <a:noFill/>
        </p:spPr>
        <p:txBody>
          <a:bodyPr wrap="square">
            <a:spAutoFit/>
          </a:bodyPr>
          <a:lstStyle/>
          <a:p>
            <a:pPr algn="ctr"/>
            <a:r>
              <a:rPr sz="850" b="1">
                <a:solidFill>
                  <a:srgbClr val="0D111A"/>
                </a:solidFill>
                <a:latin typeface="맑은 고딕"/>
              </a:rPr>
              <a:t>리치 이후</a:t>
            </a:r>
          </a:p>
        </p:txBody>
      </p:sp>
      <p:sp>
        <p:nvSpPr>
          <p:cNvPr id="84" name="TextBox 83"/>
          <p:cNvSpPr txBox="1"/>
          <p:nvPr/>
        </p:nvSpPr>
        <p:spPr>
          <a:xfrm>
            <a:off x="9281160" y="5797296"/>
            <a:ext cx="2331720" cy="274320"/>
          </a:xfrm>
          <a:prstGeom prst="rect">
            <a:avLst/>
          </a:prstGeom>
          <a:noFill/>
        </p:spPr>
        <p:txBody>
          <a:bodyPr wrap="square">
            <a:spAutoFit/>
          </a:bodyPr>
          <a:lstStyle/>
          <a:p>
            <a:pPr algn="l"/>
            <a:r>
              <a:rPr sz="850" b="0">
                <a:solidFill>
                  <a:srgbClr val="B8BECC"/>
                </a:solidFill>
                <a:latin typeface="맑은 고딕"/>
              </a:rPr>
              <a:t>부패 변이 보스 도전
잔류 각인 → 코어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08  챕터 &amp; 레벨 디자인</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Chapter &amp; Level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08  챕터 구성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8288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챕터 개요</a:t>
            </a:r>
          </a:p>
        </p:txBody>
      </p:sp>
      <p:sp>
        <p:nvSpPr>
          <p:cNvPr id="8" name="Rectangle 7"/>
          <p:cNvSpPr/>
          <p:nvPr/>
        </p:nvSpPr>
        <p:spPr>
          <a:xfrm>
            <a:off x="502920" y="1371600"/>
            <a:ext cx="82296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08176"/>
            <a:ext cx="676656" cy="356615"/>
          </a:xfrm>
          <a:prstGeom prst="rect">
            <a:avLst/>
          </a:prstGeom>
          <a:noFill/>
        </p:spPr>
        <p:txBody>
          <a:bodyPr wrap="square">
            <a:spAutoFit/>
          </a:bodyPr>
          <a:lstStyle/>
          <a:p>
            <a:pPr algn="ctr"/>
            <a:r>
              <a:rPr sz="1000" b="1">
                <a:solidFill>
                  <a:srgbClr val="C9A84C"/>
                </a:solidFill>
                <a:latin typeface="맑은 고딕"/>
              </a:rPr>
              <a:t>챕터</a:t>
            </a:r>
          </a:p>
        </p:txBody>
      </p:sp>
      <p:sp>
        <p:nvSpPr>
          <p:cNvPr id="10" name="Rectangle 9"/>
          <p:cNvSpPr/>
          <p:nvPr/>
        </p:nvSpPr>
        <p:spPr>
          <a:xfrm>
            <a:off x="1325880" y="1371600"/>
            <a:ext cx="201168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99032" y="1408176"/>
            <a:ext cx="1865376" cy="356615"/>
          </a:xfrm>
          <a:prstGeom prst="rect">
            <a:avLst/>
          </a:prstGeom>
          <a:noFill/>
        </p:spPr>
        <p:txBody>
          <a:bodyPr wrap="square">
            <a:spAutoFit/>
          </a:bodyPr>
          <a:lstStyle/>
          <a:p>
            <a:pPr algn="ctr"/>
            <a:r>
              <a:rPr sz="1000" b="1">
                <a:solidFill>
                  <a:srgbClr val="C9A84C"/>
                </a:solidFill>
                <a:latin typeface="맑은 고딕"/>
              </a:rPr>
              <a:t>배경</a:t>
            </a:r>
          </a:p>
        </p:txBody>
      </p:sp>
      <p:sp>
        <p:nvSpPr>
          <p:cNvPr id="12" name="Rectangle 11"/>
          <p:cNvSpPr/>
          <p:nvPr/>
        </p:nvSpPr>
        <p:spPr>
          <a:xfrm>
            <a:off x="3337560" y="1371600"/>
            <a:ext cx="256032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408176"/>
            <a:ext cx="2414015" cy="356615"/>
          </a:xfrm>
          <a:prstGeom prst="rect">
            <a:avLst/>
          </a:prstGeom>
          <a:noFill/>
        </p:spPr>
        <p:txBody>
          <a:bodyPr wrap="square">
            <a:spAutoFit/>
          </a:bodyPr>
          <a:lstStyle/>
          <a:p>
            <a:pPr algn="ctr"/>
            <a:r>
              <a:rPr sz="1000" b="1">
                <a:solidFill>
                  <a:srgbClr val="C9A84C"/>
                </a:solidFill>
                <a:latin typeface="맑은 고딕"/>
              </a:rPr>
              <a:t>보스</a:t>
            </a:r>
          </a:p>
        </p:txBody>
      </p:sp>
      <p:sp>
        <p:nvSpPr>
          <p:cNvPr id="14" name="Rectangle 13"/>
          <p:cNvSpPr/>
          <p:nvPr/>
        </p:nvSpPr>
        <p:spPr>
          <a:xfrm>
            <a:off x="5897880" y="1371600"/>
            <a:ext cx="128016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71032" y="1408176"/>
            <a:ext cx="1133856" cy="356615"/>
          </a:xfrm>
          <a:prstGeom prst="rect">
            <a:avLst/>
          </a:prstGeom>
          <a:noFill/>
        </p:spPr>
        <p:txBody>
          <a:bodyPr wrap="square">
            <a:spAutoFit/>
          </a:bodyPr>
          <a:lstStyle/>
          <a:p>
            <a:pPr algn="ctr"/>
            <a:r>
              <a:rPr sz="1000" b="1">
                <a:solidFill>
                  <a:srgbClr val="C9A84C"/>
                </a:solidFill>
                <a:latin typeface="맑은 고딕"/>
              </a:rPr>
              <a:t>몬스터 배수</a:t>
            </a:r>
          </a:p>
        </p:txBody>
      </p:sp>
      <p:sp>
        <p:nvSpPr>
          <p:cNvPr id="16" name="Rectangle 15"/>
          <p:cNvSpPr/>
          <p:nvPr/>
        </p:nvSpPr>
        <p:spPr>
          <a:xfrm>
            <a:off x="7178040" y="1371600"/>
            <a:ext cx="128016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51192" y="1408176"/>
            <a:ext cx="1133856" cy="356615"/>
          </a:xfrm>
          <a:prstGeom prst="rect">
            <a:avLst/>
          </a:prstGeom>
          <a:noFill/>
        </p:spPr>
        <p:txBody>
          <a:bodyPr wrap="square">
            <a:spAutoFit/>
          </a:bodyPr>
          <a:lstStyle/>
          <a:p>
            <a:pPr algn="ctr"/>
            <a:r>
              <a:rPr sz="1000" b="1">
                <a:solidFill>
                  <a:srgbClr val="C9A84C"/>
                </a:solidFill>
                <a:latin typeface="맑은 고딕"/>
              </a:rPr>
              <a:t>보상 배수</a:t>
            </a:r>
          </a:p>
        </p:txBody>
      </p:sp>
      <p:sp>
        <p:nvSpPr>
          <p:cNvPr id="18" name="Rectangle 17"/>
          <p:cNvSpPr/>
          <p:nvPr/>
        </p:nvSpPr>
        <p:spPr>
          <a:xfrm>
            <a:off x="8458200" y="1371600"/>
            <a:ext cx="192024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408176"/>
            <a:ext cx="1773936" cy="356615"/>
          </a:xfrm>
          <a:prstGeom prst="rect">
            <a:avLst/>
          </a:prstGeom>
          <a:noFill/>
        </p:spPr>
        <p:txBody>
          <a:bodyPr wrap="square">
            <a:spAutoFit/>
          </a:bodyPr>
          <a:lstStyle/>
          <a:p>
            <a:pPr algn="ctr"/>
            <a:r>
              <a:rPr sz="1000" b="1">
                <a:solidFill>
                  <a:srgbClr val="C9A84C"/>
                </a:solidFill>
                <a:latin typeface="맑은 고딕"/>
              </a:rPr>
              <a:t>장벽 테마</a:t>
            </a:r>
          </a:p>
        </p:txBody>
      </p:sp>
      <p:sp>
        <p:nvSpPr>
          <p:cNvPr id="20" name="Rectangle 19"/>
          <p:cNvSpPr/>
          <p:nvPr/>
        </p:nvSpPr>
        <p:spPr>
          <a:xfrm>
            <a:off x="502920" y="1801368"/>
            <a:ext cx="8229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1837943"/>
            <a:ext cx="676656" cy="356615"/>
          </a:xfrm>
          <a:prstGeom prst="rect">
            <a:avLst/>
          </a:prstGeom>
          <a:noFill/>
        </p:spPr>
        <p:txBody>
          <a:bodyPr wrap="square">
            <a:spAutoFit/>
          </a:bodyPr>
          <a:lstStyle/>
          <a:p>
            <a:pPr algn="ctr"/>
            <a:r>
              <a:rPr sz="950" b="0">
                <a:solidFill>
                  <a:srgbClr val="FFFFFF"/>
                </a:solidFill>
                <a:latin typeface="맑은 고딕"/>
              </a:rPr>
              <a:t>CH.1</a:t>
            </a:r>
          </a:p>
        </p:txBody>
      </p:sp>
      <p:sp>
        <p:nvSpPr>
          <p:cNvPr id="22" name="Rectangle 21"/>
          <p:cNvSpPr/>
          <p:nvPr/>
        </p:nvSpPr>
        <p:spPr>
          <a:xfrm>
            <a:off x="1325880" y="1801368"/>
            <a:ext cx="201168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99032" y="1837943"/>
            <a:ext cx="1865376" cy="356615"/>
          </a:xfrm>
          <a:prstGeom prst="rect">
            <a:avLst/>
          </a:prstGeom>
          <a:noFill/>
        </p:spPr>
        <p:txBody>
          <a:bodyPr wrap="square">
            <a:spAutoFit/>
          </a:bodyPr>
          <a:lstStyle/>
          <a:p>
            <a:pPr algn="ctr"/>
            <a:r>
              <a:rPr sz="950" b="0">
                <a:solidFill>
                  <a:srgbClr val="B8BECC"/>
                </a:solidFill>
                <a:latin typeface="맑은 고딕"/>
              </a:rPr>
              <a:t>부패의 숲</a:t>
            </a:r>
          </a:p>
        </p:txBody>
      </p:sp>
      <p:sp>
        <p:nvSpPr>
          <p:cNvPr id="24" name="Rectangle 23"/>
          <p:cNvSpPr/>
          <p:nvPr/>
        </p:nvSpPr>
        <p:spPr>
          <a:xfrm>
            <a:off x="3337560" y="1801368"/>
            <a:ext cx="256032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0712" y="1837943"/>
            <a:ext cx="2414015" cy="356615"/>
          </a:xfrm>
          <a:prstGeom prst="rect">
            <a:avLst/>
          </a:prstGeom>
          <a:noFill/>
        </p:spPr>
        <p:txBody>
          <a:bodyPr wrap="square">
            <a:spAutoFit/>
          </a:bodyPr>
          <a:lstStyle/>
          <a:p>
            <a:pPr algn="ctr"/>
            <a:r>
              <a:rPr sz="950" b="0">
                <a:solidFill>
                  <a:srgbClr val="B8BECC"/>
                </a:solidFill>
                <a:latin typeface="맑은 고딕"/>
              </a:rPr>
              <a:t>그린 나이트</a:t>
            </a:r>
          </a:p>
        </p:txBody>
      </p:sp>
      <p:sp>
        <p:nvSpPr>
          <p:cNvPr id="26" name="Rectangle 25"/>
          <p:cNvSpPr/>
          <p:nvPr/>
        </p:nvSpPr>
        <p:spPr>
          <a:xfrm>
            <a:off x="5897880" y="1801368"/>
            <a:ext cx="12801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71032" y="1837943"/>
            <a:ext cx="1133856" cy="356615"/>
          </a:xfrm>
          <a:prstGeom prst="rect">
            <a:avLst/>
          </a:prstGeom>
          <a:noFill/>
        </p:spPr>
        <p:txBody>
          <a:bodyPr wrap="square">
            <a:spAutoFit/>
          </a:bodyPr>
          <a:lstStyle/>
          <a:p>
            <a:pPr algn="ctr"/>
            <a:r>
              <a:rPr sz="950" b="0">
                <a:solidFill>
                  <a:srgbClr val="B8BECC"/>
                </a:solidFill>
                <a:latin typeface="맑은 고딕"/>
              </a:rPr>
              <a:t>×1.0</a:t>
            </a:r>
          </a:p>
        </p:txBody>
      </p:sp>
      <p:sp>
        <p:nvSpPr>
          <p:cNvPr id="28" name="Rectangle 27"/>
          <p:cNvSpPr/>
          <p:nvPr/>
        </p:nvSpPr>
        <p:spPr>
          <a:xfrm>
            <a:off x="7178040" y="1801368"/>
            <a:ext cx="12801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51192" y="1837943"/>
            <a:ext cx="1133856" cy="356615"/>
          </a:xfrm>
          <a:prstGeom prst="rect">
            <a:avLst/>
          </a:prstGeom>
          <a:noFill/>
        </p:spPr>
        <p:txBody>
          <a:bodyPr wrap="square">
            <a:spAutoFit/>
          </a:bodyPr>
          <a:lstStyle/>
          <a:p>
            <a:pPr algn="ctr"/>
            <a:r>
              <a:rPr sz="950" b="0">
                <a:solidFill>
                  <a:srgbClr val="B8BECC"/>
                </a:solidFill>
                <a:latin typeface="맑은 고딕"/>
              </a:rPr>
              <a:t>×1.0</a:t>
            </a:r>
          </a:p>
        </p:txBody>
      </p:sp>
      <p:sp>
        <p:nvSpPr>
          <p:cNvPr id="30" name="Rectangle 29"/>
          <p:cNvSpPr/>
          <p:nvPr/>
        </p:nvSpPr>
        <p:spPr>
          <a:xfrm>
            <a:off x="8458200" y="1801368"/>
            <a:ext cx="192024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31352" y="1837943"/>
            <a:ext cx="1773936" cy="356615"/>
          </a:xfrm>
          <a:prstGeom prst="rect">
            <a:avLst/>
          </a:prstGeom>
          <a:noFill/>
        </p:spPr>
        <p:txBody>
          <a:bodyPr wrap="square">
            <a:spAutoFit/>
          </a:bodyPr>
          <a:lstStyle/>
          <a:p>
            <a:pPr algn="ctr"/>
            <a:r>
              <a:rPr sz="950" b="0">
                <a:solidFill>
                  <a:srgbClr val="B8BECC"/>
                </a:solidFill>
                <a:latin typeface="맑은 고딕"/>
              </a:rPr>
              <a:t>흑수 (검은 물)</a:t>
            </a:r>
          </a:p>
        </p:txBody>
      </p:sp>
      <p:sp>
        <p:nvSpPr>
          <p:cNvPr id="32" name="Rectangle 31"/>
          <p:cNvSpPr/>
          <p:nvPr/>
        </p:nvSpPr>
        <p:spPr>
          <a:xfrm>
            <a:off x="502920" y="2231136"/>
            <a:ext cx="82296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2267712"/>
            <a:ext cx="676656" cy="356615"/>
          </a:xfrm>
          <a:prstGeom prst="rect">
            <a:avLst/>
          </a:prstGeom>
          <a:noFill/>
        </p:spPr>
        <p:txBody>
          <a:bodyPr wrap="square">
            <a:spAutoFit/>
          </a:bodyPr>
          <a:lstStyle/>
          <a:p>
            <a:pPr algn="ctr"/>
            <a:r>
              <a:rPr sz="950" b="0">
                <a:solidFill>
                  <a:srgbClr val="FFFFFF"/>
                </a:solidFill>
                <a:latin typeface="맑은 고딕"/>
              </a:rPr>
              <a:t>CH.2</a:t>
            </a:r>
          </a:p>
        </p:txBody>
      </p:sp>
      <p:sp>
        <p:nvSpPr>
          <p:cNvPr id="34" name="Rectangle 33"/>
          <p:cNvSpPr/>
          <p:nvPr/>
        </p:nvSpPr>
        <p:spPr>
          <a:xfrm>
            <a:off x="1325880" y="2231136"/>
            <a:ext cx="201168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99032" y="2267712"/>
            <a:ext cx="1865376" cy="356615"/>
          </a:xfrm>
          <a:prstGeom prst="rect">
            <a:avLst/>
          </a:prstGeom>
          <a:noFill/>
        </p:spPr>
        <p:txBody>
          <a:bodyPr wrap="square">
            <a:spAutoFit/>
          </a:bodyPr>
          <a:lstStyle/>
          <a:p>
            <a:pPr algn="ctr"/>
            <a:r>
              <a:rPr sz="950" b="0">
                <a:solidFill>
                  <a:srgbClr val="B8BECC"/>
                </a:solidFill>
                <a:latin typeface="맑은 고딕"/>
              </a:rPr>
              <a:t>용암 대지</a:t>
            </a:r>
          </a:p>
        </p:txBody>
      </p:sp>
      <p:sp>
        <p:nvSpPr>
          <p:cNvPr id="36" name="Rectangle 35"/>
          <p:cNvSpPr/>
          <p:nvPr/>
        </p:nvSpPr>
        <p:spPr>
          <a:xfrm>
            <a:off x="3337560" y="2231136"/>
            <a:ext cx="256032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0712" y="2267712"/>
            <a:ext cx="2414015" cy="356615"/>
          </a:xfrm>
          <a:prstGeom prst="rect">
            <a:avLst/>
          </a:prstGeom>
          <a:noFill/>
        </p:spPr>
        <p:txBody>
          <a:bodyPr wrap="square">
            <a:spAutoFit/>
          </a:bodyPr>
          <a:lstStyle/>
          <a:p>
            <a:pPr algn="ctr"/>
            <a:r>
              <a:rPr sz="950" b="0">
                <a:solidFill>
                  <a:srgbClr val="B8BECC"/>
                </a:solidFill>
                <a:latin typeface="맑은 고딕"/>
              </a:rPr>
              <a:t>이 드레이그 고흐</a:t>
            </a:r>
          </a:p>
        </p:txBody>
      </p:sp>
      <p:sp>
        <p:nvSpPr>
          <p:cNvPr id="38" name="Rectangle 37"/>
          <p:cNvSpPr/>
          <p:nvPr/>
        </p:nvSpPr>
        <p:spPr>
          <a:xfrm>
            <a:off x="5897880" y="2231136"/>
            <a:ext cx="128016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71032" y="2267712"/>
            <a:ext cx="1133856" cy="356615"/>
          </a:xfrm>
          <a:prstGeom prst="rect">
            <a:avLst/>
          </a:prstGeom>
          <a:noFill/>
        </p:spPr>
        <p:txBody>
          <a:bodyPr wrap="square">
            <a:spAutoFit/>
          </a:bodyPr>
          <a:lstStyle/>
          <a:p>
            <a:pPr algn="ctr"/>
            <a:r>
              <a:rPr sz="950" b="0">
                <a:solidFill>
                  <a:srgbClr val="B8BECC"/>
                </a:solidFill>
                <a:latin typeface="맑은 고딕"/>
              </a:rPr>
              <a:t>×1.5</a:t>
            </a:r>
          </a:p>
        </p:txBody>
      </p:sp>
      <p:sp>
        <p:nvSpPr>
          <p:cNvPr id="40" name="Rectangle 39"/>
          <p:cNvSpPr/>
          <p:nvPr/>
        </p:nvSpPr>
        <p:spPr>
          <a:xfrm>
            <a:off x="7178040" y="2231136"/>
            <a:ext cx="128016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51192" y="2267712"/>
            <a:ext cx="1133856" cy="356615"/>
          </a:xfrm>
          <a:prstGeom prst="rect">
            <a:avLst/>
          </a:prstGeom>
          <a:noFill/>
        </p:spPr>
        <p:txBody>
          <a:bodyPr wrap="square">
            <a:spAutoFit/>
          </a:bodyPr>
          <a:lstStyle/>
          <a:p>
            <a:pPr algn="ctr"/>
            <a:r>
              <a:rPr sz="950" b="0">
                <a:solidFill>
                  <a:srgbClr val="B8BECC"/>
                </a:solidFill>
                <a:latin typeface="맑은 고딕"/>
              </a:rPr>
              <a:t>×1.4</a:t>
            </a:r>
          </a:p>
        </p:txBody>
      </p:sp>
      <p:sp>
        <p:nvSpPr>
          <p:cNvPr id="42" name="Rectangle 41"/>
          <p:cNvSpPr/>
          <p:nvPr/>
        </p:nvSpPr>
        <p:spPr>
          <a:xfrm>
            <a:off x="8458200" y="2231136"/>
            <a:ext cx="192024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31352" y="2267712"/>
            <a:ext cx="1773936" cy="356615"/>
          </a:xfrm>
          <a:prstGeom prst="rect">
            <a:avLst/>
          </a:prstGeom>
          <a:noFill/>
        </p:spPr>
        <p:txBody>
          <a:bodyPr wrap="square">
            <a:spAutoFit/>
          </a:bodyPr>
          <a:lstStyle/>
          <a:p>
            <a:pPr algn="ctr"/>
            <a:r>
              <a:rPr sz="950" b="0">
                <a:solidFill>
                  <a:srgbClr val="B8BECC"/>
                </a:solidFill>
                <a:latin typeface="맑은 고딕"/>
              </a:rPr>
              <a:t>용암·화산재</a:t>
            </a:r>
          </a:p>
        </p:txBody>
      </p:sp>
      <p:sp>
        <p:nvSpPr>
          <p:cNvPr id="44" name="Rectangle 43"/>
          <p:cNvSpPr/>
          <p:nvPr/>
        </p:nvSpPr>
        <p:spPr>
          <a:xfrm>
            <a:off x="502920" y="2660904"/>
            <a:ext cx="8229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2697480"/>
            <a:ext cx="676656" cy="356615"/>
          </a:xfrm>
          <a:prstGeom prst="rect">
            <a:avLst/>
          </a:prstGeom>
          <a:noFill/>
        </p:spPr>
        <p:txBody>
          <a:bodyPr wrap="square">
            <a:spAutoFit/>
          </a:bodyPr>
          <a:lstStyle/>
          <a:p>
            <a:pPr algn="ctr"/>
            <a:r>
              <a:rPr sz="950" b="0">
                <a:solidFill>
                  <a:srgbClr val="FFFFFF"/>
                </a:solidFill>
                <a:latin typeface="맑은 고딕"/>
              </a:rPr>
              <a:t>CH.3</a:t>
            </a:r>
          </a:p>
        </p:txBody>
      </p:sp>
      <p:sp>
        <p:nvSpPr>
          <p:cNvPr id="46" name="Rectangle 45"/>
          <p:cNvSpPr/>
          <p:nvPr/>
        </p:nvSpPr>
        <p:spPr>
          <a:xfrm>
            <a:off x="1325880" y="2660904"/>
            <a:ext cx="201168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99032" y="2697480"/>
            <a:ext cx="1865376" cy="356615"/>
          </a:xfrm>
          <a:prstGeom prst="rect">
            <a:avLst/>
          </a:prstGeom>
          <a:noFill/>
        </p:spPr>
        <p:txBody>
          <a:bodyPr wrap="square">
            <a:spAutoFit/>
          </a:bodyPr>
          <a:lstStyle/>
          <a:p>
            <a:pPr algn="ctr"/>
            <a:r>
              <a:rPr sz="950" b="0">
                <a:solidFill>
                  <a:srgbClr val="B8BECC"/>
                </a:solidFill>
                <a:latin typeface="맑은 고딕"/>
              </a:rPr>
              <a:t>잠식된 성채</a:t>
            </a:r>
          </a:p>
        </p:txBody>
      </p:sp>
      <p:sp>
        <p:nvSpPr>
          <p:cNvPr id="48" name="Rectangle 47"/>
          <p:cNvSpPr/>
          <p:nvPr/>
        </p:nvSpPr>
        <p:spPr>
          <a:xfrm>
            <a:off x="3337560" y="2660904"/>
            <a:ext cx="256032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0712" y="2697480"/>
            <a:ext cx="2414015" cy="356615"/>
          </a:xfrm>
          <a:prstGeom prst="rect">
            <a:avLst/>
          </a:prstGeom>
          <a:noFill/>
        </p:spPr>
        <p:txBody>
          <a:bodyPr wrap="square">
            <a:spAutoFit/>
          </a:bodyPr>
          <a:lstStyle/>
          <a:p>
            <a:pPr algn="ctr"/>
            <a:r>
              <a:rPr sz="950" b="0">
                <a:solidFill>
                  <a:srgbClr val="B8BECC"/>
                </a:solidFill>
                <a:latin typeface="맑은 고딕"/>
              </a:rPr>
              <a:t>모드레드</a:t>
            </a:r>
          </a:p>
        </p:txBody>
      </p:sp>
      <p:sp>
        <p:nvSpPr>
          <p:cNvPr id="50" name="Rectangle 49"/>
          <p:cNvSpPr/>
          <p:nvPr/>
        </p:nvSpPr>
        <p:spPr>
          <a:xfrm>
            <a:off x="5897880" y="2660904"/>
            <a:ext cx="12801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71032" y="2697480"/>
            <a:ext cx="1133856" cy="356615"/>
          </a:xfrm>
          <a:prstGeom prst="rect">
            <a:avLst/>
          </a:prstGeom>
          <a:noFill/>
        </p:spPr>
        <p:txBody>
          <a:bodyPr wrap="square">
            <a:spAutoFit/>
          </a:bodyPr>
          <a:lstStyle/>
          <a:p>
            <a:pPr algn="ctr"/>
            <a:r>
              <a:rPr sz="950" b="0">
                <a:solidFill>
                  <a:srgbClr val="B8BECC"/>
                </a:solidFill>
                <a:latin typeface="맑은 고딕"/>
              </a:rPr>
              <a:t>×2.2</a:t>
            </a:r>
          </a:p>
        </p:txBody>
      </p:sp>
      <p:sp>
        <p:nvSpPr>
          <p:cNvPr id="52" name="Rectangle 51"/>
          <p:cNvSpPr/>
          <p:nvPr/>
        </p:nvSpPr>
        <p:spPr>
          <a:xfrm>
            <a:off x="7178040" y="2660904"/>
            <a:ext cx="12801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51192" y="2697480"/>
            <a:ext cx="1133856" cy="356615"/>
          </a:xfrm>
          <a:prstGeom prst="rect">
            <a:avLst/>
          </a:prstGeom>
          <a:noFill/>
        </p:spPr>
        <p:txBody>
          <a:bodyPr wrap="square">
            <a:spAutoFit/>
          </a:bodyPr>
          <a:lstStyle/>
          <a:p>
            <a:pPr algn="ctr"/>
            <a:r>
              <a:rPr sz="950" b="0">
                <a:solidFill>
                  <a:srgbClr val="B8BECC"/>
                </a:solidFill>
                <a:latin typeface="맑은 고딕"/>
              </a:rPr>
              <a:t>×1.8</a:t>
            </a:r>
          </a:p>
        </p:txBody>
      </p:sp>
      <p:sp>
        <p:nvSpPr>
          <p:cNvPr id="54" name="Rectangle 53"/>
          <p:cNvSpPr/>
          <p:nvPr/>
        </p:nvSpPr>
        <p:spPr>
          <a:xfrm>
            <a:off x="8458200" y="2660904"/>
            <a:ext cx="192024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31352" y="2697480"/>
            <a:ext cx="1773936" cy="356615"/>
          </a:xfrm>
          <a:prstGeom prst="rect">
            <a:avLst/>
          </a:prstGeom>
          <a:noFill/>
        </p:spPr>
        <p:txBody>
          <a:bodyPr wrap="square">
            <a:spAutoFit/>
          </a:bodyPr>
          <a:lstStyle/>
          <a:p>
            <a:pPr algn="ctr"/>
            <a:r>
              <a:rPr sz="950" b="0">
                <a:solidFill>
                  <a:srgbClr val="B8BECC"/>
                </a:solidFill>
                <a:latin typeface="맑은 고딕"/>
              </a:rPr>
              <a:t>마법 안개</a:t>
            </a:r>
          </a:p>
        </p:txBody>
      </p:sp>
      <p:sp>
        <p:nvSpPr>
          <p:cNvPr id="56" name="Rectangle 55"/>
          <p:cNvSpPr/>
          <p:nvPr/>
        </p:nvSpPr>
        <p:spPr>
          <a:xfrm>
            <a:off x="502920" y="3090672"/>
            <a:ext cx="82296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6072" y="3127248"/>
            <a:ext cx="676656" cy="356615"/>
          </a:xfrm>
          <a:prstGeom prst="rect">
            <a:avLst/>
          </a:prstGeom>
          <a:noFill/>
        </p:spPr>
        <p:txBody>
          <a:bodyPr wrap="square">
            <a:spAutoFit/>
          </a:bodyPr>
          <a:lstStyle/>
          <a:p>
            <a:pPr algn="ctr"/>
            <a:r>
              <a:rPr sz="950" b="0">
                <a:solidFill>
                  <a:srgbClr val="FFFFFF"/>
                </a:solidFill>
                <a:latin typeface="맑은 고딕"/>
              </a:rPr>
              <a:t>CH.4</a:t>
            </a:r>
          </a:p>
        </p:txBody>
      </p:sp>
      <p:sp>
        <p:nvSpPr>
          <p:cNvPr id="58" name="Rectangle 57"/>
          <p:cNvSpPr/>
          <p:nvPr/>
        </p:nvSpPr>
        <p:spPr>
          <a:xfrm>
            <a:off x="1325880" y="3090672"/>
            <a:ext cx="201168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399032" y="3127248"/>
            <a:ext cx="1865376" cy="356615"/>
          </a:xfrm>
          <a:prstGeom prst="rect">
            <a:avLst/>
          </a:prstGeom>
          <a:noFill/>
        </p:spPr>
        <p:txBody>
          <a:bodyPr wrap="square">
            <a:spAutoFit/>
          </a:bodyPr>
          <a:lstStyle/>
          <a:p>
            <a:pPr algn="ctr"/>
            <a:r>
              <a:rPr sz="950" b="0">
                <a:solidFill>
                  <a:srgbClr val="B8BECC"/>
                </a:solidFill>
                <a:latin typeface="맑은 고딕"/>
              </a:rPr>
              <a:t>암흑대지</a:t>
            </a:r>
          </a:p>
        </p:txBody>
      </p:sp>
      <p:sp>
        <p:nvSpPr>
          <p:cNvPr id="60" name="Rectangle 59"/>
          <p:cNvSpPr/>
          <p:nvPr/>
        </p:nvSpPr>
        <p:spPr>
          <a:xfrm>
            <a:off x="3337560" y="3090672"/>
            <a:ext cx="256032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10712" y="3127248"/>
            <a:ext cx="2414015" cy="356615"/>
          </a:xfrm>
          <a:prstGeom prst="rect">
            <a:avLst/>
          </a:prstGeom>
          <a:noFill/>
        </p:spPr>
        <p:txBody>
          <a:bodyPr wrap="square">
            <a:spAutoFit/>
          </a:bodyPr>
          <a:lstStyle/>
          <a:p>
            <a:pPr algn="ctr"/>
            <a:r>
              <a:rPr sz="950" b="0">
                <a:solidFill>
                  <a:srgbClr val="B8BECC"/>
                </a:solidFill>
                <a:latin typeface="맑은 고딕"/>
              </a:rPr>
              <a:t>리치 (멀린의 육체)</a:t>
            </a:r>
          </a:p>
        </p:txBody>
      </p:sp>
      <p:sp>
        <p:nvSpPr>
          <p:cNvPr id="62" name="Rectangle 61"/>
          <p:cNvSpPr/>
          <p:nvPr/>
        </p:nvSpPr>
        <p:spPr>
          <a:xfrm>
            <a:off x="5897880" y="3090672"/>
            <a:ext cx="128016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1032" y="3127248"/>
            <a:ext cx="1133856" cy="356615"/>
          </a:xfrm>
          <a:prstGeom prst="rect">
            <a:avLst/>
          </a:prstGeom>
          <a:noFill/>
        </p:spPr>
        <p:txBody>
          <a:bodyPr wrap="square">
            <a:spAutoFit/>
          </a:bodyPr>
          <a:lstStyle/>
          <a:p>
            <a:pPr algn="ctr"/>
            <a:r>
              <a:rPr sz="950" b="0">
                <a:solidFill>
                  <a:srgbClr val="B8BECC"/>
                </a:solidFill>
                <a:latin typeface="맑은 고딕"/>
              </a:rPr>
              <a:t>×3.0</a:t>
            </a:r>
          </a:p>
        </p:txBody>
      </p:sp>
      <p:sp>
        <p:nvSpPr>
          <p:cNvPr id="64" name="Rectangle 63"/>
          <p:cNvSpPr/>
          <p:nvPr/>
        </p:nvSpPr>
        <p:spPr>
          <a:xfrm>
            <a:off x="7178040" y="3090672"/>
            <a:ext cx="128016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51192" y="3127248"/>
            <a:ext cx="1133856" cy="356615"/>
          </a:xfrm>
          <a:prstGeom prst="rect">
            <a:avLst/>
          </a:prstGeom>
          <a:noFill/>
        </p:spPr>
        <p:txBody>
          <a:bodyPr wrap="square">
            <a:spAutoFit/>
          </a:bodyPr>
          <a:lstStyle/>
          <a:p>
            <a:pPr algn="ctr"/>
            <a:r>
              <a:rPr sz="950" b="0">
                <a:solidFill>
                  <a:srgbClr val="B8BECC"/>
                </a:solidFill>
                <a:latin typeface="맑은 고딕"/>
              </a:rPr>
              <a:t>×2.5</a:t>
            </a:r>
          </a:p>
        </p:txBody>
      </p:sp>
      <p:sp>
        <p:nvSpPr>
          <p:cNvPr id="66" name="Rectangle 65"/>
          <p:cNvSpPr/>
          <p:nvPr/>
        </p:nvSpPr>
        <p:spPr>
          <a:xfrm>
            <a:off x="8458200" y="3090672"/>
            <a:ext cx="192024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1352" y="3127248"/>
            <a:ext cx="1773936" cy="356615"/>
          </a:xfrm>
          <a:prstGeom prst="rect">
            <a:avLst/>
          </a:prstGeom>
          <a:noFill/>
        </p:spPr>
        <p:txBody>
          <a:bodyPr wrap="square">
            <a:spAutoFit/>
          </a:bodyPr>
          <a:lstStyle/>
          <a:p>
            <a:pPr algn="ctr"/>
            <a:r>
              <a:rPr sz="950" b="0">
                <a:solidFill>
                  <a:srgbClr val="B8BECC"/>
                </a:solidFill>
                <a:latin typeface="맑은 고딕"/>
              </a:rPr>
              <a:t>공허의 균열</a:t>
            </a:r>
          </a:p>
        </p:txBody>
      </p:sp>
      <p:sp>
        <p:nvSpPr>
          <p:cNvPr id="68" name="Rectangle 67"/>
          <p:cNvSpPr/>
          <p:nvPr/>
        </p:nvSpPr>
        <p:spPr>
          <a:xfrm>
            <a:off x="365760" y="2926080"/>
            <a:ext cx="5303520" cy="3657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65760" y="292608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2920" y="2980944"/>
            <a:ext cx="5029200" cy="256032"/>
          </a:xfrm>
          <a:prstGeom prst="rect">
            <a:avLst/>
          </a:prstGeom>
          <a:noFill/>
        </p:spPr>
        <p:txBody>
          <a:bodyPr wrap="square">
            <a:spAutoFit/>
          </a:bodyPr>
          <a:lstStyle/>
          <a:p>
            <a:pPr algn="l"/>
            <a:r>
              <a:rPr sz="1200" b="1">
                <a:solidFill>
                  <a:srgbClr val="C9A84C"/>
                </a:solidFill>
                <a:latin typeface="맑은 고딕"/>
              </a:rPr>
              <a:t>존 컨셉 분포 (26존, 런당 12존 방문)</a:t>
            </a:r>
          </a:p>
        </p:txBody>
      </p:sp>
      <p:sp>
        <p:nvSpPr>
          <p:cNvPr id="71" name="Rectangle 70"/>
          <p:cNvSpPr/>
          <p:nvPr/>
        </p:nvSpPr>
        <p:spPr>
          <a:xfrm>
            <a:off x="548640" y="3337560"/>
            <a:ext cx="1280160" cy="402336"/>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1792" y="3374136"/>
            <a:ext cx="1133856" cy="329184"/>
          </a:xfrm>
          <a:prstGeom prst="rect">
            <a:avLst/>
          </a:prstGeom>
          <a:noFill/>
        </p:spPr>
        <p:txBody>
          <a:bodyPr wrap="square">
            <a:spAutoFit/>
          </a:bodyPr>
          <a:lstStyle/>
          <a:p>
            <a:pPr algn="ctr"/>
            <a:r>
              <a:rPr sz="1000" b="1">
                <a:solidFill>
                  <a:srgbClr val="C9A84C"/>
                </a:solidFill>
                <a:latin typeface="맑은 고딕"/>
              </a:rPr>
              <a:t>컨셉</a:t>
            </a:r>
          </a:p>
        </p:txBody>
      </p:sp>
      <p:sp>
        <p:nvSpPr>
          <p:cNvPr id="73" name="Rectangle 72"/>
          <p:cNvSpPr/>
          <p:nvPr/>
        </p:nvSpPr>
        <p:spPr>
          <a:xfrm>
            <a:off x="1828800" y="3337560"/>
            <a:ext cx="914400" cy="402336"/>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01952" y="3374136"/>
            <a:ext cx="768096" cy="329184"/>
          </a:xfrm>
          <a:prstGeom prst="rect">
            <a:avLst/>
          </a:prstGeom>
          <a:noFill/>
        </p:spPr>
        <p:txBody>
          <a:bodyPr wrap="square">
            <a:spAutoFit/>
          </a:bodyPr>
          <a:lstStyle/>
          <a:p>
            <a:pPr algn="ctr"/>
            <a:r>
              <a:rPr sz="1000" b="1">
                <a:solidFill>
                  <a:srgbClr val="C9A84C"/>
                </a:solidFill>
                <a:latin typeface="맑은 고딕"/>
              </a:rPr>
              <a:t>전체 수</a:t>
            </a:r>
          </a:p>
        </p:txBody>
      </p:sp>
      <p:sp>
        <p:nvSpPr>
          <p:cNvPr id="75" name="Rectangle 74"/>
          <p:cNvSpPr/>
          <p:nvPr/>
        </p:nvSpPr>
        <p:spPr>
          <a:xfrm>
            <a:off x="2743200" y="3337560"/>
            <a:ext cx="1097280" cy="402336"/>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816352" y="3374136"/>
            <a:ext cx="950976" cy="329184"/>
          </a:xfrm>
          <a:prstGeom prst="rect">
            <a:avLst/>
          </a:prstGeom>
          <a:noFill/>
        </p:spPr>
        <p:txBody>
          <a:bodyPr wrap="square">
            <a:spAutoFit/>
          </a:bodyPr>
          <a:lstStyle/>
          <a:p>
            <a:pPr algn="ctr"/>
            <a:r>
              <a:rPr sz="1000" b="1">
                <a:solidFill>
                  <a:srgbClr val="C9A84C"/>
                </a:solidFill>
                <a:latin typeface="맑은 고딕"/>
              </a:rPr>
              <a:t>런당 방문</a:t>
            </a:r>
          </a:p>
        </p:txBody>
      </p:sp>
      <p:sp>
        <p:nvSpPr>
          <p:cNvPr id="77" name="Rectangle 76"/>
          <p:cNvSpPr/>
          <p:nvPr/>
        </p:nvSpPr>
        <p:spPr>
          <a:xfrm>
            <a:off x="3840480" y="3337560"/>
            <a:ext cx="1828800" cy="402336"/>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913632" y="3374136"/>
            <a:ext cx="1682496" cy="329184"/>
          </a:xfrm>
          <a:prstGeom prst="rect">
            <a:avLst/>
          </a:prstGeom>
          <a:noFill/>
        </p:spPr>
        <p:txBody>
          <a:bodyPr wrap="square">
            <a:spAutoFit/>
          </a:bodyPr>
          <a:lstStyle/>
          <a:p>
            <a:pPr algn="ctr"/>
            <a:r>
              <a:rPr sz="1000" b="1">
                <a:solidFill>
                  <a:srgbClr val="C9A84C"/>
                </a:solidFill>
                <a:latin typeface="맑은 고딕"/>
              </a:rPr>
              <a:t>내용</a:t>
            </a:r>
          </a:p>
        </p:txBody>
      </p:sp>
      <p:sp>
        <p:nvSpPr>
          <p:cNvPr id="79" name="Rectangle 78"/>
          <p:cNvSpPr/>
          <p:nvPr/>
        </p:nvSpPr>
        <p:spPr>
          <a:xfrm>
            <a:off x="548640" y="3739896"/>
            <a:ext cx="128016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1792" y="3776472"/>
            <a:ext cx="1133856" cy="329184"/>
          </a:xfrm>
          <a:prstGeom prst="rect">
            <a:avLst/>
          </a:prstGeom>
          <a:noFill/>
        </p:spPr>
        <p:txBody>
          <a:bodyPr wrap="square">
            <a:spAutoFit/>
          </a:bodyPr>
          <a:lstStyle/>
          <a:p>
            <a:pPr algn="ctr"/>
            <a:r>
              <a:rPr sz="950" b="0">
                <a:solidFill>
                  <a:srgbClr val="FFFFFF"/>
                </a:solidFill>
                <a:latin typeface="맑은 고딕"/>
              </a:rPr>
              <a:t>시작방</a:t>
            </a:r>
          </a:p>
        </p:txBody>
      </p:sp>
      <p:sp>
        <p:nvSpPr>
          <p:cNvPr id="81" name="Rectangle 80"/>
          <p:cNvSpPr/>
          <p:nvPr/>
        </p:nvSpPr>
        <p:spPr>
          <a:xfrm>
            <a:off x="1828800" y="3739896"/>
            <a:ext cx="91440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901952" y="3776472"/>
            <a:ext cx="768096" cy="329184"/>
          </a:xfrm>
          <a:prstGeom prst="rect">
            <a:avLst/>
          </a:prstGeom>
          <a:noFill/>
        </p:spPr>
        <p:txBody>
          <a:bodyPr wrap="square">
            <a:spAutoFit/>
          </a:bodyPr>
          <a:lstStyle/>
          <a:p>
            <a:pPr algn="ctr"/>
            <a:r>
              <a:rPr sz="950" b="0">
                <a:solidFill>
                  <a:srgbClr val="B8BECC"/>
                </a:solidFill>
                <a:latin typeface="맑은 고딕"/>
              </a:rPr>
              <a:t>1 (고정)</a:t>
            </a:r>
          </a:p>
        </p:txBody>
      </p:sp>
      <p:sp>
        <p:nvSpPr>
          <p:cNvPr id="83" name="Rectangle 82"/>
          <p:cNvSpPr/>
          <p:nvPr/>
        </p:nvSpPr>
        <p:spPr>
          <a:xfrm>
            <a:off x="2743200" y="3739896"/>
            <a:ext cx="109728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816352" y="3776472"/>
            <a:ext cx="950976" cy="329184"/>
          </a:xfrm>
          <a:prstGeom prst="rect">
            <a:avLst/>
          </a:prstGeom>
          <a:noFill/>
        </p:spPr>
        <p:txBody>
          <a:bodyPr wrap="square">
            <a:spAutoFit/>
          </a:bodyPr>
          <a:lstStyle/>
          <a:p>
            <a:pPr algn="ctr"/>
            <a:r>
              <a:rPr sz="950" b="0">
                <a:solidFill>
                  <a:srgbClr val="B8BECC"/>
                </a:solidFill>
                <a:latin typeface="맑은 고딕"/>
              </a:rPr>
              <a:t>1</a:t>
            </a:r>
          </a:p>
        </p:txBody>
      </p:sp>
      <p:sp>
        <p:nvSpPr>
          <p:cNvPr id="85" name="Rectangle 84"/>
          <p:cNvSpPr/>
          <p:nvPr/>
        </p:nvSpPr>
        <p:spPr>
          <a:xfrm>
            <a:off x="3840480" y="3739896"/>
            <a:ext cx="182880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913632" y="3776472"/>
            <a:ext cx="1682496" cy="329184"/>
          </a:xfrm>
          <a:prstGeom prst="rect">
            <a:avLst/>
          </a:prstGeom>
          <a:noFill/>
        </p:spPr>
        <p:txBody>
          <a:bodyPr wrap="square">
            <a:spAutoFit/>
          </a:bodyPr>
          <a:lstStyle/>
          <a:p>
            <a:pPr algn="ctr"/>
            <a:r>
              <a:rPr sz="950" b="0">
                <a:solidFill>
                  <a:srgbClr val="B8BECC"/>
                </a:solidFill>
                <a:latin typeface="맑은 고딕"/>
              </a:rPr>
              <a:t>준비 공간, 전투 없음</a:t>
            </a:r>
          </a:p>
        </p:txBody>
      </p:sp>
      <p:sp>
        <p:nvSpPr>
          <p:cNvPr id="87" name="Rectangle 86"/>
          <p:cNvSpPr/>
          <p:nvPr/>
        </p:nvSpPr>
        <p:spPr>
          <a:xfrm>
            <a:off x="548640" y="4142232"/>
            <a:ext cx="128016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1792" y="4178808"/>
            <a:ext cx="1133856" cy="329184"/>
          </a:xfrm>
          <a:prstGeom prst="rect">
            <a:avLst/>
          </a:prstGeom>
          <a:noFill/>
        </p:spPr>
        <p:txBody>
          <a:bodyPr wrap="square">
            <a:spAutoFit/>
          </a:bodyPr>
          <a:lstStyle/>
          <a:p>
            <a:pPr algn="ctr"/>
            <a:r>
              <a:rPr sz="950" b="0">
                <a:solidFill>
                  <a:srgbClr val="FFFFFF"/>
                </a:solidFill>
                <a:latin typeface="맑은 고딕"/>
              </a:rPr>
              <a:t>전투방</a:t>
            </a:r>
          </a:p>
        </p:txBody>
      </p:sp>
      <p:sp>
        <p:nvSpPr>
          <p:cNvPr id="89" name="Rectangle 88"/>
          <p:cNvSpPr/>
          <p:nvPr/>
        </p:nvSpPr>
        <p:spPr>
          <a:xfrm>
            <a:off x="1828800" y="4142232"/>
            <a:ext cx="91440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901952" y="4178808"/>
            <a:ext cx="768096" cy="329184"/>
          </a:xfrm>
          <a:prstGeom prst="rect">
            <a:avLst/>
          </a:prstGeom>
          <a:noFill/>
        </p:spPr>
        <p:txBody>
          <a:bodyPr wrap="square">
            <a:spAutoFit/>
          </a:bodyPr>
          <a:lstStyle/>
          <a:p>
            <a:pPr algn="ctr"/>
            <a:r>
              <a:rPr sz="950" b="0">
                <a:solidFill>
                  <a:srgbClr val="B8BECC"/>
                </a:solidFill>
                <a:latin typeface="맑은 고딕"/>
              </a:rPr>
              <a:t>14</a:t>
            </a:r>
          </a:p>
        </p:txBody>
      </p:sp>
      <p:sp>
        <p:nvSpPr>
          <p:cNvPr id="91" name="Rectangle 90"/>
          <p:cNvSpPr/>
          <p:nvPr/>
        </p:nvSpPr>
        <p:spPr>
          <a:xfrm>
            <a:off x="2743200" y="4142232"/>
            <a:ext cx="109728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816352" y="4178808"/>
            <a:ext cx="950976" cy="329184"/>
          </a:xfrm>
          <a:prstGeom prst="rect">
            <a:avLst/>
          </a:prstGeom>
          <a:noFill/>
        </p:spPr>
        <p:txBody>
          <a:bodyPr wrap="square">
            <a:spAutoFit/>
          </a:bodyPr>
          <a:lstStyle/>
          <a:p>
            <a:pPr algn="ctr"/>
            <a:r>
              <a:rPr sz="950" b="0">
                <a:solidFill>
                  <a:srgbClr val="B8BECC"/>
                </a:solidFill>
                <a:latin typeface="맑은 고딕"/>
              </a:rPr>
              <a:t>~6</a:t>
            </a:r>
          </a:p>
        </p:txBody>
      </p:sp>
      <p:sp>
        <p:nvSpPr>
          <p:cNvPr id="93" name="Rectangle 92"/>
          <p:cNvSpPr/>
          <p:nvPr/>
        </p:nvSpPr>
        <p:spPr>
          <a:xfrm>
            <a:off x="3840480" y="4142232"/>
            <a:ext cx="182880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913632" y="4178808"/>
            <a:ext cx="1682496" cy="329184"/>
          </a:xfrm>
          <a:prstGeom prst="rect">
            <a:avLst/>
          </a:prstGeom>
          <a:noFill/>
        </p:spPr>
        <p:txBody>
          <a:bodyPr wrap="square">
            <a:spAutoFit/>
          </a:bodyPr>
          <a:lstStyle/>
          <a:p>
            <a:pPr algn="ctr"/>
            <a:r>
              <a:rPr sz="950" b="0">
                <a:solidFill>
                  <a:srgbClr val="B8BECC"/>
                </a:solidFill>
                <a:latin typeface="맑은 고딕"/>
              </a:rPr>
              <a:t>일반 전투, 아이템 보상</a:t>
            </a:r>
          </a:p>
        </p:txBody>
      </p:sp>
      <p:sp>
        <p:nvSpPr>
          <p:cNvPr id="95" name="Rectangle 94"/>
          <p:cNvSpPr/>
          <p:nvPr/>
        </p:nvSpPr>
        <p:spPr>
          <a:xfrm>
            <a:off x="548640" y="4544568"/>
            <a:ext cx="128016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1792" y="4581144"/>
            <a:ext cx="1133856" cy="329184"/>
          </a:xfrm>
          <a:prstGeom prst="rect">
            <a:avLst/>
          </a:prstGeom>
          <a:noFill/>
        </p:spPr>
        <p:txBody>
          <a:bodyPr wrap="square">
            <a:spAutoFit/>
          </a:bodyPr>
          <a:lstStyle/>
          <a:p>
            <a:pPr algn="ctr"/>
            <a:r>
              <a:rPr sz="950" b="0">
                <a:solidFill>
                  <a:srgbClr val="FFFFFF"/>
                </a:solidFill>
                <a:latin typeface="맑은 고딕"/>
              </a:rPr>
              <a:t>엘리트방</a:t>
            </a:r>
          </a:p>
        </p:txBody>
      </p:sp>
      <p:sp>
        <p:nvSpPr>
          <p:cNvPr id="97" name="Rectangle 96"/>
          <p:cNvSpPr/>
          <p:nvPr/>
        </p:nvSpPr>
        <p:spPr>
          <a:xfrm>
            <a:off x="1828800" y="4544568"/>
            <a:ext cx="91440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901952" y="4581144"/>
            <a:ext cx="768096" cy="329184"/>
          </a:xfrm>
          <a:prstGeom prst="rect">
            <a:avLst/>
          </a:prstGeom>
          <a:noFill/>
        </p:spPr>
        <p:txBody>
          <a:bodyPr wrap="square">
            <a:spAutoFit/>
          </a:bodyPr>
          <a:lstStyle/>
          <a:p>
            <a:pPr algn="ctr"/>
            <a:r>
              <a:rPr sz="950" b="0">
                <a:solidFill>
                  <a:srgbClr val="B8BECC"/>
                </a:solidFill>
                <a:latin typeface="맑은 고딕"/>
              </a:rPr>
              <a:t>5</a:t>
            </a:r>
          </a:p>
        </p:txBody>
      </p:sp>
      <p:sp>
        <p:nvSpPr>
          <p:cNvPr id="99" name="Rectangle 98"/>
          <p:cNvSpPr/>
          <p:nvPr/>
        </p:nvSpPr>
        <p:spPr>
          <a:xfrm>
            <a:off x="2743200" y="4544568"/>
            <a:ext cx="109728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816352" y="4581144"/>
            <a:ext cx="950976" cy="329184"/>
          </a:xfrm>
          <a:prstGeom prst="rect">
            <a:avLst/>
          </a:prstGeom>
          <a:noFill/>
        </p:spPr>
        <p:txBody>
          <a:bodyPr wrap="square">
            <a:spAutoFit/>
          </a:bodyPr>
          <a:lstStyle/>
          <a:p>
            <a:pPr algn="ctr"/>
            <a:r>
              <a:rPr sz="950" b="0">
                <a:solidFill>
                  <a:srgbClr val="B8BECC"/>
                </a:solidFill>
                <a:latin typeface="맑은 고딕"/>
              </a:rPr>
              <a:t>~2</a:t>
            </a:r>
          </a:p>
        </p:txBody>
      </p:sp>
      <p:sp>
        <p:nvSpPr>
          <p:cNvPr id="101" name="Rectangle 100"/>
          <p:cNvSpPr/>
          <p:nvPr/>
        </p:nvSpPr>
        <p:spPr>
          <a:xfrm>
            <a:off x="3840480" y="4544568"/>
            <a:ext cx="182880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913632" y="4581144"/>
            <a:ext cx="1682496" cy="329184"/>
          </a:xfrm>
          <a:prstGeom prst="rect">
            <a:avLst/>
          </a:prstGeom>
          <a:noFill/>
        </p:spPr>
        <p:txBody>
          <a:bodyPr wrap="square">
            <a:spAutoFit/>
          </a:bodyPr>
          <a:lstStyle/>
          <a:p>
            <a:pPr algn="ctr"/>
            <a:r>
              <a:rPr sz="950" b="0">
                <a:solidFill>
                  <a:srgbClr val="B8BECC"/>
                </a:solidFill>
                <a:latin typeface="맑은 고딕"/>
              </a:rPr>
              <a:t>강화 몬스터, 높은 보상</a:t>
            </a:r>
          </a:p>
        </p:txBody>
      </p:sp>
      <p:sp>
        <p:nvSpPr>
          <p:cNvPr id="103" name="Rectangle 102"/>
          <p:cNvSpPr/>
          <p:nvPr/>
        </p:nvSpPr>
        <p:spPr>
          <a:xfrm>
            <a:off x="548640" y="4946904"/>
            <a:ext cx="128016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21792" y="4983480"/>
            <a:ext cx="1133856" cy="329184"/>
          </a:xfrm>
          <a:prstGeom prst="rect">
            <a:avLst/>
          </a:prstGeom>
          <a:noFill/>
        </p:spPr>
        <p:txBody>
          <a:bodyPr wrap="square">
            <a:spAutoFit/>
          </a:bodyPr>
          <a:lstStyle/>
          <a:p>
            <a:pPr algn="ctr"/>
            <a:r>
              <a:rPr sz="950" b="0">
                <a:solidFill>
                  <a:srgbClr val="FFFFFF"/>
                </a:solidFill>
                <a:latin typeface="맑은 고딕"/>
              </a:rPr>
              <a:t>상점방</a:t>
            </a:r>
          </a:p>
        </p:txBody>
      </p:sp>
      <p:sp>
        <p:nvSpPr>
          <p:cNvPr id="105" name="Rectangle 104"/>
          <p:cNvSpPr/>
          <p:nvPr/>
        </p:nvSpPr>
        <p:spPr>
          <a:xfrm>
            <a:off x="1828800" y="4946904"/>
            <a:ext cx="91440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901952" y="4983480"/>
            <a:ext cx="768096" cy="329184"/>
          </a:xfrm>
          <a:prstGeom prst="rect">
            <a:avLst/>
          </a:prstGeom>
          <a:noFill/>
        </p:spPr>
        <p:txBody>
          <a:bodyPr wrap="square">
            <a:spAutoFit/>
          </a:bodyPr>
          <a:lstStyle/>
          <a:p>
            <a:pPr algn="ctr"/>
            <a:r>
              <a:rPr sz="950" b="0">
                <a:solidFill>
                  <a:srgbClr val="B8BECC"/>
                </a:solidFill>
                <a:latin typeface="맑은 고딕"/>
              </a:rPr>
              <a:t>3</a:t>
            </a:r>
          </a:p>
        </p:txBody>
      </p:sp>
      <p:sp>
        <p:nvSpPr>
          <p:cNvPr id="107" name="Rectangle 106"/>
          <p:cNvSpPr/>
          <p:nvPr/>
        </p:nvSpPr>
        <p:spPr>
          <a:xfrm>
            <a:off x="2743200" y="4946904"/>
            <a:ext cx="109728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816352" y="4983480"/>
            <a:ext cx="950976" cy="329184"/>
          </a:xfrm>
          <a:prstGeom prst="rect">
            <a:avLst/>
          </a:prstGeom>
          <a:noFill/>
        </p:spPr>
        <p:txBody>
          <a:bodyPr wrap="square">
            <a:spAutoFit/>
          </a:bodyPr>
          <a:lstStyle/>
          <a:p>
            <a:pPr algn="ctr"/>
            <a:r>
              <a:rPr sz="950" b="0">
                <a:solidFill>
                  <a:srgbClr val="B8BECC"/>
                </a:solidFill>
                <a:latin typeface="맑은 고딕"/>
              </a:rPr>
              <a:t>~1</a:t>
            </a:r>
          </a:p>
        </p:txBody>
      </p:sp>
      <p:sp>
        <p:nvSpPr>
          <p:cNvPr id="109" name="Rectangle 108"/>
          <p:cNvSpPr/>
          <p:nvPr/>
        </p:nvSpPr>
        <p:spPr>
          <a:xfrm>
            <a:off x="3840480" y="4946904"/>
            <a:ext cx="182880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913632" y="4983480"/>
            <a:ext cx="1682496" cy="329184"/>
          </a:xfrm>
          <a:prstGeom prst="rect">
            <a:avLst/>
          </a:prstGeom>
          <a:noFill/>
        </p:spPr>
        <p:txBody>
          <a:bodyPr wrap="square">
            <a:spAutoFit/>
          </a:bodyPr>
          <a:lstStyle/>
          <a:p>
            <a:pPr algn="ctr"/>
            <a:r>
              <a:rPr sz="950" b="0">
                <a:solidFill>
                  <a:srgbClr val="B8BECC"/>
                </a:solidFill>
                <a:latin typeface="맑은 고딕"/>
              </a:rPr>
              <a:t>인게임 골드로 아이템 구매</a:t>
            </a:r>
          </a:p>
        </p:txBody>
      </p:sp>
      <p:sp>
        <p:nvSpPr>
          <p:cNvPr id="111" name="Rectangle 110"/>
          <p:cNvSpPr/>
          <p:nvPr/>
        </p:nvSpPr>
        <p:spPr>
          <a:xfrm>
            <a:off x="548640" y="5349240"/>
            <a:ext cx="128016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21792" y="5385816"/>
            <a:ext cx="1133856" cy="329184"/>
          </a:xfrm>
          <a:prstGeom prst="rect">
            <a:avLst/>
          </a:prstGeom>
          <a:noFill/>
        </p:spPr>
        <p:txBody>
          <a:bodyPr wrap="square">
            <a:spAutoFit/>
          </a:bodyPr>
          <a:lstStyle/>
          <a:p>
            <a:pPr algn="ctr"/>
            <a:r>
              <a:rPr sz="950" b="0">
                <a:solidFill>
                  <a:srgbClr val="FFFFFF"/>
                </a:solidFill>
                <a:latin typeface="맑은 고딕"/>
              </a:rPr>
              <a:t>이벤트방</a:t>
            </a:r>
          </a:p>
        </p:txBody>
      </p:sp>
      <p:sp>
        <p:nvSpPr>
          <p:cNvPr id="113" name="Rectangle 112"/>
          <p:cNvSpPr/>
          <p:nvPr/>
        </p:nvSpPr>
        <p:spPr>
          <a:xfrm>
            <a:off x="1828800" y="5349240"/>
            <a:ext cx="91440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901952" y="5385816"/>
            <a:ext cx="768096" cy="329184"/>
          </a:xfrm>
          <a:prstGeom prst="rect">
            <a:avLst/>
          </a:prstGeom>
          <a:noFill/>
        </p:spPr>
        <p:txBody>
          <a:bodyPr wrap="square">
            <a:spAutoFit/>
          </a:bodyPr>
          <a:lstStyle/>
          <a:p>
            <a:pPr algn="ctr"/>
            <a:r>
              <a:rPr sz="950" b="0">
                <a:solidFill>
                  <a:srgbClr val="B8BECC"/>
                </a:solidFill>
                <a:latin typeface="맑은 고딕"/>
              </a:rPr>
              <a:t>2</a:t>
            </a:r>
          </a:p>
        </p:txBody>
      </p:sp>
      <p:sp>
        <p:nvSpPr>
          <p:cNvPr id="115" name="Rectangle 114"/>
          <p:cNvSpPr/>
          <p:nvPr/>
        </p:nvSpPr>
        <p:spPr>
          <a:xfrm>
            <a:off x="2743200" y="5349240"/>
            <a:ext cx="109728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16352" y="5385816"/>
            <a:ext cx="950976" cy="329184"/>
          </a:xfrm>
          <a:prstGeom prst="rect">
            <a:avLst/>
          </a:prstGeom>
          <a:noFill/>
        </p:spPr>
        <p:txBody>
          <a:bodyPr wrap="square">
            <a:spAutoFit/>
          </a:bodyPr>
          <a:lstStyle/>
          <a:p>
            <a:pPr algn="ctr"/>
            <a:r>
              <a:rPr sz="950" b="0">
                <a:solidFill>
                  <a:srgbClr val="B8BECC"/>
                </a:solidFill>
                <a:latin typeface="맑은 고딕"/>
              </a:rPr>
              <a:t>~1</a:t>
            </a:r>
          </a:p>
        </p:txBody>
      </p:sp>
      <p:sp>
        <p:nvSpPr>
          <p:cNvPr id="117" name="Rectangle 116"/>
          <p:cNvSpPr/>
          <p:nvPr/>
        </p:nvSpPr>
        <p:spPr>
          <a:xfrm>
            <a:off x="3840480" y="5349240"/>
            <a:ext cx="1828800" cy="402336"/>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913632" y="5385816"/>
            <a:ext cx="1682496" cy="329184"/>
          </a:xfrm>
          <a:prstGeom prst="rect">
            <a:avLst/>
          </a:prstGeom>
          <a:noFill/>
        </p:spPr>
        <p:txBody>
          <a:bodyPr wrap="square">
            <a:spAutoFit/>
          </a:bodyPr>
          <a:lstStyle/>
          <a:p>
            <a:pPr algn="ctr"/>
            <a:r>
              <a:rPr sz="950" b="0">
                <a:solidFill>
                  <a:srgbClr val="B8BECC"/>
                </a:solidFill>
                <a:latin typeface="맑은 고딕"/>
              </a:rPr>
              <a:t>선택지, 서사 단편, 특수 보상</a:t>
            </a:r>
          </a:p>
        </p:txBody>
      </p:sp>
      <p:sp>
        <p:nvSpPr>
          <p:cNvPr id="119" name="Rectangle 118"/>
          <p:cNvSpPr/>
          <p:nvPr/>
        </p:nvSpPr>
        <p:spPr>
          <a:xfrm>
            <a:off x="548640" y="5751576"/>
            <a:ext cx="128016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21792" y="5788152"/>
            <a:ext cx="1133856" cy="329184"/>
          </a:xfrm>
          <a:prstGeom prst="rect">
            <a:avLst/>
          </a:prstGeom>
          <a:noFill/>
        </p:spPr>
        <p:txBody>
          <a:bodyPr wrap="square">
            <a:spAutoFit/>
          </a:bodyPr>
          <a:lstStyle/>
          <a:p>
            <a:pPr algn="ctr"/>
            <a:r>
              <a:rPr sz="950" b="0">
                <a:solidFill>
                  <a:srgbClr val="FFFFFF"/>
                </a:solidFill>
                <a:latin typeface="맑은 고딕"/>
              </a:rPr>
              <a:t>보스방</a:t>
            </a:r>
          </a:p>
        </p:txBody>
      </p:sp>
      <p:sp>
        <p:nvSpPr>
          <p:cNvPr id="121" name="Rectangle 120"/>
          <p:cNvSpPr/>
          <p:nvPr/>
        </p:nvSpPr>
        <p:spPr>
          <a:xfrm>
            <a:off x="1828800" y="5751576"/>
            <a:ext cx="91440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901952" y="5788152"/>
            <a:ext cx="768096" cy="329184"/>
          </a:xfrm>
          <a:prstGeom prst="rect">
            <a:avLst/>
          </a:prstGeom>
          <a:noFill/>
        </p:spPr>
        <p:txBody>
          <a:bodyPr wrap="square">
            <a:spAutoFit/>
          </a:bodyPr>
          <a:lstStyle/>
          <a:p>
            <a:pPr algn="ctr"/>
            <a:r>
              <a:rPr sz="950" b="0">
                <a:solidFill>
                  <a:srgbClr val="B8BECC"/>
                </a:solidFill>
                <a:latin typeface="맑은 고딕"/>
              </a:rPr>
              <a:t>1 (고정)</a:t>
            </a:r>
          </a:p>
        </p:txBody>
      </p:sp>
      <p:sp>
        <p:nvSpPr>
          <p:cNvPr id="123" name="Rectangle 122"/>
          <p:cNvSpPr/>
          <p:nvPr/>
        </p:nvSpPr>
        <p:spPr>
          <a:xfrm>
            <a:off x="2743200" y="5751576"/>
            <a:ext cx="109728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16352" y="5788152"/>
            <a:ext cx="950976" cy="329184"/>
          </a:xfrm>
          <a:prstGeom prst="rect">
            <a:avLst/>
          </a:prstGeom>
          <a:noFill/>
        </p:spPr>
        <p:txBody>
          <a:bodyPr wrap="square">
            <a:spAutoFit/>
          </a:bodyPr>
          <a:lstStyle/>
          <a:p>
            <a:pPr algn="ctr"/>
            <a:r>
              <a:rPr sz="950" b="0">
                <a:solidFill>
                  <a:srgbClr val="B8BECC"/>
                </a:solidFill>
                <a:latin typeface="맑은 고딕"/>
              </a:rPr>
              <a:t>1</a:t>
            </a:r>
          </a:p>
        </p:txBody>
      </p:sp>
      <p:sp>
        <p:nvSpPr>
          <p:cNvPr id="125" name="Rectangle 124"/>
          <p:cNvSpPr/>
          <p:nvPr/>
        </p:nvSpPr>
        <p:spPr>
          <a:xfrm>
            <a:off x="3840480" y="5751576"/>
            <a:ext cx="1828800" cy="402336"/>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913632" y="5788152"/>
            <a:ext cx="1682496" cy="329184"/>
          </a:xfrm>
          <a:prstGeom prst="rect">
            <a:avLst/>
          </a:prstGeom>
          <a:noFill/>
        </p:spPr>
        <p:txBody>
          <a:bodyPr wrap="square">
            <a:spAutoFit/>
          </a:bodyPr>
          <a:lstStyle/>
          <a:p>
            <a:pPr algn="ctr"/>
            <a:r>
              <a:rPr sz="950" b="0">
                <a:solidFill>
                  <a:srgbClr val="B8BECC"/>
                </a:solidFill>
                <a:latin typeface="맑은 고딕"/>
              </a:rPr>
              <a:t>챕터 보스</a:t>
            </a:r>
          </a:p>
        </p:txBody>
      </p:sp>
      <p:sp>
        <p:nvSpPr>
          <p:cNvPr id="127" name="Rectangle 126"/>
          <p:cNvSpPr/>
          <p:nvPr/>
        </p:nvSpPr>
        <p:spPr>
          <a:xfrm>
            <a:off x="5943600" y="2926080"/>
            <a:ext cx="2743200" cy="3657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943600" y="292608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080760" y="2980944"/>
            <a:ext cx="2468880" cy="256032"/>
          </a:xfrm>
          <a:prstGeom prst="rect">
            <a:avLst/>
          </a:prstGeom>
          <a:noFill/>
        </p:spPr>
        <p:txBody>
          <a:bodyPr wrap="square">
            <a:spAutoFit/>
          </a:bodyPr>
          <a:lstStyle/>
          <a:p>
            <a:pPr algn="l"/>
            <a:r>
              <a:rPr sz="1200" b="1">
                <a:solidFill>
                  <a:srgbClr val="C9A84C"/>
                </a:solidFill>
                <a:latin typeface="맑은 고딕"/>
              </a:rPr>
              <a:t>부패 압박 시스템</a:t>
            </a:r>
          </a:p>
        </p:txBody>
      </p:sp>
      <p:sp>
        <p:nvSpPr>
          <p:cNvPr id="130" name="TextBox 129"/>
          <p:cNvSpPr txBox="1"/>
          <p:nvPr/>
        </p:nvSpPr>
        <p:spPr>
          <a:xfrm>
            <a:off x="6126480" y="3337560"/>
            <a:ext cx="2377440" cy="502920"/>
          </a:xfrm>
          <a:prstGeom prst="rect">
            <a:avLst/>
          </a:prstGeom>
          <a:noFill/>
        </p:spPr>
        <p:txBody>
          <a:bodyPr wrap="square">
            <a:spAutoFit/>
          </a:bodyPr>
          <a:lstStyle/>
          <a:p>
            <a:pPr algn="l"/>
            <a:r>
              <a:rPr sz="950" b="0">
                <a:solidFill>
                  <a:srgbClr val="B8BECC"/>
                </a:solidFill>
                <a:latin typeface="맑은 고딕"/>
              </a:rPr>
              <a:t>클리어하지 않고 지나친 존은
챕터 보스를 강화한다.</a:t>
            </a:r>
          </a:p>
        </p:txBody>
      </p:sp>
      <p:sp>
        <p:nvSpPr>
          <p:cNvPr id="131" name="Rectangle 130"/>
          <p:cNvSpPr/>
          <p:nvPr/>
        </p:nvSpPr>
        <p:spPr>
          <a:xfrm>
            <a:off x="6126480" y="3886200"/>
            <a:ext cx="1188720" cy="4114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199632" y="3922776"/>
            <a:ext cx="1042416" cy="338328"/>
          </a:xfrm>
          <a:prstGeom prst="rect">
            <a:avLst/>
          </a:prstGeom>
          <a:noFill/>
        </p:spPr>
        <p:txBody>
          <a:bodyPr wrap="square">
            <a:spAutoFit/>
          </a:bodyPr>
          <a:lstStyle/>
          <a:p>
            <a:pPr algn="ctr"/>
            <a:r>
              <a:rPr sz="1000" b="1">
                <a:solidFill>
                  <a:srgbClr val="C9A84C"/>
                </a:solidFill>
                <a:latin typeface="맑은 고딕"/>
              </a:rPr>
              <a:t>미클리어 존</a:t>
            </a:r>
          </a:p>
        </p:txBody>
      </p:sp>
      <p:sp>
        <p:nvSpPr>
          <p:cNvPr id="133" name="Rectangle 132"/>
          <p:cNvSpPr/>
          <p:nvPr/>
        </p:nvSpPr>
        <p:spPr>
          <a:xfrm>
            <a:off x="7315200" y="3886200"/>
            <a:ext cx="1463040" cy="41148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388352" y="3922776"/>
            <a:ext cx="1316736" cy="338328"/>
          </a:xfrm>
          <a:prstGeom prst="rect">
            <a:avLst/>
          </a:prstGeom>
          <a:noFill/>
        </p:spPr>
        <p:txBody>
          <a:bodyPr wrap="square">
            <a:spAutoFit/>
          </a:bodyPr>
          <a:lstStyle/>
          <a:p>
            <a:pPr algn="ctr"/>
            <a:r>
              <a:rPr sz="1000" b="1">
                <a:solidFill>
                  <a:srgbClr val="C9A84C"/>
                </a:solidFill>
                <a:latin typeface="맑은 고딕"/>
              </a:rPr>
              <a:t>보스 강화</a:t>
            </a:r>
          </a:p>
        </p:txBody>
      </p:sp>
      <p:sp>
        <p:nvSpPr>
          <p:cNvPr id="135" name="Rectangle 134"/>
          <p:cNvSpPr/>
          <p:nvPr/>
        </p:nvSpPr>
        <p:spPr>
          <a:xfrm>
            <a:off x="6126480" y="4297680"/>
            <a:ext cx="1188720" cy="4114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199632" y="4334256"/>
            <a:ext cx="1042416" cy="338328"/>
          </a:xfrm>
          <a:prstGeom prst="rect">
            <a:avLst/>
          </a:prstGeom>
          <a:noFill/>
        </p:spPr>
        <p:txBody>
          <a:bodyPr wrap="square">
            <a:spAutoFit/>
          </a:bodyPr>
          <a:lstStyle/>
          <a:p>
            <a:pPr algn="ctr"/>
            <a:r>
              <a:rPr sz="950" b="0">
                <a:solidFill>
                  <a:srgbClr val="FFFFFF"/>
                </a:solidFill>
                <a:latin typeface="맑은 고딕"/>
              </a:rPr>
              <a:t>0</a:t>
            </a:r>
          </a:p>
        </p:txBody>
      </p:sp>
      <p:sp>
        <p:nvSpPr>
          <p:cNvPr id="137" name="Rectangle 136"/>
          <p:cNvSpPr/>
          <p:nvPr/>
        </p:nvSpPr>
        <p:spPr>
          <a:xfrm>
            <a:off x="7315200" y="4297680"/>
            <a:ext cx="1463040" cy="4114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388352" y="4334256"/>
            <a:ext cx="1316736" cy="338328"/>
          </a:xfrm>
          <a:prstGeom prst="rect">
            <a:avLst/>
          </a:prstGeom>
          <a:noFill/>
        </p:spPr>
        <p:txBody>
          <a:bodyPr wrap="square">
            <a:spAutoFit/>
          </a:bodyPr>
          <a:lstStyle/>
          <a:p>
            <a:pPr algn="ctr"/>
            <a:r>
              <a:rPr sz="950" b="0">
                <a:solidFill>
                  <a:srgbClr val="B8BECC"/>
                </a:solidFill>
                <a:latin typeface="맑은 고딕"/>
              </a:rPr>
              <a:t>기본 상태</a:t>
            </a:r>
          </a:p>
        </p:txBody>
      </p:sp>
      <p:sp>
        <p:nvSpPr>
          <p:cNvPr id="139" name="Rectangle 138"/>
          <p:cNvSpPr/>
          <p:nvPr/>
        </p:nvSpPr>
        <p:spPr>
          <a:xfrm>
            <a:off x="6126480" y="4709160"/>
            <a:ext cx="1188720" cy="4114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199632" y="4745736"/>
            <a:ext cx="1042416" cy="338328"/>
          </a:xfrm>
          <a:prstGeom prst="rect">
            <a:avLst/>
          </a:prstGeom>
          <a:noFill/>
        </p:spPr>
        <p:txBody>
          <a:bodyPr wrap="square">
            <a:spAutoFit/>
          </a:bodyPr>
          <a:lstStyle/>
          <a:p>
            <a:pPr algn="ctr"/>
            <a:r>
              <a:rPr sz="950" b="0">
                <a:solidFill>
                  <a:srgbClr val="FFFFFF"/>
                </a:solidFill>
                <a:latin typeface="맑은 고딕"/>
              </a:rPr>
              <a:t>1~3</a:t>
            </a:r>
          </a:p>
        </p:txBody>
      </p:sp>
      <p:sp>
        <p:nvSpPr>
          <p:cNvPr id="141" name="Rectangle 140"/>
          <p:cNvSpPr/>
          <p:nvPr/>
        </p:nvSpPr>
        <p:spPr>
          <a:xfrm>
            <a:off x="7315200" y="4709160"/>
            <a:ext cx="1463040" cy="4114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388352" y="4745736"/>
            <a:ext cx="1316736" cy="338328"/>
          </a:xfrm>
          <a:prstGeom prst="rect">
            <a:avLst/>
          </a:prstGeom>
          <a:noFill/>
        </p:spPr>
        <p:txBody>
          <a:bodyPr wrap="square">
            <a:spAutoFit/>
          </a:bodyPr>
          <a:lstStyle/>
          <a:p>
            <a:pPr algn="ctr"/>
            <a:r>
              <a:rPr sz="950" b="0">
                <a:solidFill>
                  <a:srgbClr val="B8BECC"/>
                </a:solidFill>
                <a:latin typeface="맑은 고딕"/>
              </a:rPr>
              <a:t>보스 HP +5%/존</a:t>
            </a:r>
          </a:p>
        </p:txBody>
      </p:sp>
      <p:sp>
        <p:nvSpPr>
          <p:cNvPr id="143" name="Rectangle 142"/>
          <p:cNvSpPr/>
          <p:nvPr/>
        </p:nvSpPr>
        <p:spPr>
          <a:xfrm>
            <a:off x="6126480" y="5120640"/>
            <a:ext cx="1188720" cy="4114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199632" y="5157216"/>
            <a:ext cx="1042416" cy="338328"/>
          </a:xfrm>
          <a:prstGeom prst="rect">
            <a:avLst/>
          </a:prstGeom>
          <a:noFill/>
        </p:spPr>
        <p:txBody>
          <a:bodyPr wrap="square">
            <a:spAutoFit/>
          </a:bodyPr>
          <a:lstStyle/>
          <a:p>
            <a:pPr algn="ctr"/>
            <a:r>
              <a:rPr sz="950" b="0">
                <a:solidFill>
                  <a:srgbClr val="FFFFFF"/>
                </a:solidFill>
                <a:latin typeface="맑은 고딕"/>
              </a:rPr>
              <a:t>4~7</a:t>
            </a:r>
          </a:p>
        </p:txBody>
      </p:sp>
      <p:sp>
        <p:nvSpPr>
          <p:cNvPr id="145" name="Rectangle 144"/>
          <p:cNvSpPr/>
          <p:nvPr/>
        </p:nvSpPr>
        <p:spPr>
          <a:xfrm>
            <a:off x="7315200" y="5120640"/>
            <a:ext cx="1463040" cy="41148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388352" y="5157216"/>
            <a:ext cx="1316736" cy="338328"/>
          </a:xfrm>
          <a:prstGeom prst="rect">
            <a:avLst/>
          </a:prstGeom>
          <a:noFill/>
        </p:spPr>
        <p:txBody>
          <a:bodyPr wrap="square">
            <a:spAutoFit/>
          </a:bodyPr>
          <a:lstStyle/>
          <a:p>
            <a:pPr algn="ctr"/>
            <a:r>
              <a:rPr sz="950" b="0">
                <a:solidFill>
                  <a:srgbClr val="B8BECC"/>
                </a:solidFill>
                <a:latin typeface="맑은 고딕"/>
              </a:rPr>
              <a:t>+5%/존 + 패턴 1개</a:t>
            </a:r>
          </a:p>
        </p:txBody>
      </p:sp>
      <p:sp>
        <p:nvSpPr>
          <p:cNvPr id="147" name="Rectangle 146"/>
          <p:cNvSpPr/>
          <p:nvPr/>
        </p:nvSpPr>
        <p:spPr>
          <a:xfrm>
            <a:off x="6126480" y="5532120"/>
            <a:ext cx="1188720" cy="4114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199632" y="5568696"/>
            <a:ext cx="1042416" cy="338328"/>
          </a:xfrm>
          <a:prstGeom prst="rect">
            <a:avLst/>
          </a:prstGeom>
          <a:noFill/>
        </p:spPr>
        <p:txBody>
          <a:bodyPr wrap="square">
            <a:spAutoFit/>
          </a:bodyPr>
          <a:lstStyle/>
          <a:p>
            <a:pPr algn="ctr"/>
            <a:r>
              <a:rPr sz="950" b="0">
                <a:solidFill>
                  <a:srgbClr val="FFFFFF"/>
                </a:solidFill>
                <a:latin typeface="맑은 고딕"/>
              </a:rPr>
              <a:t>8+</a:t>
            </a:r>
          </a:p>
        </p:txBody>
      </p:sp>
      <p:sp>
        <p:nvSpPr>
          <p:cNvPr id="149" name="Rectangle 148"/>
          <p:cNvSpPr/>
          <p:nvPr/>
        </p:nvSpPr>
        <p:spPr>
          <a:xfrm>
            <a:off x="7315200" y="5532120"/>
            <a:ext cx="1463040" cy="41148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7388352" y="5568696"/>
            <a:ext cx="1316736" cy="338328"/>
          </a:xfrm>
          <a:prstGeom prst="rect">
            <a:avLst/>
          </a:prstGeom>
          <a:noFill/>
        </p:spPr>
        <p:txBody>
          <a:bodyPr wrap="square">
            <a:spAutoFit/>
          </a:bodyPr>
          <a:lstStyle/>
          <a:p>
            <a:pPr algn="ctr"/>
            <a:r>
              <a:rPr sz="950" b="0">
                <a:solidFill>
                  <a:srgbClr val="B8BECC"/>
                </a:solidFill>
                <a:latin typeface="맑은 고딕"/>
              </a:rPr>
              <a:t>+5%/존 + 패턴 2개
+ 필드 부패 이펙트</a:t>
            </a:r>
          </a:p>
        </p:txBody>
      </p:sp>
      <p:sp>
        <p:nvSpPr>
          <p:cNvPr id="151" name="Rectangle 150"/>
          <p:cNvSpPr/>
          <p:nvPr/>
        </p:nvSpPr>
        <p:spPr>
          <a:xfrm>
            <a:off x="6126480" y="5751576"/>
            <a:ext cx="2377440" cy="457200"/>
          </a:xfrm>
          <a:prstGeom prst="rect">
            <a:avLst/>
          </a:prstGeom>
          <a:solidFill>
            <a:srgbClr val="1A1014"/>
          </a:solidFill>
          <a:ln w="10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63640" y="5806440"/>
            <a:ext cx="2148840" cy="347472"/>
          </a:xfrm>
          <a:prstGeom prst="rect">
            <a:avLst/>
          </a:prstGeom>
          <a:noFill/>
        </p:spPr>
        <p:txBody>
          <a:bodyPr wrap="square">
            <a:spAutoFit/>
          </a:bodyPr>
          <a:lstStyle/>
          <a:p>
            <a:pPr algn="l"/>
            <a:r>
              <a:rPr sz="850" b="0">
                <a:solidFill>
                  <a:srgbClr val="B8BECC"/>
                </a:solidFill>
                <a:latin typeface="맑은 고딕"/>
              </a:rPr>
              <a:t>탐험 FOMO를 자연스럽게 유도.
최단 경로만 달리면 보스가 강해진다.</a:t>
            </a:r>
          </a:p>
        </p:txBody>
      </p:sp>
      <p:sp>
        <p:nvSpPr>
          <p:cNvPr id="153" name="Rectangle 152"/>
          <p:cNvSpPr/>
          <p:nvPr/>
        </p:nvSpPr>
        <p:spPr>
          <a:xfrm>
            <a:off x="8869680" y="2926080"/>
            <a:ext cx="2926080" cy="3657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8869680" y="2926080"/>
            <a:ext cx="29260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006840" y="2980944"/>
            <a:ext cx="2651760" cy="256032"/>
          </a:xfrm>
          <a:prstGeom prst="rect">
            <a:avLst/>
          </a:prstGeom>
          <a:noFill/>
        </p:spPr>
        <p:txBody>
          <a:bodyPr wrap="square">
            <a:spAutoFit/>
          </a:bodyPr>
          <a:lstStyle/>
          <a:p>
            <a:pPr algn="l"/>
            <a:r>
              <a:rPr sz="1200" b="1">
                <a:solidFill>
                  <a:srgbClr val="C9A84C"/>
                </a:solidFill>
                <a:latin typeface="맑은 고딕"/>
              </a:rPr>
              <a:t>히든 보상 &amp; 단축로</a:t>
            </a:r>
          </a:p>
        </p:txBody>
      </p:sp>
      <p:sp>
        <p:nvSpPr>
          <p:cNvPr id="156" name="TextBox 155"/>
          <p:cNvSpPr txBox="1"/>
          <p:nvPr/>
        </p:nvSpPr>
        <p:spPr>
          <a:xfrm>
            <a:off x="9052560" y="3337560"/>
            <a:ext cx="2560320" cy="256032"/>
          </a:xfrm>
          <a:prstGeom prst="rect">
            <a:avLst/>
          </a:prstGeom>
          <a:noFill/>
        </p:spPr>
        <p:txBody>
          <a:bodyPr wrap="square">
            <a:spAutoFit/>
          </a:bodyPr>
          <a:lstStyle/>
          <a:p>
            <a:pPr algn="l"/>
            <a:r>
              <a:rPr sz="1000" b="1">
                <a:solidFill>
                  <a:srgbClr val="C9A84C"/>
                </a:solidFill>
                <a:latin typeface="맑은 고딕"/>
              </a:rPr>
              <a:t>히든 보상</a:t>
            </a:r>
          </a:p>
        </p:txBody>
      </p:sp>
      <p:sp>
        <p:nvSpPr>
          <p:cNvPr id="157" name="TextBox 156"/>
          <p:cNvSpPr txBox="1"/>
          <p:nvPr/>
        </p:nvSpPr>
        <p:spPr>
          <a:xfrm>
            <a:off x="9052560" y="3639312"/>
            <a:ext cx="2560320" cy="640080"/>
          </a:xfrm>
          <a:prstGeom prst="rect">
            <a:avLst/>
          </a:prstGeom>
          <a:noFill/>
        </p:spPr>
        <p:txBody>
          <a:bodyPr wrap="square">
            <a:spAutoFit/>
          </a:bodyPr>
          <a:lstStyle/>
          <a:p>
            <a:pPr algn="l"/>
            <a:r>
              <a:rPr sz="900" b="0">
                <a:solidFill>
                  <a:srgbClr val="B8BECC"/>
                </a:solidFill>
                <a:latin typeface="맑은 고딕"/>
              </a:rPr>
              <a:t>26존 중 약 8존에 숨겨진 보상
재화 캐시 / 소형 아이템 / 서사 단편
전투 중 지형 탐색으로 발견</a:t>
            </a:r>
          </a:p>
        </p:txBody>
      </p:sp>
      <p:sp>
        <p:nvSpPr>
          <p:cNvPr id="158" name="Rectangle 157"/>
          <p:cNvSpPr/>
          <p:nvPr/>
        </p:nvSpPr>
        <p:spPr>
          <a:xfrm>
            <a:off x="9052560" y="4334256"/>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052560" y="4407408"/>
            <a:ext cx="2560320" cy="256032"/>
          </a:xfrm>
          <a:prstGeom prst="rect">
            <a:avLst/>
          </a:prstGeom>
          <a:noFill/>
        </p:spPr>
        <p:txBody>
          <a:bodyPr wrap="square">
            <a:spAutoFit/>
          </a:bodyPr>
          <a:lstStyle/>
          <a:p>
            <a:pPr algn="l"/>
            <a:r>
              <a:rPr sz="1000" b="1">
                <a:solidFill>
                  <a:srgbClr val="4AC2B8"/>
                </a:solidFill>
                <a:latin typeface="맑은 고딕"/>
              </a:rPr>
              <a:t>단축로 (Shortcut)</a:t>
            </a:r>
          </a:p>
        </p:txBody>
      </p:sp>
      <p:sp>
        <p:nvSpPr>
          <p:cNvPr id="160" name="TextBox 159"/>
          <p:cNvSpPr txBox="1"/>
          <p:nvPr/>
        </p:nvSpPr>
        <p:spPr>
          <a:xfrm>
            <a:off x="9052560" y="4709160"/>
            <a:ext cx="2560320" cy="640080"/>
          </a:xfrm>
          <a:prstGeom prst="rect">
            <a:avLst/>
          </a:prstGeom>
          <a:noFill/>
        </p:spPr>
        <p:txBody>
          <a:bodyPr wrap="square">
            <a:spAutoFit/>
          </a:bodyPr>
          <a:lstStyle/>
          <a:p>
            <a:pPr algn="l"/>
            <a:r>
              <a:rPr sz="900" b="0">
                <a:solidFill>
                  <a:srgbClr val="B8BECC"/>
                </a:solidFill>
                <a:latin typeface="맑은 고딕"/>
              </a:rPr>
              <a:t>인접 존 두 곳이 모두 Cleared 시
두 존을 직접 연결하는 통로 개방
상점 재방문 / 체크포인트 복귀 용도</a:t>
            </a:r>
          </a:p>
        </p:txBody>
      </p:sp>
      <p:sp>
        <p:nvSpPr>
          <p:cNvPr id="161" name="Rectangle 160"/>
          <p:cNvSpPr/>
          <p:nvPr/>
        </p:nvSpPr>
        <p:spPr>
          <a:xfrm>
            <a:off x="9052560" y="539496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052560" y="5468112"/>
            <a:ext cx="2560320" cy="256032"/>
          </a:xfrm>
          <a:prstGeom prst="rect">
            <a:avLst/>
          </a:prstGeom>
          <a:noFill/>
        </p:spPr>
        <p:txBody>
          <a:bodyPr wrap="square">
            <a:spAutoFit/>
          </a:bodyPr>
          <a:lstStyle/>
          <a:p>
            <a:pPr algn="l"/>
            <a:r>
              <a:rPr sz="1000" b="1">
                <a:solidFill>
                  <a:srgbClr val="FFB840"/>
                </a:solidFill>
                <a:latin typeface="맑은 고딕"/>
              </a:rPr>
              <a:t>사망 &amp; 다시하기 규칙</a:t>
            </a:r>
          </a:p>
        </p:txBody>
      </p:sp>
      <p:sp>
        <p:nvSpPr>
          <p:cNvPr id="163" name="TextBox 162"/>
          <p:cNvSpPr txBox="1"/>
          <p:nvPr/>
        </p:nvSpPr>
        <p:spPr>
          <a:xfrm>
            <a:off x="9052560" y="5760720"/>
            <a:ext cx="2560320" cy="594360"/>
          </a:xfrm>
          <a:prstGeom prst="rect">
            <a:avLst/>
          </a:prstGeom>
          <a:noFill/>
        </p:spPr>
        <p:txBody>
          <a:bodyPr wrap="square">
            <a:spAutoFit/>
          </a:bodyPr>
          <a:lstStyle/>
          <a:p>
            <a:pPr algn="l"/>
            <a:r>
              <a:rPr sz="850" b="0">
                <a:solidFill>
                  <a:srgbClr val="B8BECC"/>
                </a:solidFill>
                <a:latin typeface="맑은 고딕"/>
              </a:rPr>
              <a:t>저장: 노드 맵에서 방 선택 순간
재진입: 선택한 방 입구부터
이미 클리어한 방 보상은 미유지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08  단일 세계 맵 시스템 — 26존 레이어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0292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029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4754880" cy="256032"/>
          </a:xfrm>
          <a:prstGeom prst="rect">
            <a:avLst/>
          </a:prstGeom>
          <a:noFill/>
        </p:spPr>
        <p:txBody>
          <a:bodyPr wrap="square">
            <a:spAutoFit/>
          </a:bodyPr>
          <a:lstStyle/>
          <a:p>
            <a:pPr algn="l"/>
            <a:r>
              <a:rPr sz="1200" b="1">
                <a:solidFill>
                  <a:srgbClr val="C9A84C"/>
                </a:solidFill>
                <a:latin typeface="맑은 고딕"/>
              </a:rPr>
              <a:t>26존 레이어 구조</a:t>
            </a:r>
          </a:p>
        </p:txBody>
      </p:sp>
      <p:sp>
        <p:nvSpPr>
          <p:cNvPr id="8" name="TextBox 7"/>
          <p:cNvSpPr txBox="1"/>
          <p:nvPr/>
        </p:nvSpPr>
        <p:spPr>
          <a:xfrm>
            <a:off x="548640" y="1417320"/>
            <a:ext cx="4663440" cy="1828800"/>
          </a:xfrm>
          <a:prstGeom prst="rect">
            <a:avLst/>
          </a:prstGeom>
          <a:noFill/>
        </p:spPr>
        <p:txBody>
          <a:bodyPr wrap="square">
            <a:spAutoFit/>
          </a:bodyPr>
          <a:lstStyle/>
          <a:p>
            <a:pPr algn="l"/>
            <a:r>
              <a:rPr sz="1000" b="0">
                <a:solidFill>
                  <a:srgbClr val="B8BECC"/>
                </a:solidFill>
                <a:latin typeface="맑은 고딕"/>
              </a:rPr>
              <a:t>"맵 전체가 처음부터 존재한다.
다만, 길이 막혀 있을 뿐이다."
챕터 = 하나의 거대한 물리 세계.
부패 물질(흑수·용암·안개·공허)이 세계를
뒤덮고 있으며, 존을 클리어·선택하면
그 구역의 장벽이 물러난다.
플레이어는 직접 걸어서 이동.</a:t>
            </a:r>
          </a:p>
        </p:txBody>
      </p:sp>
      <p:sp>
        <p:nvSpPr>
          <p:cNvPr id="9" name="Rectangle 8"/>
          <p:cNvSpPr/>
          <p:nvPr/>
        </p:nvSpPr>
        <p:spPr>
          <a:xfrm>
            <a:off x="548640" y="3337560"/>
            <a:ext cx="1463040" cy="2743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3374136"/>
            <a:ext cx="1316736" cy="201167"/>
          </a:xfrm>
          <a:prstGeom prst="rect">
            <a:avLst/>
          </a:prstGeom>
          <a:noFill/>
        </p:spPr>
        <p:txBody>
          <a:bodyPr wrap="square">
            <a:spAutoFit/>
          </a:bodyPr>
          <a:lstStyle/>
          <a:p>
            <a:pPr algn="ctr"/>
            <a:r>
              <a:rPr sz="1000" b="1">
                <a:solidFill>
                  <a:srgbClr val="C9A84C"/>
                </a:solidFill>
                <a:latin typeface="맑은 고딕"/>
              </a:rPr>
              <a:t>레이어</a:t>
            </a:r>
          </a:p>
        </p:txBody>
      </p:sp>
      <p:sp>
        <p:nvSpPr>
          <p:cNvPr id="11" name="Rectangle 10"/>
          <p:cNvSpPr/>
          <p:nvPr/>
        </p:nvSpPr>
        <p:spPr>
          <a:xfrm>
            <a:off x="2011680" y="3337560"/>
            <a:ext cx="1097280" cy="2743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84832" y="3374136"/>
            <a:ext cx="950976" cy="201167"/>
          </a:xfrm>
          <a:prstGeom prst="rect">
            <a:avLst/>
          </a:prstGeom>
          <a:noFill/>
        </p:spPr>
        <p:txBody>
          <a:bodyPr wrap="square">
            <a:spAutoFit/>
          </a:bodyPr>
          <a:lstStyle/>
          <a:p>
            <a:pPr algn="ctr"/>
            <a:r>
              <a:rPr sz="1000" b="1">
                <a:solidFill>
                  <a:srgbClr val="C9A84C"/>
                </a:solidFill>
                <a:latin typeface="맑은 고딕"/>
              </a:rPr>
              <a:t>존</a:t>
            </a:r>
          </a:p>
        </p:txBody>
      </p:sp>
      <p:sp>
        <p:nvSpPr>
          <p:cNvPr id="13" name="Rectangle 12"/>
          <p:cNvSpPr/>
          <p:nvPr/>
        </p:nvSpPr>
        <p:spPr>
          <a:xfrm>
            <a:off x="3108960" y="3337560"/>
            <a:ext cx="457200" cy="2743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82112" y="3374136"/>
            <a:ext cx="310896" cy="201167"/>
          </a:xfrm>
          <a:prstGeom prst="rect">
            <a:avLst/>
          </a:prstGeom>
          <a:noFill/>
        </p:spPr>
        <p:txBody>
          <a:bodyPr wrap="square">
            <a:spAutoFit/>
          </a:bodyPr>
          <a:lstStyle/>
          <a:p>
            <a:pPr algn="ctr"/>
            <a:r>
              <a:rPr sz="1000" b="1">
                <a:solidFill>
                  <a:srgbClr val="C9A84C"/>
                </a:solidFill>
                <a:latin typeface="맑은 고딕"/>
              </a:rPr>
              <a:t>수</a:t>
            </a:r>
          </a:p>
        </p:txBody>
      </p:sp>
      <p:sp>
        <p:nvSpPr>
          <p:cNvPr id="15" name="Rectangle 14"/>
          <p:cNvSpPr/>
          <p:nvPr/>
        </p:nvSpPr>
        <p:spPr>
          <a:xfrm>
            <a:off x="3566160" y="3337560"/>
            <a:ext cx="1920240" cy="2743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9312" y="3374136"/>
            <a:ext cx="1773936" cy="201167"/>
          </a:xfrm>
          <a:prstGeom prst="rect">
            <a:avLst/>
          </a:prstGeom>
          <a:noFill/>
        </p:spPr>
        <p:txBody>
          <a:bodyPr wrap="square">
            <a:spAutoFit/>
          </a:bodyPr>
          <a:lstStyle/>
          <a:p>
            <a:pPr algn="ctr"/>
            <a:r>
              <a:rPr sz="1000" b="1">
                <a:solidFill>
                  <a:srgbClr val="C9A84C"/>
                </a:solidFill>
                <a:latin typeface="맑은 고딕"/>
              </a:rPr>
              <a:t>비고</a:t>
            </a:r>
          </a:p>
        </p:txBody>
      </p:sp>
      <p:sp>
        <p:nvSpPr>
          <p:cNvPr id="17" name="Rectangle 16"/>
          <p:cNvSpPr/>
          <p:nvPr/>
        </p:nvSpPr>
        <p:spPr>
          <a:xfrm>
            <a:off x="548640" y="3611879"/>
            <a:ext cx="1463040" cy="274320"/>
          </a:xfrm>
          <a:prstGeom prst="rect">
            <a:avLst/>
          </a:prstGeom>
          <a:solidFill>
            <a:srgbClr val="181028"/>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648456"/>
            <a:ext cx="1316736" cy="201167"/>
          </a:xfrm>
          <a:prstGeom prst="rect">
            <a:avLst/>
          </a:prstGeom>
          <a:noFill/>
        </p:spPr>
        <p:txBody>
          <a:bodyPr wrap="square">
            <a:spAutoFit/>
          </a:bodyPr>
          <a:lstStyle/>
          <a:p>
            <a:pPr algn="ctr"/>
            <a:r>
              <a:rPr sz="950" b="0">
                <a:solidFill>
                  <a:srgbClr val="FFFFFF"/>
                </a:solidFill>
                <a:latin typeface="맑은 고딕"/>
              </a:rPr>
              <a:t>L12 (보스)</a:t>
            </a:r>
          </a:p>
        </p:txBody>
      </p:sp>
      <p:sp>
        <p:nvSpPr>
          <p:cNvPr id="19" name="Rectangle 18"/>
          <p:cNvSpPr/>
          <p:nvPr/>
        </p:nvSpPr>
        <p:spPr>
          <a:xfrm>
            <a:off x="2011680" y="3611879"/>
            <a:ext cx="1097280" cy="274320"/>
          </a:xfrm>
          <a:prstGeom prst="rect">
            <a:avLst/>
          </a:prstGeom>
          <a:solidFill>
            <a:srgbClr val="181028"/>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84832" y="3648456"/>
            <a:ext cx="950976" cy="201167"/>
          </a:xfrm>
          <a:prstGeom prst="rect">
            <a:avLst/>
          </a:prstGeom>
          <a:noFill/>
        </p:spPr>
        <p:txBody>
          <a:bodyPr wrap="square">
            <a:spAutoFit/>
          </a:bodyPr>
          <a:lstStyle/>
          <a:p>
            <a:pPr algn="ctr"/>
            <a:r>
              <a:rPr sz="950" b="0">
                <a:solidFill>
                  <a:srgbClr val="B8BECC"/>
                </a:solidFill>
                <a:latin typeface="맑은 고딕"/>
              </a:rPr>
              <a:t>Z26</a:t>
            </a:r>
          </a:p>
        </p:txBody>
      </p:sp>
      <p:sp>
        <p:nvSpPr>
          <p:cNvPr id="21" name="Rectangle 20"/>
          <p:cNvSpPr/>
          <p:nvPr/>
        </p:nvSpPr>
        <p:spPr>
          <a:xfrm>
            <a:off x="3108960" y="3611879"/>
            <a:ext cx="457200" cy="274320"/>
          </a:xfrm>
          <a:prstGeom prst="rect">
            <a:avLst/>
          </a:prstGeom>
          <a:solidFill>
            <a:srgbClr val="181028"/>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82112" y="3648456"/>
            <a:ext cx="310896" cy="201167"/>
          </a:xfrm>
          <a:prstGeom prst="rect">
            <a:avLst/>
          </a:prstGeom>
          <a:noFill/>
        </p:spPr>
        <p:txBody>
          <a:bodyPr wrap="square">
            <a:spAutoFit/>
          </a:bodyPr>
          <a:lstStyle/>
          <a:p>
            <a:pPr algn="ctr"/>
            <a:r>
              <a:rPr sz="950" b="0">
                <a:solidFill>
                  <a:srgbClr val="B8BECC"/>
                </a:solidFill>
                <a:latin typeface="맑은 고딕"/>
              </a:rPr>
              <a:t>1</a:t>
            </a:r>
          </a:p>
        </p:txBody>
      </p:sp>
      <p:sp>
        <p:nvSpPr>
          <p:cNvPr id="23" name="Rectangle 22"/>
          <p:cNvSpPr/>
          <p:nvPr/>
        </p:nvSpPr>
        <p:spPr>
          <a:xfrm>
            <a:off x="3566160" y="3611879"/>
            <a:ext cx="1920240" cy="274320"/>
          </a:xfrm>
          <a:prstGeom prst="rect">
            <a:avLst/>
          </a:prstGeom>
          <a:solidFill>
            <a:srgbClr val="181028"/>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9312" y="3648456"/>
            <a:ext cx="1773936" cy="201167"/>
          </a:xfrm>
          <a:prstGeom prst="rect">
            <a:avLst/>
          </a:prstGeom>
          <a:noFill/>
        </p:spPr>
        <p:txBody>
          <a:bodyPr wrap="square">
            <a:spAutoFit/>
          </a:bodyPr>
          <a:lstStyle/>
          <a:p>
            <a:pPr algn="ctr"/>
            <a:r>
              <a:rPr sz="950" b="0">
                <a:solidFill>
                  <a:srgbClr val="B8BECC"/>
                </a:solidFill>
                <a:latin typeface="맑은 고딕"/>
              </a:rPr>
              <a:t>보스방 — 고정</a:t>
            </a:r>
          </a:p>
        </p:txBody>
      </p:sp>
      <p:sp>
        <p:nvSpPr>
          <p:cNvPr id="25" name="Rectangle 24"/>
          <p:cNvSpPr/>
          <p:nvPr/>
        </p:nvSpPr>
        <p:spPr>
          <a:xfrm>
            <a:off x="548640" y="3886200"/>
            <a:ext cx="14630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922776"/>
            <a:ext cx="1316736" cy="201167"/>
          </a:xfrm>
          <a:prstGeom prst="rect">
            <a:avLst/>
          </a:prstGeom>
          <a:noFill/>
        </p:spPr>
        <p:txBody>
          <a:bodyPr wrap="square">
            <a:spAutoFit/>
          </a:bodyPr>
          <a:lstStyle/>
          <a:p>
            <a:pPr algn="ctr"/>
            <a:r>
              <a:rPr sz="950" b="0">
                <a:solidFill>
                  <a:srgbClr val="FFFFFF"/>
                </a:solidFill>
                <a:latin typeface="맑은 고딕"/>
              </a:rPr>
              <a:t>L11</a:t>
            </a:r>
          </a:p>
        </p:txBody>
      </p:sp>
      <p:sp>
        <p:nvSpPr>
          <p:cNvPr id="27" name="Rectangle 26"/>
          <p:cNvSpPr/>
          <p:nvPr/>
        </p:nvSpPr>
        <p:spPr>
          <a:xfrm>
            <a:off x="2011680" y="3886200"/>
            <a:ext cx="109728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84832" y="3922776"/>
            <a:ext cx="950976" cy="201167"/>
          </a:xfrm>
          <a:prstGeom prst="rect">
            <a:avLst/>
          </a:prstGeom>
          <a:noFill/>
        </p:spPr>
        <p:txBody>
          <a:bodyPr wrap="square">
            <a:spAutoFit/>
          </a:bodyPr>
          <a:lstStyle/>
          <a:p>
            <a:pPr algn="ctr"/>
            <a:r>
              <a:rPr sz="950" b="0">
                <a:solidFill>
                  <a:srgbClr val="B8BECC"/>
                </a:solidFill>
                <a:latin typeface="맑은 고딕"/>
              </a:rPr>
              <a:t>Z25</a:t>
            </a:r>
          </a:p>
        </p:txBody>
      </p:sp>
      <p:sp>
        <p:nvSpPr>
          <p:cNvPr id="29" name="Rectangle 28"/>
          <p:cNvSpPr/>
          <p:nvPr/>
        </p:nvSpPr>
        <p:spPr>
          <a:xfrm>
            <a:off x="3108960" y="3886200"/>
            <a:ext cx="45720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82112" y="3922776"/>
            <a:ext cx="310896" cy="201167"/>
          </a:xfrm>
          <a:prstGeom prst="rect">
            <a:avLst/>
          </a:prstGeom>
          <a:noFill/>
        </p:spPr>
        <p:txBody>
          <a:bodyPr wrap="square">
            <a:spAutoFit/>
          </a:bodyPr>
          <a:lstStyle/>
          <a:p>
            <a:pPr algn="ctr"/>
            <a:r>
              <a:rPr sz="950" b="0">
                <a:solidFill>
                  <a:srgbClr val="B8BECC"/>
                </a:solidFill>
                <a:latin typeface="맑은 고딕"/>
              </a:rPr>
              <a:t>1</a:t>
            </a:r>
          </a:p>
        </p:txBody>
      </p:sp>
      <p:sp>
        <p:nvSpPr>
          <p:cNvPr id="31" name="Rectangle 30"/>
          <p:cNvSpPr/>
          <p:nvPr/>
        </p:nvSpPr>
        <p:spPr>
          <a:xfrm>
            <a:off x="3566160" y="3886200"/>
            <a:ext cx="19202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39312" y="3922776"/>
            <a:ext cx="1773936" cy="201167"/>
          </a:xfrm>
          <a:prstGeom prst="rect">
            <a:avLst/>
          </a:prstGeom>
          <a:noFill/>
        </p:spPr>
        <p:txBody>
          <a:bodyPr wrap="square">
            <a:spAutoFit/>
          </a:bodyPr>
          <a:lstStyle/>
          <a:p>
            <a:pPr algn="ctr"/>
            <a:r>
              <a:rPr sz="950" b="0">
                <a:solidFill>
                  <a:srgbClr val="B8BECC"/>
                </a:solidFill>
                <a:latin typeface="맑은 고딕"/>
              </a:rPr>
              <a:t>보스 전 준비존</a:t>
            </a:r>
          </a:p>
        </p:txBody>
      </p:sp>
      <p:sp>
        <p:nvSpPr>
          <p:cNvPr id="33" name="Rectangle 32"/>
          <p:cNvSpPr/>
          <p:nvPr/>
        </p:nvSpPr>
        <p:spPr>
          <a:xfrm>
            <a:off x="548640" y="4160520"/>
            <a:ext cx="14630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197096"/>
            <a:ext cx="1316736" cy="201167"/>
          </a:xfrm>
          <a:prstGeom prst="rect">
            <a:avLst/>
          </a:prstGeom>
          <a:noFill/>
        </p:spPr>
        <p:txBody>
          <a:bodyPr wrap="square">
            <a:spAutoFit/>
          </a:bodyPr>
          <a:lstStyle/>
          <a:p>
            <a:pPr algn="ctr"/>
            <a:r>
              <a:rPr sz="950" b="0">
                <a:solidFill>
                  <a:srgbClr val="FFFFFF"/>
                </a:solidFill>
                <a:latin typeface="맑은 고딕"/>
              </a:rPr>
              <a:t>L10</a:t>
            </a:r>
          </a:p>
        </p:txBody>
      </p:sp>
      <p:sp>
        <p:nvSpPr>
          <p:cNvPr id="35" name="Rectangle 34"/>
          <p:cNvSpPr/>
          <p:nvPr/>
        </p:nvSpPr>
        <p:spPr>
          <a:xfrm>
            <a:off x="2011680" y="4160520"/>
            <a:ext cx="109728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84832" y="4197096"/>
            <a:ext cx="950976" cy="201167"/>
          </a:xfrm>
          <a:prstGeom prst="rect">
            <a:avLst/>
          </a:prstGeom>
          <a:noFill/>
        </p:spPr>
        <p:txBody>
          <a:bodyPr wrap="square">
            <a:spAutoFit/>
          </a:bodyPr>
          <a:lstStyle/>
          <a:p>
            <a:pPr algn="ctr"/>
            <a:r>
              <a:rPr sz="950" b="0">
                <a:solidFill>
                  <a:srgbClr val="B8BECC"/>
                </a:solidFill>
                <a:latin typeface="맑은 고딕"/>
              </a:rPr>
              <a:t>Z23~24</a:t>
            </a:r>
          </a:p>
        </p:txBody>
      </p:sp>
      <p:sp>
        <p:nvSpPr>
          <p:cNvPr id="37" name="Rectangle 36"/>
          <p:cNvSpPr/>
          <p:nvPr/>
        </p:nvSpPr>
        <p:spPr>
          <a:xfrm>
            <a:off x="3108960" y="4160520"/>
            <a:ext cx="45720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82112" y="4197096"/>
            <a:ext cx="310896" cy="201167"/>
          </a:xfrm>
          <a:prstGeom prst="rect">
            <a:avLst/>
          </a:prstGeom>
          <a:noFill/>
        </p:spPr>
        <p:txBody>
          <a:bodyPr wrap="square">
            <a:spAutoFit/>
          </a:bodyPr>
          <a:lstStyle/>
          <a:p>
            <a:pPr algn="ctr"/>
            <a:r>
              <a:rPr sz="950" b="0">
                <a:solidFill>
                  <a:srgbClr val="B8BECC"/>
                </a:solidFill>
                <a:latin typeface="맑은 고딕"/>
              </a:rPr>
              <a:t>2</a:t>
            </a:r>
          </a:p>
        </p:txBody>
      </p:sp>
      <p:sp>
        <p:nvSpPr>
          <p:cNvPr id="39" name="Rectangle 38"/>
          <p:cNvSpPr/>
          <p:nvPr/>
        </p:nvSpPr>
        <p:spPr>
          <a:xfrm>
            <a:off x="3566160" y="4160520"/>
            <a:ext cx="19202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39312" y="419709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41" name="Rectangle 40"/>
          <p:cNvSpPr/>
          <p:nvPr/>
        </p:nvSpPr>
        <p:spPr>
          <a:xfrm>
            <a:off x="548640" y="4434840"/>
            <a:ext cx="14630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4471416"/>
            <a:ext cx="1316736" cy="201167"/>
          </a:xfrm>
          <a:prstGeom prst="rect">
            <a:avLst/>
          </a:prstGeom>
          <a:noFill/>
        </p:spPr>
        <p:txBody>
          <a:bodyPr wrap="square">
            <a:spAutoFit/>
          </a:bodyPr>
          <a:lstStyle/>
          <a:p>
            <a:pPr algn="ctr"/>
            <a:r>
              <a:rPr sz="950" b="0">
                <a:solidFill>
                  <a:srgbClr val="FFFFFF"/>
                </a:solidFill>
                <a:latin typeface="맑은 고딕"/>
              </a:rPr>
              <a:t>L9</a:t>
            </a:r>
          </a:p>
        </p:txBody>
      </p:sp>
      <p:sp>
        <p:nvSpPr>
          <p:cNvPr id="43" name="Rectangle 42"/>
          <p:cNvSpPr/>
          <p:nvPr/>
        </p:nvSpPr>
        <p:spPr>
          <a:xfrm>
            <a:off x="2011680" y="4434840"/>
            <a:ext cx="109728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84832" y="4471416"/>
            <a:ext cx="950976" cy="201167"/>
          </a:xfrm>
          <a:prstGeom prst="rect">
            <a:avLst/>
          </a:prstGeom>
          <a:noFill/>
        </p:spPr>
        <p:txBody>
          <a:bodyPr wrap="square">
            <a:spAutoFit/>
          </a:bodyPr>
          <a:lstStyle/>
          <a:p>
            <a:pPr algn="ctr"/>
            <a:r>
              <a:rPr sz="950" b="0">
                <a:solidFill>
                  <a:srgbClr val="B8BECC"/>
                </a:solidFill>
                <a:latin typeface="맑은 고딕"/>
              </a:rPr>
              <a:t>Z21~22</a:t>
            </a:r>
          </a:p>
        </p:txBody>
      </p:sp>
      <p:sp>
        <p:nvSpPr>
          <p:cNvPr id="45" name="Rectangle 44"/>
          <p:cNvSpPr/>
          <p:nvPr/>
        </p:nvSpPr>
        <p:spPr>
          <a:xfrm>
            <a:off x="3108960" y="4434840"/>
            <a:ext cx="45720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82112" y="4471416"/>
            <a:ext cx="310896" cy="201167"/>
          </a:xfrm>
          <a:prstGeom prst="rect">
            <a:avLst/>
          </a:prstGeom>
          <a:noFill/>
        </p:spPr>
        <p:txBody>
          <a:bodyPr wrap="square">
            <a:spAutoFit/>
          </a:bodyPr>
          <a:lstStyle/>
          <a:p>
            <a:pPr algn="ctr"/>
            <a:r>
              <a:rPr sz="950" b="0">
                <a:solidFill>
                  <a:srgbClr val="B8BECC"/>
                </a:solidFill>
                <a:latin typeface="맑은 고딕"/>
              </a:rPr>
              <a:t>2</a:t>
            </a:r>
          </a:p>
        </p:txBody>
      </p:sp>
      <p:sp>
        <p:nvSpPr>
          <p:cNvPr id="47" name="Rectangle 46"/>
          <p:cNvSpPr/>
          <p:nvPr/>
        </p:nvSpPr>
        <p:spPr>
          <a:xfrm>
            <a:off x="3566160" y="4434840"/>
            <a:ext cx="19202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39312" y="447141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49" name="Rectangle 48"/>
          <p:cNvSpPr/>
          <p:nvPr/>
        </p:nvSpPr>
        <p:spPr>
          <a:xfrm>
            <a:off x="548640" y="4709160"/>
            <a:ext cx="14630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4745736"/>
            <a:ext cx="1316736" cy="201167"/>
          </a:xfrm>
          <a:prstGeom prst="rect">
            <a:avLst/>
          </a:prstGeom>
          <a:noFill/>
        </p:spPr>
        <p:txBody>
          <a:bodyPr wrap="square">
            <a:spAutoFit/>
          </a:bodyPr>
          <a:lstStyle/>
          <a:p>
            <a:pPr algn="ctr"/>
            <a:r>
              <a:rPr sz="950" b="0">
                <a:solidFill>
                  <a:srgbClr val="FFFFFF"/>
                </a:solidFill>
                <a:latin typeface="맑은 고딕"/>
              </a:rPr>
              <a:t>L8</a:t>
            </a:r>
          </a:p>
        </p:txBody>
      </p:sp>
      <p:sp>
        <p:nvSpPr>
          <p:cNvPr id="51" name="Rectangle 50"/>
          <p:cNvSpPr/>
          <p:nvPr/>
        </p:nvSpPr>
        <p:spPr>
          <a:xfrm>
            <a:off x="2011680" y="4709160"/>
            <a:ext cx="109728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84832" y="4745736"/>
            <a:ext cx="950976" cy="201167"/>
          </a:xfrm>
          <a:prstGeom prst="rect">
            <a:avLst/>
          </a:prstGeom>
          <a:noFill/>
        </p:spPr>
        <p:txBody>
          <a:bodyPr wrap="square">
            <a:spAutoFit/>
          </a:bodyPr>
          <a:lstStyle/>
          <a:p>
            <a:pPr algn="ctr"/>
            <a:r>
              <a:rPr sz="950" b="0">
                <a:solidFill>
                  <a:srgbClr val="B8BECC"/>
                </a:solidFill>
                <a:latin typeface="맑은 고딕"/>
              </a:rPr>
              <a:t>Z18~20</a:t>
            </a:r>
          </a:p>
        </p:txBody>
      </p:sp>
      <p:sp>
        <p:nvSpPr>
          <p:cNvPr id="53" name="Rectangle 52"/>
          <p:cNvSpPr/>
          <p:nvPr/>
        </p:nvSpPr>
        <p:spPr>
          <a:xfrm>
            <a:off x="3108960" y="4709160"/>
            <a:ext cx="45720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82112" y="4745736"/>
            <a:ext cx="310896" cy="201167"/>
          </a:xfrm>
          <a:prstGeom prst="rect">
            <a:avLst/>
          </a:prstGeom>
          <a:noFill/>
        </p:spPr>
        <p:txBody>
          <a:bodyPr wrap="square">
            <a:spAutoFit/>
          </a:bodyPr>
          <a:lstStyle/>
          <a:p>
            <a:pPr algn="ctr"/>
            <a:r>
              <a:rPr sz="950" b="0">
                <a:solidFill>
                  <a:srgbClr val="B8BECC"/>
                </a:solidFill>
                <a:latin typeface="맑은 고딕"/>
              </a:rPr>
              <a:t>3</a:t>
            </a:r>
          </a:p>
        </p:txBody>
      </p:sp>
      <p:sp>
        <p:nvSpPr>
          <p:cNvPr id="55" name="Rectangle 54"/>
          <p:cNvSpPr/>
          <p:nvPr/>
        </p:nvSpPr>
        <p:spPr>
          <a:xfrm>
            <a:off x="3566160" y="4709160"/>
            <a:ext cx="19202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39312" y="474573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57" name="Rectangle 56"/>
          <p:cNvSpPr/>
          <p:nvPr/>
        </p:nvSpPr>
        <p:spPr>
          <a:xfrm>
            <a:off x="548640" y="4983479"/>
            <a:ext cx="14630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1792" y="5020055"/>
            <a:ext cx="1316736" cy="201167"/>
          </a:xfrm>
          <a:prstGeom prst="rect">
            <a:avLst/>
          </a:prstGeom>
          <a:noFill/>
        </p:spPr>
        <p:txBody>
          <a:bodyPr wrap="square">
            <a:spAutoFit/>
          </a:bodyPr>
          <a:lstStyle/>
          <a:p>
            <a:pPr algn="ctr"/>
            <a:r>
              <a:rPr sz="950" b="0">
                <a:solidFill>
                  <a:srgbClr val="FFFFFF"/>
                </a:solidFill>
                <a:latin typeface="맑은 고딕"/>
              </a:rPr>
              <a:t>L7</a:t>
            </a:r>
          </a:p>
        </p:txBody>
      </p:sp>
      <p:sp>
        <p:nvSpPr>
          <p:cNvPr id="59" name="Rectangle 58"/>
          <p:cNvSpPr/>
          <p:nvPr/>
        </p:nvSpPr>
        <p:spPr>
          <a:xfrm>
            <a:off x="2011680" y="4983479"/>
            <a:ext cx="109728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084832" y="5020055"/>
            <a:ext cx="950976" cy="201167"/>
          </a:xfrm>
          <a:prstGeom prst="rect">
            <a:avLst/>
          </a:prstGeom>
          <a:noFill/>
        </p:spPr>
        <p:txBody>
          <a:bodyPr wrap="square">
            <a:spAutoFit/>
          </a:bodyPr>
          <a:lstStyle/>
          <a:p>
            <a:pPr algn="ctr"/>
            <a:r>
              <a:rPr sz="950" b="0">
                <a:solidFill>
                  <a:srgbClr val="B8BECC"/>
                </a:solidFill>
                <a:latin typeface="맑은 고딕"/>
              </a:rPr>
              <a:t>Z15~17</a:t>
            </a:r>
          </a:p>
        </p:txBody>
      </p:sp>
      <p:sp>
        <p:nvSpPr>
          <p:cNvPr id="61" name="Rectangle 60"/>
          <p:cNvSpPr/>
          <p:nvPr/>
        </p:nvSpPr>
        <p:spPr>
          <a:xfrm>
            <a:off x="3108960" y="4983479"/>
            <a:ext cx="45720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182112" y="5020055"/>
            <a:ext cx="310896" cy="201167"/>
          </a:xfrm>
          <a:prstGeom prst="rect">
            <a:avLst/>
          </a:prstGeom>
          <a:noFill/>
        </p:spPr>
        <p:txBody>
          <a:bodyPr wrap="square">
            <a:spAutoFit/>
          </a:bodyPr>
          <a:lstStyle/>
          <a:p>
            <a:pPr algn="ctr"/>
            <a:r>
              <a:rPr sz="950" b="0">
                <a:solidFill>
                  <a:srgbClr val="B8BECC"/>
                </a:solidFill>
                <a:latin typeface="맑은 고딕"/>
              </a:rPr>
              <a:t>3</a:t>
            </a:r>
          </a:p>
        </p:txBody>
      </p:sp>
      <p:sp>
        <p:nvSpPr>
          <p:cNvPr id="63" name="Rectangle 62"/>
          <p:cNvSpPr/>
          <p:nvPr/>
        </p:nvSpPr>
        <p:spPr>
          <a:xfrm>
            <a:off x="3566160" y="4983479"/>
            <a:ext cx="19202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39312" y="5020055"/>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65" name="Rectangle 64"/>
          <p:cNvSpPr/>
          <p:nvPr/>
        </p:nvSpPr>
        <p:spPr>
          <a:xfrm>
            <a:off x="548640" y="5257800"/>
            <a:ext cx="14630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1792" y="5294376"/>
            <a:ext cx="1316736" cy="201167"/>
          </a:xfrm>
          <a:prstGeom prst="rect">
            <a:avLst/>
          </a:prstGeom>
          <a:noFill/>
        </p:spPr>
        <p:txBody>
          <a:bodyPr wrap="square">
            <a:spAutoFit/>
          </a:bodyPr>
          <a:lstStyle/>
          <a:p>
            <a:pPr algn="ctr"/>
            <a:r>
              <a:rPr sz="950" b="0">
                <a:solidFill>
                  <a:srgbClr val="FFFFFF"/>
                </a:solidFill>
                <a:latin typeface="맑은 고딕"/>
              </a:rPr>
              <a:t>L6</a:t>
            </a:r>
          </a:p>
        </p:txBody>
      </p:sp>
      <p:sp>
        <p:nvSpPr>
          <p:cNvPr id="67" name="Rectangle 66"/>
          <p:cNvSpPr/>
          <p:nvPr/>
        </p:nvSpPr>
        <p:spPr>
          <a:xfrm>
            <a:off x="2011680" y="5257800"/>
            <a:ext cx="109728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84832" y="5294376"/>
            <a:ext cx="950976" cy="201167"/>
          </a:xfrm>
          <a:prstGeom prst="rect">
            <a:avLst/>
          </a:prstGeom>
          <a:noFill/>
        </p:spPr>
        <p:txBody>
          <a:bodyPr wrap="square">
            <a:spAutoFit/>
          </a:bodyPr>
          <a:lstStyle/>
          <a:p>
            <a:pPr algn="ctr"/>
            <a:r>
              <a:rPr sz="950" b="0">
                <a:solidFill>
                  <a:srgbClr val="B8BECC"/>
                </a:solidFill>
                <a:latin typeface="맑은 고딕"/>
              </a:rPr>
              <a:t>Z12~14</a:t>
            </a:r>
          </a:p>
        </p:txBody>
      </p:sp>
      <p:sp>
        <p:nvSpPr>
          <p:cNvPr id="69" name="Rectangle 68"/>
          <p:cNvSpPr/>
          <p:nvPr/>
        </p:nvSpPr>
        <p:spPr>
          <a:xfrm>
            <a:off x="3108960" y="5257800"/>
            <a:ext cx="45720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182112" y="5294376"/>
            <a:ext cx="310896" cy="201167"/>
          </a:xfrm>
          <a:prstGeom prst="rect">
            <a:avLst/>
          </a:prstGeom>
          <a:noFill/>
        </p:spPr>
        <p:txBody>
          <a:bodyPr wrap="square">
            <a:spAutoFit/>
          </a:bodyPr>
          <a:lstStyle/>
          <a:p>
            <a:pPr algn="ctr"/>
            <a:r>
              <a:rPr sz="950" b="0">
                <a:solidFill>
                  <a:srgbClr val="B8BECC"/>
                </a:solidFill>
                <a:latin typeface="맑은 고딕"/>
              </a:rPr>
              <a:t>3</a:t>
            </a:r>
          </a:p>
        </p:txBody>
      </p:sp>
      <p:sp>
        <p:nvSpPr>
          <p:cNvPr id="71" name="Rectangle 70"/>
          <p:cNvSpPr/>
          <p:nvPr/>
        </p:nvSpPr>
        <p:spPr>
          <a:xfrm>
            <a:off x="3566160" y="5257800"/>
            <a:ext cx="19202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39312" y="529437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73" name="Rectangle 72"/>
          <p:cNvSpPr/>
          <p:nvPr/>
        </p:nvSpPr>
        <p:spPr>
          <a:xfrm>
            <a:off x="548640" y="5532120"/>
            <a:ext cx="14630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1792" y="5568696"/>
            <a:ext cx="1316736" cy="201167"/>
          </a:xfrm>
          <a:prstGeom prst="rect">
            <a:avLst/>
          </a:prstGeom>
          <a:noFill/>
        </p:spPr>
        <p:txBody>
          <a:bodyPr wrap="square">
            <a:spAutoFit/>
          </a:bodyPr>
          <a:lstStyle/>
          <a:p>
            <a:pPr algn="ctr"/>
            <a:r>
              <a:rPr sz="950" b="0">
                <a:solidFill>
                  <a:srgbClr val="FFFFFF"/>
                </a:solidFill>
                <a:latin typeface="맑은 고딕"/>
              </a:rPr>
              <a:t>L5</a:t>
            </a:r>
          </a:p>
        </p:txBody>
      </p:sp>
      <p:sp>
        <p:nvSpPr>
          <p:cNvPr id="75" name="Rectangle 74"/>
          <p:cNvSpPr/>
          <p:nvPr/>
        </p:nvSpPr>
        <p:spPr>
          <a:xfrm>
            <a:off x="2011680" y="5532120"/>
            <a:ext cx="109728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084832" y="5568696"/>
            <a:ext cx="950976" cy="201167"/>
          </a:xfrm>
          <a:prstGeom prst="rect">
            <a:avLst/>
          </a:prstGeom>
          <a:noFill/>
        </p:spPr>
        <p:txBody>
          <a:bodyPr wrap="square">
            <a:spAutoFit/>
          </a:bodyPr>
          <a:lstStyle/>
          <a:p>
            <a:pPr algn="ctr"/>
            <a:r>
              <a:rPr sz="950" b="0">
                <a:solidFill>
                  <a:srgbClr val="B8BECC"/>
                </a:solidFill>
                <a:latin typeface="맑은 고딕"/>
              </a:rPr>
              <a:t>Z9~11</a:t>
            </a:r>
          </a:p>
        </p:txBody>
      </p:sp>
      <p:sp>
        <p:nvSpPr>
          <p:cNvPr id="77" name="Rectangle 76"/>
          <p:cNvSpPr/>
          <p:nvPr/>
        </p:nvSpPr>
        <p:spPr>
          <a:xfrm>
            <a:off x="3108960" y="5532120"/>
            <a:ext cx="45720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182112" y="5568696"/>
            <a:ext cx="310896" cy="201167"/>
          </a:xfrm>
          <a:prstGeom prst="rect">
            <a:avLst/>
          </a:prstGeom>
          <a:noFill/>
        </p:spPr>
        <p:txBody>
          <a:bodyPr wrap="square">
            <a:spAutoFit/>
          </a:bodyPr>
          <a:lstStyle/>
          <a:p>
            <a:pPr algn="ctr"/>
            <a:r>
              <a:rPr sz="950" b="0">
                <a:solidFill>
                  <a:srgbClr val="B8BECC"/>
                </a:solidFill>
                <a:latin typeface="맑은 고딕"/>
              </a:rPr>
              <a:t>3</a:t>
            </a:r>
          </a:p>
        </p:txBody>
      </p:sp>
      <p:sp>
        <p:nvSpPr>
          <p:cNvPr id="79" name="Rectangle 78"/>
          <p:cNvSpPr/>
          <p:nvPr/>
        </p:nvSpPr>
        <p:spPr>
          <a:xfrm>
            <a:off x="3566160" y="5532120"/>
            <a:ext cx="19202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639312" y="556869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81" name="Rectangle 80"/>
          <p:cNvSpPr/>
          <p:nvPr/>
        </p:nvSpPr>
        <p:spPr>
          <a:xfrm>
            <a:off x="548640" y="5806440"/>
            <a:ext cx="14630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21792" y="5843016"/>
            <a:ext cx="1316736" cy="201167"/>
          </a:xfrm>
          <a:prstGeom prst="rect">
            <a:avLst/>
          </a:prstGeom>
          <a:noFill/>
        </p:spPr>
        <p:txBody>
          <a:bodyPr wrap="square">
            <a:spAutoFit/>
          </a:bodyPr>
          <a:lstStyle/>
          <a:p>
            <a:pPr algn="ctr"/>
            <a:r>
              <a:rPr sz="950" b="0">
                <a:solidFill>
                  <a:srgbClr val="FFFFFF"/>
                </a:solidFill>
                <a:latin typeface="맑은 고딕"/>
              </a:rPr>
              <a:t>L4</a:t>
            </a:r>
          </a:p>
        </p:txBody>
      </p:sp>
      <p:sp>
        <p:nvSpPr>
          <p:cNvPr id="83" name="Rectangle 82"/>
          <p:cNvSpPr/>
          <p:nvPr/>
        </p:nvSpPr>
        <p:spPr>
          <a:xfrm>
            <a:off x="2011680" y="5806440"/>
            <a:ext cx="109728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084832" y="5843016"/>
            <a:ext cx="950976" cy="201167"/>
          </a:xfrm>
          <a:prstGeom prst="rect">
            <a:avLst/>
          </a:prstGeom>
          <a:noFill/>
        </p:spPr>
        <p:txBody>
          <a:bodyPr wrap="square">
            <a:spAutoFit/>
          </a:bodyPr>
          <a:lstStyle/>
          <a:p>
            <a:pPr algn="ctr"/>
            <a:r>
              <a:rPr sz="950" b="0">
                <a:solidFill>
                  <a:srgbClr val="B8BECC"/>
                </a:solidFill>
                <a:latin typeface="맑은 고딕"/>
              </a:rPr>
              <a:t>Z6~8</a:t>
            </a:r>
          </a:p>
        </p:txBody>
      </p:sp>
      <p:sp>
        <p:nvSpPr>
          <p:cNvPr id="85" name="Rectangle 84"/>
          <p:cNvSpPr/>
          <p:nvPr/>
        </p:nvSpPr>
        <p:spPr>
          <a:xfrm>
            <a:off x="3108960" y="5806440"/>
            <a:ext cx="45720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182112" y="5843016"/>
            <a:ext cx="310896" cy="201167"/>
          </a:xfrm>
          <a:prstGeom prst="rect">
            <a:avLst/>
          </a:prstGeom>
          <a:noFill/>
        </p:spPr>
        <p:txBody>
          <a:bodyPr wrap="square">
            <a:spAutoFit/>
          </a:bodyPr>
          <a:lstStyle/>
          <a:p>
            <a:pPr algn="ctr"/>
            <a:r>
              <a:rPr sz="950" b="0">
                <a:solidFill>
                  <a:srgbClr val="B8BECC"/>
                </a:solidFill>
                <a:latin typeface="맑은 고딕"/>
              </a:rPr>
              <a:t>3</a:t>
            </a:r>
          </a:p>
        </p:txBody>
      </p:sp>
      <p:sp>
        <p:nvSpPr>
          <p:cNvPr id="87" name="Rectangle 86"/>
          <p:cNvSpPr/>
          <p:nvPr/>
        </p:nvSpPr>
        <p:spPr>
          <a:xfrm>
            <a:off x="3566160" y="5806440"/>
            <a:ext cx="19202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639312" y="584301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89" name="Rectangle 88"/>
          <p:cNvSpPr/>
          <p:nvPr/>
        </p:nvSpPr>
        <p:spPr>
          <a:xfrm>
            <a:off x="548640" y="6080760"/>
            <a:ext cx="14630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21792" y="6117336"/>
            <a:ext cx="1316736" cy="201167"/>
          </a:xfrm>
          <a:prstGeom prst="rect">
            <a:avLst/>
          </a:prstGeom>
          <a:noFill/>
        </p:spPr>
        <p:txBody>
          <a:bodyPr wrap="square">
            <a:spAutoFit/>
          </a:bodyPr>
          <a:lstStyle/>
          <a:p>
            <a:pPr algn="ctr"/>
            <a:r>
              <a:rPr sz="950" b="0">
                <a:solidFill>
                  <a:srgbClr val="FFFFFF"/>
                </a:solidFill>
                <a:latin typeface="맑은 고딕"/>
              </a:rPr>
              <a:t>L3</a:t>
            </a:r>
          </a:p>
        </p:txBody>
      </p:sp>
      <p:sp>
        <p:nvSpPr>
          <p:cNvPr id="91" name="Rectangle 90"/>
          <p:cNvSpPr/>
          <p:nvPr/>
        </p:nvSpPr>
        <p:spPr>
          <a:xfrm>
            <a:off x="2011680" y="6080760"/>
            <a:ext cx="109728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084832" y="6117336"/>
            <a:ext cx="950976" cy="201167"/>
          </a:xfrm>
          <a:prstGeom prst="rect">
            <a:avLst/>
          </a:prstGeom>
          <a:noFill/>
        </p:spPr>
        <p:txBody>
          <a:bodyPr wrap="square">
            <a:spAutoFit/>
          </a:bodyPr>
          <a:lstStyle/>
          <a:p>
            <a:pPr algn="ctr"/>
            <a:r>
              <a:rPr sz="950" b="0">
                <a:solidFill>
                  <a:srgbClr val="B8BECC"/>
                </a:solidFill>
                <a:latin typeface="맑은 고딕"/>
              </a:rPr>
              <a:t>Z4~5</a:t>
            </a:r>
          </a:p>
        </p:txBody>
      </p:sp>
      <p:sp>
        <p:nvSpPr>
          <p:cNvPr id="93" name="Rectangle 92"/>
          <p:cNvSpPr/>
          <p:nvPr/>
        </p:nvSpPr>
        <p:spPr>
          <a:xfrm>
            <a:off x="3108960" y="6080760"/>
            <a:ext cx="45720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182112" y="6117336"/>
            <a:ext cx="310896" cy="201167"/>
          </a:xfrm>
          <a:prstGeom prst="rect">
            <a:avLst/>
          </a:prstGeom>
          <a:noFill/>
        </p:spPr>
        <p:txBody>
          <a:bodyPr wrap="square">
            <a:spAutoFit/>
          </a:bodyPr>
          <a:lstStyle/>
          <a:p>
            <a:pPr algn="ctr"/>
            <a:r>
              <a:rPr sz="950" b="0">
                <a:solidFill>
                  <a:srgbClr val="B8BECC"/>
                </a:solidFill>
                <a:latin typeface="맑은 고딕"/>
              </a:rPr>
              <a:t>2</a:t>
            </a:r>
          </a:p>
        </p:txBody>
      </p:sp>
      <p:sp>
        <p:nvSpPr>
          <p:cNvPr id="95" name="Rectangle 94"/>
          <p:cNvSpPr/>
          <p:nvPr/>
        </p:nvSpPr>
        <p:spPr>
          <a:xfrm>
            <a:off x="3566160" y="6080760"/>
            <a:ext cx="1920240" cy="27432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639312" y="6117336"/>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97" name="Rectangle 96"/>
          <p:cNvSpPr/>
          <p:nvPr/>
        </p:nvSpPr>
        <p:spPr>
          <a:xfrm>
            <a:off x="548640" y="6355079"/>
            <a:ext cx="14630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21792" y="6391655"/>
            <a:ext cx="1316736" cy="201167"/>
          </a:xfrm>
          <a:prstGeom prst="rect">
            <a:avLst/>
          </a:prstGeom>
          <a:noFill/>
        </p:spPr>
        <p:txBody>
          <a:bodyPr wrap="square">
            <a:spAutoFit/>
          </a:bodyPr>
          <a:lstStyle/>
          <a:p>
            <a:pPr algn="ctr"/>
            <a:r>
              <a:rPr sz="950" b="0">
                <a:solidFill>
                  <a:srgbClr val="FFFFFF"/>
                </a:solidFill>
                <a:latin typeface="맑은 고딕"/>
              </a:rPr>
              <a:t>L2</a:t>
            </a:r>
          </a:p>
        </p:txBody>
      </p:sp>
      <p:sp>
        <p:nvSpPr>
          <p:cNvPr id="99" name="Rectangle 98"/>
          <p:cNvSpPr/>
          <p:nvPr/>
        </p:nvSpPr>
        <p:spPr>
          <a:xfrm>
            <a:off x="2011680" y="6355079"/>
            <a:ext cx="109728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084832" y="6391655"/>
            <a:ext cx="950976" cy="201167"/>
          </a:xfrm>
          <a:prstGeom prst="rect">
            <a:avLst/>
          </a:prstGeom>
          <a:noFill/>
        </p:spPr>
        <p:txBody>
          <a:bodyPr wrap="square">
            <a:spAutoFit/>
          </a:bodyPr>
          <a:lstStyle/>
          <a:p>
            <a:pPr algn="ctr"/>
            <a:r>
              <a:rPr sz="950" b="0">
                <a:solidFill>
                  <a:srgbClr val="B8BECC"/>
                </a:solidFill>
                <a:latin typeface="맑은 고딕"/>
              </a:rPr>
              <a:t>Z2~3</a:t>
            </a:r>
          </a:p>
        </p:txBody>
      </p:sp>
      <p:sp>
        <p:nvSpPr>
          <p:cNvPr id="101" name="Rectangle 100"/>
          <p:cNvSpPr/>
          <p:nvPr/>
        </p:nvSpPr>
        <p:spPr>
          <a:xfrm>
            <a:off x="3108960" y="6355079"/>
            <a:ext cx="45720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182112" y="6391655"/>
            <a:ext cx="310896" cy="201167"/>
          </a:xfrm>
          <a:prstGeom prst="rect">
            <a:avLst/>
          </a:prstGeom>
          <a:noFill/>
        </p:spPr>
        <p:txBody>
          <a:bodyPr wrap="square">
            <a:spAutoFit/>
          </a:bodyPr>
          <a:lstStyle/>
          <a:p>
            <a:pPr algn="ctr"/>
            <a:r>
              <a:rPr sz="950" b="0">
                <a:solidFill>
                  <a:srgbClr val="B8BECC"/>
                </a:solidFill>
                <a:latin typeface="맑은 고딕"/>
              </a:rPr>
              <a:t>2</a:t>
            </a:r>
          </a:p>
        </p:txBody>
      </p:sp>
      <p:sp>
        <p:nvSpPr>
          <p:cNvPr id="103" name="Rectangle 102"/>
          <p:cNvSpPr/>
          <p:nvPr/>
        </p:nvSpPr>
        <p:spPr>
          <a:xfrm>
            <a:off x="3566160" y="6355079"/>
            <a:ext cx="1920240" cy="27432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639312" y="6391655"/>
            <a:ext cx="1773936" cy="201167"/>
          </a:xfrm>
          <a:prstGeom prst="rect">
            <a:avLst/>
          </a:prstGeom>
          <a:noFill/>
        </p:spPr>
        <p:txBody>
          <a:bodyPr wrap="square">
            <a:spAutoFit/>
          </a:bodyPr>
          <a:lstStyle/>
          <a:p>
            <a:pPr algn="ctr"/>
            <a:r>
              <a:rPr sz="950" b="0">
                <a:solidFill>
                  <a:srgbClr val="B8BECC"/>
                </a:solidFill>
                <a:latin typeface="맑은 고딕"/>
              </a:rPr>
              <a:t/>
            </a:r>
          </a:p>
        </p:txBody>
      </p:sp>
      <p:sp>
        <p:nvSpPr>
          <p:cNvPr id="105" name="Rectangle 104"/>
          <p:cNvSpPr/>
          <p:nvPr/>
        </p:nvSpPr>
        <p:spPr>
          <a:xfrm>
            <a:off x="548640" y="6629400"/>
            <a:ext cx="1463040" cy="274320"/>
          </a:xfrm>
          <a:prstGeom prst="rect">
            <a:avLst/>
          </a:prstGeom>
          <a:solidFill>
            <a:srgbClr val="101822"/>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21792" y="6665976"/>
            <a:ext cx="1316736" cy="201167"/>
          </a:xfrm>
          <a:prstGeom prst="rect">
            <a:avLst/>
          </a:prstGeom>
          <a:noFill/>
        </p:spPr>
        <p:txBody>
          <a:bodyPr wrap="square">
            <a:spAutoFit/>
          </a:bodyPr>
          <a:lstStyle/>
          <a:p>
            <a:pPr algn="ctr"/>
            <a:r>
              <a:rPr sz="950" b="0">
                <a:solidFill>
                  <a:srgbClr val="FFFFFF"/>
                </a:solidFill>
                <a:latin typeface="맑은 고딕"/>
              </a:rPr>
              <a:t>L1 (시작)</a:t>
            </a:r>
          </a:p>
        </p:txBody>
      </p:sp>
      <p:sp>
        <p:nvSpPr>
          <p:cNvPr id="107" name="Rectangle 106"/>
          <p:cNvSpPr/>
          <p:nvPr/>
        </p:nvSpPr>
        <p:spPr>
          <a:xfrm>
            <a:off x="2011680" y="6629400"/>
            <a:ext cx="1097280" cy="274320"/>
          </a:xfrm>
          <a:prstGeom prst="rect">
            <a:avLst/>
          </a:prstGeom>
          <a:solidFill>
            <a:srgbClr val="101822"/>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084832" y="6665976"/>
            <a:ext cx="950976" cy="201167"/>
          </a:xfrm>
          <a:prstGeom prst="rect">
            <a:avLst/>
          </a:prstGeom>
          <a:noFill/>
        </p:spPr>
        <p:txBody>
          <a:bodyPr wrap="square">
            <a:spAutoFit/>
          </a:bodyPr>
          <a:lstStyle/>
          <a:p>
            <a:pPr algn="ctr"/>
            <a:r>
              <a:rPr sz="950" b="0">
                <a:solidFill>
                  <a:srgbClr val="B8BECC"/>
                </a:solidFill>
                <a:latin typeface="맑은 고딕"/>
              </a:rPr>
              <a:t>Z1</a:t>
            </a:r>
          </a:p>
        </p:txBody>
      </p:sp>
      <p:sp>
        <p:nvSpPr>
          <p:cNvPr id="109" name="Rectangle 108"/>
          <p:cNvSpPr/>
          <p:nvPr/>
        </p:nvSpPr>
        <p:spPr>
          <a:xfrm>
            <a:off x="3108960" y="6629400"/>
            <a:ext cx="457200" cy="274320"/>
          </a:xfrm>
          <a:prstGeom prst="rect">
            <a:avLst/>
          </a:prstGeom>
          <a:solidFill>
            <a:srgbClr val="101822"/>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182112" y="6665976"/>
            <a:ext cx="310896" cy="201167"/>
          </a:xfrm>
          <a:prstGeom prst="rect">
            <a:avLst/>
          </a:prstGeom>
          <a:noFill/>
        </p:spPr>
        <p:txBody>
          <a:bodyPr wrap="square">
            <a:spAutoFit/>
          </a:bodyPr>
          <a:lstStyle/>
          <a:p>
            <a:pPr algn="ctr"/>
            <a:r>
              <a:rPr sz="950" b="0">
                <a:solidFill>
                  <a:srgbClr val="B8BECC"/>
                </a:solidFill>
                <a:latin typeface="맑은 고딕"/>
              </a:rPr>
              <a:t>1</a:t>
            </a:r>
          </a:p>
        </p:txBody>
      </p:sp>
      <p:sp>
        <p:nvSpPr>
          <p:cNvPr id="111" name="Rectangle 110"/>
          <p:cNvSpPr/>
          <p:nvPr/>
        </p:nvSpPr>
        <p:spPr>
          <a:xfrm>
            <a:off x="3566160" y="6629400"/>
            <a:ext cx="1920240" cy="274320"/>
          </a:xfrm>
          <a:prstGeom prst="rect">
            <a:avLst/>
          </a:prstGeom>
          <a:solidFill>
            <a:srgbClr val="101822"/>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639312" y="6665976"/>
            <a:ext cx="1773936" cy="201167"/>
          </a:xfrm>
          <a:prstGeom prst="rect">
            <a:avLst/>
          </a:prstGeom>
          <a:noFill/>
        </p:spPr>
        <p:txBody>
          <a:bodyPr wrap="square">
            <a:spAutoFit/>
          </a:bodyPr>
          <a:lstStyle/>
          <a:p>
            <a:pPr algn="ctr"/>
            <a:r>
              <a:rPr sz="950" b="0">
                <a:solidFill>
                  <a:srgbClr val="B8BECC"/>
                </a:solidFill>
                <a:latin typeface="맑은 고딕"/>
              </a:rPr>
              <a:t>시작방 — 고정</a:t>
            </a:r>
          </a:p>
        </p:txBody>
      </p:sp>
      <p:sp>
        <p:nvSpPr>
          <p:cNvPr id="113" name="Rectangle 112"/>
          <p:cNvSpPr/>
          <p:nvPr/>
        </p:nvSpPr>
        <p:spPr>
          <a:xfrm>
            <a:off x="5669280" y="960120"/>
            <a:ext cx="621792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669280" y="960120"/>
            <a:ext cx="6217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806440" y="1014984"/>
            <a:ext cx="5943600" cy="256032"/>
          </a:xfrm>
          <a:prstGeom prst="rect">
            <a:avLst/>
          </a:prstGeom>
          <a:noFill/>
        </p:spPr>
        <p:txBody>
          <a:bodyPr wrap="square">
            <a:spAutoFit/>
          </a:bodyPr>
          <a:lstStyle/>
          <a:p>
            <a:pPr algn="l"/>
            <a:r>
              <a:rPr sz="1200" b="1">
                <a:solidFill>
                  <a:srgbClr val="C9A84C"/>
                </a:solidFill>
                <a:latin typeface="맑은 고딕"/>
              </a:rPr>
              <a:t>기존 타일맵 vs 단일 세계 맵</a:t>
            </a:r>
          </a:p>
        </p:txBody>
      </p:sp>
      <p:sp>
        <p:nvSpPr>
          <p:cNvPr id="116" name="Rectangle 115"/>
          <p:cNvSpPr/>
          <p:nvPr/>
        </p:nvSpPr>
        <p:spPr>
          <a:xfrm>
            <a:off x="5852160" y="1417320"/>
            <a:ext cx="137160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925312" y="1453896"/>
            <a:ext cx="1225296" cy="310896"/>
          </a:xfrm>
          <a:prstGeom prst="rect">
            <a:avLst/>
          </a:prstGeom>
          <a:noFill/>
        </p:spPr>
        <p:txBody>
          <a:bodyPr wrap="square">
            <a:spAutoFit/>
          </a:bodyPr>
          <a:lstStyle/>
          <a:p>
            <a:pPr algn="ctr"/>
            <a:r>
              <a:rPr sz="1000" b="1">
                <a:solidFill>
                  <a:srgbClr val="C9A84C"/>
                </a:solidFill>
                <a:latin typeface="맑은 고딕"/>
              </a:rPr>
              <a:t>항목</a:t>
            </a:r>
          </a:p>
        </p:txBody>
      </p:sp>
      <p:sp>
        <p:nvSpPr>
          <p:cNvPr id="118" name="Rectangle 117"/>
          <p:cNvSpPr/>
          <p:nvPr/>
        </p:nvSpPr>
        <p:spPr>
          <a:xfrm>
            <a:off x="7223760" y="1417320"/>
            <a:ext cx="224028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296912" y="1453896"/>
            <a:ext cx="2093976" cy="310896"/>
          </a:xfrm>
          <a:prstGeom prst="rect">
            <a:avLst/>
          </a:prstGeom>
          <a:noFill/>
        </p:spPr>
        <p:txBody>
          <a:bodyPr wrap="square">
            <a:spAutoFit/>
          </a:bodyPr>
          <a:lstStyle/>
          <a:p>
            <a:pPr algn="ctr"/>
            <a:r>
              <a:rPr sz="1000" b="1">
                <a:solidFill>
                  <a:srgbClr val="C9A84C"/>
                </a:solidFill>
                <a:latin typeface="맑은 고딕"/>
              </a:rPr>
              <a:t>구 방식 (타일맵)</a:t>
            </a:r>
          </a:p>
        </p:txBody>
      </p:sp>
      <p:sp>
        <p:nvSpPr>
          <p:cNvPr id="120" name="Rectangle 119"/>
          <p:cNvSpPr/>
          <p:nvPr/>
        </p:nvSpPr>
        <p:spPr>
          <a:xfrm>
            <a:off x="9464040" y="1417320"/>
            <a:ext cx="242316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537192" y="1453896"/>
            <a:ext cx="2276856" cy="310896"/>
          </a:xfrm>
          <a:prstGeom prst="rect">
            <a:avLst/>
          </a:prstGeom>
          <a:noFill/>
        </p:spPr>
        <p:txBody>
          <a:bodyPr wrap="square">
            <a:spAutoFit/>
          </a:bodyPr>
          <a:lstStyle/>
          <a:p>
            <a:pPr algn="ctr"/>
            <a:r>
              <a:rPr sz="1000" b="1">
                <a:solidFill>
                  <a:srgbClr val="C9A84C"/>
                </a:solidFill>
                <a:latin typeface="맑은 고딕"/>
              </a:rPr>
              <a:t>신 방식 (단일 세계)</a:t>
            </a:r>
          </a:p>
        </p:txBody>
      </p:sp>
      <p:sp>
        <p:nvSpPr>
          <p:cNvPr id="122" name="Rectangle 121"/>
          <p:cNvSpPr/>
          <p:nvPr/>
        </p:nvSpPr>
        <p:spPr>
          <a:xfrm>
            <a:off x="5852160" y="1801368"/>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925312" y="1837943"/>
            <a:ext cx="1225296" cy="310896"/>
          </a:xfrm>
          <a:prstGeom prst="rect">
            <a:avLst/>
          </a:prstGeom>
          <a:noFill/>
        </p:spPr>
        <p:txBody>
          <a:bodyPr wrap="square">
            <a:spAutoFit/>
          </a:bodyPr>
          <a:lstStyle/>
          <a:p>
            <a:pPr algn="ctr"/>
            <a:r>
              <a:rPr sz="950" b="0">
                <a:solidFill>
                  <a:srgbClr val="FFFFFF"/>
                </a:solidFill>
                <a:latin typeface="맑은 고딕"/>
              </a:rPr>
              <a:t>세계 존재</a:t>
            </a:r>
          </a:p>
        </p:txBody>
      </p:sp>
      <p:sp>
        <p:nvSpPr>
          <p:cNvPr id="124" name="Rectangle 123"/>
          <p:cNvSpPr/>
          <p:nvPr/>
        </p:nvSpPr>
        <p:spPr>
          <a:xfrm>
            <a:off x="7223760" y="1801368"/>
            <a:ext cx="224028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296912" y="1837943"/>
            <a:ext cx="2093976" cy="310896"/>
          </a:xfrm>
          <a:prstGeom prst="rect">
            <a:avLst/>
          </a:prstGeom>
          <a:noFill/>
        </p:spPr>
        <p:txBody>
          <a:bodyPr wrap="square">
            <a:spAutoFit/>
          </a:bodyPr>
          <a:lstStyle/>
          <a:p>
            <a:pPr algn="ctr"/>
            <a:r>
              <a:rPr sz="950" b="0">
                <a:solidFill>
                  <a:srgbClr val="B8BECC"/>
                </a:solidFill>
                <a:latin typeface="맑은 고딕"/>
              </a:rPr>
              <a:t>방 선택 시 인스턴스 생성</a:t>
            </a:r>
          </a:p>
        </p:txBody>
      </p:sp>
      <p:sp>
        <p:nvSpPr>
          <p:cNvPr id="126" name="Rectangle 125"/>
          <p:cNvSpPr/>
          <p:nvPr/>
        </p:nvSpPr>
        <p:spPr>
          <a:xfrm>
            <a:off x="9464040" y="1801368"/>
            <a:ext cx="242316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537192" y="1837943"/>
            <a:ext cx="2276856" cy="310896"/>
          </a:xfrm>
          <a:prstGeom prst="rect">
            <a:avLst/>
          </a:prstGeom>
          <a:noFill/>
        </p:spPr>
        <p:txBody>
          <a:bodyPr wrap="square">
            <a:spAutoFit/>
          </a:bodyPr>
          <a:lstStyle/>
          <a:p>
            <a:pPr algn="ctr"/>
            <a:r>
              <a:rPr sz="950" b="0">
                <a:solidFill>
                  <a:srgbClr val="B8BECC"/>
                </a:solidFill>
                <a:latin typeface="맑은 고딕"/>
              </a:rPr>
              <a:t>처음부터 물리적으로 존재</a:t>
            </a:r>
          </a:p>
        </p:txBody>
      </p:sp>
      <p:sp>
        <p:nvSpPr>
          <p:cNvPr id="128" name="Rectangle 127"/>
          <p:cNvSpPr/>
          <p:nvPr/>
        </p:nvSpPr>
        <p:spPr>
          <a:xfrm>
            <a:off x="5852160" y="2185416"/>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925312" y="2221992"/>
            <a:ext cx="1225296" cy="310896"/>
          </a:xfrm>
          <a:prstGeom prst="rect">
            <a:avLst/>
          </a:prstGeom>
          <a:noFill/>
        </p:spPr>
        <p:txBody>
          <a:bodyPr wrap="square">
            <a:spAutoFit/>
          </a:bodyPr>
          <a:lstStyle/>
          <a:p>
            <a:pPr algn="ctr"/>
            <a:r>
              <a:rPr sz="950" b="0">
                <a:solidFill>
                  <a:srgbClr val="FFFFFF"/>
                </a:solidFill>
                <a:latin typeface="맑은 고딕"/>
              </a:rPr>
              <a:t>이동</a:t>
            </a:r>
          </a:p>
        </p:txBody>
      </p:sp>
      <p:sp>
        <p:nvSpPr>
          <p:cNvPr id="130" name="Rectangle 129"/>
          <p:cNvSpPr/>
          <p:nvPr/>
        </p:nvSpPr>
        <p:spPr>
          <a:xfrm>
            <a:off x="7223760" y="2185416"/>
            <a:ext cx="224028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296912" y="2221992"/>
            <a:ext cx="2093976" cy="310896"/>
          </a:xfrm>
          <a:prstGeom prst="rect">
            <a:avLst/>
          </a:prstGeom>
          <a:noFill/>
        </p:spPr>
        <p:txBody>
          <a:bodyPr wrap="square">
            <a:spAutoFit/>
          </a:bodyPr>
          <a:lstStyle/>
          <a:p>
            <a:pPr algn="ctr"/>
            <a:r>
              <a:rPr sz="950" b="0">
                <a:solidFill>
                  <a:srgbClr val="B8BECC"/>
                </a:solidFill>
                <a:latin typeface="맑은 고딕"/>
              </a:rPr>
              <a:t>타일 클릭 → 씬 로드</a:t>
            </a:r>
          </a:p>
        </p:txBody>
      </p:sp>
      <p:sp>
        <p:nvSpPr>
          <p:cNvPr id="132" name="Rectangle 131"/>
          <p:cNvSpPr/>
          <p:nvPr/>
        </p:nvSpPr>
        <p:spPr>
          <a:xfrm>
            <a:off x="9464040" y="2185416"/>
            <a:ext cx="242316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537192" y="2221992"/>
            <a:ext cx="2276856" cy="310896"/>
          </a:xfrm>
          <a:prstGeom prst="rect">
            <a:avLst/>
          </a:prstGeom>
          <a:noFill/>
        </p:spPr>
        <p:txBody>
          <a:bodyPr wrap="square">
            <a:spAutoFit/>
          </a:bodyPr>
          <a:lstStyle/>
          <a:p>
            <a:pPr algn="ctr"/>
            <a:r>
              <a:rPr sz="950" b="0">
                <a:solidFill>
                  <a:srgbClr val="B8BECC"/>
                </a:solidFill>
                <a:latin typeface="맑은 고딕"/>
              </a:rPr>
              <a:t>플레이어가 지형을 걸어서 이동</a:t>
            </a:r>
          </a:p>
        </p:txBody>
      </p:sp>
      <p:sp>
        <p:nvSpPr>
          <p:cNvPr id="134" name="Rectangle 133"/>
          <p:cNvSpPr/>
          <p:nvPr/>
        </p:nvSpPr>
        <p:spPr>
          <a:xfrm>
            <a:off x="5852160" y="2569464"/>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925312" y="2606040"/>
            <a:ext cx="1225296" cy="310896"/>
          </a:xfrm>
          <a:prstGeom prst="rect">
            <a:avLst/>
          </a:prstGeom>
          <a:noFill/>
        </p:spPr>
        <p:txBody>
          <a:bodyPr wrap="square">
            <a:spAutoFit/>
          </a:bodyPr>
          <a:lstStyle/>
          <a:p>
            <a:pPr algn="ctr"/>
            <a:r>
              <a:rPr sz="950" b="0">
                <a:solidFill>
                  <a:srgbClr val="FFFFFF"/>
                </a:solidFill>
                <a:latin typeface="맑은 고딕"/>
              </a:rPr>
              <a:t>장벽</a:t>
            </a:r>
          </a:p>
        </p:txBody>
      </p:sp>
      <p:sp>
        <p:nvSpPr>
          <p:cNvPr id="136" name="Rectangle 135"/>
          <p:cNvSpPr/>
          <p:nvPr/>
        </p:nvSpPr>
        <p:spPr>
          <a:xfrm>
            <a:off x="7223760" y="2569464"/>
            <a:ext cx="224028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296912" y="2606040"/>
            <a:ext cx="2093976" cy="310896"/>
          </a:xfrm>
          <a:prstGeom prst="rect">
            <a:avLst/>
          </a:prstGeom>
          <a:noFill/>
        </p:spPr>
        <p:txBody>
          <a:bodyPr wrap="square">
            <a:spAutoFit/>
          </a:bodyPr>
          <a:lstStyle/>
          <a:p>
            <a:pPr algn="ctr"/>
            <a:r>
              <a:rPr sz="950" b="0">
                <a:solidFill>
                  <a:srgbClr val="B8BECC"/>
                </a:solidFill>
                <a:latin typeface="맑은 고딕"/>
              </a:rPr>
              <a:t>UI 상 봉인 표시</a:t>
            </a:r>
          </a:p>
        </p:txBody>
      </p:sp>
      <p:sp>
        <p:nvSpPr>
          <p:cNvPr id="138" name="Rectangle 137"/>
          <p:cNvSpPr/>
          <p:nvPr/>
        </p:nvSpPr>
        <p:spPr>
          <a:xfrm>
            <a:off x="9464040" y="2569464"/>
            <a:ext cx="242316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537192" y="2606040"/>
            <a:ext cx="2276856" cy="310896"/>
          </a:xfrm>
          <a:prstGeom prst="rect">
            <a:avLst/>
          </a:prstGeom>
          <a:noFill/>
        </p:spPr>
        <p:txBody>
          <a:bodyPr wrap="square">
            <a:spAutoFit/>
          </a:bodyPr>
          <a:lstStyle/>
          <a:p>
            <a:pPr algn="ctr"/>
            <a:r>
              <a:rPr sz="950" b="0">
                <a:solidFill>
                  <a:srgbClr val="B8BECC"/>
                </a:solidFill>
                <a:latin typeface="맑은 고딕"/>
              </a:rPr>
              <a:t>장벽 물질이 실제 지형을 덮음</a:t>
            </a:r>
          </a:p>
        </p:txBody>
      </p:sp>
      <p:sp>
        <p:nvSpPr>
          <p:cNvPr id="140" name="Rectangle 139"/>
          <p:cNvSpPr/>
          <p:nvPr/>
        </p:nvSpPr>
        <p:spPr>
          <a:xfrm>
            <a:off x="5852160" y="2953512"/>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925312" y="2990088"/>
            <a:ext cx="1225296" cy="310896"/>
          </a:xfrm>
          <a:prstGeom prst="rect">
            <a:avLst/>
          </a:prstGeom>
          <a:noFill/>
        </p:spPr>
        <p:txBody>
          <a:bodyPr wrap="square">
            <a:spAutoFit/>
          </a:bodyPr>
          <a:lstStyle/>
          <a:p>
            <a:pPr algn="ctr"/>
            <a:r>
              <a:rPr sz="950" b="0">
                <a:solidFill>
                  <a:srgbClr val="FFFFFF"/>
                </a:solidFill>
                <a:latin typeface="맑은 고딕"/>
              </a:rPr>
              <a:t>탐험감</a:t>
            </a:r>
          </a:p>
        </p:txBody>
      </p:sp>
      <p:sp>
        <p:nvSpPr>
          <p:cNvPr id="142" name="Rectangle 141"/>
          <p:cNvSpPr/>
          <p:nvPr/>
        </p:nvSpPr>
        <p:spPr>
          <a:xfrm>
            <a:off x="7223760" y="2953512"/>
            <a:ext cx="224028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296912" y="2990088"/>
            <a:ext cx="2093976" cy="310896"/>
          </a:xfrm>
          <a:prstGeom prst="rect">
            <a:avLst/>
          </a:prstGeom>
          <a:noFill/>
        </p:spPr>
        <p:txBody>
          <a:bodyPr wrap="square">
            <a:spAutoFit/>
          </a:bodyPr>
          <a:lstStyle/>
          <a:p>
            <a:pPr algn="ctr"/>
            <a:r>
              <a:rPr sz="950" b="0">
                <a:solidFill>
                  <a:srgbClr val="B8BECC"/>
                </a:solidFill>
                <a:latin typeface="맑은 고딕"/>
              </a:rPr>
              <a:t>없음 (추상적 노드)</a:t>
            </a:r>
          </a:p>
        </p:txBody>
      </p:sp>
      <p:sp>
        <p:nvSpPr>
          <p:cNvPr id="144" name="Rectangle 143"/>
          <p:cNvSpPr/>
          <p:nvPr/>
        </p:nvSpPr>
        <p:spPr>
          <a:xfrm>
            <a:off x="9464040" y="2953512"/>
            <a:ext cx="242316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537192" y="2990088"/>
            <a:ext cx="2276856" cy="310896"/>
          </a:xfrm>
          <a:prstGeom prst="rect">
            <a:avLst/>
          </a:prstGeom>
          <a:noFill/>
        </p:spPr>
        <p:txBody>
          <a:bodyPr wrap="square">
            <a:spAutoFit/>
          </a:bodyPr>
          <a:lstStyle/>
          <a:p>
            <a:pPr algn="ctr"/>
            <a:r>
              <a:rPr sz="950" b="0">
                <a:solidFill>
                  <a:srgbClr val="B8BECC"/>
                </a:solidFill>
                <a:latin typeface="맑은 고딕"/>
              </a:rPr>
              <a:t>있음 (발견·탐험 감각)</a:t>
            </a:r>
          </a:p>
        </p:txBody>
      </p:sp>
      <p:sp>
        <p:nvSpPr>
          <p:cNvPr id="146" name="Rectangle 145"/>
          <p:cNvSpPr/>
          <p:nvPr/>
        </p:nvSpPr>
        <p:spPr>
          <a:xfrm>
            <a:off x="5669280" y="3703320"/>
            <a:ext cx="621792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5669280" y="3703320"/>
            <a:ext cx="6217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806440" y="3758183"/>
            <a:ext cx="5943600" cy="256032"/>
          </a:xfrm>
          <a:prstGeom prst="rect">
            <a:avLst/>
          </a:prstGeom>
          <a:noFill/>
        </p:spPr>
        <p:txBody>
          <a:bodyPr wrap="square">
            <a:spAutoFit/>
          </a:bodyPr>
          <a:lstStyle/>
          <a:p>
            <a:pPr algn="l"/>
            <a:r>
              <a:rPr sz="1200" b="1">
                <a:solidFill>
                  <a:srgbClr val="C9A84C"/>
                </a:solidFill>
                <a:latin typeface="맑은 고딕"/>
              </a:rPr>
              <a:t>존 상태 정의</a:t>
            </a:r>
          </a:p>
        </p:txBody>
      </p:sp>
      <p:sp>
        <p:nvSpPr>
          <p:cNvPr id="149" name="Rectangle 148"/>
          <p:cNvSpPr/>
          <p:nvPr/>
        </p:nvSpPr>
        <p:spPr>
          <a:xfrm>
            <a:off x="5852160" y="4114800"/>
            <a:ext cx="137160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925312" y="4151376"/>
            <a:ext cx="1225296" cy="310896"/>
          </a:xfrm>
          <a:prstGeom prst="rect">
            <a:avLst/>
          </a:prstGeom>
          <a:noFill/>
        </p:spPr>
        <p:txBody>
          <a:bodyPr wrap="square">
            <a:spAutoFit/>
          </a:bodyPr>
          <a:lstStyle/>
          <a:p>
            <a:pPr algn="ctr"/>
            <a:r>
              <a:rPr sz="1000" b="1">
                <a:solidFill>
                  <a:srgbClr val="C9A84C"/>
                </a:solidFill>
                <a:latin typeface="맑은 고딕"/>
              </a:rPr>
              <a:t>상태</a:t>
            </a:r>
          </a:p>
        </p:txBody>
      </p:sp>
      <p:sp>
        <p:nvSpPr>
          <p:cNvPr id="151" name="Rectangle 150"/>
          <p:cNvSpPr/>
          <p:nvPr/>
        </p:nvSpPr>
        <p:spPr>
          <a:xfrm>
            <a:off x="7223760" y="4114800"/>
            <a:ext cx="164592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296912" y="4151376"/>
            <a:ext cx="1499616" cy="310896"/>
          </a:xfrm>
          <a:prstGeom prst="rect">
            <a:avLst/>
          </a:prstGeom>
          <a:noFill/>
        </p:spPr>
        <p:txBody>
          <a:bodyPr wrap="square">
            <a:spAutoFit/>
          </a:bodyPr>
          <a:lstStyle/>
          <a:p>
            <a:pPr algn="ctr"/>
            <a:r>
              <a:rPr sz="1000" b="1">
                <a:solidFill>
                  <a:srgbClr val="C9A84C"/>
                </a:solidFill>
                <a:latin typeface="맑은 고딕"/>
              </a:rPr>
              <a:t>설명</a:t>
            </a:r>
          </a:p>
        </p:txBody>
      </p:sp>
      <p:sp>
        <p:nvSpPr>
          <p:cNvPr id="153" name="Rectangle 152"/>
          <p:cNvSpPr/>
          <p:nvPr/>
        </p:nvSpPr>
        <p:spPr>
          <a:xfrm>
            <a:off x="8869680" y="4114800"/>
            <a:ext cx="3017520" cy="38404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942832" y="4151376"/>
            <a:ext cx="2871215" cy="310896"/>
          </a:xfrm>
          <a:prstGeom prst="rect">
            <a:avLst/>
          </a:prstGeom>
          <a:noFill/>
        </p:spPr>
        <p:txBody>
          <a:bodyPr wrap="square">
            <a:spAutoFit/>
          </a:bodyPr>
          <a:lstStyle/>
          <a:p>
            <a:pPr algn="ctr"/>
            <a:r>
              <a:rPr sz="1000" b="1">
                <a:solidFill>
                  <a:srgbClr val="C9A84C"/>
                </a:solidFill>
                <a:latin typeface="맑은 고딕"/>
              </a:rPr>
              <a:t>시각적 표현</a:t>
            </a:r>
          </a:p>
        </p:txBody>
      </p:sp>
      <p:sp>
        <p:nvSpPr>
          <p:cNvPr id="155" name="Rectangle 154"/>
          <p:cNvSpPr/>
          <p:nvPr/>
        </p:nvSpPr>
        <p:spPr>
          <a:xfrm>
            <a:off x="5852160" y="4498848"/>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925312" y="4535424"/>
            <a:ext cx="1225296" cy="310896"/>
          </a:xfrm>
          <a:prstGeom prst="rect">
            <a:avLst/>
          </a:prstGeom>
          <a:noFill/>
        </p:spPr>
        <p:txBody>
          <a:bodyPr wrap="square">
            <a:spAutoFit/>
          </a:bodyPr>
          <a:lstStyle/>
          <a:p>
            <a:pPr algn="ctr"/>
            <a:r>
              <a:rPr sz="950" b="0">
                <a:solidFill>
                  <a:srgbClr val="FFFFFF"/>
                </a:solidFill>
                <a:latin typeface="맑은 고딕"/>
              </a:rPr>
              <a:t>Sealed</a:t>
            </a:r>
          </a:p>
        </p:txBody>
      </p:sp>
      <p:sp>
        <p:nvSpPr>
          <p:cNvPr id="157" name="Rectangle 156"/>
          <p:cNvSpPr/>
          <p:nvPr/>
        </p:nvSpPr>
        <p:spPr>
          <a:xfrm>
            <a:off x="7223760" y="4498848"/>
            <a:ext cx="164592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7296912" y="4535424"/>
            <a:ext cx="1499616" cy="310896"/>
          </a:xfrm>
          <a:prstGeom prst="rect">
            <a:avLst/>
          </a:prstGeom>
          <a:noFill/>
        </p:spPr>
        <p:txBody>
          <a:bodyPr wrap="square">
            <a:spAutoFit/>
          </a:bodyPr>
          <a:lstStyle/>
          <a:p>
            <a:pPr algn="ctr"/>
            <a:r>
              <a:rPr sz="950" b="0">
                <a:solidFill>
                  <a:srgbClr val="B8BECC"/>
                </a:solidFill>
                <a:latin typeface="맑은 고딕"/>
              </a:rPr>
              <a:t>봉인됨</a:t>
            </a:r>
          </a:p>
        </p:txBody>
      </p:sp>
      <p:sp>
        <p:nvSpPr>
          <p:cNvPr id="159" name="Rectangle 158"/>
          <p:cNvSpPr/>
          <p:nvPr/>
        </p:nvSpPr>
        <p:spPr>
          <a:xfrm>
            <a:off x="8869680" y="4498848"/>
            <a:ext cx="301752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942832" y="4535424"/>
            <a:ext cx="2871215" cy="310896"/>
          </a:xfrm>
          <a:prstGeom prst="rect">
            <a:avLst/>
          </a:prstGeom>
          <a:noFill/>
        </p:spPr>
        <p:txBody>
          <a:bodyPr wrap="square">
            <a:spAutoFit/>
          </a:bodyPr>
          <a:lstStyle/>
          <a:p>
            <a:pPr algn="ctr"/>
            <a:r>
              <a:rPr sz="950" b="0">
                <a:solidFill>
                  <a:srgbClr val="B8BECC"/>
                </a:solidFill>
                <a:latin typeface="맑은 고딕"/>
              </a:rPr>
              <a:t>장벽이 지형 덮음, 실루엣만</a:t>
            </a:r>
          </a:p>
        </p:txBody>
      </p:sp>
      <p:sp>
        <p:nvSpPr>
          <p:cNvPr id="161" name="Rectangle 160"/>
          <p:cNvSpPr/>
          <p:nvPr/>
        </p:nvSpPr>
        <p:spPr>
          <a:xfrm>
            <a:off x="5852160" y="4882896"/>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925312" y="4919472"/>
            <a:ext cx="1225296" cy="310896"/>
          </a:xfrm>
          <a:prstGeom prst="rect">
            <a:avLst/>
          </a:prstGeom>
          <a:noFill/>
        </p:spPr>
        <p:txBody>
          <a:bodyPr wrap="square">
            <a:spAutoFit/>
          </a:bodyPr>
          <a:lstStyle/>
          <a:p>
            <a:pPr algn="ctr"/>
            <a:r>
              <a:rPr sz="950" b="0">
                <a:solidFill>
                  <a:srgbClr val="FFFFFF"/>
                </a:solidFill>
                <a:latin typeface="맑은 고딕"/>
              </a:rPr>
              <a:t>Available</a:t>
            </a:r>
          </a:p>
        </p:txBody>
      </p:sp>
      <p:sp>
        <p:nvSpPr>
          <p:cNvPr id="163" name="Rectangle 162"/>
          <p:cNvSpPr/>
          <p:nvPr/>
        </p:nvSpPr>
        <p:spPr>
          <a:xfrm>
            <a:off x="7223760" y="4882896"/>
            <a:ext cx="164592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7296912" y="4919472"/>
            <a:ext cx="1499616" cy="310896"/>
          </a:xfrm>
          <a:prstGeom prst="rect">
            <a:avLst/>
          </a:prstGeom>
          <a:noFill/>
        </p:spPr>
        <p:txBody>
          <a:bodyPr wrap="square">
            <a:spAutoFit/>
          </a:bodyPr>
          <a:lstStyle/>
          <a:p>
            <a:pPr algn="ctr"/>
            <a:r>
              <a:rPr sz="950" b="0">
                <a:solidFill>
                  <a:srgbClr val="B8BECC"/>
                </a:solidFill>
                <a:latin typeface="맑은 고딕"/>
              </a:rPr>
              <a:t>선택 가능</a:t>
            </a:r>
          </a:p>
        </p:txBody>
      </p:sp>
      <p:sp>
        <p:nvSpPr>
          <p:cNvPr id="165" name="Rectangle 164"/>
          <p:cNvSpPr/>
          <p:nvPr/>
        </p:nvSpPr>
        <p:spPr>
          <a:xfrm>
            <a:off x="8869680" y="4882896"/>
            <a:ext cx="301752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942832" y="4919472"/>
            <a:ext cx="2871215" cy="310896"/>
          </a:xfrm>
          <a:prstGeom prst="rect">
            <a:avLst/>
          </a:prstGeom>
          <a:noFill/>
        </p:spPr>
        <p:txBody>
          <a:bodyPr wrap="square">
            <a:spAutoFit/>
          </a:bodyPr>
          <a:lstStyle/>
          <a:p>
            <a:pPr algn="ctr"/>
            <a:r>
              <a:rPr sz="950" b="0">
                <a:solidFill>
                  <a:srgbClr val="B8BECC"/>
                </a:solidFill>
                <a:latin typeface="맑은 고딕"/>
              </a:rPr>
              <a:t>장벽 일부 후퇴, 컨셉 아이콘</a:t>
            </a:r>
          </a:p>
        </p:txBody>
      </p:sp>
      <p:sp>
        <p:nvSpPr>
          <p:cNvPr id="167" name="Rectangle 166"/>
          <p:cNvSpPr/>
          <p:nvPr/>
        </p:nvSpPr>
        <p:spPr>
          <a:xfrm>
            <a:off x="5852160" y="5266944"/>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925312" y="5303520"/>
            <a:ext cx="1225296" cy="310896"/>
          </a:xfrm>
          <a:prstGeom prst="rect">
            <a:avLst/>
          </a:prstGeom>
          <a:noFill/>
        </p:spPr>
        <p:txBody>
          <a:bodyPr wrap="square">
            <a:spAutoFit/>
          </a:bodyPr>
          <a:lstStyle/>
          <a:p>
            <a:pPr algn="ctr"/>
            <a:r>
              <a:rPr sz="950" b="0">
                <a:solidFill>
                  <a:srgbClr val="FFFFFF"/>
                </a:solidFill>
                <a:latin typeface="맑은 고딕"/>
              </a:rPr>
              <a:t>Selected</a:t>
            </a:r>
          </a:p>
        </p:txBody>
      </p:sp>
      <p:sp>
        <p:nvSpPr>
          <p:cNvPr id="169" name="Rectangle 168"/>
          <p:cNvSpPr/>
          <p:nvPr/>
        </p:nvSpPr>
        <p:spPr>
          <a:xfrm>
            <a:off x="7223760" y="5266944"/>
            <a:ext cx="164592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7296912" y="5303520"/>
            <a:ext cx="1499616" cy="310896"/>
          </a:xfrm>
          <a:prstGeom prst="rect">
            <a:avLst/>
          </a:prstGeom>
          <a:noFill/>
        </p:spPr>
        <p:txBody>
          <a:bodyPr wrap="square">
            <a:spAutoFit/>
          </a:bodyPr>
          <a:lstStyle/>
          <a:p>
            <a:pPr algn="ctr"/>
            <a:r>
              <a:rPr sz="950" b="0">
                <a:solidFill>
                  <a:srgbClr val="B8BECC"/>
                </a:solidFill>
                <a:latin typeface="맑은 고딕"/>
              </a:rPr>
              <a:t>개방 중</a:t>
            </a:r>
          </a:p>
        </p:txBody>
      </p:sp>
      <p:sp>
        <p:nvSpPr>
          <p:cNvPr id="171" name="Rectangle 170"/>
          <p:cNvSpPr/>
          <p:nvPr/>
        </p:nvSpPr>
        <p:spPr>
          <a:xfrm>
            <a:off x="8869680" y="5266944"/>
            <a:ext cx="301752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8942832" y="5303520"/>
            <a:ext cx="2871215" cy="310896"/>
          </a:xfrm>
          <a:prstGeom prst="rect">
            <a:avLst/>
          </a:prstGeom>
          <a:noFill/>
        </p:spPr>
        <p:txBody>
          <a:bodyPr wrap="square">
            <a:spAutoFit/>
          </a:bodyPr>
          <a:lstStyle/>
          <a:p>
            <a:pPr algn="ctr"/>
            <a:r>
              <a:rPr sz="950" b="0">
                <a:solidFill>
                  <a:srgbClr val="B8BECC"/>
                </a:solidFill>
                <a:latin typeface="맑은 고딕"/>
              </a:rPr>
              <a:t>장벽 완전 후퇴 애니메이션</a:t>
            </a:r>
          </a:p>
        </p:txBody>
      </p:sp>
      <p:sp>
        <p:nvSpPr>
          <p:cNvPr id="173" name="Rectangle 172"/>
          <p:cNvSpPr/>
          <p:nvPr/>
        </p:nvSpPr>
        <p:spPr>
          <a:xfrm>
            <a:off x="5852160" y="5650992"/>
            <a:ext cx="137160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925312" y="5687568"/>
            <a:ext cx="1225296" cy="310896"/>
          </a:xfrm>
          <a:prstGeom prst="rect">
            <a:avLst/>
          </a:prstGeom>
          <a:noFill/>
        </p:spPr>
        <p:txBody>
          <a:bodyPr wrap="square">
            <a:spAutoFit/>
          </a:bodyPr>
          <a:lstStyle/>
          <a:p>
            <a:pPr algn="ctr"/>
            <a:r>
              <a:rPr sz="950" b="0">
                <a:solidFill>
                  <a:srgbClr val="FFFFFF"/>
                </a:solidFill>
                <a:latin typeface="맑은 고딕"/>
              </a:rPr>
              <a:t>Active</a:t>
            </a:r>
          </a:p>
        </p:txBody>
      </p:sp>
      <p:sp>
        <p:nvSpPr>
          <p:cNvPr id="175" name="Rectangle 174"/>
          <p:cNvSpPr/>
          <p:nvPr/>
        </p:nvSpPr>
        <p:spPr>
          <a:xfrm>
            <a:off x="7223760" y="5650992"/>
            <a:ext cx="164592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296912" y="5687568"/>
            <a:ext cx="1499616" cy="310896"/>
          </a:xfrm>
          <a:prstGeom prst="rect">
            <a:avLst/>
          </a:prstGeom>
          <a:noFill/>
        </p:spPr>
        <p:txBody>
          <a:bodyPr wrap="square">
            <a:spAutoFit/>
          </a:bodyPr>
          <a:lstStyle/>
          <a:p>
            <a:pPr algn="ctr"/>
            <a:r>
              <a:rPr sz="950" b="0">
                <a:solidFill>
                  <a:srgbClr val="B8BECC"/>
                </a:solidFill>
                <a:latin typeface="맑은 고딕"/>
              </a:rPr>
              <a:t>현재 플레이</a:t>
            </a:r>
          </a:p>
        </p:txBody>
      </p:sp>
      <p:sp>
        <p:nvSpPr>
          <p:cNvPr id="177" name="Rectangle 176"/>
          <p:cNvSpPr/>
          <p:nvPr/>
        </p:nvSpPr>
        <p:spPr>
          <a:xfrm>
            <a:off x="8869680" y="5650992"/>
            <a:ext cx="3017520" cy="38404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942832" y="5687568"/>
            <a:ext cx="2871215" cy="310896"/>
          </a:xfrm>
          <a:prstGeom prst="rect">
            <a:avLst/>
          </a:prstGeom>
          <a:noFill/>
        </p:spPr>
        <p:txBody>
          <a:bodyPr wrap="square">
            <a:spAutoFit/>
          </a:bodyPr>
          <a:lstStyle/>
          <a:p>
            <a:pPr algn="ctr"/>
            <a:r>
              <a:rPr sz="950" b="0">
                <a:solidFill>
                  <a:srgbClr val="B8BECC"/>
                </a:solidFill>
                <a:latin typeface="맑은 고딕"/>
              </a:rPr>
              <a:t>존 구역 하이라이트</a:t>
            </a:r>
          </a:p>
        </p:txBody>
      </p:sp>
      <p:sp>
        <p:nvSpPr>
          <p:cNvPr id="179" name="Rectangle 178"/>
          <p:cNvSpPr/>
          <p:nvPr/>
        </p:nvSpPr>
        <p:spPr>
          <a:xfrm>
            <a:off x="5852160" y="6035040"/>
            <a:ext cx="137160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5925312" y="6071616"/>
            <a:ext cx="1225296" cy="310896"/>
          </a:xfrm>
          <a:prstGeom prst="rect">
            <a:avLst/>
          </a:prstGeom>
          <a:noFill/>
        </p:spPr>
        <p:txBody>
          <a:bodyPr wrap="square">
            <a:spAutoFit/>
          </a:bodyPr>
          <a:lstStyle/>
          <a:p>
            <a:pPr algn="ctr"/>
            <a:r>
              <a:rPr sz="950" b="0">
                <a:solidFill>
                  <a:srgbClr val="FFFFFF"/>
                </a:solidFill>
                <a:latin typeface="맑은 고딕"/>
              </a:rPr>
              <a:t>Cleared</a:t>
            </a:r>
          </a:p>
        </p:txBody>
      </p:sp>
      <p:sp>
        <p:nvSpPr>
          <p:cNvPr id="181" name="Rectangle 180"/>
          <p:cNvSpPr/>
          <p:nvPr/>
        </p:nvSpPr>
        <p:spPr>
          <a:xfrm>
            <a:off x="7223760" y="6035040"/>
            <a:ext cx="164592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296912" y="6071616"/>
            <a:ext cx="1499616" cy="310896"/>
          </a:xfrm>
          <a:prstGeom prst="rect">
            <a:avLst/>
          </a:prstGeom>
          <a:noFill/>
        </p:spPr>
        <p:txBody>
          <a:bodyPr wrap="square">
            <a:spAutoFit/>
          </a:bodyPr>
          <a:lstStyle/>
          <a:p>
            <a:pPr algn="ctr"/>
            <a:r>
              <a:rPr sz="950" b="0">
                <a:solidFill>
                  <a:srgbClr val="B8BECC"/>
                </a:solidFill>
                <a:latin typeface="맑은 고딕"/>
              </a:rPr>
              <a:t>클리어 완료</a:t>
            </a:r>
          </a:p>
        </p:txBody>
      </p:sp>
      <p:sp>
        <p:nvSpPr>
          <p:cNvPr id="183" name="Rectangle 182"/>
          <p:cNvSpPr/>
          <p:nvPr/>
        </p:nvSpPr>
        <p:spPr>
          <a:xfrm>
            <a:off x="8869680" y="6035040"/>
            <a:ext cx="3017520" cy="38404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942832" y="6071616"/>
            <a:ext cx="2871215" cy="310896"/>
          </a:xfrm>
          <a:prstGeom prst="rect">
            <a:avLst/>
          </a:prstGeom>
          <a:noFill/>
        </p:spPr>
        <p:txBody>
          <a:bodyPr wrap="square">
            <a:spAutoFit/>
          </a:bodyPr>
          <a:lstStyle/>
          <a:p>
            <a:pPr algn="ctr"/>
            <a:r>
              <a:rPr sz="950" b="0">
                <a:solidFill>
                  <a:srgbClr val="B8BECC"/>
                </a:solidFill>
                <a:latin typeface="맑은 고딕"/>
              </a:rPr>
              <a:t>체크포인트 활성화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08  보스 상세 설계 — 봉인 시스템 연동</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2834640" cy="548640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33271"/>
            <a:ext cx="2834640" cy="201168"/>
          </a:xfrm>
          <a:prstGeom prst="rect">
            <a:avLst/>
          </a:prstGeom>
          <a:noFill/>
        </p:spPr>
        <p:txBody>
          <a:bodyPr wrap="square">
            <a:spAutoFit/>
          </a:bodyPr>
          <a:lstStyle/>
          <a:p>
            <a:pPr algn="ctr"/>
            <a:r>
              <a:rPr sz="800" b="0">
                <a:solidFill>
                  <a:srgbClr val="727A8E"/>
                </a:solidFill>
                <a:latin typeface="맑은 고딕"/>
              </a:rPr>
              <a:t>CH.1 — 부패의 숲</a:t>
            </a:r>
          </a:p>
        </p:txBody>
      </p:sp>
      <p:sp>
        <p:nvSpPr>
          <p:cNvPr id="8" name="TextBox 7"/>
          <p:cNvSpPr txBox="1"/>
          <p:nvPr/>
        </p:nvSpPr>
        <p:spPr>
          <a:xfrm>
            <a:off x="320040" y="1188720"/>
            <a:ext cx="2834640" cy="256032"/>
          </a:xfrm>
          <a:prstGeom prst="rect">
            <a:avLst/>
          </a:prstGeom>
          <a:noFill/>
        </p:spPr>
        <p:txBody>
          <a:bodyPr wrap="square">
            <a:spAutoFit/>
          </a:bodyPr>
          <a:lstStyle/>
          <a:p>
            <a:pPr algn="ctr"/>
            <a:r>
              <a:rPr sz="1300" b="1">
                <a:solidFill>
                  <a:srgbClr val="4AC2B8"/>
                </a:solidFill>
                <a:latin typeface="맑은 고딕"/>
              </a:rPr>
              <a:t>그린 나이트</a:t>
            </a:r>
          </a:p>
        </p:txBody>
      </p:sp>
      <p:sp>
        <p:nvSpPr>
          <p:cNvPr id="9" name="TextBox 8"/>
          <p:cNvSpPr txBox="1"/>
          <p:nvPr/>
        </p:nvSpPr>
        <p:spPr>
          <a:xfrm>
            <a:off x="457200" y="1508760"/>
            <a:ext cx="2560320" cy="237744"/>
          </a:xfrm>
          <a:prstGeom prst="rect">
            <a:avLst/>
          </a:prstGeom>
          <a:noFill/>
        </p:spPr>
        <p:txBody>
          <a:bodyPr wrap="square">
            <a:spAutoFit/>
          </a:bodyPr>
          <a:lstStyle/>
          <a:p>
            <a:pPr algn="l"/>
            <a:r>
              <a:rPr sz="900" b="0">
                <a:solidFill>
                  <a:srgbClr val="FFFFFF"/>
                </a:solidFill>
                <a:latin typeface="맑은 고딕"/>
              </a:rPr>
              <a:t>봉인 HP: 기준 HP ×1.0</a:t>
            </a:r>
          </a:p>
        </p:txBody>
      </p:sp>
      <p:sp>
        <p:nvSpPr>
          <p:cNvPr id="10" name="TextBox 9"/>
          <p:cNvSpPr txBox="1"/>
          <p:nvPr/>
        </p:nvSpPr>
        <p:spPr>
          <a:xfrm>
            <a:off x="457200" y="1764792"/>
            <a:ext cx="2560320" cy="256032"/>
          </a:xfrm>
          <a:prstGeom prst="rect">
            <a:avLst/>
          </a:prstGeom>
          <a:noFill/>
        </p:spPr>
        <p:txBody>
          <a:bodyPr wrap="square">
            <a:spAutoFit/>
          </a:bodyPr>
          <a:lstStyle/>
          <a:p>
            <a:pPr algn="l"/>
            <a:r>
              <a:rPr sz="850" b="0">
                <a:solidFill>
                  <a:srgbClr val="4AC2B8"/>
                </a:solidFill>
                <a:latin typeface="맑은 고딕"/>
              </a:rPr>
              <a:t>Phase2 발동: HP 50% 이하 (완전 해방 시)</a:t>
            </a:r>
          </a:p>
        </p:txBody>
      </p:sp>
      <p:sp>
        <p:nvSpPr>
          <p:cNvPr id="11" name="Rectangle 10"/>
          <p:cNvSpPr/>
          <p:nvPr/>
        </p:nvSpPr>
        <p:spPr>
          <a:xfrm>
            <a:off x="457200" y="205740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30552"/>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13" name="TextBox 12"/>
          <p:cNvSpPr txBox="1"/>
          <p:nvPr/>
        </p:nvSpPr>
        <p:spPr>
          <a:xfrm>
            <a:off x="457200" y="2359152"/>
            <a:ext cx="2560320" cy="274320"/>
          </a:xfrm>
          <a:prstGeom prst="rect">
            <a:avLst/>
          </a:prstGeom>
          <a:noFill/>
        </p:spPr>
        <p:txBody>
          <a:bodyPr wrap="square">
            <a:spAutoFit/>
          </a:bodyPr>
          <a:lstStyle/>
          <a:p>
            <a:pPr algn="l"/>
            <a:r>
              <a:rPr sz="800" b="0">
                <a:solidFill>
                  <a:srgbClr val="B8BECC"/>
                </a:solidFill>
                <a:latin typeface="맑은 고딕"/>
              </a:rPr>
              <a:t>▸ 근접 강타</a:t>
            </a:r>
          </a:p>
        </p:txBody>
      </p:sp>
      <p:sp>
        <p:nvSpPr>
          <p:cNvPr id="14" name="TextBox 13"/>
          <p:cNvSpPr txBox="1"/>
          <p:nvPr/>
        </p:nvSpPr>
        <p:spPr>
          <a:xfrm>
            <a:off x="457200" y="2688336"/>
            <a:ext cx="2560320" cy="274320"/>
          </a:xfrm>
          <a:prstGeom prst="rect">
            <a:avLst/>
          </a:prstGeom>
          <a:noFill/>
        </p:spPr>
        <p:txBody>
          <a:bodyPr wrap="square">
            <a:spAutoFit/>
          </a:bodyPr>
          <a:lstStyle/>
          <a:p>
            <a:pPr algn="l"/>
            <a:r>
              <a:rPr sz="800" b="0">
                <a:solidFill>
                  <a:srgbClr val="B8BECC"/>
                </a:solidFill>
                <a:latin typeface="맑은 고딕"/>
              </a:rPr>
              <a:t>▸ 가시 투척</a:t>
            </a:r>
          </a:p>
        </p:txBody>
      </p:sp>
      <p:sp>
        <p:nvSpPr>
          <p:cNvPr id="15" name="TextBox 14"/>
          <p:cNvSpPr txBox="1"/>
          <p:nvPr/>
        </p:nvSpPr>
        <p:spPr>
          <a:xfrm>
            <a:off x="457200" y="3017520"/>
            <a:ext cx="2560320" cy="274320"/>
          </a:xfrm>
          <a:prstGeom prst="rect">
            <a:avLst/>
          </a:prstGeom>
          <a:noFill/>
        </p:spPr>
        <p:txBody>
          <a:bodyPr wrap="square">
            <a:spAutoFit/>
          </a:bodyPr>
          <a:lstStyle/>
          <a:p>
            <a:pPr algn="l"/>
            <a:r>
              <a:rPr sz="800" b="0">
                <a:solidFill>
                  <a:srgbClr val="B8BECC"/>
                </a:solidFill>
                <a:latin typeface="맑은 고딕"/>
              </a:rPr>
              <a:t>▸ 덩굴 함정</a:t>
            </a:r>
          </a:p>
        </p:txBody>
      </p:sp>
      <p:sp>
        <p:nvSpPr>
          <p:cNvPr id="16" name="TextBox 15"/>
          <p:cNvSpPr txBox="1"/>
          <p:nvPr/>
        </p:nvSpPr>
        <p:spPr>
          <a:xfrm>
            <a:off x="457200" y="3346704"/>
            <a:ext cx="2560320" cy="274320"/>
          </a:xfrm>
          <a:prstGeom prst="rect">
            <a:avLst/>
          </a:prstGeom>
          <a:noFill/>
        </p:spPr>
        <p:txBody>
          <a:bodyPr wrap="square">
            <a:spAutoFit/>
          </a:bodyPr>
          <a:lstStyle/>
          <a:p>
            <a:pPr algn="l"/>
            <a:r>
              <a:rPr sz="800" b="0">
                <a:solidFill>
                  <a:srgbClr val="B8BECC"/>
                </a:solidFill>
                <a:latin typeface="맑은 고딕"/>
              </a:rPr>
              <a:t>▸ 재생 시작 (HP 50% 이하, 초당 0.5%)</a:t>
            </a:r>
          </a:p>
        </p:txBody>
      </p:sp>
      <p:sp>
        <p:nvSpPr>
          <p:cNvPr id="17" name="TextBox 16"/>
          <p:cNvSpPr txBox="1"/>
          <p:nvPr/>
        </p:nvSpPr>
        <p:spPr>
          <a:xfrm>
            <a:off x="457200" y="3675887"/>
            <a:ext cx="2560320" cy="274320"/>
          </a:xfrm>
          <a:prstGeom prst="rect">
            <a:avLst/>
          </a:prstGeom>
          <a:noFill/>
        </p:spPr>
        <p:txBody>
          <a:bodyPr wrap="square">
            <a:spAutoFit/>
          </a:bodyPr>
          <a:lstStyle/>
          <a:p>
            <a:pPr algn="l"/>
            <a:r>
              <a:rPr sz="800" b="0">
                <a:solidFill>
                  <a:srgbClr val="4AC2B8"/>
                </a:solidFill>
                <a:latin typeface="맑은 고딕"/>
              </a:rPr>
              <a:t>▸ Phase2: 화염 피해로 재생 중단</a:t>
            </a:r>
          </a:p>
        </p:txBody>
      </p:sp>
      <p:sp>
        <p:nvSpPr>
          <p:cNvPr id="18" name="Rectangle 17"/>
          <p:cNvSpPr/>
          <p:nvPr/>
        </p:nvSpPr>
        <p:spPr>
          <a:xfrm>
            <a:off x="457200"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822191"/>
            <a:ext cx="2560320" cy="822960"/>
          </a:xfrm>
          <a:prstGeom prst="rect">
            <a:avLst/>
          </a:prstGeom>
          <a:noFill/>
        </p:spPr>
        <p:txBody>
          <a:bodyPr wrap="square">
            <a:spAutoFit/>
          </a:bodyPr>
          <a:lstStyle/>
          <a:p>
            <a:pPr algn="l"/>
            <a:r>
              <a:rPr sz="850" b="0">
                <a:solidFill>
                  <a:srgbClr val="B8BECC"/>
                </a:solidFill>
                <a:latin typeface="맑은 고딕"/>
              </a:rPr>
              <a:t>숲의 수호자가 부패로 거대화.
가웨인 유물 사용 시 특별 대사.</a:t>
            </a:r>
          </a:p>
        </p:txBody>
      </p:sp>
      <p:sp>
        <p:nvSpPr>
          <p:cNvPr id="20" name="Rectangle 19"/>
          <p:cNvSpPr/>
          <p:nvPr/>
        </p:nvSpPr>
        <p:spPr>
          <a:xfrm>
            <a:off x="457200" y="470916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782312"/>
            <a:ext cx="1828800" cy="201168"/>
          </a:xfrm>
          <a:prstGeom prst="rect">
            <a:avLst/>
          </a:prstGeom>
          <a:noFill/>
        </p:spPr>
        <p:txBody>
          <a:bodyPr wrap="square">
            <a:spAutoFit/>
          </a:bodyPr>
          <a:lstStyle/>
          <a:p>
            <a:pPr algn="l"/>
            <a:r>
              <a:rPr sz="800" b="1">
                <a:solidFill>
                  <a:srgbClr val="C9A84C"/>
                </a:solidFill>
                <a:latin typeface="맑은 고딕"/>
              </a:rPr>
              <a:t>봉인 처치 보상</a:t>
            </a:r>
          </a:p>
        </p:txBody>
      </p:sp>
      <p:sp>
        <p:nvSpPr>
          <p:cNvPr id="22" name="TextBox 21"/>
          <p:cNvSpPr txBox="1"/>
          <p:nvPr/>
        </p:nvSpPr>
        <p:spPr>
          <a:xfrm>
            <a:off x="457200" y="5010912"/>
            <a:ext cx="2560320" cy="237744"/>
          </a:xfrm>
          <a:prstGeom prst="rect">
            <a:avLst/>
          </a:prstGeom>
          <a:noFill/>
        </p:spPr>
        <p:txBody>
          <a:bodyPr wrap="square">
            <a:spAutoFit/>
          </a:bodyPr>
          <a:lstStyle/>
          <a:p>
            <a:pPr algn="l"/>
            <a:r>
              <a:rPr sz="850" b="0">
                <a:solidFill>
                  <a:srgbClr val="E8D08A"/>
                </a:solidFill>
                <a:latin typeface="맑은 고딕"/>
              </a:rPr>
              <a:t>봉인된 기억 보장 + 잔재</a:t>
            </a:r>
          </a:p>
        </p:txBody>
      </p:sp>
      <p:sp>
        <p:nvSpPr>
          <p:cNvPr id="23" name="TextBox 22"/>
          <p:cNvSpPr txBox="1"/>
          <p:nvPr/>
        </p:nvSpPr>
        <p:spPr>
          <a:xfrm>
            <a:off x="457200" y="5266944"/>
            <a:ext cx="2560320" cy="237744"/>
          </a:xfrm>
          <a:prstGeom prst="rect">
            <a:avLst/>
          </a:prstGeom>
          <a:noFill/>
        </p:spPr>
        <p:txBody>
          <a:bodyPr wrap="square">
            <a:spAutoFit/>
          </a:bodyPr>
          <a:lstStyle/>
          <a:p>
            <a:pPr algn="l"/>
            <a:r>
              <a:rPr sz="850" b="0">
                <a:solidFill>
                  <a:srgbClr val="C9A84C"/>
                </a:solidFill>
                <a:latin typeface="맑은 고딕"/>
              </a:rPr>
              <a:t>완전 해방 처치: 유물 코어 ×1</a:t>
            </a:r>
          </a:p>
        </p:txBody>
      </p:sp>
      <p:sp>
        <p:nvSpPr>
          <p:cNvPr id="24" name="Rectangle 23"/>
          <p:cNvSpPr/>
          <p:nvPr/>
        </p:nvSpPr>
        <p:spPr>
          <a:xfrm>
            <a:off x="3310128" y="1005840"/>
            <a:ext cx="2834640" cy="5486400"/>
          </a:xfrm>
          <a:prstGeom prst="rect">
            <a:avLst/>
          </a:prstGeom>
          <a:solidFill>
            <a:srgbClr val="161B2E"/>
          </a:solidFill>
          <a:ln w="15000">
            <a:solidFill>
              <a:srgbClr val="FF7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10128" y="100584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10128" y="1033271"/>
            <a:ext cx="2834640" cy="201168"/>
          </a:xfrm>
          <a:prstGeom prst="rect">
            <a:avLst/>
          </a:prstGeom>
          <a:noFill/>
        </p:spPr>
        <p:txBody>
          <a:bodyPr wrap="square">
            <a:spAutoFit/>
          </a:bodyPr>
          <a:lstStyle/>
          <a:p>
            <a:pPr algn="ctr"/>
            <a:r>
              <a:rPr sz="800" b="0">
                <a:solidFill>
                  <a:srgbClr val="727A8E"/>
                </a:solidFill>
                <a:latin typeface="맑은 고딕"/>
              </a:rPr>
              <a:t>CH.2 — 용암 대지</a:t>
            </a:r>
          </a:p>
        </p:txBody>
      </p:sp>
      <p:sp>
        <p:nvSpPr>
          <p:cNvPr id="27" name="TextBox 26"/>
          <p:cNvSpPr txBox="1"/>
          <p:nvPr/>
        </p:nvSpPr>
        <p:spPr>
          <a:xfrm>
            <a:off x="3310128" y="1188720"/>
            <a:ext cx="2834640" cy="256032"/>
          </a:xfrm>
          <a:prstGeom prst="rect">
            <a:avLst/>
          </a:prstGeom>
          <a:noFill/>
        </p:spPr>
        <p:txBody>
          <a:bodyPr wrap="square">
            <a:spAutoFit/>
          </a:bodyPr>
          <a:lstStyle/>
          <a:p>
            <a:pPr algn="ctr"/>
            <a:r>
              <a:rPr sz="1300" b="1">
                <a:solidFill>
                  <a:srgbClr val="FF7020"/>
                </a:solidFill>
                <a:latin typeface="맑은 고딕"/>
              </a:rPr>
              <a:t>이 드레이그 고흐</a:t>
            </a:r>
          </a:p>
        </p:txBody>
      </p:sp>
      <p:sp>
        <p:nvSpPr>
          <p:cNvPr id="28" name="TextBox 27"/>
          <p:cNvSpPr txBox="1"/>
          <p:nvPr/>
        </p:nvSpPr>
        <p:spPr>
          <a:xfrm>
            <a:off x="3447288" y="1508760"/>
            <a:ext cx="2560320" cy="237744"/>
          </a:xfrm>
          <a:prstGeom prst="rect">
            <a:avLst/>
          </a:prstGeom>
          <a:noFill/>
        </p:spPr>
        <p:txBody>
          <a:bodyPr wrap="square">
            <a:spAutoFit/>
          </a:bodyPr>
          <a:lstStyle/>
          <a:p>
            <a:pPr algn="l"/>
            <a:r>
              <a:rPr sz="900" b="0">
                <a:solidFill>
                  <a:srgbClr val="FFFFFF"/>
                </a:solidFill>
                <a:latin typeface="맑은 고딕"/>
              </a:rPr>
              <a:t>봉인 HP: 기준 HP ×1.5</a:t>
            </a:r>
          </a:p>
        </p:txBody>
      </p:sp>
      <p:sp>
        <p:nvSpPr>
          <p:cNvPr id="29" name="TextBox 28"/>
          <p:cNvSpPr txBox="1"/>
          <p:nvPr/>
        </p:nvSpPr>
        <p:spPr>
          <a:xfrm>
            <a:off x="3447288" y="1764792"/>
            <a:ext cx="2560320" cy="256032"/>
          </a:xfrm>
          <a:prstGeom prst="rect">
            <a:avLst/>
          </a:prstGeom>
          <a:noFill/>
        </p:spPr>
        <p:txBody>
          <a:bodyPr wrap="square">
            <a:spAutoFit/>
          </a:bodyPr>
          <a:lstStyle/>
          <a:p>
            <a:pPr algn="l"/>
            <a:r>
              <a:rPr sz="850" b="0">
                <a:solidFill>
                  <a:srgbClr val="4AC2B8"/>
                </a:solidFill>
                <a:latin typeface="맑은 고딕"/>
              </a:rPr>
              <a:t>Phase2 발동: HP 40% 이하 (완전 해방 시)</a:t>
            </a:r>
          </a:p>
        </p:txBody>
      </p:sp>
      <p:sp>
        <p:nvSpPr>
          <p:cNvPr id="30" name="Rectangle 29"/>
          <p:cNvSpPr/>
          <p:nvPr/>
        </p:nvSpPr>
        <p:spPr>
          <a:xfrm>
            <a:off x="3447288" y="205740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7288" y="2130552"/>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32" name="TextBox 31"/>
          <p:cNvSpPr txBox="1"/>
          <p:nvPr/>
        </p:nvSpPr>
        <p:spPr>
          <a:xfrm>
            <a:off x="3447288" y="2359152"/>
            <a:ext cx="2560320" cy="274320"/>
          </a:xfrm>
          <a:prstGeom prst="rect">
            <a:avLst/>
          </a:prstGeom>
          <a:noFill/>
        </p:spPr>
        <p:txBody>
          <a:bodyPr wrap="square">
            <a:spAutoFit/>
          </a:bodyPr>
          <a:lstStyle/>
          <a:p>
            <a:pPr algn="l"/>
            <a:r>
              <a:rPr sz="800" b="0">
                <a:solidFill>
                  <a:srgbClr val="B8BECC"/>
                </a:solidFill>
                <a:latin typeface="맑은 고딕"/>
              </a:rPr>
              <a:t>▸ 화염 브레스</a:t>
            </a:r>
          </a:p>
        </p:txBody>
      </p:sp>
      <p:sp>
        <p:nvSpPr>
          <p:cNvPr id="33" name="TextBox 32"/>
          <p:cNvSpPr txBox="1"/>
          <p:nvPr/>
        </p:nvSpPr>
        <p:spPr>
          <a:xfrm>
            <a:off x="3447288" y="2688336"/>
            <a:ext cx="2560320" cy="274320"/>
          </a:xfrm>
          <a:prstGeom prst="rect">
            <a:avLst/>
          </a:prstGeom>
          <a:noFill/>
        </p:spPr>
        <p:txBody>
          <a:bodyPr wrap="square">
            <a:spAutoFit/>
          </a:bodyPr>
          <a:lstStyle/>
          <a:p>
            <a:pPr algn="l"/>
            <a:r>
              <a:rPr sz="800" b="0">
                <a:solidFill>
                  <a:srgbClr val="B8BECC"/>
                </a:solidFill>
                <a:latin typeface="맑은 고딕"/>
              </a:rPr>
              <a:t>▸ 꼬리 휩쓸기</a:t>
            </a:r>
          </a:p>
        </p:txBody>
      </p:sp>
      <p:sp>
        <p:nvSpPr>
          <p:cNvPr id="34" name="TextBox 33"/>
          <p:cNvSpPr txBox="1"/>
          <p:nvPr/>
        </p:nvSpPr>
        <p:spPr>
          <a:xfrm>
            <a:off x="3447288" y="3017520"/>
            <a:ext cx="2560320" cy="274320"/>
          </a:xfrm>
          <a:prstGeom prst="rect">
            <a:avLst/>
          </a:prstGeom>
          <a:noFill/>
        </p:spPr>
        <p:txBody>
          <a:bodyPr wrap="square">
            <a:spAutoFit/>
          </a:bodyPr>
          <a:lstStyle/>
          <a:p>
            <a:pPr algn="l"/>
            <a:r>
              <a:rPr sz="800" b="0">
                <a:solidFill>
                  <a:srgbClr val="B8BECC"/>
                </a:solidFill>
                <a:latin typeface="맑은 고딕"/>
              </a:rPr>
              <a:t>▸ 낙하 충격</a:t>
            </a:r>
          </a:p>
        </p:txBody>
      </p:sp>
      <p:sp>
        <p:nvSpPr>
          <p:cNvPr id="35" name="TextBox 34"/>
          <p:cNvSpPr txBox="1"/>
          <p:nvPr/>
        </p:nvSpPr>
        <p:spPr>
          <a:xfrm>
            <a:off x="3447288" y="3346704"/>
            <a:ext cx="2560320" cy="274320"/>
          </a:xfrm>
          <a:prstGeom prst="rect">
            <a:avLst/>
          </a:prstGeom>
          <a:noFill/>
        </p:spPr>
        <p:txBody>
          <a:bodyPr wrap="square">
            <a:spAutoFit/>
          </a:bodyPr>
          <a:lstStyle/>
          <a:p>
            <a:pPr algn="l"/>
            <a:r>
              <a:rPr sz="800" b="0">
                <a:solidFill>
                  <a:srgbClr val="FF7020"/>
                </a:solidFill>
                <a:latin typeface="맑은 고딕"/>
              </a:rPr>
              <a:t>▸ Phase2: 불꽃·어둠 형체로 분열</a:t>
            </a:r>
          </a:p>
        </p:txBody>
      </p:sp>
      <p:sp>
        <p:nvSpPr>
          <p:cNvPr id="36" name="Rectangle 35"/>
          <p:cNvSpPr/>
          <p:nvPr/>
        </p:nvSpPr>
        <p:spPr>
          <a:xfrm>
            <a:off x="3447288"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47288" y="3822191"/>
            <a:ext cx="2560320" cy="822960"/>
          </a:xfrm>
          <a:prstGeom prst="rect">
            <a:avLst/>
          </a:prstGeom>
          <a:noFill/>
        </p:spPr>
        <p:txBody>
          <a:bodyPr wrap="square">
            <a:spAutoFit/>
          </a:bodyPr>
          <a:lstStyle/>
          <a:p>
            <a:pPr algn="l"/>
            <a:r>
              <a:rPr sz="850" b="0">
                <a:solidFill>
                  <a:srgbClr val="B8BECC"/>
                </a:solidFill>
                <a:latin typeface="맑은 고딕"/>
              </a:rPr>
              <a:t>멀린이 예언한 존재가 부패의 도구로.
격파 후 멀린 자책 대사.</a:t>
            </a:r>
          </a:p>
        </p:txBody>
      </p:sp>
      <p:sp>
        <p:nvSpPr>
          <p:cNvPr id="38" name="Rectangle 37"/>
          <p:cNvSpPr/>
          <p:nvPr/>
        </p:nvSpPr>
        <p:spPr>
          <a:xfrm>
            <a:off x="3447288" y="470916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47288" y="4782312"/>
            <a:ext cx="1828800" cy="201168"/>
          </a:xfrm>
          <a:prstGeom prst="rect">
            <a:avLst/>
          </a:prstGeom>
          <a:noFill/>
        </p:spPr>
        <p:txBody>
          <a:bodyPr wrap="square">
            <a:spAutoFit/>
          </a:bodyPr>
          <a:lstStyle/>
          <a:p>
            <a:pPr algn="l"/>
            <a:r>
              <a:rPr sz="800" b="1">
                <a:solidFill>
                  <a:srgbClr val="C9A84C"/>
                </a:solidFill>
                <a:latin typeface="맑은 고딕"/>
              </a:rPr>
              <a:t>봉인 처치 보상</a:t>
            </a:r>
          </a:p>
        </p:txBody>
      </p:sp>
      <p:sp>
        <p:nvSpPr>
          <p:cNvPr id="40" name="TextBox 39"/>
          <p:cNvSpPr txBox="1"/>
          <p:nvPr/>
        </p:nvSpPr>
        <p:spPr>
          <a:xfrm>
            <a:off x="3447288" y="5010912"/>
            <a:ext cx="2560320" cy="237744"/>
          </a:xfrm>
          <a:prstGeom prst="rect">
            <a:avLst/>
          </a:prstGeom>
          <a:noFill/>
        </p:spPr>
        <p:txBody>
          <a:bodyPr wrap="square">
            <a:spAutoFit/>
          </a:bodyPr>
          <a:lstStyle/>
          <a:p>
            <a:pPr algn="l"/>
            <a:r>
              <a:rPr sz="850" b="0">
                <a:solidFill>
                  <a:srgbClr val="E8D08A"/>
                </a:solidFill>
                <a:latin typeface="맑은 고딕"/>
              </a:rPr>
              <a:t>봉인된 기억 보장 + 잔재</a:t>
            </a:r>
          </a:p>
        </p:txBody>
      </p:sp>
      <p:sp>
        <p:nvSpPr>
          <p:cNvPr id="41" name="TextBox 40"/>
          <p:cNvSpPr txBox="1"/>
          <p:nvPr/>
        </p:nvSpPr>
        <p:spPr>
          <a:xfrm>
            <a:off x="3447288" y="5266944"/>
            <a:ext cx="2560320" cy="237744"/>
          </a:xfrm>
          <a:prstGeom prst="rect">
            <a:avLst/>
          </a:prstGeom>
          <a:noFill/>
        </p:spPr>
        <p:txBody>
          <a:bodyPr wrap="square">
            <a:spAutoFit/>
          </a:bodyPr>
          <a:lstStyle/>
          <a:p>
            <a:pPr algn="l"/>
            <a:r>
              <a:rPr sz="850" b="0">
                <a:solidFill>
                  <a:srgbClr val="C9A84C"/>
                </a:solidFill>
                <a:latin typeface="맑은 고딕"/>
              </a:rPr>
              <a:t>완전 해방 처치: 유물 코어 ×1</a:t>
            </a:r>
          </a:p>
        </p:txBody>
      </p:sp>
      <p:sp>
        <p:nvSpPr>
          <p:cNvPr id="42" name="Rectangle 41"/>
          <p:cNvSpPr/>
          <p:nvPr/>
        </p:nvSpPr>
        <p:spPr>
          <a:xfrm>
            <a:off x="6300216" y="1005840"/>
            <a:ext cx="2834640" cy="548640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0216" y="100584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0216" y="1033271"/>
            <a:ext cx="2834640" cy="201168"/>
          </a:xfrm>
          <a:prstGeom prst="rect">
            <a:avLst/>
          </a:prstGeom>
          <a:noFill/>
        </p:spPr>
        <p:txBody>
          <a:bodyPr wrap="square">
            <a:spAutoFit/>
          </a:bodyPr>
          <a:lstStyle/>
          <a:p>
            <a:pPr algn="ctr"/>
            <a:r>
              <a:rPr sz="800" b="0">
                <a:solidFill>
                  <a:srgbClr val="727A8E"/>
                </a:solidFill>
                <a:latin typeface="맑은 고딕"/>
              </a:rPr>
              <a:t>CH.3 — 잠식된 성채</a:t>
            </a:r>
          </a:p>
        </p:txBody>
      </p:sp>
      <p:sp>
        <p:nvSpPr>
          <p:cNvPr id="45" name="TextBox 44"/>
          <p:cNvSpPr txBox="1"/>
          <p:nvPr/>
        </p:nvSpPr>
        <p:spPr>
          <a:xfrm>
            <a:off x="6300216" y="1188720"/>
            <a:ext cx="2834640" cy="256032"/>
          </a:xfrm>
          <a:prstGeom prst="rect">
            <a:avLst/>
          </a:prstGeom>
          <a:noFill/>
        </p:spPr>
        <p:txBody>
          <a:bodyPr wrap="square">
            <a:spAutoFit/>
          </a:bodyPr>
          <a:lstStyle/>
          <a:p>
            <a:pPr algn="ctr"/>
            <a:r>
              <a:rPr sz="1300" b="1">
                <a:solidFill>
                  <a:srgbClr val="CC4444"/>
                </a:solidFill>
                <a:latin typeface="맑은 고딕"/>
              </a:rPr>
              <a:t>모드레드</a:t>
            </a:r>
          </a:p>
        </p:txBody>
      </p:sp>
      <p:sp>
        <p:nvSpPr>
          <p:cNvPr id="46" name="TextBox 45"/>
          <p:cNvSpPr txBox="1"/>
          <p:nvPr/>
        </p:nvSpPr>
        <p:spPr>
          <a:xfrm>
            <a:off x="6437376" y="1508760"/>
            <a:ext cx="2560320" cy="237744"/>
          </a:xfrm>
          <a:prstGeom prst="rect">
            <a:avLst/>
          </a:prstGeom>
          <a:noFill/>
        </p:spPr>
        <p:txBody>
          <a:bodyPr wrap="square">
            <a:spAutoFit/>
          </a:bodyPr>
          <a:lstStyle/>
          <a:p>
            <a:pPr algn="l"/>
            <a:r>
              <a:rPr sz="900" b="0">
                <a:solidFill>
                  <a:srgbClr val="FFFFFF"/>
                </a:solidFill>
                <a:latin typeface="맑은 고딕"/>
              </a:rPr>
              <a:t>봉인 HP: 기준 HP ×2.2</a:t>
            </a:r>
          </a:p>
        </p:txBody>
      </p:sp>
      <p:sp>
        <p:nvSpPr>
          <p:cNvPr id="47" name="TextBox 46"/>
          <p:cNvSpPr txBox="1"/>
          <p:nvPr/>
        </p:nvSpPr>
        <p:spPr>
          <a:xfrm>
            <a:off x="6437376" y="1764792"/>
            <a:ext cx="2560320" cy="256032"/>
          </a:xfrm>
          <a:prstGeom prst="rect">
            <a:avLst/>
          </a:prstGeom>
          <a:noFill/>
        </p:spPr>
        <p:txBody>
          <a:bodyPr wrap="square">
            <a:spAutoFit/>
          </a:bodyPr>
          <a:lstStyle/>
          <a:p>
            <a:pPr algn="l"/>
            <a:r>
              <a:rPr sz="850" b="0">
                <a:solidFill>
                  <a:srgbClr val="4AC2B8"/>
                </a:solidFill>
                <a:latin typeface="맑은 고딕"/>
              </a:rPr>
              <a:t>Phase2 발동: HP 40% 이하 (완전 해방 시)</a:t>
            </a:r>
          </a:p>
        </p:txBody>
      </p:sp>
      <p:sp>
        <p:nvSpPr>
          <p:cNvPr id="48" name="Rectangle 47"/>
          <p:cNvSpPr/>
          <p:nvPr/>
        </p:nvSpPr>
        <p:spPr>
          <a:xfrm>
            <a:off x="6437376" y="205740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7376" y="2130552"/>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50" name="TextBox 49"/>
          <p:cNvSpPr txBox="1"/>
          <p:nvPr/>
        </p:nvSpPr>
        <p:spPr>
          <a:xfrm>
            <a:off x="6437376" y="2359152"/>
            <a:ext cx="2560320" cy="274320"/>
          </a:xfrm>
          <a:prstGeom prst="rect">
            <a:avLst/>
          </a:prstGeom>
          <a:noFill/>
        </p:spPr>
        <p:txBody>
          <a:bodyPr wrap="square">
            <a:spAutoFit/>
          </a:bodyPr>
          <a:lstStyle/>
          <a:p>
            <a:pPr algn="l"/>
            <a:r>
              <a:rPr sz="800" b="0">
                <a:solidFill>
                  <a:srgbClr val="B8BECC"/>
                </a:solidFill>
                <a:latin typeface="맑은 고딕"/>
              </a:rPr>
              <a:t>▸ 검술 3연격</a:t>
            </a:r>
          </a:p>
        </p:txBody>
      </p:sp>
      <p:sp>
        <p:nvSpPr>
          <p:cNvPr id="51" name="TextBox 50"/>
          <p:cNvSpPr txBox="1"/>
          <p:nvPr/>
        </p:nvSpPr>
        <p:spPr>
          <a:xfrm>
            <a:off x="6437376" y="2688336"/>
            <a:ext cx="2560320" cy="274320"/>
          </a:xfrm>
          <a:prstGeom prst="rect">
            <a:avLst/>
          </a:prstGeom>
          <a:noFill/>
        </p:spPr>
        <p:txBody>
          <a:bodyPr wrap="square">
            <a:spAutoFit/>
          </a:bodyPr>
          <a:lstStyle/>
          <a:p>
            <a:pPr algn="l"/>
            <a:r>
              <a:rPr sz="800" b="0">
                <a:solidFill>
                  <a:srgbClr val="B8BECC"/>
                </a:solidFill>
                <a:latin typeface="맑은 고딕"/>
              </a:rPr>
              <a:t>▸ 그림자 분신</a:t>
            </a:r>
          </a:p>
        </p:txBody>
      </p:sp>
      <p:sp>
        <p:nvSpPr>
          <p:cNvPr id="52" name="TextBox 51"/>
          <p:cNvSpPr txBox="1"/>
          <p:nvPr/>
        </p:nvSpPr>
        <p:spPr>
          <a:xfrm>
            <a:off x="6437376" y="3017520"/>
            <a:ext cx="2560320" cy="274320"/>
          </a:xfrm>
          <a:prstGeom prst="rect">
            <a:avLst/>
          </a:prstGeom>
          <a:noFill/>
        </p:spPr>
        <p:txBody>
          <a:bodyPr wrap="square">
            <a:spAutoFit/>
          </a:bodyPr>
          <a:lstStyle/>
          <a:p>
            <a:pPr algn="l"/>
            <a:r>
              <a:rPr sz="800" b="0">
                <a:solidFill>
                  <a:srgbClr val="B8BECC"/>
                </a:solidFill>
                <a:latin typeface="맑은 고딕"/>
              </a:rPr>
              <a:t>▸ 광역 참격</a:t>
            </a:r>
          </a:p>
        </p:txBody>
      </p:sp>
      <p:sp>
        <p:nvSpPr>
          <p:cNvPr id="53" name="TextBox 52"/>
          <p:cNvSpPr txBox="1"/>
          <p:nvPr/>
        </p:nvSpPr>
        <p:spPr>
          <a:xfrm>
            <a:off x="6437376" y="3346704"/>
            <a:ext cx="2560320" cy="274320"/>
          </a:xfrm>
          <a:prstGeom prst="rect">
            <a:avLst/>
          </a:prstGeom>
          <a:noFill/>
        </p:spPr>
        <p:txBody>
          <a:bodyPr wrap="square">
            <a:spAutoFit/>
          </a:bodyPr>
          <a:lstStyle/>
          <a:p>
            <a:pPr algn="l"/>
            <a:r>
              <a:rPr sz="800" b="0">
                <a:solidFill>
                  <a:srgbClr val="CC4444"/>
                </a:solidFill>
                <a:latin typeface="맑은 고딕"/>
              </a:rPr>
              <a:t>▸ Phase2: 분신 2체 추가 소환</a:t>
            </a:r>
          </a:p>
        </p:txBody>
      </p:sp>
      <p:sp>
        <p:nvSpPr>
          <p:cNvPr id="54" name="Rectangle 53"/>
          <p:cNvSpPr/>
          <p:nvPr/>
        </p:nvSpPr>
        <p:spPr>
          <a:xfrm>
            <a:off x="6437376"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37376" y="3822191"/>
            <a:ext cx="2560320" cy="822960"/>
          </a:xfrm>
          <a:prstGeom prst="rect">
            <a:avLst/>
          </a:prstGeom>
          <a:noFill/>
        </p:spPr>
        <p:txBody>
          <a:bodyPr wrap="square">
            <a:spAutoFit/>
          </a:bodyPr>
          <a:lstStyle/>
          <a:p>
            <a:pPr algn="l"/>
            <a:r>
              <a:rPr sz="850" b="0">
                <a:solidFill>
                  <a:srgbClr val="B8BECC"/>
                </a:solidFill>
                <a:latin typeface="맑은 고딕"/>
              </a:rPr>
              <a:t>격파 직전 의식 회복.
"그 자는 모든 것을 복사했어..."</a:t>
            </a:r>
          </a:p>
        </p:txBody>
      </p:sp>
      <p:sp>
        <p:nvSpPr>
          <p:cNvPr id="56" name="Rectangle 55"/>
          <p:cNvSpPr/>
          <p:nvPr/>
        </p:nvSpPr>
        <p:spPr>
          <a:xfrm>
            <a:off x="6437376" y="470916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37376" y="4782312"/>
            <a:ext cx="1828800" cy="201168"/>
          </a:xfrm>
          <a:prstGeom prst="rect">
            <a:avLst/>
          </a:prstGeom>
          <a:noFill/>
        </p:spPr>
        <p:txBody>
          <a:bodyPr wrap="square">
            <a:spAutoFit/>
          </a:bodyPr>
          <a:lstStyle/>
          <a:p>
            <a:pPr algn="l"/>
            <a:r>
              <a:rPr sz="800" b="1">
                <a:solidFill>
                  <a:srgbClr val="C9A84C"/>
                </a:solidFill>
                <a:latin typeface="맑은 고딕"/>
              </a:rPr>
              <a:t>봉인 처치 보상</a:t>
            </a:r>
          </a:p>
        </p:txBody>
      </p:sp>
      <p:sp>
        <p:nvSpPr>
          <p:cNvPr id="58" name="TextBox 57"/>
          <p:cNvSpPr txBox="1"/>
          <p:nvPr/>
        </p:nvSpPr>
        <p:spPr>
          <a:xfrm>
            <a:off x="6437376" y="5010912"/>
            <a:ext cx="2560320" cy="237744"/>
          </a:xfrm>
          <a:prstGeom prst="rect">
            <a:avLst/>
          </a:prstGeom>
          <a:noFill/>
        </p:spPr>
        <p:txBody>
          <a:bodyPr wrap="square">
            <a:spAutoFit/>
          </a:bodyPr>
          <a:lstStyle/>
          <a:p>
            <a:pPr algn="l"/>
            <a:r>
              <a:rPr sz="850" b="0">
                <a:solidFill>
                  <a:srgbClr val="E8D08A"/>
                </a:solidFill>
                <a:latin typeface="맑은 고딕"/>
              </a:rPr>
              <a:t>봉인된 기억 보장 + 잔재</a:t>
            </a:r>
          </a:p>
        </p:txBody>
      </p:sp>
      <p:sp>
        <p:nvSpPr>
          <p:cNvPr id="59" name="TextBox 58"/>
          <p:cNvSpPr txBox="1"/>
          <p:nvPr/>
        </p:nvSpPr>
        <p:spPr>
          <a:xfrm>
            <a:off x="6437376" y="5266944"/>
            <a:ext cx="2560320" cy="237744"/>
          </a:xfrm>
          <a:prstGeom prst="rect">
            <a:avLst/>
          </a:prstGeom>
          <a:noFill/>
        </p:spPr>
        <p:txBody>
          <a:bodyPr wrap="square">
            <a:spAutoFit/>
          </a:bodyPr>
          <a:lstStyle/>
          <a:p>
            <a:pPr algn="l"/>
            <a:r>
              <a:rPr sz="850" b="0">
                <a:solidFill>
                  <a:srgbClr val="C9A84C"/>
                </a:solidFill>
                <a:latin typeface="맑은 고딕"/>
              </a:rPr>
              <a:t>완전 해방 처치: 유물 코어 ×1</a:t>
            </a:r>
          </a:p>
        </p:txBody>
      </p:sp>
      <p:sp>
        <p:nvSpPr>
          <p:cNvPr id="60" name="Rectangle 59"/>
          <p:cNvSpPr/>
          <p:nvPr/>
        </p:nvSpPr>
        <p:spPr>
          <a:xfrm>
            <a:off x="9290304" y="1005840"/>
            <a:ext cx="2834640" cy="548640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290304" y="100584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90304" y="1033271"/>
            <a:ext cx="2834640" cy="201168"/>
          </a:xfrm>
          <a:prstGeom prst="rect">
            <a:avLst/>
          </a:prstGeom>
          <a:noFill/>
        </p:spPr>
        <p:txBody>
          <a:bodyPr wrap="square">
            <a:spAutoFit/>
          </a:bodyPr>
          <a:lstStyle/>
          <a:p>
            <a:pPr algn="ctr"/>
            <a:r>
              <a:rPr sz="800" b="0">
                <a:solidFill>
                  <a:srgbClr val="727A8E"/>
                </a:solidFill>
                <a:latin typeface="맑은 고딕"/>
              </a:rPr>
              <a:t>CH.4 — 암흑대지</a:t>
            </a:r>
          </a:p>
        </p:txBody>
      </p:sp>
      <p:sp>
        <p:nvSpPr>
          <p:cNvPr id="63" name="TextBox 62"/>
          <p:cNvSpPr txBox="1"/>
          <p:nvPr/>
        </p:nvSpPr>
        <p:spPr>
          <a:xfrm>
            <a:off x="9290304" y="1188720"/>
            <a:ext cx="2834640" cy="256032"/>
          </a:xfrm>
          <a:prstGeom prst="rect">
            <a:avLst/>
          </a:prstGeom>
          <a:noFill/>
        </p:spPr>
        <p:txBody>
          <a:bodyPr wrap="square">
            <a:spAutoFit/>
          </a:bodyPr>
          <a:lstStyle/>
          <a:p>
            <a:pPr algn="ctr"/>
            <a:r>
              <a:rPr sz="1300" b="1">
                <a:solidFill>
                  <a:srgbClr val="6B3F8E"/>
                </a:solidFill>
                <a:latin typeface="맑은 고딕"/>
              </a:rPr>
              <a:t>리치 (멀린의 육체)</a:t>
            </a:r>
          </a:p>
        </p:txBody>
      </p:sp>
      <p:sp>
        <p:nvSpPr>
          <p:cNvPr id="64" name="TextBox 63"/>
          <p:cNvSpPr txBox="1"/>
          <p:nvPr/>
        </p:nvSpPr>
        <p:spPr>
          <a:xfrm>
            <a:off x="9427464" y="1508760"/>
            <a:ext cx="2560320" cy="237744"/>
          </a:xfrm>
          <a:prstGeom prst="rect">
            <a:avLst/>
          </a:prstGeom>
          <a:noFill/>
        </p:spPr>
        <p:txBody>
          <a:bodyPr wrap="square">
            <a:spAutoFit/>
          </a:bodyPr>
          <a:lstStyle/>
          <a:p>
            <a:pPr algn="l"/>
            <a:r>
              <a:rPr sz="900" b="0">
                <a:solidFill>
                  <a:srgbClr val="FFFFFF"/>
                </a:solidFill>
                <a:latin typeface="맑은 고딕"/>
              </a:rPr>
              <a:t>봉인 HP: 기준 HP ×3.0</a:t>
            </a:r>
          </a:p>
        </p:txBody>
      </p:sp>
      <p:sp>
        <p:nvSpPr>
          <p:cNvPr id="65" name="TextBox 64"/>
          <p:cNvSpPr txBox="1"/>
          <p:nvPr/>
        </p:nvSpPr>
        <p:spPr>
          <a:xfrm>
            <a:off x="9427464" y="1764792"/>
            <a:ext cx="2560320" cy="256032"/>
          </a:xfrm>
          <a:prstGeom prst="rect">
            <a:avLst/>
          </a:prstGeom>
          <a:noFill/>
        </p:spPr>
        <p:txBody>
          <a:bodyPr wrap="square">
            <a:spAutoFit/>
          </a:bodyPr>
          <a:lstStyle/>
          <a:p>
            <a:pPr algn="l"/>
            <a:r>
              <a:rPr sz="850" b="0">
                <a:solidFill>
                  <a:srgbClr val="4AC2B8"/>
                </a:solidFill>
                <a:latin typeface="맑은 고딕"/>
              </a:rPr>
              <a:t>Phase2 발동: HP 40% 이하 (리치 격파 후 재조우)</a:t>
            </a:r>
          </a:p>
        </p:txBody>
      </p:sp>
      <p:sp>
        <p:nvSpPr>
          <p:cNvPr id="66" name="Rectangle 65"/>
          <p:cNvSpPr/>
          <p:nvPr/>
        </p:nvSpPr>
        <p:spPr>
          <a:xfrm>
            <a:off x="9427464" y="205740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27464" y="2130552"/>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68" name="TextBox 67"/>
          <p:cNvSpPr txBox="1"/>
          <p:nvPr/>
        </p:nvSpPr>
        <p:spPr>
          <a:xfrm>
            <a:off x="9427464" y="2359152"/>
            <a:ext cx="2560320" cy="274320"/>
          </a:xfrm>
          <a:prstGeom prst="rect">
            <a:avLst/>
          </a:prstGeom>
          <a:noFill/>
        </p:spPr>
        <p:txBody>
          <a:bodyPr wrap="square">
            <a:spAutoFit/>
          </a:bodyPr>
          <a:lstStyle/>
          <a:p>
            <a:pPr algn="l"/>
            <a:r>
              <a:rPr sz="800" b="0">
                <a:solidFill>
                  <a:srgbClr val="B8BECC"/>
                </a:solidFill>
                <a:latin typeface="맑은 고딕"/>
              </a:rPr>
              <a:t>▸ 영웅 복사체 연속전 (Ph0)</a:t>
            </a:r>
          </a:p>
        </p:txBody>
      </p:sp>
      <p:sp>
        <p:nvSpPr>
          <p:cNvPr id="69" name="TextBox 68"/>
          <p:cNvSpPr txBox="1"/>
          <p:nvPr/>
        </p:nvSpPr>
        <p:spPr>
          <a:xfrm>
            <a:off x="9427464" y="2688336"/>
            <a:ext cx="2560320" cy="274320"/>
          </a:xfrm>
          <a:prstGeom prst="rect">
            <a:avLst/>
          </a:prstGeom>
          <a:noFill/>
        </p:spPr>
        <p:txBody>
          <a:bodyPr wrap="square">
            <a:spAutoFit/>
          </a:bodyPr>
          <a:lstStyle/>
          <a:p>
            <a:pPr algn="l"/>
            <a:r>
              <a:rPr sz="800" b="0">
                <a:solidFill>
                  <a:srgbClr val="B8BECC"/>
                </a:solidFill>
                <a:latin typeface="맑은 고딕"/>
              </a:rPr>
              <a:t>▸ 마법 투사체</a:t>
            </a:r>
          </a:p>
        </p:txBody>
      </p:sp>
      <p:sp>
        <p:nvSpPr>
          <p:cNvPr id="70" name="TextBox 69"/>
          <p:cNvSpPr txBox="1"/>
          <p:nvPr/>
        </p:nvSpPr>
        <p:spPr>
          <a:xfrm>
            <a:off x="9427464" y="3017520"/>
            <a:ext cx="2560320" cy="274320"/>
          </a:xfrm>
          <a:prstGeom prst="rect">
            <a:avLst/>
          </a:prstGeom>
          <a:noFill/>
        </p:spPr>
        <p:txBody>
          <a:bodyPr wrap="square">
            <a:spAutoFit/>
          </a:bodyPr>
          <a:lstStyle/>
          <a:p>
            <a:pPr algn="l"/>
            <a:r>
              <a:rPr sz="800" b="0">
                <a:solidFill>
                  <a:srgbClr val="B8BECC"/>
                </a:solidFill>
                <a:latin typeface="맑은 고딕"/>
              </a:rPr>
              <a:t>▸ 영역 봉인</a:t>
            </a:r>
          </a:p>
        </p:txBody>
      </p:sp>
      <p:sp>
        <p:nvSpPr>
          <p:cNvPr id="71" name="TextBox 70"/>
          <p:cNvSpPr txBox="1"/>
          <p:nvPr/>
        </p:nvSpPr>
        <p:spPr>
          <a:xfrm>
            <a:off x="9427464" y="3346704"/>
            <a:ext cx="2560320" cy="274320"/>
          </a:xfrm>
          <a:prstGeom prst="rect">
            <a:avLst/>
          </a:prstGeom>
          <a:noFill/>
        </p:spPr>
        <p:txBody>
          <a:bodyPr wrap="square">
            <a:spAutoFit/>
          </a:bodyPr>
          <a:lstStyle/>
          <a:p>
            <a:pPr algn="l"/>
            <a:r>
              <a:rPr sz="800" b="0">
                <a:solidFill>
                  <a:srgbClr val="6B3F8E"/>
                </a:solidFill>
                <a:latin typeface="맑은 고딕"/>
              </a:rPr>
              <a:t>▸ Phase2: 전장 어둠화 + 복사체 재소환</a:t>
            </a:r>
          </a:p>
        </p:txBody>
      </p:sp>
      <p:sp>
        <p:nvSpPr>
          <p:cNvPr id="72" name="Rectangle 71"/>
          <p:cNvSpPr/>
          <p:nvPr/>
        </p:nvSpPr>
        <p:spPr>
          <a:xfrm>
            <a:off x="9427464"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427464" y="3822191"/>
            <a:ext cx="2560320" cy="822960"/>
          </a:xfrm>
          <a:prstGeom prst="rect">
            <a:avLst/>
          </a:prstGeom>
          <a:noFill/>
        </p:spPr>
        <p:txBody>
          <a:bodyPr wrap="square">
            <a:spAutoFit/>
          </a:bodyPr>
          <a:lstStyle/>
          <a:p>
            <a:pPr algn="l"/>
            <a:r>
              <a:rPr sz="850" b="0">
                <a:solidFill>
                  <a:srgbClr val="B8BECC"/>
                </a:solidFill>
                <a:latin typeface="맑은 고딕"/>
              </a:rPr>
              <a:t>복사체 연속전 → 멀린 마지막 메시지.
격파 후 봉인 파열 + 코어 ×4 일괄.</a:t>
            </a:r>
          </a:p>
        </p:txBody>
      </p:sp>
      <p:sp>
        <p:nvSpPr>
          <p:cNvPr id="74" name="Rectangle 73"/>
          <p:cNvSpPr/>
          <p:nvPr/>
        </p:nvSpPr>
        <p:spPr>
          <a:xfrm>
            <a:off x="9427464" y="470916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427464" y="4782312"/>
            <a:ext cx="1828800" cy="201168"/>
          </a:xfrm>
          <a:prstGeom prst="rect">
            <a:avLst/>
          </a:prstGeom>
          <a:noFill/>
        </p:spPr>
        <p:txBody>
          <a:bodyPr wrap="square">
            <a:spAutoFit/>
          </a:bodyPr>
          <a:lstStyle/>
          <a:p>
            <a:pPr algn="l"/>
            <a:r>
              <a:rPr sz="800" b="1">
                <a:solidFill>
                  <a:srgbClr val="C9A84C"/>
                </a:solidFill>
                <a:latin typeface="맑은 고딕"/>
              </a:rPr>
              <a:t>봉인 처치 보상</a:t>
            </a:r>
          </a:p>
        </p:txBody>
      </p:sp>
      <p:sp>
        <p:nvSpPr>
          <p:cNvPr id="76" name="TextBox 75"/>
          <p:cNvSpPr txBox="1"/>
          <p:nvPr/>
        </p:nvSpPr>
        <p:spPr>
          <a:xfrm>
            <a:off x="9427464" y="5010912"/>
            <a:ext cx="2560320" cy="237744"/>
          </a:xfrm>
          <a:prstGeom prst="rect">
            <a:avLst/>
          </a:prstGeom>
          <a:noFill/>
        </p:spPr>
        <p:txBody>
          <a:bodyPr wrap="square">
            <a:spAutoFit/>
          </a:bodyPr>
          <a:lstStyle/>
          <a:p>
            <a:pPr algn="l"/>
            <a:r>
              <a:rPr sz="850" b="0">
                <a:solidFill>
                  <a:srgbClr val="E8D08A"/>
                </a:solidFill>
                <a:latin typeface="맑은 고딕"/>
              </a:rPr>
              <a:t>봉인된 기억 보장 + 잔재</a:t>
            </a:r>
          </a:p>
        </p:txBody>
      </p:sp>
      <p:sp>
        <p:nvSpPr>
          <p:cNvPr id="77" name="TextBox 76"/>
          <p:cNvSpPr txBox="1"/>
          <p:nvPr/>
        </p:nvSpPr>
        <p:spPr>
          <a:xfrm>
            <a:off x="9427464" y="5266944"/>
            <a:ext cx="2560320" cy="237744"/>
          </a:xfrm>
          <a:prstGeom prst="rect">
            <a:avLst/>
          </a:prstGeom>
          <a:noFill/>
        </p:spPr>
        <p:txBody>
          <a:bodyPr wrap="square">
            <a:spAutoFit/>
          </a:bodyPr>
          <a:lstStyle/>
          <a:p>
            <a:pPr algn="l"/>
            <a:r>
              <a:rPr sz="850" b="0">
                <a:solidFill>
                  <a:srgbClr val="C9A84C"/>
                </a:solidFill>
                <a:latin typeface="맑은 고딕"/>
              </a:rPr>
              <a:t>완전 해방 처치: 유물 코어 ×1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08  엘리트 진화 시스템 &amp; 레벨 디자인 원칙</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9436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9436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669280" cy="256032"/>
          </a:xfrm>
          <a:prstGeom prst="rect">
            <a:avLst/>
          </a:prstGeom>
          <a:noFill/>
        </p:spPr>
        <p:txBody>
          <a:bodyPr wrap="square">
            <a:spAutoFit/>
          </a:bodyPr>
          <a:lstStyle/>
          <a:p>
            <a:pPr algn="l"/>
            <a:r>
              <a:rPr sz="1200" b="1">
                <a:solidFill>
                  <a:srgbClr val="C9A84C"/>
                </a:solidFill>
                <a:latin typeface="맑은 고딕"/>
              </a:rPr>
              <a:t>엘리트 진화 시스템 (8.4.1)</a:t>
            </a:r>
          </a:p>
        </p:txBody>
      </p:sp>
      <p:sp>
        <p:nvSpPr>
          <p:cNvPr id="8" name="TextBox 7"/>
          <p:cNvSpPr txBox="1"/>
          <p:nvPr/>
        </p:nvSpPr>
        <p:spPr>
          <a:xfrm>
            <a:off x="548640" y="1371600"/>
            <a:ext cx="5577840" cy="502920"/>
          </a:xfrm>
          <a:prstGeom prst="rect">
            <a:avLst/>
          </a:prstGeom>
          <a:noFill/>
        </p:spPr>
        <p:txBody>
          <a:bodyPr wrap="square">
            <a:spAutoFit/>
          </a:bodyPr>
          <a:lstStyle/>
          <a:p>
            <a:pPr algn="l"/>
            <a:r>
              <a:rPr sz="1000" b="0">
                <a:solidFill>
                  <a:srgbClr val="B8BECC"/>
                </a:solidFill>
                <a:latin typeface="맑은 고딕"/>
              </a:rPr>
              <a:t>일반 몬스터가 스폰 시 일정 확률로 엘리트 진화.
지정 엘리트(MAP_TOKEN Me1)와 구분되는 별개 시스템.</a:t>
            </a:r>
          </a:p>
        </p:txBody>
      </p:sp>
      <p:sp>
        <p:nvSpPr>
          <p:cNvPr id="9" name="Rectangle 8"/>
          <p:cNvSpPr/>
          <p:nvPr/>
        </p:nvSpPr>
        <p:spPr>
          <a:xfrm>
            <a:off x="548640" y="1920240"/>
            <a:ext cx="2011680" cy="43891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956816"/>
            <a:ext cx="1865376" cy="365759"/>
          </a:xfrm>
          <a:prstGeom prst="rect">
            <a:avLst/>
          </a:prstGeom>
          <a:noFill/>
        </p:spPr>
        <p:txBody>
          <a:bodyPr wrap="square">
            <a:spAutoFit/>
          </a:bodyPr>
          <a:lstStyle/>
          <a:p>
            <a:pPr algn="ctr"/>
            <a:r>
              <a:rPr sz="1000" b="1">
                <a:solidFill>
                  <a:srgbClr val="C9A84C"/>
                </a:solidFill>
                <a:latin typeface="맑은 고딕"/>
              </a:rPr>
              <a:t>항목</a:t>
            </a:r>
          </a:p>
        </p:txBody>
      </p:sp>
      <p:sp>
        <p:nvSpPr>
          <p:cNvPr id="11" name="Rectangle 10"/>
          <p:cNvSpPr/>
          <p:nvPr/>
        </p:nvSpPr>
        <p:spPr>
          <a:xfrm>
            <a:off x="2560320" y="1920240"/>
            <a:ext cx="3749039" cy="43891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1956816"/>
            <a:ext cx="3602735" cy="365759"/>
          </a:xfrm>
          <a:prstGeom prst="rect">
            <a:avLst/>
          </a:prstGeom>
          <a:noFill/>
        </p:spPr>
        <p:txBody>
          <a:bodyPr wrap="square">
            <a:spAutoFit/>
          </a:bodyPr>
          <a:lstStyle/>
          <a:p>
            <a:pPr algn="ctr"/>
            <a:r>
              <a:rPr sz="1000" b="1">
                <a:solidFill>
                  <a:srgbClr val="C9A84C"/>
                </a:solidFill>
                <a:latin typeface="맑은 고딕"/>
              </a:rPr>
              <a:t>내용</a:t>
            </a:r>
          </a:p>
        </p:txBody>
      </p:sp>
      <p:sp>
        <p:nvSpPr>
          <p:cNvPr id="13" name="Rectangle 12"/>
          <p:cNvSpPr/>
          <p:nvPr/>
        </p:nvSpPr>
        <p:spPr>
          <a:xfrm>
            <a:off x="548640" y="2359152"/>
            <a:ext cx="2011680"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395728"/>
            <a:ext cx="1865376" cy="365759"/>
          </a:xfrm>
          <a:prstGeom prst="rect">
            <a:avLst/>
          </a:prstGeom>
          <a:noFill/>
        </p:spPr>
        <p:txBody>
          <a:bodyPr wrap="square">
            <a:spAutoFit/>
          </a:bodyPr>
          <a:lstStyle/>
          <a:p>
            <a:pPr algn="ctr"/>
            <a:r>
              <a:rPr sz="950" b="0">
                <a:solidFill>
                  <a:srgbClr val="FFFFFF"/>
                </a:solidFill>
                <a:latin typeface="맑은 고딕"/>
              </a:rPr>
              <a:t>랜덤 확률</a:t>
            </a:r>
          </a:p>
        </p:txBody>
      </p:sp>
      <p:sp>
        <p:nvSpPr>
          <p:cNvPr id="15" name="Rectangle 14"/>
          <p:cNvSpPr/>
          <p:nvPr/>
        </p:nvSpPr>
        <p:spPr>
          <a:xfrm>
            <a:off x="2560320" y="2359152"/>
            <a:ext cx="3749039"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33472" y="2395728"/>
            <a:ext cx="3602735" cy="365759"/>
          </a:xfrm>
          <a:prstGeom prst="rect">
            <a:avLst/>
          </a:prstGeom>
          <a:noFill/>
        </p:spPr>
        <p:txBody>
          <a:bodyPr wrap="square">
            <a:spAutoFit/>
          </a:bodyPr>
          <a:lstStyle/>
          <a:p>
            <a:pPr algn="ctr"/>
            <a:r>
              <a:rPr sz="950" b="0">
                <a:solidFill>
                  <a:srgbClr val="B8BECC"/>
                </a:solidFill>
                <a:latin typeface="맑은 고딕"/>
              </a:rPr>
              <a:t>L1~4: 8% / L5~8: 12% / L9+: 18%</a:t>
            </a:r>
          </a:p>
        </p:txBody>
      </p:sp>
      <p:sp>
        <p:nvSpPr>
          <p:cNvPr id="17" name="Rectangle 16"/>
          <p:cNvSpPr/>
          <p:nvPr/>
        </p:nvSpPr>
        <p:spPr>
          <a:xfrm>
            <a:off x="548640" y="2798064"/>
            <a:ext cx="2011680"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2834640"/>
            <a:ext cx="1865376" cy="365759"/>
          </a:xfrm>
          <a:prstGeom prst="rect">
            <a:avLst/>
          </a:prstGeom>
          <a:noFill/>
        </p:spPr>
        <p:txBody>
          <a:bodyPr wrap="square">
            <a:spAutoFit/>
          </a:bodyPr>
          <a:lstStyle/>
          <a:p>
            <a:pPr algn="ctr"/>
            <a:r>
              <a:rPr sz="950" b="0">
                <a:solidFill>
                  <a:srgbClr val="FFFFFF"/>
                </a:solidFill>
                <a:latin typeface="맑은 고딕"/>
              </a:rPr>
              <a:t>지정 엘리트</a:t>
            </a:r>
          </a:p>
        </p:txBody>
      </p:sp>
      <p:sp>
        <p:nvSpPr>
          <p:cNvPr id="19" name="Rectangle 18"/>
          <p:cNvSpPr/>
          <p:nvPr/>
        </p:nvSpPr>
        <p:spPr>
          <a:xfrm>
            <a:off x="2560320" y="2798064"/>
            <a:ext cx="3749039"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33472" y="2834640"/>
            <a:ext cx="3602735" cy="365759"/>
          </a:xfrm>
          <a:prstGeom prst="rect">
            <a:avLst/>
          </a:prstGeom>
          <a:noFill/>
        </p:spPr>
        <p:txBody>
          <a:bodyPr wrap="square">
            <a:spAutoFit/>
          </a:bodyPr>
          <a:lstStyle/>
          <a:p>
            <a:pPr algn="ctr"/>
            <a:r>
              <a:rPr sz="950" b="0">
                <a:solidFill>
                  <a:srgbClr val="B8BECC"/>
                </a:solidFill>
                <a:latin typeface="맑은 고딕"/>
              </a:rPr>
              <a:t>MAP_TOKEN Me1 → 100% 엘리트 스폰</a:t>
            </a:r>
          </a:p>
        </p:txBody>
      </p:sp>
      <p:sp>
        <p:nvSpPr>
          <p:cNvPr id="21" name="Rectangle 20"/>
          <p:cNvSpPr/>
          <p:nvPr/>
        </p:nvSpPr>
        <p:spPr>
          <a:xfrm>
            <a:off x="548640" y="3236976"/>
            <a:ext cx="2011680"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273552"/>
            <a:ext cx="1865376" cy="365759"/>
          </a:xfrm>
          <a:prstGeom prst="rect">
            <a:avLst/>
          </a:prstGeom>
          <a:noFill/>
        </p:spPr>
        <p:txBody>
          <a:bodyPr wrap="square">
            <a:spAutoFit/>
          </a:bodyPr>
          <a:lstStyle/>
          <a:p>
            <a:pPr algn="ctr"/>
            <a:r>
              <a:rPr sz="950" b="0">
                <a:solidFill>
                  <a:srgbClr val="FFFFFF"/>
                </a:solidFill>
                <a:latin typeface="맑은 고딕"/>
              </a:rPr>
              <a:t>시각 표현</a:t>
            </a:r>
          </a:p>
        </p:txBody>
      </p:sp>
      <p:sp>
        <p:nvSpPr>
          <p:cNvPr id="23" name="Rectangle 22"/>
          <p:cNvSpPr/>
          <p:nvPr/>
        </p:nvSpPr>
        <p:spPr>
          <a:xfrm>
            <a:off x="2560320" y="3236976"/>
            <a:ext cx="3749039"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33472" y="3273552"/>
            <a:ext cx="3602735" cy="365759"/>
          </a:xfrm>
          <a:prstGeom prst="rect">
            <a:avLst/>
          </a:prstGeom>
          <a:noFill/>
        </p:spPr>
        <p:txBody>
          <a:bodyPr wrap="square">
            <a:spAutoFit/>
          </a:bodyPr>
          <a:lstStyle/>
          <a:p>
            <a:pPr algn="ctr"/>
            <a:r>
              <a:rPr sz="950" b="0">
                <a:solidFill>
                  <a:srgbClr val="B8BECC"/>
                </a:solidFill>
                <a:latin typeface="맑은 고딕"/>
              </a:rPr>
              <a:t>크기 1.2배, 부패 속성 아우라 이펙트</a:t>
            </a:r>
          </a:p>
        </p:txBody>
      </p:sp>
      <p:sp>
        <p:nvSpPr>
          <p:cNvPr id="25" name="Rectangle 24"/>
          <p:cNvSpPr/>
          <p:nvPr/>
        </p:nvSpPr>
        <p:spPr>
          <a:xfrm>
            <a:off x="548640" y="3675887"/>
            <a:ext cx="2011680"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712463"/>
            <a:ext cx="1865376" cy="365759"/>
          </a:xfrm>
          <a:prstGeom prst="rect">
            <a:avLst/>
          </a:prstGeom>
          <a:noFill/>
        </p:spPr>
        <p:txBody>
          <a:bodyPr wrap="square">
            <a:spAutoFit/>
          </a:bodyPr>
          <a:lstStyle/>
          <a:p>
            <a:pPr algn="ctr"/>
            <a:r>
              <a:rPr sz="950" b="0">
                <a:solidFill>
                  <a:srgbClr val="FFFFFF"/>
                </a:solidFill>
                <a:latin typeface="맑은 고딕"/>
              </a:rPr>
              <a:t>슈퍼아머</a:t>
            </a:r>
          </a:p>
        </p:txBody>
      </p:sp>
      <p:sp>
        <p:nvSpPr>
          <p:cNvPr id="27" name="Rectangle 26"/>
          <p:cNvSpPr/>
          <p:nvPr/>
        </p:nvSpPr>
        <p:spPr>
          <a:xfrm>
            <a:off x="2560320" y="3675887"/>
            <a:ext cx="3749039"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33472" y="3712463"/>
            <a:ext cx="3602735" cy="365759"/>
          </a:xfrm>
          <a:prstGeom prst="rect">
            <a:avLst/>
          </a:prstGeom>
          <a:noFill/>
        </p:spPr>
        <p:txBody>
          <a:bodyPr wrap="square">
            <a:spAutoFit/>
          </a:bodyPr>
          <a:lstStyle/>
          <a:p>
            <a:pPr algn="ctr"/>
            <a:r>
              <a:rPr sz="950" b="0">
                <a:solidFill>
                  <a:srgbClr val="B8BECC"/>
                </a:solidFill>
                <a:latin typeface="맑은 고딕"/>
              </a:rPr>
              <a:t>피격 경직 없음 — 맞으면서도 공격 지속</a:t>
            </a:r>
          </a:p>
        </p:txBody>
      </p:sp>
      <p:sp>
        <p:nvSpPr>
          <p:cNvPr id="29" name="Rectangle 28"/>
          <p:cNvSpPr/>
          <p:nvPr/>
        </p:nvSpPr>
        <p:spPr>
          <a:xfrm>
            <a:off x="548640" y="4114800"/>
            <a:ext cx="2011680"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4151376"/>
            <a:ext cx="1865376" cy="365759"/>
          </a:xfrm>
          <a:prstGeom prst="rect">
            <a:avLst/>
          </a:prstGeom>
          <a:noFill/>
        </p:spPr>
        <p:txBody>
          <a:bodyPr wrap="square">
            <a:spAutoFit/>
          </a:bodyPr>
          <a:lstStyle/>
          <a:p>
            <a:pPr algn="ctr"/>
            <a:r>
              <a:rPr sz="950" b="0">
                <a:solidFill>
                  <a:srgbClr val="FFFFFF"/>
                </a:solidFill>
                <a:latin typeface="맑은 고딕"/>
              </a:rPr>
              <a:t>속성 부여</a:t>
            </a:r>
          </a:p>
        </p:txBody>
      </p:sp>
      <p:sp>
        <p:nvSpPr>
          <p:cNvPr id="31" name="Rectangle 30"/>
          <p:cNvSpPr/>
          <p:nvPr/>
        </p:nvSpPr>
        <p:spPr>
          <a:xfrm>
            <a:off x="2560320" y="4114800"/>
            <a:ext cx="3749039"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33472" y="4151376"/>
            <a:ext cx="3602735" cy="365759"/>
          </a:xfrm>
          <a:prstGeom prst="rect">
            <a:avLst/>
          </a:prstGeom>
          <a:noFill/>
        </p:spPr>
        <p:txBody>
          <a:bodyPr wrap="square">
            <a:spAutoFit/>
          </a:bodyPr>
          <a:lstStyle/>
          <a:p>
            <a:pPr algn="ctr"/>
            <a:r>
              <a:rPr sz="950" b="0">
                <a:solidFill>
                  <a:srgbClr val="B8BECC"/>
                </a:solidFill>
                <a:latin typeface="맑은 고딕"/>
              </a:rPr>
              <a:t>스폰 시 랜덤 속성 1개 (Water/Fire/Grass/Earth/Lightning)</a:t>
            </a:r>
          </a:p>
        </p:txBody>
      </p:sp>
      <p:sp>
        <p:nvSpPr>
          <p:cNvPr id="33" name="Rectangle 32"/>
          <p:cNvSpPr/>
          <p:nvPr/>
        </p:nvSpPr>
        <p:spPr>
          <a:xfrm>
            <a:off x="548640" y="4553712"/>
            <a:ext cx="2011680"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4590288"/>
            <a:ext cx="1865376" cy="365759"/>
          </a:xfrm>
          <a:prstGeom prst="rect">
            <a:avLst/>
          </a:prstGeom>
          <a:noFill/>
        </p:spPr>
        <p:txBody>
          <a:bodyPr wrap="square">
            <a:spAutoFit/>
          </a:bodyPr>
          <a:lstStyle/>
          <a:p>
            <a:pPr algn="ctr"/>
            <a:r>
              <a:rPr sz="950" b="0">
                <a:solidFill>
                  <a:srgbClr val="FFFFFF"/>
                </a:solidFill>
                <a:latin typeface="맑은 고딕"/>
              </a:rPr>
              <a:t>스탯 강화</a:t>
            </a:r>
          </a:p>
        </p:txBody>
      </p:sp>
      <p:sp>
        <p:nvSpPr>
          <p:cNvPr id="35" name="Rectangle 34"/>
          <p:cNvSpPr/>
          <p:nvPr/>
        </p:nvSpPr>
        <p:spPr>
          <a:xfrm>
            <a:off x="2560320" y="4553712"/>
            <a:ext cx="3749039"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33472" y="4590288"/>
            <a:ext cx="3602735" cy="365759"/>
          </a:xfrm>
          <a:prstGeom prst="rect">
            <a:avLst/>
          </a:prstGeom>
          <a:noFill/>
        </p:spPr>
        <p:txBody>
          <a:bodyPr wrap="square">
            <a:spAutoFit/>
          </a:bodyPr>
          <a:lstStyle/>
          <a:p>
            <a:pPr algn="ctr"/>
            <a:r>
              <a:rPr sz="950" b="0">
                <a:solidFill>
                  <a:srgbClr val="B8BECC"/>
                </a:solidFill>
                <a:latin typeface="맑은 고딕"/>
              </a:rPr>
              <a:t>HP ×1.5 / 공격력 ×1.3</a:t>
            </a:r>
          </a:p>
        </p:txBody>
      </p:sp>
      <p:sp>
        <p:nvSpPr>
          <p:cNvPr id="37" name="Rectangle 36"/>
          <p:cNvSpPr/>
          <p:nvPr/>
        </p:nvSpPr>
        <p:spPr>
          <a:xfrm>
            <a:off x="548640" y="4992624"/>
            <a:ext cx="2011680"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5029200"/>
            <a:ext cx="1865376" cy="365759"/>
          </a:xfrm>
          <a:prstGeom prst="rect">
            <a:avLst/>
          </a:prstGeom>
          <a:noFill/>
        </p:spPr>
        <p:txBody>
          <a:bodyPr wrap="square">
            <a:spAutoFit/>
          </a:bodyPr>
          <a:lstStyle/>
          <a:p>
            <a:pPr algn="ctr"/>
            <a:r>
              <a:rPr sz="950" b="0">
                <a:solidFill>
                  <a:srgbClr val="FFFFFF"/>
                </a:solidFill>
                <a:latin typeface="맑은 고딕"/>
              </a:rPr>
              <a:t>넉백 면역</a:t>
            </a:r>
          </a:p>
        </p:txBody>
      </p:sp>
      <p:sp>
        <p:nvSpPr>
          <p:cNvPr id="39" name="Rectangle 38"/>
          <p:cNvSpPr/>
          <p:nvPr/>
        </p:nvSpPr>
        <p:spPr>
          <a:xfrm>
            <a:off x="2560320" y="4992624"/>
            <a:ext cx="3749039" cy="43891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33472" y="5029200"/>
            <a:ext cx="3602735" cy="365759"/>
          </a:xfrm>
          <a:prstGeom prst="rect">
            <a:avLst/>
          </a:prstGeom>
          <a:noFill/>
        </p:spPr>
        <p:txBody>
          <a:bodyPr wrap="square">
            <a:spAutoFit/>
          </a:bodyPr>
          <a:lstStyle/>
          <a:p>
            <a:pPr algn="ctr"/>
            <a:r>
              <a:rPr sz="950" b="0">
                <a:solidFill>
                  <a:srgbClr val="B8BECC"/>
                </a:solidFill>
                <a:latin typeface="맑은 고딕"/>
              </a:rPr>
              <a:t>플레이어 → 몬스터 넉백 무효</a:t>
            </a:r>
          </a:p>
        </p:txBody>
      </p:sp>
      <p:sp>
        <p:nvSpPr>
          <p:cNvPr id="41" name="Rectangle 40"/>
          <p:cNvSpPr/>
          <p:nvPr/>
        </p:nvSpPr>
        <p:spPr>
          <a:xfrm>
            <a:off x="548640" y="5431536"/>
            <a:ext cx="2011680"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5468112"/>
            <a:ext cx="1865376" cy="365759"/>
          </a:xfrm>
          <a:prstGeom prst="rect">
            <a:avLst/>
          </a:prstGeom>
          <a:noFill/>
        </p:spPr>
        <p:txBody>
          <a:bodyPr wrap="square">
            <a:spAutoFit/>
          </a:bodyPr>
          <a:lstStyle/>
          <a:p>
            <a:pPr algn="ctr"/>
            <a:r>
              <a:rPr sz="950" b="0">
                <a:solidFill>
                  <a:srgbClr val="FFFFFF"/>
                </a:solidFill>
                <a:latin typeface="맑은 고딕"/>
              </a:rPr>
              <a:t>추가 보상</a:t>
            </a:r>
          </a:p>
        </p:txBody>
      </p:sp>
      <p:sp>
        <p:nvSpPr>
          <p:cNvPr id="43" name="Rectangle 42"/>
          <p:cNvSpPr/>
          <p:nvPr/>
        </p:nvSpPr>
        <p:spPr>
          <a:xfrm>
            <a:off x="2560320" y="5431536"/>
            <a:ext cx="3749039" cy="43891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33472" y="5468112"/>
            <a:ext cx="3602735" cy="365759"/>
          </a:xfrm>
          <a:prstGeom prst="rect">
            <a:avLst/>
          </a:prstGeom>
          <a:noFill/>
        </p:spPr>
        <p:txBody>
          <a:bodyPr wrap="square">
            <a:spAutoFit/>
          </a:bodyPr>
          <a:lstStyle/>
          <a:p>
            <a:pPr algn="ctr"/>
            <a:r>
              <a:rPr sz="950" b="0">
                <a:solidFill>
                  <a:srgbClr val="B8BECC"/>
                </a:solidFill>
                <a:latin typeface="맑은 고딕"/>
              </a:rPr>
              <a:t>처치 시 골드 +50%, 아이템 드롭 가중치 +20%</a:t>
            </a:r>
          </a:p>
        </p:txBody>
      </p:sp>
      <p:sp>
        <p:nvSpPr>
          <p:cNvPr id="45" name="Rectangle 44"/>
          <p:cNvSpPr/>
          <p:nvPr/>
        </p:nvSpPr>
        <p:spPr>
          <a:xfrm>
            <a:off x="6537960" y="960120"/>
            <a:ext cx="5303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37960" y="96012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014984"/>
            <a:ext cx="5029200" cy="256032"/>
          </a:xfrm>
          <a:prstGeom prst="rect">
            <a:avLst/>
          </a:prstGeom>
          <a:noFill/>
        </p:spPr>
        <p:txBody>
          <a:bodyPr wrap="square">
            <a:spAutoFit/>
          </a:bodyPr>
          <a:lstStyle/>
          <a:p>
            <a:pPr algn="l"/>
            <a:r>
              <a:rPr sz="1200" b="1">
                <a:solidFill>
                  <a:srgbClr val="C9A84C"/>
                </a:solidFill>
                <a:latin typeface="맑은 고딕"/>
              </a:rPr>
              <a:t>6대 아레나 패턴 &amp; 레이어별 진행</a:t>
            </a:r>
          </a:p>
        </p:txBody>
      </p:sp>
      <p:sp>
        <p:nvSpPr>
          <p:cNvPr id="48" name="TextBox 47"/>
          <p:cNvSpPr txBox="1"/>
          <p:nvPr/>
        </p:nvSpPr>
        <p:spPr>
          <a:xfrm>
            <a:off x="6720840" y="1389888"/>
            <a:ext cx="4937760" cy="256032"/>
          </a:xfrm>
          <a:prstGeom prst="rect">
            <a:avLst/>
          </a:prstGeom>
          <a:noFill/>
        </p:spPr>
        <p:txBody>
          <a:bodyPr wrap="square">
            <a:spAutoFit/>
          </a:bodyPr>
          <a:lstStyle/>
          <a:p>
            <a:pPr algn="l"/>
            <a:r>
              <a:rPr sz="1100" b="1">
                <a:solidFill>
                  <a:srgbClr val="C9A84C"/>
                </a:solidFill>
                <a:latin typeface="맑은 고딕"/>
              </a:rPr>
              <a:t>Hades 6대 아레나 패턴</a:t>
            </a:r>
          </a:p>
        </p:txBody>
      </p:sp>
      <p:sp>
        <p:nvSpPr>
          <p:cNvPr id="49" name="Rectangle 48"/>
          <p:cNvSpPr/>
          <p:nvPr/>
        </p:nvSpPr>
        <p:spPr>
          <a:xfrm>
            <a:off x="6720840" y="1691640"/>
            <a:ext cx="1280160" cy="34747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93992" y="1728216"/>
            <a:ext cx="1133856" cy="274320"/>
          </a:xfrm>
          <a:prstGeom prst="rect">
            <a:avLst/>
          </a:prstGeom>
          <a:noFill/>
        </p:spPr>
        <p:txBody>
          <a:bodyPr wrap="square">
            <a:spAutoFit/>
          </a:bodyPr>
          <a:lstStyle/>
          <a:p>
            <a:pPr algn="ctr"/>
            <a:r>
              <a:rPr sz="1000" b="1">
                <a:solidFill>
                  <a:srgbClr val="C9A84C"/>
                </a:solidFill>
                <a:latin typeface="맑은 고딕"/>
              </a:rPr>
              <a:t>코드</a:t>
            </a:r>
          </a:p>
        </p:txBody>
      </p:sp>
      <p:sp>
        <p:nvSpPr>
          <p:cNvPr id="51" name="Rectangle 50"/>
          <p:cNvSpPr/>
          <p:nvPr/>
        </p:nvSpPr>
        <p:spPr>
          <a:xfrm>
            <a:off x="8001000" y="1691640"/>
            <a:ext cx="1005840" cy="34747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74152" y="1728216"/>
            <a:ext cx="859536" cy="274320"/>
          </a:xfrm>
          <a:prstGeom prst="rect">
            <a:avLst/>
          </a:prstGeom>
          <a:noFill/>
        </p:spPr>
        <p:txBody>
          <a:bodyPr wrap="square">
            <a:spAutoFit/>
          </a:bodyPr>
          <a:lstStyle/>
          <a:p>
            <a:pPr algn="ctr"/>
            <a:r>
              <a:rPr sz="1000" b="1">
                <a:solidFill>
                  <a:srgbClr val="C9A84C"/>
                </a:solidFill>
                <a:latin typeface="맑은 고딕"/>
              </a:rPr>
              <a:t>유형</a:t>
            </a:r>
          </a:p>
        </p:txBody>
      </p:sp>
      <p:sp>
        <p:nvSpPr>
          <p:cNvPr id="53" name="Rectangle 52"/>
          <p:cNvSpPr/>
          <p:nvPr/>
        </p:nvSpPr>
        <p:spPr>
          <a:xfrm>
            <a:off x="9006840" y="1691640"/>
            <a:ext cx="2834640" cy="347472"/>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79992" y="1728216"/>
            <a:ext cx="2688336" cy="274320"/>
          </a:xfrm>
          <a:prstGeom prst="rect">
            <a:avLst/>
          </a:prstGeom>
          <a:noFill/>
        </p:spPr>
        <p:txBody>
          <a:bodyPr wrap="square">
            <a:spAutoFit/>
          </a:bodyPr>
          <a:lstStyle/>
          <a:p>
            <a:pPr algn="ctr"/>
            <a:r>
              <a:rPr sz="1000" b="1">
                <a:solidFill>
                  <a:srgbClr val="C9A84C"/>
                </a:solidFill>
                <a:latin typeface="맑은 고딕"/>
              </a:rPr>
              <a:t>핵심</a:t>
            </a:r>
          </a:p>
        </p:txBody>
      </p:sp>
      <p:sp>
        <p:nvSpPr>
          <p:cNvPr id="55" name="Rectangle 54"/>
          <p:cNvSpPr/>
          <p:nvPr/>
        </p:nvSpPr>
        <p:spPr>
          <a:xfrm>
            <a:off x="6720840" y="2039112"/>
            <a:ext cx="128016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93992" y="2075688"/>
            <a:ext cx="1133856" cy="274320"/>
          </a:xfrm>
          <a:prstGeom prst="rect">
            <a:avLst/>
          </a:prstGeom>
          <a:noFill/>
        </p:spPr>
        <p:txBody>
          <a:bodyPr wrap="square">
            <a:spAutoFit/>
          </a:bodyPr>
          <a:lstStyle/>
          <a:p>
            <a:pPr algn="ctr"/>
            <a:r>
              <a:rPr sz="950" b="0">
                <a:solidFill>
                  <a:srgbClr val="FFFFFF"/>
                </a:solidFill>
                <a:latin typeface="맑은 고딕"/>
              </a:rPr>
              <a:t>PINCER</a:t>
            </a:r>
          </a:p>
        </p:txBody>
      </p:sp>
      <p:sp>
        <p:nvSpPr>
          <p:cNvPr id="57" name="Rectangle 56"/>
          <p:cNvSpPr/>
          <p:nvPr/>
        </p:nvSpPr>
        <p:spPr>
          <a:xfrm>
            <a:off x="8001000" y="2039112"/>
            <a:ext cx="100584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74152" y="2075688"/>
            <a:ext cx="859536" cy="274320"/>
          </a:xfrm>
          <a:prstGeom prst="rect">
            <a:avLst/>
          </a:prstGeom>
          <a:noFill/>
        </p:spPr>
        <p:txBody>
          <a:bodyPr wrap="square">
            <a:spAutoFit/>
          </a:bodyPr>
          <a:lstStyle/>
          <a:p>
            <a:pPr algn="ctr"/>
            <a:r>
              <a:rPr sz="950" b="0">
                <a:solidFill>
                  <a:srgbClr val="B8BECC"/>
                </a:solidFill>
                <a:latin typeface="맑은 고딕"/>
              </a:rPr>
              <a:t>협공형</a:t>
            </a:r>
          </a:p>
        </p:txBody>
      </p:sp>
      <p:sp>
        <p:nvSpPr>
          <p:cNvPr id="59" name="Rectangle 58"/>
          <p:cNvSpPr/>
          <p:nvPr/>
        </p:nvSpPr>
        <p:spPr>
          <a:xfrm>
            <a:off x="9006840" y="2039112"/>
            <a:ext cx="283464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79992" y="2075688"/>
            <a:ext cx="2688336" cy="274320"/>
          </a:xfrm>
          <a:prstGeom prst="rect">
            <a:avLst/>
          </a:prstGeom>
          <a:noFill/>
        </p:spPr>
        <p:txBody>
          <a:bodyPr wrap="square">
            <a:spAutoFit/>
          </a:bodyPr>
          <a:lstStyle/>
          <a:p>
            <a:pPr algn="ctr"/>
            <a:r>
              <a:rPr sz="950" b="0">
                <a:solidFill>
                  <a:srgbClr val="B8BECC"/>
                </a:solidFill>
                <a:latin typeface="맑은 고딕"/>
              </a:rPr>
              <a:t>플레이어 측면 양방 진입</a:t>
            </a:r>
          </a:p>
        </p:txBody>
      </p:sp>
      <p:sp>
        <p:nvSpPr>
          <p:cNvPr id="61" name="Rectangle 60"/>
          <p:cNvSpPr/>
          <p:nvPr/>
        </p:nvSpPr>
        <p:spPr>
          <a:xfrm>
            <a:off x="6720840" y="2386584"/>
            <a:ext cx="128016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93992" y="2423160"/>
            <a:ext cx="1133856" cy="274320"/>
          </a:xfrm>
          <a:prstGeom prst="rect">
            <a:avLst/>
          </a:prstGeom>
          <a:noFill/>
        </p:spPr>
        <p:txBody>
          <a:bodyPr wrap="square">
            <a:spAutoFit/>
          </a:bodyPr>
          <a:lstStyle/>
          <a:p>
            <a:pPr algn="ctr"/>
            <a:r>
              <a:rPr sz="950" b="0">
                <a:solidFill>
                  <a:srgbClr val="FFFFFF"/>
                </a:solidFill>
                <a:latin typeface="맑은 고딕"/>
              </a:rPr>
              <a:t>RING</a:t>
            </a:r>
          </a:p>
        </p:txBody>
      </p:sp>
      <p:sp>
        <p:nvSpPr>
          <p:cNvPr id="63" name="Rectangle 62"/>
          <p:cNvSpPr/>
          <p:nvPr/>
        </p:nvSpPr>
        <p:spPr>
          <a:xfrm>
            <a:off x="8001000" y="2386584"/>
            <a:ext cx="100584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74152" y="2423160"/>
            <a:ext cx="859536" cy="274320"/>
          </a:xfrm>
          <a:prstGeom prst="rect">
            <a:avLst/>
          </a:prstGeom>
          <a:noFill/>
        </p:spPr>
        <p:txBody>
          <a:bodyPr wrap="square">
            <a:spAutoFit/>
          </a:bodyPr>
          <a:lstStyle/>
          <a:p>
            <a:pPr algn="ctr"/>
            <a:r>
              <a:rPr sz="950" b="0">
                <a:solidFill>
                  <a:srgbClr val="B8BECC"/>
                </a:solidFill>
                <a:latin typeface="맑은 고딕"/>
              </a:rPr>
              <a:t>포위형</a:t>
            </a:r>
          </a:p>
        </p:txBody>
      </p:sp>
      <p:sp>
        <p:nvSpPr>
          <p:cNvPr id="65" name="Rectangle 64"/>
          <p:cNvSpPr/>
          <p:nvPr/>
        </p:nvSpPr>
        <p:spPr>
          <a:xfrm>
            <a:off x="9006840" y="2386584"/>
            <a:ext cx="283464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079992" y="2423160"/>
            <a:ext cx="2688336" cy="274320"/>
          </a:xfrm>
          <a:prstGeom prst="rect">
            <a:avLst/>
          </a:prstGeom>
          <a:noFill/>
        </p:spPr>
        <p:txBody>
          <a:bodyPr wrap="square">
            <a:spAutoFit/>
          </a:bodyPr>
          <a:lstStyle/>
          <a:p>
            <a:pPr algn="ctr"/>
            <a:r>
              <a:rPr sz="950" b="0">
                <a:solidFill>
                  <a:srgbClr val="B8BECC"/>
                </a:solidFill>
                <a:latin typeface="맑은 고딕"/>
              </a:rPr>
              <a:t>중앙 → 사방 등장</a:t>
            </a:r>
          </a:p>
        </p:txBody>
      </p:sp>
      <p:sp>
        <p:nvSpPr>
          <p:cNvPr id="67" name="Rectangle 66"/>
          <p:cNvSpPr/>
          <p:nvPr/>
        </p:nvSpPr>
        <p:spPr>
          <a:xfrm>
            <a:off x="6720840" y="2734056"/>
            <a:ext cx="128016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93992" y="2770632"/>
            <a:ext cx="1133856" cy="274320"/>
          </a:xfrm>
          <a:prstGeom prst="rect">
            <a:avLst/>
          </a:prstGeom>
          <a:noFill/>
        </p:spPr>
        <p:txBody>
          <a:bodyPr wrap="square">
            <a:spAutoFit/>
          </a:bodyPr>
          <a:lstStyle/>
          <a:p>
            <a:pPr algn="ctr"/>
            <a:r>
              <a:rPr sz="950" b="0">
                <a:solidFill>
                  <a:srgbClr val="FFFFFF"/>
                </a:solidFill>
                <a:latin typeface="맑은 고딕"/>
              </a:rPr>
              <a:t>CORRIDOR</a:t>
            </a:r>
          </a:p>
        </p:txBody>
      </p:sp>
      <p:sp>
        <p:nvSpPr>
          <p:cNvPr id="69" name="Rectangle 68"/>
          <p:cNvSpPr/>
          <p:nvPr/>
        </p:nvSpPr>
        <p:spPr>
          <a:xfrm>
            <a:off x="8001000" y="2734056"/>
            <a:ext cx="100584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74152" y="2770632"/>
            <a:ext cx="859536" cy="274320"/>
          </a:xfrm>
          <a:prstGeom prst="rect">
            <a:avLst/>
          </a:prstGeom>
          <a:noFill/>
        </p:spPr>
        <p:txBody>
          <a:bodyPr wrap="square">
            <a:spAutoFit/>
          </a:bodyPr>
          <a:lstStyle/>
          <a:p>
            <a:pPr algn="ctr"/>
            <a:r>
              <a:rPr sz="950" b="0">
                <a:solidFill>
                  <a:srgbClr val="B8BECC"/>
                </a:solidFill>
                <a:latin typeface="맑은 고딕"/>
              </a:rPr>
              <a:t>선형형</a:t>
            </a:r>
          </a:p>
        </p:txBody>
      </p:sp>
      <p:sp>
        <p:nvSpPr>
          <p:cNvPr id="71" name="Rectangle 70"/>
          <p:cNvSpPr/>
          <p:nvPr/>
        </p:nvSpPr>
        <p:spPr>
          <a:xfrm>
            <a:off x="9006840" y="2734056"/>
            <a:ext cx="283464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079992" y="2770632"/>
            <a:ext cx="2688336" cy="274320"/>
          </a:xfrm>
          <a:prstGeom prst="rect">
            <a:avLst/>
          </a:prstGeom>
          <a:noFill/>
        </p:spPr>
        <p:txBody>
          <a:bodyPr wrap="square">
            <a:spAutoFit/>
          </a:bodyPr>
          <a:lstStyle/>
          <a:p>
            <a:pPr algn="ctr"/>
            <a:r>
              <a:rPr sz="950" b="0">
                <a:solidFill>
                  <a:srgbClr val="B8BECC"/>
                </a:solidFill>
                <a:latin typeface="맑은 고딕"/>
              </a:rPr>
              <a:t>좁은 통로 정면 압박</a:t>
            </a:r>
          </a:p>
        </p:txBody>
      </p:sp>
      <p:sp>
        <p:nvSpPr>
          <p:cNvPr id="73" name="Rectangle 72"/>
          <p:cNvSpPr/>
          <p:nvPr/>
        </p:nvSpPr>
        <p:spPr>
          <a:xfrm>
            <a:off x="6720840" y="3081528"/>
            <a:ext cx="128016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793992" y="3118104"/>
            <a:ext cx="1133856" cy="274320"/>
          </a:xfrm>
          <a:prstGeom prst="rect">
            <a:avLst/>
          </a:prstGeom>
          <a:noFill/>
        </p:spPr>
        <p:txBody>
          <a:bodyPr wrap="square">
            <a:spAutoFit/>
          </a:bodyPr>
          <a:lstStyle/>
          <a:p>
            <a:pPr algn="ctr"/>
            <a:r>
              <a:rPr sz="950" b="0">
                <a:solidFill>
                  <a:srgbClr val="FFFFFF"/>
                </a:solidFill>
                <a:latin typeface="맑은 고딕"/>
              </a:rPr>
              <a:t>ISLAND</a:t>
            </a:r>
          </a:p>
        </p:txBody>
      </p:sp>
      <p:sp>
        <p:nvSpPr>
          <p:cNvPr id="75" name="Rectangle 74"/>
          <p:cNvSpPr/>
          <p:nvPr/>
        </p:nvSpPr>
        <p:spPr>
          <a:xfrm>
            <a:off x="8001000" y="3081528"/>
            <a:ext cx="100584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74152" y="3118104"/>
            <a:ext cx="859536" cy="274320"/>
          </a:xfrm>
          <a:prstGeom prst="rect">
            <a:avLst/>
          </a:prstGeom>
          <a:noFill/>
        </p:spPr>
        <p:txBody>
          <a:bodyPr wrap="square">
            <a:spAutoFit/>
          </a:bodyPr>
          <a:lstStyle/>
          <a:p>
            <a:pPr algn="ctr"/>
            <a:r>
              <a:rPr sz="950" b="0">
                <a:solidFill>
                  <a:srgbClr val="B8BECC"/>
                </a:solidFill>
                <a:latin typeface="맑은 고딕"/>
              </a:rPr>
              <a:t>도서형</a:t>
            </a:r>
          </a:p>
        </p:txBody>
      </p:sp>
      <p:sp>
        <p:nvSpPr>
          <p:cNvPr id="77" name="Rectangle 76"/>
          <p:cNvSpPr/>
          <p:nvPr/>
        </p:nvSpPr>
        <p:spPr>
          <a:xfrm>
            <a:off x="9006840" y="3081528"/>
            <a:ext cx="283464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79992" y="3118104"/>
            <a:ext cx="2688336" cy="274320"/>
          </a:xfrm>
          <a:prstGeom prst="rect">
            <a:avLst/>
          </a:prstGeom>
          <a:noFill/>
        </p:spPr>
        <p:txBody>
          <a:bodyPr wrap="square">
            <a:spAutoFit/>
          </a:bodyPr>
          <a:lstStyle/>
          <a:p>
            <a:pPr algn="ctr"/>
            <a:r>
              <a:rPr sz="950" b="0">
                <a:solidFill>
                  <a:srgbClr val="B8BECC"/>
                </a:solidFill>
                <a:latin typeface="맑은 고딕"/>
              </a:rPr>
              <a:t>발판, 낙사 위협</a:t>
            </a:r>
          </a:p>
        </p:txBody>
      </p:sp>
      <p:sp>
        <p:nvSpPr>
          <p:cNvPr id="79" name="Rectangle 78"/>
          <p:cNvSpPr/>
          <p:nvPr/>
        </p:nvSpPr>
        <p:spPr>
          <a:xfrm>
            <a:off x="6720840" y="3429000"/>
            <a:ext cx="128016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793992" y="3465576"/>
            <a:ext cx="1133856" cy="274320"/>
          </a:xfrm>
          <a:prstGeom prst="rect">
            <a:avLst/>
          </a:prstGeom>
          <a:noFill/>
        </p:spPr>
        <p:txBody>
          <a:bodyPr wrap="square">
            <a:spAutoFit/>
          </a:bodyPr>
          <a:lstStyle/>
          <a:p>
            <a:pPr algn="ctr"/>
            <a:r>
              <a:rPr sz="950" b="0">
                <a:solidFill>
                  <a:srgbClr val="FFFFFF"/>
                </a:solidFill>
                <a:latin typeface="맑은 고딕"/>
              </a:rPr>
              <a:t>TIERED</a:t>
            </a:r>
          </a:p>
        </p:txBody>
      </p:sp>
      <p:sp>
        <p:nvSpPr>
          <p:cNvPr id="81" name="Rectangle 80"/>
          <p:cNvSpPr/>
          <p:nvPr/>
        </p:nvSpPr>
        <p:spPr>
          <a:xfrm>
            <a:off x="8001000" y="3429000"/>
            <a:ext cx="100584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74152" y="3465576"/>
            <a:ext cx="859536" cy="274320"/>
          </a:xfrm>
          <a:prstGeom prst="rect">
            <a:avLst/>
          </a:prstGeom>
          <a:noFill/>
        </p:spPr>
        <p:txBody>
          <a:bodyPr wrap="square">
            <a:spAutoFit/>
          </a:bodyPr>
          <a:lstStyle/>
          <a:p>
            <a:pPr algn="ctr"/>
            <a:r>
              <a:rPr sz="950" b="0">
                <a:solidFill>
                  <a:srgbClr val="B8BECC"/>
                </a:solidFill>
                <a:latin typeface="맑은 고딕"/>
              </a:rPr>
              <a:t>고저형</a:t>
            </a:r>
          </a:p>
        </p:txBody>
      </p:sp>
      <p:sp>
        <p:nvSpPr>
          <p:cNvPr id="83" name="Rectangle 82"/>
          <p:cNvSpPr/>
          <p:nvPr/>
        </p:nvSpPr>
        <p:spPr>
          <a:xfrm>
            <a:off x="9006840" y="3429000"/>
            <a:ext cx="2834640" cy="347472"/>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079992" y="3465576"/>
            <a:ext cx="2688336" cy="274320"/>
          </a:xfrm>
          <a:prstGeom prst="rect">
            <a:avLst/>
          </a:prstGeom>
          <a:noFill/>
        </p:spPr>
        <p:txBody>
          <a:bodyPr wrap="square">
            <a:spAutoFit/>
          </a:bodyPr>
          <a:lstStyle/>
          <a:p>
            <a:pPr algn="ctr"/>
            <a:r>
              <a:rPr sz="950" b="0">
                <a:solidFill>
                  <a:srgbClr val="B8BECC"/>
                </a:solidFill>
                <a:latin typeface="맑은 고딕"/>
              </a:rPr>
              <a:t>고·저지대 혼재</a:t>
            </a:r>
          </a:p>
        </p:txBody>
      </p:sp>
      <p:sp>
        <p:nvSpPr>
          <p:cNvPr id="85" name="Rectangle 84"/>
          <p:cNvSpPr/>
          <p:nvPr/>
        </p:nvSpPr>
        <p:spPr>
          <a:xfrm>
            <a:off x="6720840" y="3776472"/>
            <a:ext cx="128016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793992" y="3813048"/>
            <a:ext cx="1133856" cy="274320"/>
          </a:xfrm>
          <a:prstGeom prst="rect">
            <a:avLst/>
          </a:prstGeom>
          <a:noFill/>
        </p:spPr>
        <p:txBody>
          <a:bodyPr wrap="square">
            <a:spAutoFit/>
          </a:bodyPr>
          <a:lstStyle/>
          <a:p>
            <a:pPr algn="ctr"/>
            <a:r>
              <a:rPr sz="950" b="0">
                <a:solidFill>
                  <a:srgbClr val="FFFFFF"/>
                </a:solidFill>
                <a:latin typeface="맑은 고딕"/>
              </a:rPr>
              <a:t>LABYRINTH</a:t>
            </a:r>
          </a:p>
        </p:txBody>
      </p:sp>
      <p:sp>
        <p:nvSpPr>
          <p:cNvPr id="87" name="Rectangle 86"/>
          <p:cNvSpPr/>
          <p:nvPr/>
        </p:nvSpPr>
        <p:spPr>
          <a:xfrm>
            <a:off x="8001000" y="3776472"/>
            <a:ext cx="100584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74152" y="3813048"/>
            <a:ext cx="859536" cy="274320"/>
          </a:xfrm>
          <a:prstGeom prst="rect">
            <a:avLst/>
          </a:prstGeom>
          <a:noFill/>
        </p:spPr>
        <p:txBody>
          <a:bodyPr wrap="square">
            <a:spAutoFit/>
          </a:bodyPr>
          <a:lstStyle/>
          <a:p>
            <a:pPr algn="ctr"/>
            <a:r>
              <a:rPr sz="950" b="0">
                <a:solidFill>
                  <a:srgbClr val="B8BECC"/>
                </a:solidFill>
                <a:latin typeface="맑은 고딕"/>
              </a:rPr>
              <a:t>미로형</a:t>
            </a:r>
          </a:p>
        </p:txBody>
      </p:sp>
      <p:sp>
        <p:nvSpPr>
          <p:cNvPr id="89" name="Rectangle 88"/>
          <p:cNvSpPr/>
          <p:nvPr/>
        </p:nvSpPr>
        <p:spPr>
          <a:xfrm>
            <a:off x="9006840" y="3776472"/>
            <a:ext cx="2834640" cy="347472"/>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079992" y="3813048"/>
            <a:ext cx="2688336" cy="274320"/>
          </a:xfrm>
          <a:prstGeom prst="rect">
            <a:avLst/>
          </a:prstGeom>
          <a:noFill/>
        </p:spPr>
        <p:txBody>
          <a:bodyPr wrap="square">
            <a:spAutoFit/>
          </a:bodyPr>
          <a:lstStyle/>
          <a:p>
            <a:pPr algn="ctr"/>
            <a:r>
              <a:rPr sz="950" b="0">
                <a:solidFill>
                  <a:srgbClr val="B8BECC"/>
                </a:solidFill>
                <a:latin typeface="맑은 고딕"/>
              </a:rPr>
              <a:t>시야 분산, 기습</a:t>
            </a:r>
          </a:p>
        </p:txBody>
      </p:sp>
      <p:sp>
        <p:nvSpPr>
          <p:cNvPr id="91" name="Rectangle 90"/>
          <p:cNvSpPr/>
          <p:nvPr/>
        </p:nvSpPr>
        <p:spPr>
          <a:xfrm>
            <a:off x="6720840" y="3858768"/>
            <a:ext cx="49377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720840" y="3931920"/>
            <a:ext cx="4937760" cy="256032"/>
          </a:xfrm>
          <a:prstGeom prst="rect">
            <a:avLst/>
          </a:prstGeom>
          <a:noFill/>
        </p:spPr>
        <p:txBody>
          <a:bodyPr wrap="square">
            <a:spAutoFit/>
          </a:bodyPr>
          <a:lstStyle/>
          <a:p>
            <a:pPr algn="l"/>
            <a:r>
              <a:rPr sz="1100" b="1">
                <a:solidFill>
                  <a:srgbClr val="4AC2B8"/>
                </a:solidFill>
                <a:latin typeface="맑은 고딕"/>
              </a:rPr>
              <a:t>Hades 3대 설계 규칙</a:t>
            </a:r>
          </a:p>
        </p:txBody>
      </p:sp>
      <p:sp>
        <p:nvSpPr>
          <p:cNvPr id="93" name="TextBox 92"/>
          <p:cNvSpPr txBox="1"/>
          <p:nvPr/>
        </p:nvSpPr>
        <p:spPr>
          <a:xfrm>
            <a:off x="6720840" y="4224528"/>
            <a:ext cx="4937760" cy="329184"/>
          </a:xfrm>
          <a:prstGeom prst="rect">
            <a:avLst/>
          </a:prstGeom>
          <a:noFill/>
        </p:spPr>
        <p:txBody>
          <a:bodyPr wrap="square">
            <a:spAutoFit/>
          </a:bodyPr>
          <a:lstStyle/>
          <a:p>
            <a:pPr algn="l"/>
            <a:r>
              <a:rPr sz="950" b="0">
                <a:solidFill>
                  <a:srgbClr val="FFFFFF"/>
                </a:solidFill>
                <a:latin typeface="맑은 고딕"/>
              </a:rPr>
              <a:t>▸ 입장 안전 1초: 진입 지점 반경 5m 항상 비워둠</a:t>
            </a:r>
          </a:p>
        </p:txBody>
      </p:sp>
      <p:sp>
        <p:nvSpPr>
          <p:cNvPr id="94" name="TextBox 93"/>
          <p:cNvSpPr txBox="1"/>
          <p:nvPr/>
        </p:nvSpPr>
        <p:spPr>
          <a:xfrm>
            <a:off x="6720840" y="4608576"/>
            <a:ext cx="4937760" cy="329184"/>
          </a:xfrm>
          <a:prstGeom prst="rect">
            <a:avLst/>
          </a:prstGeom>
          <a:noFill/>
        </p:spPr>
        <p:txBody>
          <a:bodyPr wrap="square">
            <a:spAutoFit/>
          </a:bodyPr>
          <a:lstStyle/>
          <a:p>
            <a:pPr algn="l"/>
            <a:r>
              <a:rPr sz="950" b="0">
                <a:solidFill>
                  <a:srgbClr val="FFFFFF"/>
                </a:solidFill>
                <a:latin typeface="맑은 고딕"/>
              </a:rPr>
              <a:t>▸ 탈출로 2개 이상: 전진·후퇴 경로 최소 2개</a:t>
            </a:r>
          </a:p>
        </p:txBody>
      </p:sp>
      <p:sp>
        <p:nvSpPr>
          <p:cNvPr id="95" name="TextBox 94"/>
          <p:cNvSpPr txBox="1"/>
          <p:nvPr/>
        </p:nvSpPr>
        <p:spPr>
          <a:xfrm>
            <a:off x="6720840" y="4992624"/>
            <a:ext cx="4937760" cy="329184"/>
          </a:xfrm>
          <a:prstGeom prst="rect">
            <a:avLst/>
          </a:prstGeom>
          <a:noFill/>
        </p:spPr>
        <p:txBody>
          <a:bodyPr wrap="square">
            <a:spAutoFit/>
          </a:bodyPr>
          <a:lstStyle/>
          <a:p>
            <a:pPr algn="l"/>
            <a:r>
              <a:rPr sz="950" b="0">
                <a:solidFill>
                  <a:srgbClr val="FFFFFF"/>
                </a:solidFill>
                <a:latin typeface="맑은 고딕"/>
              </a:rPr>
              <a:t>▸ 엄폐물 4~6개: 방당 바위/나무/잔해</a:t>
            </a:r>
          </a:p>
        </p:txBody>
      </p:sp>
      <p:sp>
        <p:nvSpPr>
          <p:cNvPr id="96" name="Rectangle 95"/>
          <p:cNvSpPr/>
          <p:nvPr/>
        </p:nvSpPr>
        <p:spPr>
          <a:xfrm>
            <a:off x="6720840" y="5413248"/>
            <a:ext cx="49377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20840" y="5486400"/>
            <a:ext cx="4937760" cy="256032"/>
          </a:xfrm>
          <a:prstGeom prst="rect">
            <a:avLst/>
          </a:prstGeom>
          <a:noFill/>
        </p:spPr>
        <p:txBody>
          <a:bodyPr wrap="square">
            <a:spAutoFit/>
          </a:bodyPr>
          <a:lstStyle/>
          <a:p>
            <a:pPr algn="l"/>
            <a:r>
              <a:rPr sz="1100" b="1">
                <a:solidFill>
                  <a:srgbClr val="6B3F8E"/>
                </a:solidFill>
                <a:latin typeface="맑은 고딕"/>
              </a:rPr>
              <a:t>Dead Cells 수직성 원칙</a:t>
            </a:r>
          </a:p>
        </p:txBody>
      </p:sp>
      <p:sp>
        <p:nvSpPr>
          <p:cNvPr id="98" name="TextBox 97"/>
          <p:cNvSpPr txBox="1"/>
          <p:nvPr/>
        </p:nvSpPr>
        <p:spPr>
          <a:xfrm>
            <a:off x="6720840" y="5760720"/>
            <a:ext cx="4937760" cy="411480"/>
          </a:xfrm>
          <a:prstGeom prst="rect">
            <a:avLst/>
          </a:prstGeom>
          <a:noFill/>
        </p:spPr>
        <p:txBody>
          <a:bodyPr wrap="square">
            <a:spAutoFit/>
          </a:bodyPr>
          <a:lstStyle/>
          <a:p>
            <a:pPr algn="l"/>
            <a:r>
              <a:rPr sz="950" b="0">
                <a:solidFill>
                  <a:srgbClr val="B8BECC"/>
                </a:solidFill>
                <a:latin typeface="맑은 고딕"/>
              </a:rPr>
              <a:t>히든 보상은 수직 이동(등반·낙하)으로 발견.
단축로는 수직 낙하 통로로 구현.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09  비주얼 &amp; 톤 방향</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Visual &amp; Tone Direction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09  비주얼 &amp; 톤 — 아트 방향 &amp; 챕터 컬러</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0972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아트 방향성</a:t>
            </a:r>
          </a:p>
        </p:txBody>
      </p:sp>
      <p:sp>
        <p:nvSpPr>
          <p:cNvPr id="8" name="TextBox 7"/>
          <p:cNvSpPr txBox="1"/>
          <p:nvPr/>
        </p:nvSpPr>
        <p:spPr>
          <a:xfrm>
            <a:off x="548640" y="1234440"/>
            <a:ext cx="11064240" cy="502920"/>
          </a:xfrm>
          <a:prstGeom prst="rect">
            <a:avLst/>
          </a:prstGeom>
          <a:noFill/>
        </p:spPr>
        <p:txBody>
          <a:bodyPr wrap="square">
            <a:spAutoFit/>
          </a:bodyPr>
          <a:lstStyle/>
          <a:p>
            <a:pPr algn="l"/>
            <a:r>
              <a:rPr sz="1200" b="0">
                <a:solidFill>
                  <a:srgbClr val="E8D08A"/>
                </a:solidFill>
                <a:latin typeface="맑은 고딕"/>
              </a:rPr>
              <a:t>"한때 빛났던 동화의 페이지가 잠식되고 부패한 세계. 귀엽거나 밝지 않다. 어둡고 잔인하지만 아름다운 잔재가 남아있다."</a:t>
            </a:r>
          </a:p>
        </p:txBody>
      </p:sp>
      <p:sp>
        <p:nvSpPr>
          <p:cNvPr id="9" name="Rectangle 8"/>
          <p:cNvSpPr/>
          <p:nvPr/>
        </p:nvSpPr>
        <p:spPr>
          <a:xfrm>
            <a:off x="365760" y="2286000"/>
            <a:ext cx="2834640" cy="1828800"/>
          </a:xfrm>
          <a:prstGeom prst="rect">
            <a:avLst/>
          </a:prstGeom>
          <a:solidFill>
            <a:srgbClr val="4A1A5C"/>
          </a:solidFill>
          <a:ln w="15000">
            <a:solidFill>
              <a:srgbClr val="2A5C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286000"/>
            <a:ext cx="1417320" cy="1828800"/>
          </a:xfrm>
          <a:prstGeom prst="rect">
            <a:avLst/>
          </a:prstGeom>
          <a:solidFill>
            <a:srgbClr val="2A5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206240"/>
            <a:ext cx="2834640" cy="457200"/>
          </a:xfrm>
          <a:prstGeom prst="rect">
            <a:avLst/>
          </a:prstGeom>
          <a:noFill/>
        </p:spPr>
        <p:txBody>
          <a:bodyPr wrap="square">
            <a:spAutoFit/>
          </a:bodyPr>
          <a:lstStyle/>
          <a:p>
            <a:pPr algn="ctr"/>
            <a:r>
              <a:rPr sz="1100" b="1">
                <a:solidFill>
                  <a:srgbClr val="FFFFFF"/>
                </a:solidFill>
                <a:latin typeface="맑은 고딕"/>
              </a:rPr>
              <a:t>CH.1
부패의 숲</a:t>
            </a:r>
          </a:p>
        </p:txBody>
      </p:sp>
      <p:sp>
        <p:nvSpPr>
          <p:cNvPr id="12" name="TextBox 11"/>
          <p:cNvSpPr txBox="1"/>
          <p:nvPr/>
        </p:nvSpPr>
        <p:spPr>
          <a:xfrm>
            <a:off x="457200" y="4709160"/>
            <a:ext cx="2651760" cy="640080"/>
          </a:xfrm>
          <a:prstGeom prst="rect">
            <a:avLst/>
          </a:prstGeom>
          <a:noFill/>
        </p:spPr>
        <p:txBody>
          <a:bodyPr wrap="square">
            <a:spAutoFit/>
          </a:bodyPr>
          <a:lstStyle/>
          <a:p>
            <a:pPr algn="l"/>
            <a:r>
              <a:rPr sz="950" b="0">
                <a:solidFill>
                  <a:srgbClr val="B8BECC"/>
                </a:solidFill>
                <a:latin typeface="맑은 고딕"/>
              </a:rPr>
              <a:t>탁한 초록 + 검은 보라
생명이 부패한 숲</a:t>
            </a:r>
          </a:p>
        </p:txBody>
      </p:sp>
      <p:sp>
        <p:nvSpPr>
          <p:cNvPr id="13" name="Rectangle 12"/>
          <p:cNvSpPr/>
          <p:nvPr/>
        </p:nvSpPr>
        <p:spPr>
          <a:xfrm>
            <a:off x="3355848" y="2286000"/>
            <a:ext cx="2834640" cy="1828800"/>
          </a:xfrm>
          <a:prstGeom prst="rect">
            <a:avLst/>
          </a:prstGeom>
          <a:solidFill>
            <a:srgbClr val="1A0A0A"/>
          </a:solidFill>
          <a:ln w="15000">
            <a:solidFill>
              <a:srgbClr val="8B2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2286000"/>
            <a:ext cx="1417320" cy="1828800"/>
          </a:xfrm>
          <a:prstGeom prst="rect">
            <a:avLst/>
          </a:prstGeom>
          <a:solidFill>
            <a:srgbClr val="8B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55848" y="4206240"/>
            <a:ext cx="2834640" cy="457200"/>
          </a:xfrm>
          <a:prstGeom prst="rect">
            <a:avLst/>
          </a:prstGeom>
          <a:noFill/>
        </p:spPr>
        <p:txBody>
          <a:bodyPr wrap="square">
            <a:spAutoFit/>
          </a:bodyPr>
          <a:lstStyle/>
          <a:p>
            <a:pPr algn="ctr"/>
            <a:r>
              <a:rPr sz="1100" b="1">
                <a:solidFill>
                  <a:srgbClr val="FFFFFF"/>
                </a:solidFill>
                <a:latin typeface="맑은 고딕"/>
              </a:rPr>
              <a:t>CH.2
용암 대지</a:t>
            </a:r>
          </a:p>
        </p:txBody>
      </p:sp>
      <p:sp>
        <p:nvSpPr>
          <p:cNvPr id="16" name="TextBox 15"/>
          <p:cNvSpPr txBox="1"/>
          <p:nvPr/>
        </p:nvSpPr>
        <p:spPr>
          <a:xfrm>
            <a:off x="3447288" y="4709160"/>
            <a:ext cx="2651760" cy="640080"/>
          </a:xfrm>
          <a:prstGeom prst="rect">
            <a:avLst/>
          </a:prstGeom>
          <a:noFill/>
        </p:spPr>
        <p:txBody>
          <a:bodyPr wrap="square">
            <a:spAutoFit/>
          </a:bodyPr>
          <a:lstStyle/>
          <a:p>
            <a:pPr algn="l"/>
            <a:r>
              <a:rPr sz="950" b="0">
                <a:solidFill>
                  <a:srgbClr val="B8BECC"/>
                </a:solidFill>
                <a:latin typeface="맑은 고딕"/>
              </a:rPr>
              <a:t>붉은 주황 + 검정
뜨거운 침묵의 지형</a:t>
            </a:r>
          </a:p>
        </p:txBody>
      </p:sp>
      <p:sp>
        <p:nvSpPr>
          <p:cNvPr id="17" name="Rectangle 16"/>
          <p:cNvSpPr/>
          <p:nvPr/>
        </p:nvSpPr>
        <p:spPr>
          <a:xfrm>
            <a:off x="6345936" y="2286000"/>
            <a:ext cx="2834640" cy="1828800"/>
          </a:xfrm>
          <a:prstGeom prst="rect">
            <a:avLst/>
          </a:prstGeom>
          <a:solidFill>
            <a:srgbClr val="0A0A1A"/>
          </a:solidFill>
          <a:ln w="15000">
            <a:solidFill>
              <a:srgbClr val="2A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45936" y="2286000"/>
            <a:ext cx="1417320" cy="1828800"/>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4206240"/>
            <a:ext cx="2834640" cy="457200"/>
          </a:xfrm>
          <a:prstGeom prst="rect">
            <a:avLst/>
          </a:prstGeom>
          <a:noFill/>
        </p:spPr>
        <p:txBody>
          <a:bodyPr wrap="square">
            <a:spAutoFit/>
          </a:bodyPr>
          <a:lstStyle/>
          <a:p>
            <a:pPr algn="ctr"/>
            <a:r>
              <a:rPr sz="1100" b="1">
                <a:solidFill>
                  <a:srgbClr val="FFFFFF"/>
                </a:solidFill>
                <a:latin typeface="맑은 고딕"/>
              </a:rPr>
              <a:t>CH.3
잠식된 성채</a:t>
            </a:r>
          </a:p>
        </p:txBody>
      </p:sp>
      <p:sp>
        <p:nvSpPr>
          <p:cNvPr id="20" name="TextBox 19"/>
          <p:cNvSpPr txBox="1"/>
          <p:nvPr/>
        </p:nvSpPr>
        <p:spPr>
          <a:xfrm>
            <a:off x="6437376" y="4709160"/>
            <a:ext cx="2651760" cy="640080"/>
          </a:xfrm>
          <a:prstGeom prst="rect">
            <a:avLst/>
          </a:prstGeom>
          <a:noFill/>
        </p:spPr>
        <p:txBody>
          <a:bodyPr wrap="square">
            <a:spAutoFit/>
          </a:bodyPr>
          <a:lstStyle/>
          <a:p>
            <a:pPr algn="l"/>
            <a:r>
              <a:rPr sz="950" b="0">
                <a:solidFill>
                  <a:srgbClr val="B8BECC"/>
                </a:solidFill>
                <a:latin typeface="맑은 고딕"/>
              </a:rPr>
              <a:t>차가운 회색 + 남색
한때 영웅의 성채</a:t>
            </a:r>
          </a:p>
        </p:txBody>
      </p:sp>
      <p:sp>
        <p:nvSpPr>
          <p:cNvPr id="21" name="Rectangle 20"/>
          <p:cNvSpPr/>
          <p:nvPr/>
        </p:nvSpPr>
        <p:spPr>
          <a:xfrm>
            <a:off x="9336024" y="2286000"/>
            <a:ext cx="2834640" cy="1828800"/>
          </a:xfrm>
          <a:prstGeom prst="rect">
            <a:avLst/>
          </a:prstGeom>
          <a:solidFill>
            <a:srgbClr val="080410"/>
          </a:solidFill>
          <a:ln w="15000">
            <a:solidFill>
              <a:srgbClr val="1A0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36024" y="2286000"/>
            <a:ext cx="1417320" cy="1828800"/>
          </a:xfrm>
          <a:prstGeom prst="rect">
            <a:avLst/>
          </a:prstGeom>
          <a:solidFill>
            <a:srgbClr val="1A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36024" y="4206240"/>
            <a:ext cx="2834640" cy="457200"/>
          </a:xfrm>
          <a:prstGeom prst="rect">
            <a:avLst/>
          </a:prstGeom>
          <a:noFill/>
        </p:spPr>
        <p:txBody>
          <a:bodyPr wrap="square">
            <a:spAutoFit/>
          </a:bodyPr>
          <a:lstStyle/>
          <a:p>
            <a:pPr algn="ctr"/>
            <a:r>
              <a:rPr sz="1100" b="1">
                <a:solidFill>
                  <a:srgbClr val="FFFFFF"/>
                </a:solidFill>
                <a:latin typeface="맑은 고딕"/>
              </a:rPr>
              <a:t>CH.4
암흑대지</a:t>
            </a:r>
          </a:p>
        </p:txBody>
      </p:sp>
      <p:sp>
        <p:nvSpPr>
          <p:cNvPr id="24" name="TextBox 23"/>
          <p:cNvSpPr txBox="1"/>
          <p:nvPr/>
        </p:nvSpPr>
        <p:spPr>
          <a:xfrm>
            <a:off x="9427464" y="4709160"/>
            <a:ext cx="2651760" cy="640080"/>
          </a:xfrm>
          <a:prstGeom prst="rect">
            <a:avLst/>
          </a:prstGeom>
          <a:noFill/>
        </p:spPr>
        <p:txBody>
          <a:bodyPr wrap="square">
            <a:spAutoFit/>
          </a:bodyPr>
          <a:lstStyle/>
          <a:p>
            <a:pPr algn="l"/>
            <a:r>
              <a:rPr sz="950" b="0">
                <a:solidFill>
                  <a:srgbClr val="B8BECC"/>
                </a:solidFill>
                <a:latin typeface="맑은 고딕"/>
              </a:rPr>
              <a:t>순수한 흑 + 희미한 보라
빛이 없는 근원</a:t>
            </a:r>
          </a:p>
        </p:txBody>
      </p:sp>
      <p:sp>
        <p:nvSpPr>
          <p:cNvPr id="25" name="Rectangle 24"/>
          <p:cNvSpPr/>
          <p:nvPr/>
        </p:nvSpPr>
        <p:spPr>
          <a:xfrm>
            <a:off x="365760" y="5376672"/>
            <a:ext cx="11430000" cy="1389888"/>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5376672"/>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5431536"/>
            <a:ext cx="11155680" cy="256032"/>
          </a:xfrm>
          <a:prstGeom prst="rect">
            <a:avLst/>
          </a:prstGeom>
          <a:noFill/>
        </p:spPr>
        <p:txBody>
          <a:bodyPr wrap="square">
            <a:spAutoFit/>
          </a:bodyPr>
          <a:lstStyle/>
          <a:p>
            <a:pPr algn="l"/>
            <a:r>
              <a:rPr sz="1200" b="1">
                <a:solidFill>
                  <a:srgbClr val="C9A84C"/>
                </a:solidFill>
                <a:latin typeface="맑은 고딕"/>
              </a:rPr>
              <a:t>UI/UX 방향</a:t>
            </a:r>
          </a:p>
        </p:txBody>
      </p:sp>
      <p:sp>
        <p:nvSpPr>
          <p:cNvPr id="28" name="TextBox 27"/>
          <p:cNvSpPr txBox="1"/>
          <p:nvPr/>
        </p:nvSpPr>
        <p:spPr>
          <a:xfrm>
            <a:off x="548640" y="5669280"/>
            <a:ext cx="1554480" cy="219456"/>
          </a:xfrm>
          <a:prstGeom prst="rect">
            <a:avLst/>
          </a:prstGeom>
          <a:noFill/>
        </p:spPr>
        <p:txBody>
          <a:bodyPr wrap="square">
            <a:spAutoFit/>
          </a:bodyPr>
          <a:lstStyle/>
          <a:p>
            <a:pPr algn="l"/>
            <a:r>
              <a:rPr sz="950" b="1">
                <a:solidFill>
                  <a:srgbClr val="C9A84C"/>
                </a:solidFill>
                <a:latin typeface="맑은 고딕"/>
              </a:rPr>
              <a:t>HUD:</a:t>
            </a:r>
          </a:p>
        </p:txBody>
      </p:sp>
      <p:sp>
        <p:nvSpPr>
          <p:cNvPr id="29" name="TextBox 28"/>
          <p:cNvSpPr txBox="1"/>
          <p:nvPr/>
        </p:nvSpPr>
        <p:spPr>
          <a:xfrm>
            <a:off x="2194560" y="5669280"/>
            <a:ext cx="9326880" cy="219456"/>
          </a:xfrm>
          <a:prstGeom prst="rect">
            <a:avLst/>
          </a:prstGeom>
          <a:noFill/>
        </p:spPr>
        <p:txBody>
          <a:bodyPr wrap="square">
            <a:spAutoFit/>
          </a:bodyPr>
          <a:lstStyle/>
          <a:p>
            <a:pPr algn="l"/>
            <a:r>
              <a:rPr sz="950" b="0">
                <a:solidFill>
                  <a:srgbClr val="B8BECC"/>
                </a:solidFill>
                <a:latin typeface="맑은 고딕"/>
              </a:rPr>
              <a:t>최소화 — HP 바, 메커닉 게이지, 스킬 쿨다운만</a:t>
            </a:r>
          </a:p>
        </p:txBody>
      </p:sp>
      <p:sp>
        <p:nvSpPr>
          <p:cNvPr id="30" name="TextBox 29"/>
          <p:cNvSpPr txBox="1"/>
          <p:nvPr/>
        </p:nvSpPr>
        <p:spPr>
          <a:xfrm>
            <a:off x="548640" y="5925312"/>
            <a:ext cx="1554480" cy="219456"/>
          </a:xfrm>
          <a:prstGeom prst="rect">
            <a:avLst/>
          </a:prstGeom>
          <a:noFill/>
        </p:spPr>
        <p:txBody>
          <a:bodyPr wrap="square">
            <a:spAutoFit/>
          </a:bodyPr>
          <a:lstStyle/>
          <a:p>
            <a:pPr algn="l"/>
            <a:r>
              <a:rPr sz="950" b="1">
                <a:solidFill>
                  <a:srgbClr val="C9A84C"/>
                </a:solidFill>
                <a:latin typeface="맑은 고딕"/>
              </a:rPr>
              <a:t>메커닉 게이지:</a:t>
            </a:r>
          </a:p>
        </p:txBody>
      </p:sp>
      <p:sp>
        <p:nvSpPr>
          <p:cNvPr id="31" name="TextBox 30"/>
          <p:cNvSpPr txBox="1"/>
          <p:nvPr/>
        </p:nvSpPr>
        <p:spPr>
          <a:xfrm>
            <a:off x="2194560" y="5925312"/>
            <a:ext cx="9326880" cy="219456"/>
          </a:xfrm>
          <a:prstGeom prst="rect">
            <a:avLst/>
          </a:prstGeom>
          <a:noFill/>
        </p:spPr>
        <p:txBody>
          <a:bodyPr wrap="square">
            <a:spAutoFit/>
          </a:bodyPr>
          <a:lstStyle/>
          <a:p>
            <a:pPr algn="l"/>
            <a:r>
              <a:rPr sz="950" b="0">
                <a:solidFill>
                  <a:srgbClr val="B8BECC"/>
                </a:solidFill>
                <a:latin typeface="맑은 고딕"/>
              </a:rPr>
              <a:t>영웅별 고유 시각 (신성=원형 빛, 콤보=선형 스택, 태양=시계)</a:t>
            </a:r>
          </a:p>
        </p:txBody>
      </p:sp>
      <p:sp>
        <p:nvSpPr>
          <p:cNvPr id="32" name="TextBox 31"/>
          <p:cNvSpPr txBox="1"/>
          <p:nvPr/>
        </p:nvSpPr>
        <p:spPr>
          <a:xfrm>
            <a:off x="548640" y="6181344"/>
            <a:ext cx="1554480" cy="219456"/>
          </a:xfrm>
          <a:prstGeom prst="rect">
            <a:avLst/>
          </a:prstGeom>
          <a:noFill/>
        </p:spPr>
        <p:txBody>
          <a:bodyPr wrap="square">
            <a:spAutoFit/>
          </a:bodyPr>
          <a:lstStyle/>
          <a:p>
            <a:pPr algn="l"/>
            <a:r>
              <a:rPr sz="950" b="1">
                <a:solidFill>
                  <a:srgbClr val="C9A84C"/>
                </a:solidFill>
                <a:latin typeface="맑은 고딕"/>
              </a:rPr>
              <a:t>아이템 그리드:</a:t>
            </a:r>
          </a:p>
        </p:txBody>
      </p:sp>
      <p:sp>
        <p:nvSpPr>
          <p:cNvPr id="33" name="TextBox 32"/>
          <p:cNvSpPr txBox="1"/>
          <p:nvPr/>
        </p:nvSpPr>
        <p:spPr>
          <a:xfrm>
            <a:off x="2194560" y="6181344"/>
            <a:ext cx="9326880" cy="219456"/>
          </a:xfrm>
          <a:prstGeom prst="rect">
            <a:avLst/>
          </a:prstGeom>
          <a:noFill/>
        </p:spPr>
        <p:txBody>
          <a:bodyPr wrap="square">
            <a:spAutoFit/>
          </a:bodyPr>
          <a:lstStyle/>
          <a:p>
            <a:pPr algn="l"/>
            <a:r>
              <a:rPr sz="950" b="0">
                <a:solidFill>
                  <a:srgbClr val="B8BECC"/>
                </a:solidFill>
                <a:latin typeface="맑은 고딕"/>
              </a:rPr>
              <a:t>퍼즐 보드 중심. 배치 시 빛 연출</a:t>
            </a:r>
          </a:p>
        </p:txBody>
      </p:sp>
      <p:sp>
        <p:nvSpPr>
          <p:cNvPr id="34" name="TextBox 33"/>
          <p:cNvSpPr txBox="1"/>
          <p:nvPr/>
        </p:nvSpPr>
        <p:spPr>
          <a:xfrm>
            <a:off x="548640" y="6437376"/>
            <a:ext cx="1554480" cy="219456"/>
          </a:xfrm>
          <a:prstGeom prst="rect">
            <a:avLst/>
          </a:prstGeom>
          <a:noFill/>
        </p:spPr>
        <p:txBody>
          <a:bodyPr wrap="square">
            <a:spAutoFit/>
          </a:bodyPr>
          <a:lstStyle/>
          <a:p>
            <a:pPr algn="l"/>
            <a:r>
              <a:rPr sz="950" b="1">
                <a:solidFill>
                  <a:srgbClr val="C9A84C"/>
                </a:solidFill>
                <a:latin typeface="맑은 고딕"/>
              </a:rPr>
              <a:t>멀린의 서약:</a:t>
            </a:r>
          </a:p>
        </p:txBody>
      </p:sp>
      <p:sp>
        <p:nvSpPr>
          <p:cNvPr id="35" name="TextBox 34"/>
          <p:cNvSpPr txBox="1"/>
          <p:nvPr/>
        </p:nvSpPr>
        <p:spPr>
          <a:xfrm>
            <a:off x="2194560" y="6437376"/>
            <a:ext cx="9326880" cy="219456"/>
          </a:xfrm>
          <a:prstGeom prst="rect">
            <a:avLst/>
          </a:prstGeom>
          <a:noFill/>
        </p:spPr>
        <p:txBody>
          <a:bodyPr wrap="square">
            <a:spAutoFit/>
          </a:bodyPr>
          <a:lstStyle/>
          <a:p>
            <a:pPr algn="l"/>
            <a:r>
              <a:rPr sz="950" b="0">
                <a:solidFill>
                  <a:srgbClr val="B8BECC"/>
                </a:solidFill>
                <a:latin typeface="맑은 고딕"/>
              </a:rPr>
              <a:t>고딕 책 스타일 UI. 좌/우 선택이 책 페이지처럼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10  전투 연출 &amp; 게임 느낌</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Combat Feel &amp; Presentation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10  전투 연출 — 히트감 &amp; 카메라 &amp; 물리</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66928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6692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394960" cy="256032"/>
          </a:xfrm>
          <a:prstGeom prst="rect">
            <a:avLst/>
          </a:prstGeom>
          <a:noFill/>
        </p:spPr>
        <p:txBody>
          <a:bodyPr wrap="square">
            <a:spAutoFit/>
          </a:bodyPr>
          <a:lstStyle/>
          <a:p>
            <a:pPr algn="l"/>
            <a:r>
              <a:rPr sz="1200" b="1">
                <a:solidFill>
                  <a:srgbClr val="C9A84C"/>
                </a:solidFill>
                <a:latin typeface="맑은 고딕"/>
              </a:rPr>
              <a:t>마지막 몬스터 슬로우모션</a:t>
            </a:r>
          </a:p>
        </p:txBody>
      </p:sp>
      <p:sp>
        <p:nvSpPr>
          <p:cNvPr id="8" name="TextBox 7"/>
          <p:cNvSpPr txBox="1"/>
          <p:nvPr/>
        </p:nvSpPr>
        <p:spPr>
          <a:xfrm>
            <a:off x="548640" y="1417320"/>
            <a:ext cx="5303520" cy="1920240"/>
          </a:xfrm>
          <a:prstGeom prst="rect">
            <a:avLst/>
          </a:prstGeom>
          <a:noFill/>
        </p:spPr>
        <p:txBody>
          <a:bodyPr wrap="square">
            <a:spAutoFit/>
          </a:bodyPr>
          <a:lstStyle/>
          <a:p>
            <a:pPr algn="l"/>
            <a:r>
              <a:rPr sz="1000" b="0">
                <a:solidFill>
                  <a:srgbClr val="B8BECC"/>
                </a:solidFill>
                <a:latin typeface="맑은 고딕"/>
              </a:rPr>
              <a:t>전투 방에서 생존 몬스터가 1마리가 되는 순간:
▸ Time.timeScale → 0.3배 감속 (슬로우모션)
▸ Cinemachine 카메라 → 마지막 몬스터 추적
▸ 처치 시 timeScale 1.0으로 복원
▸ 웨이브 모드 / 레거시 모드 모두 적용
▸ 보스방은 별도 연출 처리</a:t>
            </a:r>
          </a:p>
        </p:txBody>
      </p:sp>
      <p:sp>
        <p:nvSpPr>
          <p:cNvPr id="9" name="Rectangle 8"/>
          <p:cNvSpPr/>
          <p:nvPr/>
        </p:nvSpPr>
        <p:spPr>
          <a:xfrm>
            <a:off x="365760" y="3703320"/>
            <a:ext cx="566928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703320"/>
            <a:ext cx="56692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758183"/>
            <a:ext cx="5394960" cy="256032"/>
          </a:xfrm>
          <a:prstGeom prst="rect">
            <a:avLst/>
          </a:prstGeom>
          <a:noFill/>
        </p:spPr>
        <p:txBody>
          <a:bodyPr wrap="square">
            <a:spAutoFit/>
          </a:bodyPr>
          <a:lstStyle/>
          <a:p>
            <a:pPr algn="l"/>
            <a:r>
              <a:rPr sz="1200" b="1">
                <a:solidFill>
                  <a:srgbClr val="C9A84C"/>
                </a:solidFill>
                <a:latin typeface="맑은 고딕"/>
              </a:rPr>
              <a:t>아이템 획득 연출</a:t>
            </a:r>
          </a:p>
        </p:txBody>
      </p:sp>
      <p:sp>
        <p:nvSpPr>
          <p:cNvPr id="12" name="TextBox 11"/>
          <p:cNvSpPr txBox="1"/>
          <p:nvPr/>
        </p:nvSpPr>
        <p:spPr>
          <a:xfrm>
            <a:off x="548640" y="4160520"/>
            <a:ext cx="5303520" cy="822960"/>
          </a:xfrm>
          <a:prstGeom prst="rect">
            <a:avLst/>
          </a:prstGeom>
          <a:noFill/>
        </p:spPr>
        <p:txBody>
          <a:bodyPr wrap="square">
            <a:spAutoFit/>
          </a:bodyPr>
          <a:lstStyle/>
          <a:p>
            <a:pPr algn="l"/>
            <a:r>
              <a:rPr sz="1000" b="0">
                <a:solidFill>
                  <a:srgbClr val="B8BECC"/>
                </a:solidFill>
                <a:latin typeface="맑은 고딕"/>
              </a:rPr>
              <a:t>①  월드 스페이스 팝업 — 아이템명 + 등급 색상
②  파티클 버스트 이펙트 (등급별 색상)
③  Epic 이상: 카메라 줌인 0.5초</a:t>
            </a:r>
          </a:p>
        </p:txBody>
      </p:sp>
      <p:sp>
        <p:nvSpPr>
          <p:cNvPr id="13" name="Rectangle 12"/>
          <p:cNvSpPr/>
          <p:nvPr/>
        </p:nvSpPr>
        <p:spPr>
          <a:xfrm>
            <a:off x="365760" y="5212080"/>
            <a:ext cx="566928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5212080"/>
            <a:ext cx="56692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266944"/>
            <a:ext cx="5394960" cy="256032"/>
          </a:xfrm>
          <a:prstGeom prst="rect">
            <a:avLst/>
          </a:prstGeom>
          <a:noFill/>
        </p:spPr>
        <p:txBody>
          <a:bodyPr wrap="square">
            <a:spAutoFit/>
          </a:bodyPr>
          <a:lstStyle/>
          <a:p>
            <a:pPr algn="l"/>
            <a:r>
              <a:rPr sz="1200" b="1">
                <a:solidFill>
                  <a:srgbClr val="C9A84C"/>
                </a:solidFill>
                <a:latin typeface="맑은 고딕"/>
              </a:rPr>
              <a:t>공격 히트 이펙트</a:t>
            </a:r>
          </a:p>
        </p:txBody>
      </p:sp>
      <p:sp>
        <p:nvSpPr>
          <p:cNvPr id="16" name="TextBox 15"/>
          <p:cNvSpPr txBox="1"/>
          <p:nvPr/>
        </p:nvSpPr>
        <p:spPr>
          <a:xfrm>
            <a:off x="548640" y="5650992"/>
            <a:ext cx="5303520" cy="822960"/>
          </a:xfrm>
          <a:prstGeom prst="rect">
            <a:avLst/>
          </a:prstGeom>
          <a:noFill/>
        </p:spPr>
        <p:txBody>
          <a:bodyPr wrap="square">
            <a:spAutoFit/>
          </a:bodyPr>
          <a:lstStyle/>
          <a:p>
            <a:pPr algn="l"/>
            <a:r>
              <a:rPr sz="1000" b="0">
                <a:solidFill>
                  <a:srgbClr val="B8BECC"/>
                </a:solidFill>
                <a:latin typeface="맑은 고딕"/>
              </a:rPr>
              <a:t>몬스터 피격: 기존 혈흔 VFX
벽/장애물 충돌: SparkOnContact (흰색~주황색 파티클)
WeaponEffectHandler → 레이어 판별 후 파티클 스폰</a:t>
            </a:r>
          </a:p>
        </p:txBody>
      </p:sp>
      <p:sp>
        <p:nvSpPr>
          <p:cNvPr id="17" name="Rectangle 16"/>
          <p:cNvSpPr/>
          <p:nvPr/>
        </p:nvSpPr>
        <p:spPr>
          <a:xfrm>
            <a:off x="6263640" y="960120"/>
            <a:ext cx="5577840" cy="146304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960120"/>
            <a:ext cx="55778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014984"/>
            <a:ext cx="5303520" cy="256032"/>
          </a:xfrm>
          <a:prstGeom prst="rect">
            <a:avLst/>
          </a:prstGeom>
          <a:noFill/>
        </p:spPr>
        <p:txBody>
          <a:bodyPr wrap="square">
            <a:spAutoFit/>
          </a:bodyPr>
          <a:lstStyle/>
          <a:p>
            <a:pPr algn="l"/>
            <a:r>
              <a:rPr sz="1200" b="1">
                <a:solidFill>
                  <a:srgbClr val="C9A84C"/>
                </a:solidFill>
                <a:latin typeface="맑은 고딕"/>
              </a:rPr>
              <a:t>공격 전진성 (Forward Momentum)</a:t>
            </a:r>
          </a:p>
        </p:txBody>
      </p:sp>
      <p:sp>
        <p:nvSpPr>
          <p:cNvPr id="20" name="TextBox 19"/>
          <p:cNvSpPr txBox="1"/>
          <p:nvPr/>
        </p:nvSpPr>
        <p:spPr>
          <a:xfrm>
            <a:off x="6446520" y="1417320"/>
            <a:ext cx="5212080" cy="868680"/>
          </a:xfrm>
          <a:prstGeom prst="rect">
            <a:avLst/>
          </a:prstGeom>
          <a:noFill/>
        </p:spPr>
        <p:txBody>
          <a:bodyPr wrap="square">
            <a:spAutoFit/>
          </a:bodyPr>
          <a:lstStyle/>
          <a:p>
            <a:pPr algn="l"/>
            <a:r>
              <a:rPr sz="1000" b="0">
                <a:solidFill>
                  <a:srgbClr val="B8BECC"/>
                </a:solidFill>
                <a:latin typeface="맑은 고딕"/>
              </a:rPr>
              <a:t>공격 입력 시 타격 방향으로 짧게 전진
Rigidbody.AddForce(forward × attackDashForce, Impulse)
기본값: attackDashForce = 3.0 (무기 SO에서 조정)</a:t>
            </a:r>
          </a:p>
        </p:txBody>
      </p:sp>
      <p:sp>
        <p:nvSpPr>
          <p:cNvPr id="21" name="Rectangle 20"/>
          <p:cNvSpPr/>
          <p:nvPr/>
        </p:nvSpPr>
        <p:spPr>
          <a:xfrm>
            <a:off x="6263640" y="2560320"/>
            <a:ext cx="5577840" cy="146304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2560320"/>
            <a:ext cx="55778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615184"/>
            <a:ext cx="5303520" cy="256032"/>
          </a:xfrm>
          <a:prstGeom prst="rect">
            <a:avLst/>
          </a:prstGeom>
          <a:noFill/>
        </p:spPr>
        <p:txBody>
          <a:bodyPr wrap="square">
            <a:spAutoFit/>
          </a:bodyPr>
          <a:lstStyle/>
          <a:p>
            <a:pPr algn="l"/>
            <a:r>
              <a:rPr sz="1200" b="1">
                <a:solidFill>
                  <a:srgbClr val="C9A84C"/>
                </a:solidFill>
                <a:latin typeface="맑은 고딕"/>
              </a:rPr>
              <a:t>이동 중 공격 관성 (Attack Inertia)</a:t>
            </a:r>
          </a:p>
        </p:txBody>
      </p:sp>
      <p:sp>
        <p:nvSpPr>
          <p:cNvPr id="24" name="TextBox 23"/>
          <p:cNvSpPr txBox="1"/>
          <p:nvPr/>
        </p:nvSpPr>
        <p:spPr>
          <a:xfrm>
            <a:off x="6446520" y="3017520"/>
            <a:ext cx="5212080" cy="822960"/>
          </a:xfrm>
          <a:prstGeom prst="rect">
            <a:avLst/>
          </a:prstGeom>
          <a:noFill/>
        </p:spPr>
        <p:txBody>
          <a:bodyPr wrap="square">
            <a:spAutoFit/>
          </a:bodyPr>
          <a:lstStyle/>
          <a:p>
            <a:pPr algn="l"/>
            <a:r>
              <a:rPr sz="1000" b="0">
                <a:solidFill>
                  <a:srgbClr val="B8BECC"/>
                </a:solidFill>
                <a:latin typeface="맑은 고딕"/>
              </a:rPr>
              <a:t>공격 진입 시 현재 MoveScale 기록
0.25초에 걸쳐 MoveScale이 0으로 선형 감소
공격 종료 후 MoveScale 1.0 복원</a:t>
            </a:r>
          </a:p>
        </p:txBody>
      </p:sp>
      <p:sp>
        <p:nvSpPr>
          <p:cNvPr id="25" name="Rectangle 24"/>
          <p:cNvSpPr/>
          <p:nvPr/>
        </p:nvSpPr>
        <p:spPr>
          <a:xfrm>
            <a:off x="6263640" y="4160520"/>
            <a:ext cx="557784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4160520"/>
            <a:ext cx="55778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215383"/>
            <a:ext cx="5303520" cy="256032"/>
          </a:xfrm>
          <a:prstGeom prst="rect">
            <a:avLst/>
          </a:prstGeom>
          <a:noFill/>
        </p:spPr>
        <p:txBody>
          <a:bodyPr wrap="square">
            <a:spAutoFit/>
          </a:bodyPr>
          <a:lstStyle/>
          <a:p>
            <a:pPr algn="l"/>
            <a:r>
              <a:rPr sz="1200" b="1">
                <a:solidFill>
                  <a:srgbClr val="C9A84C"/>
                </a:solidFill>
                <a:latin typeface="맑은 고딕"/>
              </a:rPr>
              <a:t>회피로 장애물 통과</a:t>
            </a:r>
          </a:p>
        </p:txBody>
      </p:sp>
      <p:sp>
        <p:nvSpPr>
          <p:cNvPr id="28" name="TextBox 27"/>
          <p:cNvSpPr txBox="1"/>
          <p:nvPr/>
        </p:nvSpPr>
        <p:spPr>
          <a:xfrm>
            <a:off x="6446520" y="4617720"/>
            <a:ext cx="5212080" cy="822960"/>
          </a:xfrm>
          <a:prstGeom prst="rect">
            <a:avLst/>
          </a:prstGeom>
          <a:noFill/>
        </p:spPr>
        <p:txBody>
          <a:bodyPr wrap="square">
            <a:spAutoFit/>
          </a:bodyPr>
          <a:lstStyle/>
          <a:p>
            <a:pPr algn="l"/>
            <a:r>
              <a:rPr sz="1000" b="0">
                <a:solidFill>
                  <a:srgbClr val="B8BECC"/>
                </a:solidFill>
                <a:latin typeface="맑은 고딕"/>
              </a:rPr>
              <a:t>구르기 진입: 레이어 → PlayerDodge
Physics Matrix: PlayerDodge ↔ Obstacle = 충돌 없음
구르기 종료 시 Player 레이어로 복원
방 외곽 벽(Wall)은 충돌 유지</a:t>
            </a:r>
          </a:p>
        </p:txBody>
      </p:sp>
      <p:sp>
        <p:nvSpPr>
          <p:cNvPr id="29" name="Rectangle 28"/>
          <p:cNvSpPr/>
          <p:nvPr/>
        </p:nvSpPr>
        <p:spPr>
          <a:xfrm>
            <a:off x="6263640" y="5669280"/>
            <a:ext cx="5577840" cy="9144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5669280"/>
            <a:ext cx="55778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5724144"/>
            <a:ext cx="5303520" cy="256032"/>
          </a:xfrm>
          <a:prstGeom prst="rect">
            <a:avLst/>
          </a:prstGeom>
          <a:noFill/>
        </p:spPr>
        <p:txBody>
          <a:bodyPr wrap="square">
            <a:spAutoFit/>
          </a:bodyPr>
          <a:lstStyle/>
          <a:p>
            <a:pPr algn="l"/>
            <a:r>
              <a:rPr sz="1200" b="1">
                <a:solidFill>
                  <a:srgbClr val="C9A84C"/>
                </a:solidFill>
                <a:latin typeface="맑은 고딕"/>
              </a:rPr>
              <a:t>사망 화면 시퀀스</a:t>
            </a:r>
          </a:p>
        </p:txBody>
      </p:sp>
      <p:sp>
        <p:nvSpPr>
          <p:cNvPr id="32" name="TextBox 31"/>
          <p:cNvSpPr txBox="1"/>
          <p:nvPr/>
        </p:nvSpPr>
        <p:spPr>
          <a:xfrm>
            <a:off x="6446520" y="5989320"/>
            <a:ext cx="5212080" cy="457200"/>
          </a:xfrm>
          <a:prstGeom prst="rect">
            <a:avLst/>
          </a:prstGeom>
          <a:noFill/>
        </p:spPr>
        <p:txBody>
          <a:bodyPr wrap="square">
            <a:spAutoFit/>
          </a:bodyPr>
          <a:lstStyle/>
          <a:p>
            <a:pPr algn="l"/>
            <a:r>
              <a:rPr sz="950" b="0">
                <a:solidFill>
                  <a:srgbClr val="B8BECC"/>
                </a:solidFill>
                <a:latin typeface="맑은 고딕"/>
              </a:rPr>
              <a:t>HP 0  →  ①블랙 페이드(0.5초)  →  ②카메라 클로즈업 줌인(2~3초)  →  ③ "다시하기 / 포기" UI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11  튜토리얼 &amp; 온보딩</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Tutorial &amp; Onboarding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11  튜토리얼 &amp; 온보딩 — 첫 런 플로우 &amp; 로비</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303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029200" cy="256032"/>
          </a:xfrm>
          <a:prstGeom prst="rect">
            <a:avLst/>
          </a:prstGeom>
          <a:noFill/>
        </p:spPr>
        <p:txBody>
          <a:bodyPr wrap="square">
            <a:spAutoFit/>
          </a:bodyPr>
          <a:lstStyle/>
          <a:p>
            <a:pPr algn="l"/>
            <a:r>
              <a:rPr sz="1200" b="1">
                <a:solidFill>
                  <a:srgbClr val="C9A84C"/>
                </a:solidFill>
                <a:latin typeface="맑은 고딕"/>
              </a:rPr>
              <a:t>첫 런 튜토리얼 플로우</a:t>
            </a:r>
          </a:p>
        </p:txBody>
      </p:sp>
      <p:sp>
        <p:nvSpPr>
          <p:cNvPr id="8" name="TextBox 7"/>
          <p:cNvSpPr txBox="1"/>
          <p:nvPr/>
        </p:nvSpPr>
        <p:spPr>
          <a:xfrm>
            <a:off x="548640" y="1371600"/>
            <a:ext cx="4937760" cy="274320"/>
          </a:xfrm>
          <a:prstGeom prst="rect">
            <a:avLst/>
          </a:prstGeom>
          <a:noFill/>
        </p:spPr>
        <p:txBody>
          <a:bodyPr wrap="square">
            <a:spAutoFit/>
          </a:bodyPr>
          <a:lstStyle/>
          <a:p>
            <a:pPr algn="l"/>
            <a:r>
              <a:rPr sz="1000" b="0">
                <a:solidFill>
                  <a:srgbClr val="727A8E"/>
                </a:solidFill>
                <a:latin typeface="맑은 고딕"/>
              </a:rPr>
              <a:t>게임 최초 실행 시 자동 진입 (TutorialDone = 0)</a:t>
            </a:r>
          </a:p>
        </p:txBody>
      </p:sp>
      <p:sp>
        <p:nvSpPr>
          <p:cNvPr id="9" name="Rectangle 8"/>
          <p:cNvSpPr/>
          <p:nvPr/>
        </p:nvSpPr>
        <p:spPr>
          <a:xfrm>
            <a:off x="548640" y="178308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01368"/>
            <a:ext cx="3200400" cy="256032"/>
          </a:xfrm>
          <a:prstGeom prst="rect">
            <a:avLst/>
          </a:prstGeom>
          <a:noFill/>
        </p:spPr>
        <p:txBody>
          <a:bodyPr wrap="square">
            <a:spAutoFit/>
          </a:bodyPr>
          <a:lstStyle/>
          <a:p>
            <a:pPr algn="l"/>
            <a:r>
              <a:rPr sz="1100" b="1">
                <a:solidFill>
                  <a:srgbClr val="4AC2B8"/>
                </a:solidFill>
                <a:latin typeface="맑은 고딕"/>
              </a:rPr>
              <a:t>스타트방 자동 진입</a:t>
            </a:r>
          </a:p>
        </p:txBody>
      </p:sp>
      <p:sp>
        <p:nvSpPr>
          <p:cNvPr id="11" name="TextBox 10"/>
          <p:cNvSpPr txBox="1"/>
          <p:nvPr/>
        </p:nvSpPr>
        <p:spPr>
          <a:xfrm>
            <a:off x="777240" y="2057400"/>
            <a:ext cx="4389120" cy="201168"/>
          </a:xfrm>
          <a:prstGeom prst="rect">
            <a:avLst/>
          </a:prstGeom>
          <a:noFill/>
        </p:spPr>
        <p:txBody>
          <a:bodyPr wrap="square">
            <a:spAutoFit/>
          </a:bodyPr>
          <a:lstStyle/>
          <a:p>
            <a:pPr algn="l"/>
            <a:r>
              <a:rPr sz="950" b="0">
                <a:solidFill>
                  <a:srgbClr val="B8BECC"/>
                </a:solidFill>
                <a:latin typeface="맑은 고딕"/>
              </a:rPr>
              <a:t>약한 초기 캐릭터 + 튜토리얼 기본 장비</a:t>
            </a:r>
          </a:p>
        </p:txBody>
      </p:sp>
      <p:sp>
        <p:nvSpPr>
          <p:cNvPr id="12" name="TextBox 11"/>
          <p:cNvSpPr txBox="1"/>
          <p:nvPr/>
        </p:nvSpPr>
        <p:spPr>
          <a:xfrm>
            <a:off x="502920" y="23317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3" name="Rectangle 12"/>
          <p:cNvSpPr/>
          <p:nvPr/>
        </p:nvSpPr>
        <p:spPr>
          <a:xfrm>
            <a:off x="548640" y="251460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32888"/>
            <a:ext cx="3200400" cy="256032"/>
          </a:xfrm>
          <a:prstGeom prst="rect">
            <a:avLst/>
          </a:prstGeom>
          <a:noFill/>
        </p:spPr>
        <p:txBody>
          <a:bodyPr wrap="square">
            <a:spAutoFit/>
          </a:bodyPr>
          <a:lstStyle/>
          <a:p>
            <a:pPr algn="l"/>
            <a:r>
              <a:rPr sz="1100" b="1">
                <a:solidFill>
                  <a:srgbClr val="FFFFFF"/>
                </a:solidFill>
                <a:latin typeface="맑은 고딕"/>
              </a:rPr>
              <a:t>기본 조작 안내</a:t>
            </a:r>
          </a:p>
        </p:txBody>
      </p:sp>
      <p:sp>
        <p:nvSpPr>
          <p:cNvPr id="15" name="TextBox 14"/>
          <p:cNvSpPr txBox="1"/>
          <p:nvPr/>
        </p:nvSpPr>
        <p:spPr>
          <a:xfrm>
            <a:off x="777240" y="2788920"/>
            <a:ext cx="4389120" cy="201168"/>
          </a:xfrm>
          <a:prstGeom prst="rect">
            <a:avLst/>
          </a:prstGeom>
          <a:noFill/>
        </p:spPr>
        <p:txBody>
          <a:bodyPr wrap="square">
            <a:spAutoFit/>
          </a:bodyPr>
          <a:lstStyle/>
          <a:p>
            <a:pPr algn="l"/>
            <a:r>
              <a:rPr sz="950" b="0">
                <a:solidFill>
                  <a:srgbClr val="B8BECC"/>
                </a:solidFill>
                <a:latin typeface="맑은 고딕"/>
              </a:rPr>
              <a:t>가이드 텍스트 UI (이동/공격/회피/스킬)</a:t>
            </a:r>
          </a:p>
        </p:txBody>
      </p:sp>
      <p:sp>
        <p:nvSpPr>
          <p:cNvPr id="16" name="TextBox 15"/>
          <p:cNvSpPr txBox="1"/>
          <p:nvPr/>
        </p:nvSpPr>
        <p:spPr>
          <a:xfrm>
            <a:off x="502920" y="30632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7" name="Rectangle 16"/>
          <p:cNvSpPr/>
          <p:nvPr/>
        </p:nvSpPr>
        <p:spPr>
          <a:xfrm>
            <a:off x="548640" y="3246120"/>
            <a:ext cx="73152" cy="502920"/>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264408"/>
            <a:ext cx="3200400" cy="256032"/>
          </a:xfrm>
          <a:prstGeom prst="rect">
            <a:avLst/>
          </a:prstGeom>
          <a:noFill/>
        </p:spPr>
        <p:txBody>
          <a:bodyPr wrap="square">
            <a:spAutoFit/>
          </a:bodyPr>
          <a:lstStyle/>
          <a:p>
            <a:pPr algn="l"/>
            <a:r>
              <a:rPr sz="1100" b="1">
                <a:solidFill>
                  <a:srgbClr val="CC4444"/>
                </a:solidFill>
                <a:latin typeface="맑은 고딕"/>
              </a:rPr>
              <a:t>플레이어 사망</a:t>
            </a:r>
          </a:p>
        </p:txBody>
      </p:sp>
      <p:sp>
        <p:nvSpPr>
          <p:cNvPr id="19" name="TextBox 18"/>
          <p:cNvSpPr txBox="1"/>
          <p:nvPr/>
        </p:nvSpPr>
        <p:spPr>
          <a:xfrm>
            <a:off x="777240" y="3520439"/>
            <a:ext cx="4389120" cy="201168"/>
          </a:xfrm>
          <a:prstGeom prst="rect">
            <a:avLst/>
          </a:prstGeom>
          <a:noFill/>
        </p:spPr>
        <p:txBody>
          <a:bodyPr wrap="square">
            <a:spAutoFit/>
          </a:bodyPr>
          <a:lstStyle/>
          <a:p>
            <a:pPr algn="l"/>
            <a:r>
              <a:rPr sz="950" b="0">
                <a:solidFill>
                  <a:srgbClr val="B8BECC"/>
                </a:solidFill>
                <a:latin typeface="맑은 고딕"/>
              </a:rPr>
              <a:t>의도적 낮은 스펙 — 튜토리얼 관문</a:t>
            </a:r>
          </a:p>
        </p:txBody>
      </p:sp>
      <p:sp>
        <p:nvSpPr>
          <p:cNvPr id="20" name="TextBox 19"/>
          <p:cNvSpPr txBox="1"/>
          <p:nvPr/>
        </p:nvSpPr>
        <p:spPr>
          <a:xfrm>
            <a:off x="502920" y="3794759"/>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1" name="Rectangle 20"/>
          <p:cNvSpPr/>
          <p:nvPr/>
        </p:nvSpPr>
        <p:spPr>
          <a:xfrm>
            <a:off x="548640" y="39776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995928"/>
            <a:ext cx="3200400" cy="256032"/>
          </a:xfrm>
          <a:prstGeom prst="rect">
            <a:avLst/>
          </a:prstGeom>
          <a:noFill/>
        </p:spPr>
        <p:txBody>
          <a:bodyPr wrap="square">
            <a:spAutoFit/>
          </a:bodyPr>
          <a:lstStyle/>
          <a:p>
            <a:pPr algn="l"/>
            <a:r>
              <a:rPr sz="1100" b="1">
                <a:solidFill>
                  <a:srgbClr val="C9A84C"/>
                </a:solidFill>
                <a:latin typeface="맑은 고딕"/>
              </a:rPr>
              <a:t>멀린 컷씬 재생</a:t>
            </a:r>
          </a:p>
        </p:txBody>
      </p:sp>
      <p:sp>
        <p:nvSpPr>
          <p:cNvPr id="23" name="TextBox 22"/>
          <p:cNvSpPr txBox="1"/>
          <p:nvPr/>
        </p:nvSpPr>
        <p:spPr>
          <a:xfrm>
            <a:off x="777240" y="4251960"/>
            <a:ext cx="4389120" cy="201168"/>
          </a:xfrm>
          <a:prstGeom prst="rect">
            <a:avLst/>
          </a:prstGeom>
          <a:noFill/>
        </p:spPr>
        <p:txBody>
          <a:bodyPr wrap="square">
            <a:spAutoFit/>
          </a:bodyPr>
          <a:lstStyle/>
          <a:p>
            <a:pPr algn="l"/>
            <a:r>
              <a:rPr sz="950" b="0">
                <a:solidFill>
                  <a:srgbClr val="B8BECC"/>
                </a:solidFill>
                <a:latin typeface="맑은 고딕"/>
              </a:rPr>
              <a:t>"이 유물들 중 하나를 골라라."</a:t>
            </a:r>
          </a:p>
        </p:txBody>
      </p:sp>
      <p:sp>
        <p:nvSpPr>
          <p:cNvPr id="24" name="TextBox 23"/>
          <p:cNvSpPr txBox="1"/>
          <p:nvPr/>
        </p:nvSpPr>
        <p:spPr>
          <a:xfrm>
            <a:off x="502920" y="45262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5" name="Rectangle 24"/>
          <p:cNvSpPr/>
          <p:nvPr/>
        </p:nvSpPr>
        <p:spPr>
          <a:xfrm>
            <a:off x="548640" y="470916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727448"/>
            <a:ext cx="3200400" cy="256032"/>
          </a:xfrm>
          <a:prstGeom prst="rect">
            <a:avLst/>
          </a:prstGeom>
          <a:noFill/>
        </p:spPr>
        <p:txBody>
          <a:bodyPr wrap="square">
            <a:spAutoFit/>
          </a:bodyPr>
          <a:lstStyle/>
          <a:p>
            <a:pPr algn="l"/>
            <a:r>
              <a:rPr sz="1100" b="1">
                <a:solidFill>
                  <a:srgbClr val="4AC2B8"/>
                </a:solidFill>
                <a:latin typeface="맑은 고딕"/>
              </a:rPr>
              <a:t>허브(로비) 진입</a:t>
            </a:r>
          </a:p>
        </p:txBody>
      </p:sp>
      <p:sp>
        <p:nvSpPr>
          <p:cNvPr id="27" name="TextBox 26"/>
          <p:cNvSpPr txBox="1"/>
          <p:nvPr/>
        </p:nvSpPr>
        <p:spPr>
          <a:xfrm>
            <a:off x="777240" y="4983480"/>
            <a:ext cx="4389120" cy="201168"/>
          </a:xfrm>
          <a:prstGeom prst="rect">
            <a:avLst/>
          </a:prstGeom>
          <a:noFill/>
        </p:spPr>
        <p:txBody>
          <a:bodyPr wrap="square">
            <a:spAutoFit/>
          </a:bodyPr>
          <a:lstStyle/>
          <a:p>
            <a:pPr algn="l"/>
            <a:r>
              <a:rPr sz="950" b="0">
                <a:solidFill>
                  <a:srgbClr val="B8BECC"/>
                </a:solidFill>
                <a:latin typeface="맑은 고딕"/>
              </a:rPr>
              <a:t>캐릭터 선택 + 장비 선택 활성화</a:t>
            </a:r>
          </a:p>
        </p:txBody>
      </p:sp>
      <p:sp>
        <p:nvSpPr>
          <p:cNvPr id="28" name="TextBox 27"/>
          <p:cNvSpPr txBox="1"/>
          <p:nvPr/>
        </p:nvSpPr>
        <p:spPr>
          <a:xfrm>
            <a:off x="502920" y="52578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9" name="Rectangle 28"/>
          <p:cNvSpPr/>
          <p:nvPr/>
        </p:nvSpPr>
        <p:spPr>
          <a:xfrm>
            <a:off x="548640" y="544068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58968"/>
            <a:ext cx="3200400" cy="256032"/>
          </a:xfrm>
          <a:prstGeom prst="rect">
            <a:avLst/>
          </a:prstGeom>
          <a:noFill/>
        </p:spPr>
        <p:txBody>
          <a:bodyPr wrap="square">
            <a:spAutoFit/>
          </a:bodyPr>
          <a:lstStyle/>
          <a:p>
            <a:pPr algn="l"/>
            <a:r>
              <a:rPr sz="1100" b="1">
                <a:solidFill>
                  <a:srgbClr val="FFFFFF"/>
                </a:solidFill>
                <a:latin typeface="맑은 고딕"/>
              </a:rPr>
              <a:t>일반 런 시작</a:t>
            </a:r>
          </a:p>
        </p:txBody>
      </p:sp>
      <p:sp>
        <p:nvSpPr>
          <p:cNvPr id="31" name="TextBox 30"/>
          <p:cNvSpPr txBox="1"/>
          <p:nvPr/>
        </p:nvSpPr>
        <p:spPr>
          <a:xfrm>
            <a:off x="777240" y="5715000"/>
            <a:ext cx="4389120" cy="201168"/>
          </a:xfrm>
          <a:prstGeom prst="rect">
            <a:avLst/>
          </a:prstGeom>
          <a:noFill/>
        </p:spPr>
        <p:txBody>
          <a:bodyPr wrap="square">
            <a:spAutoFit/>
          </a:bodyPr>
          <a:lstStyle/>
          <a:p>
            <a:pPr algn="l"/>
            <a:r>
              <a:rPr sz="950" b="0">
                <a:solidFill>
                  <a:srgbClr val="B8BECC"/>
                </a:solidFill>
                <a:latin typeface="맑은 고딕"/>
              </a:rPr>
              <a:t>TutorialDone = 1 저장</a:t>
            </a:r>
          </a:p>
        </p:txBody>
      </p:sp>
      <p:sp>
        <p:nvSpPr>
          <p:cNvPr id="32" name="Rectangle 31"/>
          <p:cNvSpPr/>
          <p:nvPr/>
        </p:nvSpPr>
        <p:spPr>
          <a:xfrm>
            <a:off x="5897880" y="960120"/>
            <a:ext cx="5943600" cy="22860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97880" y="960120"/>
            <a:ext cx="59436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1014984"/>
            <a:ext cx="5669280" cy="256032"/>
          </a:xfrm>
          <a:prstGeom prst="rect">
            <a:avLst/>
          </a:prstGeom>
          <a:noFill/>
        </p:spPr>
        <p:txBody>
          <a:bodyPr wrap="square">
            <a:spAutoFit/>
          </a:bodyPr>
          <a:lstStyle/>
          <a:p>
            <a:pPr algn="l"/>
            <a:r>
              <a:rPr sz="1200" b="1">
                <a:solidFill>
                  <a:srgbClr val="C9A84C"/>
                </a:solidFill>
                <a:latin typeface="맑은 고딕"/>
              </a:rPr>
              <a:t>스타트방 구성 (Zone 1 — 모든 런 고정)</a:t>
            </a:r>
          </a:p>
        </p:txBody>
      </p:sp>
      <p:sp>
        <p:nvSpPr>
          <p:cNvPr id="35" name="Rectangle 34"/>
          <p:cNvSpPr/>
          <p:nvPr/>
        </p:nvSpPr>
        <p:spPr>
          <a:xfrm>
            <a:off x="6080760" y="1417320"/>
            <a:ext cx="2011680" cy="420624"/>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53912" y="1453896"/>
            <a:ext cx="1865376" cy="347472"/>
          </a:xfrm>
          <a:prstGeom prst="rect">
            <a:avLst/>
          </a:prstGeom>
          <a:noFill/>
        </p:spPr>
        <p:txBody>
          <a:bodyPr wrap="square">
            <a:spAutoFit/>
          </a:bodyPr>
          <a:lstStyle/>
          <a:p>
            <a:pPr algn="ctr"/>
            <a:r>
              <a:rPr sz="1000" b="1">
                <a:solidFill>
                  <a:srgbClr val="C9A84C"/>
                </a:solidFill>
                <a:latin typeface="맑은 고딕"/>
              </a:rPr>
              <a:t>요소</a:t>
            </a:r>
          </a:p>
        </p:txBody>
      </p:sp>
      <p:sp>
        <p:nvSpPr>
          <p:cNvPr id="37" name="Rectangle 36"/>
          <p:cNvSpPr/>
          <p:nvPr/>
        </p:nvSpPr>
        <p:spPr>
          <a:xfrm>
            <a:off x="8092440" y="1417320"/>
            <a:ext cx="3749039" cy="420624"/>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5592" y="1453896"/>
            <a:ext cx="3602735" cy="347472"/>
          </a:xfrm>
          <a:prstGeom prst="rect">
            <a:avLst/>
          </a:prstGeom>
          <a:noFill/>
        </p:spPr>
        <p:txBody>
          <a:bodyPr wrap="square">
            <a:spAutoFit/>
          </a:bodyPr>
          <a:lstStyle/>
          <a:p>
            <a:pPr algn="ctr"/>
            <a:r>
              <a:rPr sz="1000" b="1">
                <a:solidFill>
                  <a:srgbClr val="C9A84C"/>
                </a:solidFill>
                <a:latin typeface="맑은 고딕"/>
              </a:rPr>
              <a:t>내용</a:t>
            </a:r>
          </a:p>
        </p:txBody>
      </p:sp>
      <p:sp>
        <p:nvSpPr>
          <p:cNvPr id="39" name="Rectangle 38"/>
          <p:cNvSpPr/>
          <p:nvPr/>
        </p:nvSpPr>
        <p:spPr>
          <a:xfrm>
            <a:off x="6080760" y="1837944"/>
            <a:ext cx="2011680" cy="42062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53912" y="1874520"/>
            <a:ext cx="1865376" cy="347472"/>
          </a:xfrm>
          <a:prstGeom prst="rect">
            <a:avLst/>
          </a:prstGeom>
          <a:noFill/>
        </p:spPr>
        <p:txBody>
          <a:bodyPr wrap="square">
            <a:spAutoFit/>
          </a:bodyPr>
          <a:lstStyle/>
          <a:p>
            <a:pPr algn="ctr"/>
            <a:r>
              <a:rPr sz="950" b="0">
                <a:solidFill>
                  <a:srgbClr val="FFFFFF"/>
                </a:solidFill>
                <a:latin typeface="맑은 고딕"/>
              </a:rPr>
              <a:t>확정 특별 아이템</a:t>
            </a:r>
          </a:p>
        </p:txBody>
      </p:sp>
      <p:sp>
        <p:nvSpPr>
          <p:cNvPr id="41" name="Rectangle 40"/>
          <p:cNvSpPr/>
          <p:nvPr/>
        </p:nvSpPr>
        <p:spPr>
          <a:xfrm>
            <a:off x="8092440" y="1837944"/>
            <a:ext cx="3749039" cy="42062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65592" y="1874520"/>
            <a:ext cx="3602735" cy="347472"/>
          </a:xfrm>
          <a:prstGeom prst="rect">
            <a:avLst/>
          </a:prstGeom>
          <a:noFill/>
        </p:spPr>
        <p:txBody>
          <a:bodyPr wrap="square">
            <a:spAutoFit/>
          </a:bodyPr>
          <a:lstStyle/>
          <a:p>
            <a:pPr algn="ctr"/>
            <a:r>
              <a:rPr sz="950" b="0">
                <a:solidFill>
                  <a:srgbClr val="B8BECC"/>
                </a:solidFill>
                <a:latin typeface="맑은 고딕"/>
              </a:rPr>
              <a:t>난이도 맞춤 Common~Rare 1개 확정 드롭</a:t>
            </a:r>
          </a:p>
        </p:txBody>
      </p:sp>
      <p:sp>
        <p:nvSpPr>
          <p:cNvPr id="43" name="Rectangle 42"/>
          <p:cNvSpPr/>
          <p:nvPr/>
        </p:nvSpPr>
        <p:spPr>
          <a:xfrm>
            <a:off x="6080760" y="2258568"/>
            <a:ext cx="2011680" cy="42062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53912" y="2295144"/>
            <a:ext cx="1865376" cy="347472"/>
          </a:xfrm>
          <a:prstGeom prst="rect">
            <a:avLst/>
          </a:prstGeom>
          <a:noFill/>
        </p:spPr>
        <p:txBody>
          <a:bodyPr wrap="square">
            <a:spAutoFit/>
          </a:bodyPr>
          <a:lstStyle/>
          <a:p>
            <a:pPr algn="ctr"/>
            <a:r>
              <a:rPr sz="950" b="0">
                <a:solidFill>
                  <a:srgbClr val="FFFFFF"/>
                </a:solidFill>
                <a:latin typeface="맑은 고딕"/>
              </a:rPr>
              <a:t>더미/약한 몬스터</a:t>
            </a:r>
          </a:p>
        </p:txBody>
      </p:sp>
      <p:sp>
        <p:nvSpPr>
          <p:cNvPr id="45" name="Rectangle 44"/>
          <p:cNvSpPr/>
          <p:nvPr/>
        </p:nvSpPr>
        <p:spPr>
          <a:xfrm>
            <a:off x="8092440" y="2258568"/>
            <a:ext cx="3749039" cy="42062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65592" y="2295144"/>
            <a:ext cx="3602735" cy="347472"/>
          </a:xfrm>
          <a:prstGeom prst="rect">
            <a:avLst/>
          </a:prstGeom>
          <a:noFill/>
        </p:spPr>
        <p:txBody>
          <a:bodyPr wrap="square">
            <a:spAutoFit/>
          </a:bodyPr>
          <a:lstStyle/>
          <a:p>
            <a:pPr algn="ctr"/>
            <a:r>
              <a:rPr sz="950" b="0">
                <a:solidFill>
                  <a:srgbClr val="B8BECC"/>
                </a:solidFill>
                <a:latin typeface="맑은 고딕"/>
              </a:rPr>
              <a:t>소형 몬스터 1~2마리 또는 연습 더미</a:t>
            </a:r>
          </a:p>
        </p:txBody>
      </p:sp>
      <p:sp>
        <p:nvSpPr>
          <p:cNvPr id="47" name="Rectangle 46"/>
          <p:cNvSpPr/>
          <p:nvPr/>
        </p:nvSpPr>
        <p:spPr>
          <a:xfrm>
            <a:off x="6080760" y="2679192"/>
            <a:ext cx="2011680" cy="42062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53912" y="2715768"/>
            <a:ext cx="1865376" cy="347472"/>
          </a:xfrm>
          <a:prstGeom prst="rect">
            <a:avLst/>
          </a:prstGeom>
          <a:noFill/>
        </p:spPr>
        <p:txBody>
          <a:bodyPr wrap="square">
            <a:spAutoFit/>
          </a:bodyPr>
          <a:lstStyle/>
          <a:p>
            <a:pPr algn="ctr"/>
            <a:r>
              <a:rPr sz="950" b="0">
                <a:solidFill>
                  <a:srgbClr val="FFFFFF"/>
                </a:solidFill>
                <a:latin typeface="맑은 고딕"/>
              </a:rPr>
              <a:t>멀린 환영 대사</a:t>
            </a:r>
          </a:p>
        </p:txBody>
      </p:sp>
      <p:sp>
        <p:nvSpPr>
          <p:cNvPr id="49" name="Rectangle 48"/>
          <p:cNvSpPr/>
          <p:nvPr/>
        </p:nvSpPr>
        <p:spPr>
          <a:xfrm>
            <a:off x="8092440" y="2679192"/>
            <a:ext cx="3749039" cy="42062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65592" y="2715768"/>
            <a:ext cx="3602735" cy="347472"/>
          </a:xfrm>
          <a:prstGeom prst="rect">
            <a:avLst/>
          </a:prstGeom>
          <a:noFill/>
        </p:spPr>
        <p:txBody>
          <a:bodyPr wrap="square">
            <a:spAutoFit/>
          </a:bodyPr>
          <a:lstStyle/>
          <a:p>
            <a:pPr algn="ctr"/>
            <a:r>
              <a:rPr sz="950" b="0">
                <a:solidFill>
                  <a:srgbClr val="B8BECC"/>
                </a:solidFill>
                <a:latin typeface="맑은 고딕"/>
              </a:rPr>
              <a:t>스타트방 진입 시 한 줄 환영 + 진행 안내</a:t>
            </a:r>
          </a:p>
        </p:txBody>
      </p:sp>
      <p:sp>
        <p:nvSpPr>
          <p:cNvPr id="51" name="Rectangle 50"/>
          <p:cNvSpPr/>
          <p:nvPr/>
        </p:nvSpPr>
        <p:spPr>
          <a:xfrm>
            <a:off x="6080760" y="3099816"/>
            <a:ext cx="2011680" cy="42062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53912" y="3136392"/>
            <a:ext cx="1865376" cy="347472"/>
          </a:xfrm>
          <a:prstGeom prst="rect">
            <a:avLst/>
          </a:prstGeom>
          <a:noFill/>
        </p:spPr>
        <p:txBody>
          <a:bodyPr wrap="square">
            <a:spAutoFit/>
          </a:bodyPr>
          <a:lstStyle/>
          <a:p>
            <a:pPr algn="ctr"/>
            <a:r>
              <a:rPr sz="950" b="0">
                <a:solidFill>
                  <a:srgbClr val="FFFFFF"/>
                </a:solidFill>
                <a:latin typeface="맑은 고딕"/>
              </a:rPr>
              <a:t>장비 확인 공간</a:t>
            </a:r>
          </a:p>
        </p:txBody>
      </p:sp>
      <p:sp>
        <p:nvSpPr>
          <p:cNvPr id="53" name="Rectangle 52"/>
          <p:cNvSpPr/>
          <p:nvPr/>
        </p:nvSpPr>
        <p:spPr>
          <a:xfrm>
            <a:off x="8092440" y="3099816"/>
            <a:ext cx="3749039" cy="42062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65592" y="3136392"/>
            <a:ext cx="3602735" cy="347472"/>
          </a:xfrm>
          <a:prstGeom prst="rect">
            <a:avLst/>
          </a:prstGeom>
          <a:noFill/>
        </p:spPr>
        <p:txBody>
          <a:bodyPr wrap="square">
            <a:spAutoFit/>
          </a:bodyPr>
          <a:lstStyle/>
          <a:p>
            <a:pPr algn="ctr"/>
            <a:r>
              <a:rPr sz="950" b="0">
                <a:solidFill>
                  <a:srgbClr val="B8BECC"/>
                </a:solidFill>
                <a:latin typeface="맑은 고딕"/>
              </a:rPr>
              <a:t>스탯 패널 확인 가능, 무기 교체 기회</a:t>
            </a:r>
          </a:p>
        </p:txBody>
      </p:sp>
      <p:sp>
        <p:nvSpPr>
          <p:cNvPr id="55" name="Rectangle 54"/>
          <p:cNvSpPr/>
          <p:nvPr/>
        </p:nvSpPr>
        <p:spPr>
          <a:xfrm>
            <a:off x="5897880" y="3429000"/>
            <a:ext cx="5943600" cy="18288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897880" y="3429000"/>
            <a:ext cx="59436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35040" y="3483864"/>
            <a:ext cx="5669280" cy="256032"/>
          </a:xfrm>
          <a:prstGeom prst="rect">
            <a:avLst/>
          </a:prstGeom>
          <a:noFill/>
        </p:spPr>
        <p:txBody>
          <a:bodyPr wrap="square">
            <a:spAutoFit/>
          </a:bodyPr>
          <a:lstStyle/>
          <a:p>
            <a:pPr algn="l"/>
            <a:r>
              <a:rPr sz="1200" b="1">
                <a:solidFill>
                  <a:srgbClr val="C9A84C"/>
                </a:solidFill>
                <a:latin typeface="맑은 고딕"/>
              </a:rPr>
              <a:t>가이드 텍스트 UI (튜토리얼 런에서만)</a:t>
            </a:r>
          </a:p>
        </p:txBody>
      </p:sp>
      <p:sp>
        <p:nvSpPr>
          <p:cNvPr id="58" name="Rectangle 57"/>
          <p:cNvSpPr/>
          <p:nvPr/>
        </p:nvSpPr>
        <p:spPr>
          <a:xfrm>
            <a:off x="6080760" y="3858768"/>
            <a:ext cx="1645920" cy="329184"/>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53912" y="3895344"/>
            <a:ext cx="1499616" cy="256031"/>
          </a:xfrm>
          <a:prstGeom prst="rect">
            <a:avLst/>
          </a:prstGeom>
          <a:noFill/>
        </p:spPr>
        <p:txBody>
          <a:bodyPr wrap="square">
            <a:spAutoFit/>
          </a:bodyPr>
          <a:lstStyle/>
          <a:p>
            <a:pPr algn="ctr"/>
            <a:r>
              <a:rPr sz="1000" b="1">
                <a:solidFill>
                  <a:srgbClr val="C9A84C"/>
                </a:solidFill>
                <a:latin typeface="맑은 고딕"/>
              </a:rPr>
              <a:t>시점</a:t>
            </a:r>
          </a:p>
        </p:txBody>
      </p:sp>
      <p:sp>
        <p:nvSpPr>
          <p:cNvPr id="60" name="Rectangle 59"/>
          <p:cNvSpPr/>
          <p:nvPr/>
        </p:nvSpPr>
        <p:spPr>
          <a:xfrm>
            <a:off x="7726680" y="3858768"/>
            <a:ext cx="4114800" cy="329184"/>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99832" y="3895344"/>
            <a:ext cx="3968496" cy="256031"/>
          </a:xfrm>
          <a:prstGeom prst="rect">
            <a:avLst/>
          </a:prstGeom>
          <a:noFill/>
        </p:spPr>
        <p:txBody>
          <a:bodyPr wrap="square">
            <a:spAutoFit/>
          </a:bodyPr>
          <a:lstStyle/>
          <a:p>
            <a:pPr algn="ctr"/>
            <a:r>
              <a:rPr sz="1000" b="1">
                <a:solidFill>
                  <a:srgbClr val="C9A84C"/>
                </a:solidFill>
                <a:latin typeface="맑은 고딕"/>
              </a:rPr>
              <a:t>텍스트</a:t>
            </a:r>
          </a:p>
        </p:txBody>
      </p:sp>
      <p:sp>
        <p:nvSpPr>
          <p:cNvPr id="62" name="Rectangle 61"/>
          <p:cNvSpPr/>
          <p:nvPr/>
        </p:nvSpPr>
        <p:spPr>
          <a:xfrm>
            <a:off x="6080760" y="4187952"/>
            <a:ext cx="1645920" cy="32918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53912" y="4224528"/>
            <a:ext cx="1499616" cy="256031"/>
          </a:xfrm>
          <a:prstGeom prst="rect">
            <a:avLst/>
          </a:prstGeom>
          <a:noFill/>
        </p:spPr>
        <p:txBody>
          <a:bodyPr wrap="square">
            <a:spAutoFit/>
          </a:bodyPr>
          <a:lstStyle/>
          <a:p>
            <a:pPr algn="ctr"/>
            <a:r>
              <a:rPr sz="950" b="0">
                <a:solidFill>
                  <a:srgbClr val="FFFFFF"/>
                </a:solidFill>
                <a:latin typeface="맑은 고딕"/>
              </a:rPr>
              <a:t>방 입장 직후</a:t>
            </a:r>
          </a:p>
        </p:txBody>
      </p:sp>
      <p:sp>
        <p:nvSpPr>
          <p:cNvPr id="64" name="Rectangle 63"/>
          <p:cNvSpPr/>
          <p:nvPr/>
        </p:nvSpPr>
        <p:spPr>
          <a:xfrm>
            <a:off x="7726680" y="4187952"/>
            <a:ext cx="4114800" cy="32918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99832" y="4224528"/>
            <a:ext cx="3968496" cy="256031"/>
          </a:xfrm>
          <a:prstGeom prst="rect">
            <a:avLst/>
          </a:prstGeom>
          <a:noFill/>
        </p:spPr>
        <p:txBody>
          <a:bodyPr wrap="square">
            <a:spAutoFit/>
          </a:bodyPr>
          <a:lstStyle/>
          <a:p>
            <a:pPr algn="ctr"/>
            <a:r>
              <a:rPr sz="950" b="0">
                <a:solidFill>
                  <a:srgbClr val="B8BECC"/>
                </a:solidFill>
                <a:latin typeface="맑은 고딕"/>
              </a:rPr>
              <a:t>"WASD로 이동 / 마우스 좌클릭으로 공격"</a:t>
            </a:r>
          </a:p>
        </p:txBody>
      </p:sp>
      <p:sp>
        <p:nvSpPr>
          <p:cNvPr id="66" name="Rectangle 65"/>
          <p:cNvSpPr/>
          <p:nvPr/>
        </p:nvSpPr>
        <p:spPr>
          <a:xfrm>
            <a:off x="6080760" y="4517136"/>
            <a:ext cx="1645920" cy="32918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53912" y="4553712"/>
            <a:ext cx="1499616" cy="256031"/>
          </a:xfrm>
          <a:prstGeom prst="rect">
            <a:avLst/>
          </a:prstGeom>
          <a:noFill/>
        </p:spPr>
        <p:txBody>
          <a:bodyPr wrap="square">
            <a:spAutoFit/>
          </a:bodyPr>
          <a:lstStyle/>
          <a:p>
            <a:pPr algn="ctr"/>
            <a:r>
              <a:rPr sz="950" b="0">
                <a:solidFill>
                  <a:srgbClr val="FFFFFF"/>
                </a:solidFill>
                <a:latin typeface="맑은 고딕"/>
              </a:rPr>
              <a:t>첫 회피 유도</a:t>
            </a:r>
          </a:p>
        </p:txBody>
      </p:sp>
      <p:sp>
        <p:nvSpPr>
          <p:cNvPr id="68" name="Rectangle 67"/>
          <p:cNvSpPr/>
          <p:nvPr/>
        </p:nvSpPr>
        <p:spPr>
          <a:xfrm>
            <a:off x="7726680" y="4517136"/>
            <a:ext cx="4114800" cy="32918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99832" y="4553712"/>
            <a:ext cx="3968496" cy="256031"/>
          </a:xfrm>
          <a:prstGeom prst="rect">
            <a:avLst/>
          </a:prstGeom>
          <a:noFill/>
        </p:spPr>
        <p:txBody>
          <a:bodyPr wrap="square">
            <a:spAutoFit/>
          </a:bodyPr>
          <a:lstStyle/>
          <a:p>
            <a:pPr algn="ctr"/>
            <a:r>
              <a:rPr sz="950" b="0">
                <a:solidFill>
                  <a:srgbClr val="B8BECC"/>
                </a:solidFill>
                <a:latin typeface="맑은 고딕"/>
              </a:rPr>
              <a:t>"Shift로 구르기 — 장애물도 통과 가능"</a:t>
            </a:r>
          </a:p>
        </p:txBody>
      </p:sp>
      <p:sp>
        <p:nvSpPr>
          <p:cNvPr id="70" name="Rectangle 69"/>
          <p:cNvSpPr/>
          <p:nvPr/>
        </p:nvSpPr>
        <p:spPr>
          <a:xfrm>
            <a:off x="6080760" y="4846320"/>
            <a:ext cx="1645920" cy="32918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53912" y="4882896"/>
            <a:ext cx="1499616" cy="256031"/>
          </a:xfrm>
          <a:prstGeom prst="rect">
            <a:avLst/>
          </a:prstGeom>
          <a:noFill/>
        </p:spPr>
        <p:txBody>
          <a:bodyPr wrap="square">
            <a:spAutoFit/>
          </a:bodyPr>
          <a:lstStyle/>
          <a:p>
            <a:pPr algn="ctr"/>
            <a:r>
              <a:rPr sz="950" b="0">
                <a:solidFill>
                  <a:srgbClr val="FFFFFF"/>
                </a:solidFill>
                <a:latin typeface="맑은 고딕"/>
              </a:rPr>
              <a:t>스킬 언락 후</a:t>
            </a:r>
          </a:p>
        </p:txBody>
      </p:sp>
      <p:sp>
        <p:nvSpPr>
          <p:cNvPr id="72" name="Rectangle 71"/>
          <p:cNvSpPr/>
          <p:nvPr/>
        </p:nvSpPr>
        <p:spPr>
          <a:xfrm>
            <a:off x="7726680" y="4846320"/>
            <a:ext cx="4114800" cy="329184"/>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99832" y="4882896"/>
            <a:ext cx="3968496" cy="256031"/>
          </a:xfrm>
          <a:prstGeom prst="rect">
            <a:avLst/>
          </a:prstGeom>
          <a:noFill/>
        </p:spPr>
        <p:txBody>
          <a:bodyPr wrap="square">
            <a:spAutoFit/>
          </a:bodyPr>
          <a:lstStyle/>
          <a:p>
            <a:pPr algn="ctr"/>
            <a:r>
              <a:rPr sz="950" b="0">
                <a:solidFill>
                  <a:srgbClr val="B8BECC"/>
                </a:solidFill>
                <a:latin typeface="맑은 고딕"/>
              </a:rPr>
              <a:t>"Q / E 키로 스킬 사용"</a:t>
            </a:r>
          </a:p>
        </p:txBody>
      </p:sp>
      <p:sp>
        <p:nvSpPr>
          <p:cNvPr id="74" name="Rectangle 73"/>
          <p:cNvSpPr/>
          <p:nvPr/>
        </p:nvSpPr>
        <p:spPr>
          <a:xfrm>
            <a:off x="6080760" y="5175504"/>
            <a:ext cx="1645920" cy="32918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153912" y="5212080"/>
            <a:ext cx="1499616" cy="256031"/>
          </a:xfrm>
          <a:prstGeom prst="rect">
            <a:avLst/>
          </a:prstGeom>
          <a:noFill/>
        </p:spPr>
        <p:txBody>
          <a:bodyPr wrap="square">
            <a:spAutoFit/>
          </a:bodyPr>
          <a:lstStyle/>
          <a:p>
            <a:pPr algn="ctr"/>
            <a:r>
              <a:rPr sz="950" b="0">
                <a:solidFill>
                  <a:srgbClr val="FFFFFF"/>
                </a:solidFill>
                <a:latin typeface="맑은 고딕"/>
              </a:rPr>
              <a:t>아이템 획득 후</a:t>
            </a:r>
          </a:p>
        </p:txBody>
      </p:sp>
      <p:sp>
        <p:nvSpPr>
          <p:cNvPr id="76" name="Rectangle 75"/>
          <p:cNvSpPr/>
          <p:nvPr/>
        </p:nvSpPr>
        <p:spPr>
          <a:xfrm>
            <a:off x="7726680" y="5175504"/>
            <a:ext cx="4114800" cy="329184"/>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99832" y="5212080"/>
            <a:ext cx="3968496" cy="256031"/>
          </a:xfrm>
          <a:prstGeom prst="rect">
            <a:avLst/>
          </a:prstGeom>
          <a:noFill/>
        </p:spPr>
        <p:txBody>
          <a:bodyPr wrap="square">
            <a:spAutoFit/>
          </a:bodyPr>
          <a:lstStyle/>
          <a:p>
            <a:pPr algn="ctr"/>
            <a:r>
              <a:rPr sz="950" b="0">
                <a:solidFill>
                  <a:srgbClr val="B8BECC"/>
                </a:solidFill>
                <a:latin typeface="맑은 고딕"/>
              </a:rPr>
              <a:t>"Tab 키로 아이템 그리드 열기 — 배치해야 효과 발동"</a:t>
            </a:r>
          </a:p>
        </p:txBody>
      </p:sp>
      <p:sp>
        <p:nvSpPr>
          <p:cNvPr id="78" name="Rectangle 77"/>
          <p:cNvSpPr/>
          <p:nvPr/>
        </p:nvSpPr>
        <p:spPr>
          <a:xfrm>
            <a:off x="5897880" y="5394960"/>
            <a:ext cx="5943600" cy="100584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897880" y="5394960"/>
            <a:ext cx="59436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035040" y="5449824"/>
            <a:ext cx="5669280" cy="256032"/>
          </a:xfrm>
          <a:prstGeom prst="rect">
            <a:avLst/>
          </a:prstGeom>
          <a:noFill/>
        </p:spPr>
        <p:txBody>
          <a:bodyPr wrap="square">
            <a:spAutoFit/>
          </a:bodyPr>
          <a:lstStyle/>
          <a:p>
            <a:pPr algn="l"/>
            <a:r>
              <a:rPr sz="1200" b="1">
                <a:solidFill>
                  <a:srgbClr val="C9A84C"/>
                </a:solidFill>
                <a:latin typeface="맑은 고딕"/>
              </a:rPr>
              <a:t>로비 — 캐릭터 &amp; 장비 전시대 (Hades 스타일)</a:t>
            </a:r>
          </a:p>
        </p:txBody>
      </p:sp>
      <p:sp>
        <p:nvSpPr>
          <p:cNvPr id="81" name="TextBox 80"/>
          <p:cNvSpPr txBox="1"/>
          <p:nvPr/>
        </p:nvSpPr>
        <p:spPr>
          <a:xfrm>
            <a:off x="6080760" y="5742432"/>
            <a:ext cx="5577840" cy="502920"/>
          </a:xfrm>
          <a:prstGeom prst="rect">
            <a:avLst/>
          </a:prstGeom>
          <a:noFill/>
        </p:spPr>
        <p:txBody>
          <a:bodyPr wrap="square">
            <a:spAutoFit/>
          </a:bodyPr>
          <a:lstStyle/>
          <a:p>
            <a:pPr algn="l"/>
            <a:r>
              <a:rPr sz="950" b="0">
                <a:solidFill>
                  <a:srgbClr val="B8BECC"/>
                </a:solidFill>
                <a:latin typeface="맑은 고딕"/>
              </a:rPr>
              <a:t>▸ 해금 영웅 유물 3D 회전 전시  |  "연습" 버튼: 샌드박스 방 즉시 진입
▸ 보유 무기 3D 전시  |  영웅별 친화도 배지 (★★★)  |  최대 2슬롯 장비 선택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502920"/>
            <a:ext cx="12188952" cy="640080"/>
          </a:xfrm>
          <a:prstGeom prst="rect">
            <a:avLst/>
          </a:prstGeom>
          <a:noFill/>
        </p:spPr>
        <p:txBody>
          <a:bodyPr wrap="square">
            <a:spAutoFit/>
          </a:bodyPr>
          <a:lstStyle/>
          <a:p>
            <a:pPr algn="ctr"/>
            <a:r>
              <a:rPr sz="3000" b="1">
                <a:solidFill>
                  <a:srgbClr val="C9A84C"/>
                </a:solidFill>
                <a:latin typeface="맑은 고딕"/>
              </a:rPr>
              <a:t>RELIC FAIRY  —  핵심 요약  v0.5</a:t>
            </a:r>
          </a:p>
        </p:txBody>
      </p:sp>
      <p:sp>
        <p:nvSpPr>
          <p:cNvPr id="5" name="Rectangle 4"/>
          <p:cNvSpPr/>
          <p:nvPr/>
        </p:nvSpPr>
        <p:spPr>
          <a:xfrm>
            <a:off x="1371600" y="1207008"/>
            <a:ext cx="94183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54864" cy="64008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1188720" cy="292608"/>
          </a:xfrm>
          <a:prstGeom prst="rect">
            <a:avLst/>
          </a:prstGeom>
          <a:noFill/>
        </p:spPr>
        <p:txBody>
          <a:bodyPr wrap="square">
            <a:spAutoFit/>
          </a:bodyPr>
          <a:lstStyle/>
          <a:p>
            <a:pPr algn="l"/>
            <a:r>
              <a:rPr sz="1300" b="1">
                <a:solidFill>
                  <a:srgbClr val="4AC2B8"/>
                </a:solidFill>
                <a:latin typeface="맑은 고딕"/>
              </a:rPr>
              <a:t>세계관</a:t>
            </a:r>
          </a:p>
        </p:txBody>
      </p:sp>
      <p:sp>
        <p:nvSpPr>
          <p:cNvPr id="9" name="TextBox 8"/>
          <p:cNvSpPr txBox="1"/>
          <p:nvPr/>
        </p:nvSpPr>
        <p:spPr>
          <a:xfrm>
            <a:off x="2011680" y="1435607"/>
            <a:ext cx="9509760" cy="384048"/>
          </a:xfrm>
          <a:prstGeom prst="rect">
            <a:avLst/>
          </a:prstGeom>
          <a:noFill/>
        </p:spPr>
        <p:txBody>
          <a:bodyPr wrap="square">
            <a:spAutoFit/>
          </a:bodyPr>
          <a:lstStyle/>
          <a:p>
            <a:pPr algn="l"/>
            <a:r>
              <a:rPr sz="1050" b="0">
                <a:solidFill>
                  <a:srgbClr val="B8BECC"/>
                </a:solidFill>
                <a:latin typeface="맑은 고딕"/>
              </a:rPr>
              <a:t>멀린 사망 → 리치(육체 탈취) → 모르가나(진짜 배후) / 모던 다크 동화 아서왕 전설</a:t>
            </a:r>
          </a:p>
        </p:txBody>
      </p:sp>
      <p:sp>
        <p:nvSpPr>
          <p:cNvPr id="10" name="Rectangle 9"/>
          <p:cNvSpPr/>
          <p:nvPr/>
        </p:nvSpPr>
        <p:spPr>
          <a:xfrm>
            <a:off x="457200" y="2075688"/>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075688"/>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67128"/>
            <a:ext cx="1188720" cy="292608"/>
          </a:xfrm>
          <a:prstGeom prst="rect">
            <a:avLst/>
          </a:prstGeom>
          <a:noFill/>
        </p:spPr>
        <p:txBody>
          <a:bodyPr wrap="square">
            <a:spAutoFit/>
          </a:bodyPr>
          <a:lstStyle/>
          <a:p>
            <a:pPr algn="l"/>
            <a:r>
              <a:rPr sz="1300" b="1">
                <a:solidFill>
                  <a:srgbClr val="C9A84C"/>
                </a:solidFill>
                <a:latin typeface="맑은 고딕"/>
              </a:rPr>
              <a:t>영웅</a:t>
            </a:r>
          </a:p>
        </p:txBody>
      </p:sp>
      <p:sp>
        <p:nvSpPr>
          <p:cNvPr id="13" name="TextBox 12"/>
          <p:cNvSpPr txBox="1"/>
          <p:nvPr/>
        </p:nvSpPr>
        <p:spPr>
          <a:xfrm>
            <a:off x="2011680" y="2185416"/>
            <a:ext cx="9509760" cy="384048"/>
          </a:xfrm>
          <a:prstGeom prst="rect">
            <a:avLst/>
          </a:prstGeom>
          <a:noFill/>
        </p:spPr>
        <p:txBody>
          <a:bodyPr wrap="square">
            <a:spAutoFit/>
          </a:bodyPr>
          <a:lstStyle/>
          <a:p>
            <a:pPr algn="l"/>
            <a:r>
              <a:rPr sz="1050" b="0">
                <a:solidFill>
                  <a:srgbClr val="B8BECC"/>
                </a:solidFill>
                <a:latin typeface="맑은 고딕"/>
              </a:rPr>
              <a:t>5종 유물 (암시형 네이밍) / 고유 메커닉+패시브+스킬 / 해금형 순차 개방</a:t>
            </a:r>
          </a:p>
        </p:txBody>
      </p:sp>
      <p:sp>
        <p:nvSpPr>
          <p:cNvPr id="14" name="Rectangle 13"/>
          <p:cNvSpPr/>
          <p:nvPr/>
        </p:nvSpPr>
        <p:spPr>
          <a:xfrm>
            <a:off x="457200" y="2825496"/>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825496"/>
            <a:ext cx="54864"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916936"/>
            <a:ext cx="1188720" cy="292608"/>
          </a:xfrm>
          <a:prstGeom prst="rect">
            <a:avLst/>
          </a:prstGeom>
          <a:noFill/>
        </p:spPr>
        <p:txBody>
          <a:bodyPr wrap="square">
            <a:spAutoFit/>
          </a:bodyPr>
          <a:lstStyle/>
          <a:p>
            <a:pPr algn="l"/>
            <a:r>
              <a:rPr sz="1300" b="1">
                <a:solidFill>
                  <a:srgbClr val="FFFFFF"/>
                </a:solidFill>
                <a:latin typeface="맑은 고딕"/>
              </a:rPr>
              <a:t>장비</a:t>
            </a:r>
          </a:p>
        </p:txBody>
      </p:sp>
      <p:sp>
        <p:nvSpPr>
          <p:cNvPr id="17" name="TextBox 16"/>
          <p:cNvSpPr txBox="1"/>
          <p:nvPr/>
        </p:nvSpPr>
        <p:spPr>
          <a:xfrm>
            <a:off x="2011680" y="2935224"/>
            <a:ext cx="9509760" cy="384048"/>
          </a:xfrm>
          <a:prstGeom prst="rect">
            <a:avLst/>
          </a:prstGeom>
          <a:noFill/>
        </p:spPr>
        <p:txBody>
          <a:bodyPr wrap="square">
            <a:spAutoFit/>
          </a:bodyPr>
          <a:lstStyle/>
          <a:p>
            <a:pPr algn="l"/>
            <a:r>
              <a:rPr sz="1050" b="0">
                <a:solidFill>
                  <a:srgbClr val="B8BECC"/>
                </a:solidFill>
                <a:latin typeface="맑은 고딕"/>
              </a:rPr>
              <a:t>모든 영웅 × 모든 장비 / 이중 효과 구조 / 드롭 가중치 조정</a:t>
            </a:r>
          </a:p>
        </p:txBody>
      </p:sp>
      <p:sp>
        <p:nvSpPr>
          <p:cNvPr id="18" name="Rectangle 17"/>
          <p:cNvSpPr/>
          <p:nvPr/>
        </p:nvSpPr>
        <p:spPr>
          <a:xfrm>
            <a:off x="457200" y="3575304"/>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575304"/>
            <a:ext cx="54864" cy="64008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666744"/>
            <a:ext cx="1188720" cy="292608"/>
          </a:xfrm>
          <a:prstGeom prst="rect">
            <a:avLst/>
          </a:prstGeom>
          <a:noFill/>
        </p:spPr>
        <p:txBody>
          <a:bodyPr wrap="square">
            <a:spAutoFit/>
          </a:bodyPr>
          <a:lstStyle/>
          <a:p>
            <a:pPr algn="l"/>
            <a:r>
              <a:rPr sz="1300" b="1">
                <a:solidFill>
                  <a:srgbClr val="4AC2B8"/>
                </a:solidFill>
                <a:latin typeface="맑은 고딕"/>
              </a:rPr>
              <a:t>서약</a:t>
            </a:r>
          </a:p>
        </p:txBody>
      </p:sp>
      <p:sp>
        <p:nvSpPr>
          <p:cNvPr id="21" name="TextBox 20"/>
          <p:cNvSpPr txBox="1"/>
          <p:nvPr/>
        </p:nvSpPr>
        <p:spPr>
          <a:xfrm>
            <a:off x="2011680" y="3685032"/>
            <a:ext cx="9509760" cy="384048"/>
          </a:xfrm>
          <a:prstGeom prst="rect">
            <a:avLst/>
          </a:prstGeom>
          <a:noFill/>
        </p:spPr>
        <p:txBody>
          <a:bodyPr wrap="square">
            <a:spAutoFit/>
          </a:bodyPr>
          <a:lstStyle/>
          <a:p>
            <a:pPr algn="l"/>
            <a:r>
              <a:rPr sz="1050" b="0">
                <a:solidFill>
                  <a:srgbClr val="B8BECC"/>
                </a:solidFill>
                <a:latin typeface="맑은 고딕"/>
              </a:rPr>
              <a:t>12종 × 3단계(기본→강화→진화) / 런 시작 선택 → 이벤트방 강화 → 보스 진화</a:t>
            </a:r>
          </a:p>
        </p:txBody>
      </p:sp>
      <p:sp>
        <p:nvSpPr>
          <p:cNvPr id="22" name="Rectangle 21"/>
          <p:cNvSpPr/>
          <p:nvPr/>
        </p:nvSpPr>
        <p:spPr>
          <a:xfrm>
            <a:off x="457200" y="4325112"/>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325112"/>
            <a:ext cx="54864" cy="640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416551"/>
            <a:ext cx="1188720" cy="292608"/>
          </a:xfrm>
          <a:prstGeom prst="rect">
            <a:avLst/>
          </a:prstGeom>
          <a:noFill/>
        </p:spPr>
        <p:txBody>
          <a:bodyPr wrap="square">
            <a:spAutoFit/>
          </a:bodyPr>
          <a:lstStyle/>
          <a:p>
            <a:pPr algn="l"/>
            <a:r>
              <a:rPr sz="1300" b="1">
                <a:solidFill>
                  <a:srgbClr val="C9A84C"/>
                </a:solidFill>
                <a:latin typeface="맑은 고딕"/>
              </a:rPr>
              <a:t>메타</a:t>
            </a:r>
          </a:p>
        </p:txBody>
      </p:sp>
      <p:sp>
        <p:nvSpPr>
          <p:cNvPr id="25" name="TextBox 24"/>
          <p:cNvSpPr txBox="1"/>
          <p:nvPr/>
        </p:nvSpPr>
        <p:spPr>
          <a:xfrm>
            <a:off x="2011680" y="4434840"/>
            <a:ext cx="9509760" cy="384048"/>
          </a:xfrm>
          <a:prstGeom prst="rect">
            <a:avLst/>
          </a:prstGeom>
          <a:noFill/>
        </p:spPr>
        <p:txBody>
          <a:bodyPr wrap="square">
            <a:spAutoFit/>
          </a:bodyPr>
          <a:lstStyle/>
          <a:p>
            <a:pPr algn="l"/>
            <a:r>
              <a:rPr sz="1050" b="0">
                <a:solidFill>
                  <a:srgbClr val="B8BECC"/>
                </a:solidFill>
                <a:latin typeface="맑은 고딕"/>
              </a:rPr>
              <a:t>재화 4종 / 멀린의 서약(6슬롯) / 유물 해방 / 유물 각성 / 보스 봉인 시스템</a:t>
            </a:r>
          </a:p>
        </p:txBody>
      </p:sp>
      <p:sp>
        <p:nvSpPr>
          <p:cNvPr id="26" name="Rectangle 25"/>
          <p:cNvSpPr/>
          <p:nvPr/>
        </p:nvSpPr>
        <p:spPr>
          <a:xfrm>
            <a:off x="457200" y="5074920"/>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074920"/>
            <a:ext cx="54864" cy="640080"/>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166359"/>
            <a:ext cx="1188720" cy="292608"/>
          </a:xfrm>
          <a:prstGeom prst="rect">
            <a:avLst/>
          </a:prstGeom>
          <a:noFill/>
        </p:spPr>
        <p:txBody>
          <a:bodyPr wrap="square">
            <a:spAutoFit/>
          </a:bodyPr>
          <a:lstStyle/>
          <a:p>
            <a:pPr algn="l"/>
            <a:r>
              <a:rPr sz="1300" b="1">
                <a:solidFill>
                  <a:srgbClr val="6B3F8E"/>
                </a:solidFill>
                <a:latin typeface="맑은 고딕"/>
              </a:rPr>
              <a:t>세계맵</a:t>
            </a:r>
          </a:p>
        </p:txBody>
      </p:sp>
      <p:sp>
        <p:nvSpPr>
          <p:cNvPr id="29" name="TextBox 28"/>
          <p:cNvSpPr txBox="1"/>
          <p:nvPr/>
        </p:nvSpPr>
        <p:spPr>
          <a:xfrm>
            <a:off x="2011680" y="5184648"/>
            <a:ext cx="9509760" cy="384048"/>
          </a:xfrm>
          <a:prstGeom prst="rect">
            <a:avLst/>
          </a:prstGeom>
          <a:noFill/>
        </p:spPr>
        <p:txBody>
          <a:bodyPr wrap="square">
            <a:spAutoFit/>
          </a:bodyPr>
          <a:lstStyle/>
          <a:p>
            <a:pPr algn="l"/>
            <a:r>
              <a:rPr sz="1050" b="0">
                <a:solidFill>
                  <a:srgbClr val="B8BECC"/>
                </a:solidFill>
                <a:latin typeface="맑은 고딕"/>
              </a:rPr>
              <a:t>26존 단일 물리 세계 / 런당 12존 / 부패 압박 / 히든 보상 / 단축로</a:t>
            </a:r>
          </a:p>
        </p:txBody>
      </p:sp>
      <p:sp>
        <p:nvSpPr>
          <p:cNvPr id="30" name="Rectangle 29"/>
          <p:cNvSpPr/>
          <p:nvPr/>
        </p:nvSpPr>
        <p:spPr>
          <a:xfrm>
            <a:off x="457200" y="5824728"/>
            <a:ext cx="11247120" cy="640080"/>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824728"/>
            <a:ext cx="54864" cy="640080"/>
          </a:xfrm>
          <a:prstGeom prst="rect">
            <a:avLst/>
          </a:prstGeom>
          <a:solidFill>
            <a:srgbClr val="FFB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916168"/>
            <a:ext cx="1188720" cy="292608"/>
          </a:xfrm>
          <a:prstGeom prst="rect">
            <a:avLst/>
          </a:prstGeom>
          <a:noFill/>
        </p:spPr>
        <p:txBody>
          <a:bodyPr wrap="square">
            <a:spAutoFit/>
          </a:bodyPr>
          <a:lstStyle/>
          <a:p>
            <a:pPr algn="l"/>
            <a:r>
              <a:rPr sz="1300" b="1">
                <a:solidFill>
                  <a:srgbClr val="FFB840"/>
                </a:solidFill>
                <a:latin typeface="맑은 고딕"/>
              </a:rPr>
              <a:t>연출</a:t>
            </a:r>
          </a:p>
        </p:txBody>
      </p:sp>
      <p:sp>
        <p:nvSpPr>
          <p:cNvPr id="33" name="TextBox 32"/>
          <p:cNvSpPr txBox="1"/>
          <p:nvPr/>
        </p:nvSpPr>
        <p:spPr>
          <a:xfrm>
            <a:off x="2011680" y="5934456"/>
            <a:ext cx="9509760" cy="384048"/>
          </a:xfrm>
          <a:prstGeom prst="rect">
            <a:avLst/>
          </a:prstGeom>
          <a:noFill/>
        </p:spPr>
        <p:txBody>
          <a:bodyPr wrap="square">
            <a:spAutoFit/>
          </a:bodyPr>
          <a:lstStyle/>
          <a:p>
            <a:pPr algn="l"/>
            <a:r>
              <a:rPr sz="1050" b="0">
                <a:solidFill>
                  <a:srgbClr val="B8BECC"/>
                </a:solidFill>
                <a:latin typeface="맑은 고딕"/>
              </a:rPr>
              <a:t>슬로우모션 / 전진성 / 관성 / 히트 이펙트 / 사망 화면 / 튜토리얼 플로우</a:t>
            </a:r>
          </a:p>
        </p:txBody>
      </p:sp>
      <p:sp>
        <p:nvSpPr>
          <p:cNvPr id="34" name="TextBox 33"/>
          <p:cNvSpPr txBox="1"/>
          <p:nvPr/>
        </p:nvSpPr>
        <p:spPr>
          <a:xfrm>
            <a:off x="0" y="6492240"/>
            <a:ext cx="12188952" cy="274320"/>
          </a:xfrm>
          <a:prstGeom prst="rect">
            <a:avLst/>
          </a:prstGeom>
          <a:noFill/>
        </p:spPr>
        <p:txBody>
          <a:bodyPr wrap="square">
            <a:spAutoFit/>
          </a:bodyPr>
          <a:lstStyle/>
          <a:p>
            <a:pPr algn="ctr"/>
            <a:r>
              <a:rPr sz="1000" b="0">
                <a:solidFill>
                  <a:srgbClr val="2E364A"/>
                </a:solidFill>
                <a:latin typeface="맑은 고딕"/>
              </a:rPr>
              <a:t>v0.5  |  2026.05.21  |  랠릭페어리 기획팀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
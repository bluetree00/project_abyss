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28016"/>
          </a:xfrm>
          <a:prstGeom prst="roundRect">
            <a:avLst>
              <a:gd name="adj" fmla="val 8000"/>
            </a:avLst>
          </a:prstGeom>
          <a:solidFill>
            <a:srgbClr val="FFC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CC4D"/>
                </a:solidFill>
                <a:latin typeface="Consolas"/>
              </a:rPr>
              <a:t>전체 UI 디자인 의뢰 · 디자이너용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5156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ECE6D8"/>
                </a:solidFill>
                <a:latin typeface="Georgia"/>
              </a:rPr>
              <a:t>RelicFairy 전체 UI</a:t>
            </a:r>
          </a:p>
          <a:p>
            <a:pPr algn="l">
              <a:spcAft>
                <a:spcPts val="400"/>
              </a:spcAft>
            </a:pPr>
            <a:r>
              <a:rPr sz="3300" b="1">
                <a:solidFill>
                  <a:srgbClr val="FFCC4D"/>
                </a:solidFill>
                <a:latin typeface="Georgia"/>
              </a:rPr>
              <a:t>디자인 의뢰 · 명조·원신 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97680"/>
            <a:ext cx="98755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9A93A6"/>
                </a:solidFill>
                <a:latin typeface="Segoe UI"/>
              </a:rPr>
              <a:t>현재 모든 UI 리소스는 임시. 서브컬처 대중 컨벤션을 참고해 통일 디자인을 적용합니다. 레이아웃·기능은 확정 — 아트만 제작→스왑. (HUD가 상세 예시, 08p부터 전체 UI)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669280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6577"/>
                </a:solidFill>
                <a:latin typeface="Consolas"/>
              </a:rPr>
              <a:t>기준  </a:t>
            </a:r>
            <a:r>
              <a:rPr sz="1100" b="0">
                <a:solidFill>
                  <a:srgbClr val="9A93A6"/>
                </a:solidFill>
                <a:latin typeface="Consolas"/>
              </a:rPr>
              <a:t>1920×1080 · Match 0.5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5669280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6577"/>
                </a:solidFill>
                <a:latin typeface="Consolas"/>
              </a:rPr>
              <a:t>참고  </a:t>
            </a:r>
            <a:r>
              <a:rPr sz="1100" b="0">
                <a:solidFill>
                  <a:srgbClr val="9A93A6"/>
                </a:solidFill>
                <a:latin typeface="Consolas"/>
              </a:rPr>
              <a:t>Genshin · Wuthering Waves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5669280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6577"/>
                </a:solidFill>
                <a:latin typeface="Consolas"/>
              </a:rPr>
              <a:t>정체성  </a:t>
            </a:r>
            <a:r>
              <a:rPr sz="1100" b="0">
                <a:solidFill>
                  <a:srgbClr val="9A93A6"/>
                </a:solidFill>
                <a:latin typeface="Consolas"/>
              </a:rPr>
              <a:t>유물=금 / 무기=청 / HP=초록→빨강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3657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B8862E"/>
                </a:solidFill>
                <a:latin typeface="Consolas"/>
              </a:rPr>
              <a:t>01  </a:t>
            </a:r>
            <a:r>
              <a:rPr sz="2400" b="1">
                <a:solidFill>
                  <a:srgbClr val="ECE6D8"/>
                </a:solidFill>
                <a:latin typeface="Georgia"/>
              </a:rPr>
              <a:t>현재 레이아웃 (구현 확정)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84048" y="1143000"/>
            <a:ext cx="11430000" cy="5074920"/>
          </a:xfrm>
          <a:prstGeom prst="roundRect">
            <a:avLst>
              <a:gd name="adj" fmla="val 2000"/>
            </a:avLst>
          </a:prstGeom>
          <a:solidFill>
            <a:srgbClr val="4A4038"/>
          </a:solidFill>
          <a:ln w="12700">
            <a:solidFill>
              <a:srgbClr val="B88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98347" y="1295247"/>
            <a:ext cx="1014984" cy="1014984"/>
          </a:xfrm>
          <a:prstGeom prst="roundRect">
            <a:avLst>
              <a:gd name="adj" fmla="val 12000"/>
            </a:avLst>
          </a:prstGeom>
          <a:solidFill>
            <a:srgbClr val="1B1926"/>
          </a:solidFill>
          <a:ln w="16510">
            <a:solidFill>
              <a:srgbClr val="FFC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36574" y="1751990"/>
            <a:ext cx="152247" cy="152247"/>
          </a:xfrm>
          <a:prstGeom prst="ellipse">
            <a:avLst/>
          </a:prstGeom>
          <a:solidFill>
            <a:srgbClr val="181620"/>
          </a:solidFill>
          <a:ln w="15240">
            <a:solidFill>
              <a:srgbClr val="4CD1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8347" y="246247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E9DCC0"/>
                </a:solidFill>
                <a:latin typeface="Georgia"/>
              </a:rPr>
              <a:t>유물의 부름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8347" y="2716225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9AD97"/>
                </a:solidFill>
                <a:latin typeface="Segoe UI"/>
              </a:rPr>
              <a:t>첫 유물을 손에 넣어라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13848" y="1295247"/>
            <a:ext cx="1371600" cy="355244"/>
          </a:xfrm>
          <a:prstGeom prst="roundRect">
            <a:avLst>
              <a:gd name="adj" fmla="val 40000"/>
            </a:avLst>
          </a:prstGeom>
          <a:solidFill>
            <a:srgbClr val="1B1926"/>
          </a:solidFill>
          <a:ln w="12700">
            <a:solidFill>
              <a:srgbClr val="B88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13848" y="1295247"/>
            <a:ext cx="1371600" cy="3552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CC4D"/>
                </a:solidFill>
                <a:latin typeface="Consolas"/>
              </a:rPr>
              <a:t>⬡ 99,999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55948" y="1396746"/>
            <a:ext cx="3886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0E2C2"/>
                </a:solidFill>
                <a:latin typeface="Georgia"/>
              </a:rPr>
              <a:t>망각의 흑기사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0248" y="1751990"/>
            <a:ext cx="3657600" cy="228371"/>
          </a:xfrm>
          <a:prstGeom prst="roundRect">
            <a:avLst>
              <a:gd name="adj" fmla="val 30000"/>
            </a:avLst>
          </a:prstGeom>
          <a:solidFill>
            <a:srgbClr val="B03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2647" y="3274466"/>
            <a:ext cx="1485900" cy="811987"/>
          </a:xfrm>
          <a:prstGeom prst="roundRect">
            <a:avLst>
              <a:gd name="adj" fmla="val 10000"/>
            </a:avLst>
          </a:prstGeom>
          <a:solidFill>
            <a:srgbClr val="1B1926"/>
          </a:solidFill>
          <a:ln w="12700">
            <a:solidFill>
              <a:srgbClr val="39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7" y="3832707"/>
            <a:ext cx="14859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73B3FF"/>
                </a:solidFill>
                <a:latin typeface="Consolas"/>
              </a:rPr>
              <a:t>◈ ◈  서약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7" y="4492447"/>
            <a:ext cx="228371" cy="228371"/>
          </a:xfrm>
          <a:prstGeom prst="roundRect">
            <a:avLst>
              <a:gd name="adj" fmla="val 18000"/>
            </a:avLst>
          </a:prstGeom>
          <a:solidFill>
            <a:srgbClr val="1B1926"/>
          </a:solidFill>
          <a:ln w="15240">
            <a:solidFill>
              <a:srgbClr val="FFC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91768" y="4492447"/>
            <a:ext cx="228371" cy="228371"/>
          </a:xfrm>
          <a:prstGeom prst="roundRect">
            <a:avLst>
              <a:gd name="adj" fmla="val 18000"/>
            </a:avLst>
          </a:prstGeom>
          <a:solidFill>
            <a:srgbClr val="1B1926"/>
          </a:solidFill>
          <a:ln w="15240">
            <a:solidFill>
              <a:srgbClr val="39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170889" y="4492447"/>
            <a:ext cx="228371" cy="228371"/>
          </a:xfrm>
          <a:prstGeom prst="roundRect">
            <a:avLst>
              <a:gd name="adj" fmla="val 18000"/>
            </a:avLst>
          </a:prstGeom>
          <a:solidFill>
            <a:srgbClr val="1B1926"/>
          </a:solidFill>
          <a:ln w="15240">
            <a:solidFill>
              <a:srgbClr val="39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450009" y="4492447"/>
            <a:ext cx="228371" cy="228371"/>
          </a:xfrm>
          <a:prstGeom prst="roundRect">
            <a:avLst>
              <a:gd name="adj" fmla="val 18000"/>
            </a:avLst>
          </a:prstGeom>
          <a:solidFill>
            <a:srgbClr val="1B1926"/>
          </a:solidFill>
          <a:ln w="15240">
            <a:solidFill>
              <a:srgbClr val="39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7" y="4340199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9A93A6"/>
                </a:solidFill>
                <a:latin typeface="Consolas"/>
              </a:rPr>
              <a:t>버프 · 유물패시브=금 첫셀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7" y="5202936"/>
            <a:ext cx="710488" cy="710488"/>
          </a:xfrm>
          <a:prstGeom prst="roundRect">
            <a:avLst>
              <a:gd name="adj" fmla="val 14000"/>
            </a:avLst>
          </a:prstGeom>
          <a:solidFill>
            <a:srgbClr val="1B1926"/>
          </a:solidFill>
          <a:ln w="20320">
            <a:solidFill>
              <a:srgbClr val="FFC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424635" y="5202936"/>
            <a:ext cx="710488" cy="710488"/>
          </a:xfrm>
          <a:prstGeom prst="roundRect">
            <a:avLst>
              <a:gd name="adj" fmla="val 14000"/>
            </a:avLst>
          </a:prstGeom>
          <a:solidFill>
            <a:srgbClr val="1B1926"/>
          </a:solidFill>
          <a:ln w="12700">
            <a:solidFill>
              <a:srgbClr val="39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7" y="5989548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FFCC4D"/>
                </a:solidFill>
                <a:latin typeface="Consolas"/>
              </a:rPr>
              <a:t>무기 2슬롯 · 활성=금 글로우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13098" y="4949190"/>
            <a:ext cx="3771900" cy="1217980"/>
          </a:xfrm>
          <a:prstGeom prst="roundRect">
            <a:avLst>
              <a:gd name="adj" fmla="val 10000"/>
            </a:avLst>
          </a:prstGeom>
          <a:solidFill>
            <a:srgbClr val="0A09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4548" y="5076063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B27A"/>
                </a:solidFill>
                <a:latin typeface="Consolas"/>
              </a:rPr>
              <a:t>ATK 45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3348" y="5076063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8FC0FF"/>
                </a:solidFill>
                <a:latin typeface="Consolas"/>
              </a:rPr>
              <a:t>DEF 20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13148" y="5405932"/>
            <a:ext cx="2971800" cy="279120"/>
          </a:xfrm>
          <a:prstGeom prst="roundRect">
            <a:avLst>
              <a:gd name="adj" fmla="val 40000"/>
            </a:avLst>
          </a:prstGeom>
          <a:solidFill>
            <a:srgbClr val="0E0D14"/>
          </a:solidFill>
          <a:ln w="10160">
            <a:solidFill>
              <a:srgbClr val="B88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670298" y="5436382"/>
            <a:ext cx="2286000" cy="218221"/>
          </a:xfrm>
          <a:prstGeom prst="roundRect">
            <a:avLst>
              <a:gd name="adj" fmla="val 40000"/>
            </a:avLst>
          </a:prstGeom>
          <a:solidFill>
            <a:srgbClr val="4CD1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13148" y="5405932"/>
            <a:ext cx="2971800" cy="279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>
                <a:solidFill>
                  <a:srgbClr val="EAFFF0"/>
                </a:solidFill>
                <a:latin typeface="Consolas"/>
              </a:rPr>
              <a:t>250 / 250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898898" y="5786551"/>
            <a:ext cx="2400300" cy="228371"/>
          </a:xfrm>
          <a:prstGeom prst="roundRect">
            <a:avLst>
              <a:gd name="adj" fmla="val 40000"/>
            </a:avLst>
          </a:prstGeom>
          <a:solidFill>
            <a:srgbClr val="0E0D14"/>
          </a:solidFill>
          <a:ln w="10160">
            <a:solidFill>
              <a:srgbClr val="B88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956048" y="5817001"/>
            <a:ext cx="1371600" cy="167472"/>
          </a:xfrm>
          <a:prstGeom prst="roundRect">
            <a:avLst>
              <a:gd name="adj" fmla="val 40000"/>
            </a:avLst>
          </a:prstGeom>
          <a:solidFill>
            <a:srgbClr val="FFC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98898" y="5786551"/>
            <a:ext cx="2400300" cy="2283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F3D8"/>
                </a:solidFill>
                <a:latin typeface="Consolas"/>
              </a:rPr>
              <a:t>정오 충전 (유물 아이덴티티 바)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13648" y="4187952"/>
            <a:ext cx="202996" cy="202996"/>
          </a:xfrm>
          <a:prstGeom prst="roundRect">
            <a:avLst>
              <a:gd name="adj" fmla="val 16000"/>
            </a:avLst>
          </a:prstGeom>
          <a:solidFill>
            <a:srgbClr val="1B1926"/>
          </a:solidFill>
          <a:ln w="12700">
            <a:solidFill>
              <a:srgbClr val="39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867394" y="4187952"/>
            <a:ext cx="202996" cy="202996"/>
          </a:xfrm>
          <a:prstGeom prst="roundRect">
            <a:avLst>
              <a:gd name="adj" fmla="val 16000"/>
            </a:avLst>
          </a:prstGeom>
          <a:solidFill>
            <a:srgbClr val="1B1926"/>
          </a:solidFill>
          <a:ln w="12700">
            <a:solidFill>
              <a:srgbClr val="39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121140" y="4187952"/>
            <a:ext cx="202996" cy="202996"/>
          </a:xfrm>
          <a:prstGeom prst="roundRect">
            <a:avLst>
              <a:gd name="adj" fmla="val 16000"/>
            </a:avLst>
          </a:prstGeom>
          <a:solidFill>
            <a:srgbClr val="1B1926"/>
          </a:solidFill>
          <a:ln w="12700">
            <a:solidFill>
              <a:srgbClr val="39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385048" y="4898440"/>
            <a:ext cx="1116482" cy="1116482"/>
          </a:xfrm>
          <a:prstGeom prst="roundRect">
            <a:avLst>
              <a:gd name="adj" fmla="val 12000"/>
            </a:avLst>
          </a:prstGeom>
          <a:solidFill>
            <a:srgbClr val="1B1926"/>
          </a:solidFill>
          <a:ln w="22860">
            <a:solidFill>
              <a:srgbClr val="FFC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569528" y="5126812"/>
            <a:ext cx="659739" cy="659739"/>
          </a:xfrm>
          <a:prstGeom prst="ellipse">
            <a:avLst/>
          </a:prstGeom>
          <a:solidFill>
            <a:srgbClr val="181620"/>
          </a:solidFill>
          <a:ln w="15240">
            <a:solidFill>
              <a:srgbClr val="FFC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85048" y="4746193"/>
            <a:ext cx="111648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CC4D"/>
                </a:solidFill>
                <a:latin typeface="Consolas"/>
              </a:rPr>
              <a:t>유물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85048" y="6040297"/>
            <a:ext cx="111648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onsolas"/>
              </a:rPr>
              <a:t>Q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470898" y="4898440"/>
            <a:ext cx="2171700" cy="1116482"/>
          </a:xfrm>
          <a:prstGeom prst="roundRect">
            <a:avLst>
              <a:gd name="adj" fmla="val 10000"/>
            </a:avLst>
          </a:prstGeom>
          <a:solidFill>
            <a:srgbClr val="1B1926"/>
          </a:solidFill>
          <a:ln w="22860">
            <a:solidFill>
              <a:srgbClr val="73B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648977" y="5177561"/>
            <a:ext cx="558241" cy="558241"/>
          </a:xfrm>
          <a:prstGeom prst="ellipse">
            <a:avLst/>
          </a:prstGeom>
          <a:solidFill>
            <a:srgbClr val="181620"/>
          </a:solidFill>
          <a:ln w="15240">
            <a:solidFill>
              <a:srgbClr val="73B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360266" y="5088750"/>
            <a:ext cx="735863" cy="735863"/>
          </a:xfrm>
          <a:prstGeom prst="ellipse">
            <a:avLst/>
          </a:prstGeom>
          <a:solidFill>
            <a:srgbClr val="181620"/>
          </a:solidFill>
          <a:ln w="15240">
            <a:solidFill>
              <a:srgbClr val="73B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470898" y="4746193"/>
            <a:ext cx="21717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73B3FF"/>
                </a:solidFill>
                <a:latin typeface="Consolas"/>
              </a:rPr>
              <a:t>무기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42348" y="6040297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onsolas"/>
              </a:rPr>
              <a:t>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99598" y="6040297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73B3FF"/>
                </a:solidFill>
                <a:latin typeface="Consolas"/>
              </a:rPr>
              <a:t>R 궁극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4048" y="6291072"/>
            <a:ext cx="11430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93A6"/>
                </a:solidFill>
                <a:latin typeface="Segoe UI"/>
              </a:rPr>
              <a:t>중앙 하단=유물 아이덴티티(HP+게이지 바) · 우하단=유물 포드(Q)+무기 포드(E·R, R 강조) · 좌하단=무기(활성 강조) · 좌측=버프/서약 · 좌상=미니맵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B8862E"/>
                </a:solidFill>
                <a:latin typeface="Consolas"/>
              </a:rPr>
              <a:t>02  </a:t>
            </a:r>
            <a:r>
              <a:rPr sz="2400" b="1">
                <a:solidFill>
                  <a:srgbClr val="ECE6D8"/>
                </a:solidFill>
                <a:latin typeface="Georgia"/>
              </a:rPr>
              <a:t>색 팔레트 (코드 확정값)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2084831" cy="822960"/>
          </a:xfrm>
          <a:prstGeom prst="roundRect">
            <a:avLst>
              <a:gd name="adj" fmla="val 6000"/>
            </a:avLst>
          </a:prstGeom>
          <a:solidFill>
            <a:srgbClr val="FFCC4D"/>
          </a:solidFill>
          <a:ln w="9525">
            <a:solidFill>
              <a:srgbClr val="39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40280"/>
            <a:ext cx="20848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ECE6D8"/>
                </a:solidFill>
                <a:latin typeface="Segoe UI"/>
              </a:rPr>
              <a:t>유물 금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6B6577"/>
                </a:solidFill>
                <a:latin typeface="Consolas"/>
              </a:rPr>
              <a:t>#FFCC4D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35808" y="1371600"/>
            <a:ext cx="2084831" cy="822960"/>
          </a:xfrm>
          <a:prstGeom prst="roundRect">
            <a:avLst>
              <a:gd name="adj" fmla="val 6000"/>
            </a:avLst>
          </a:prstGeom>
          <a:solidFill>
            <a:srgbClr val="73B3FF"/>
          </a:solidFill>
          <a:ln w="9525">
            <a:solidFill>
              <a:srgbClr val="39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35808" y="2240280"/>
            <a:ext cx="20848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ECE6D8"/>
                </a:solidFill>
                <a:latin typeface="Segoe UI"/>
              </a:rPr>
              <a:t>무기 청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6B6577"/>
                </a:solidFill>
                <a:latin typeface="Consolas"/>
              </a:rPr>
              <a:t>#73B3FF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48656" y="1371600"/>
            <a:ext cx="2084831" cy="822960"/>
          </a:xfrm>
          <a:prstGeom prst="roundRect">
            <a:avLst>
              <a:gd name="adj" fmla="val 6000"/>
            </a:avLst>
          </a:prstGeom>
          <a:solidFill>
            <a:srgbClr val="4CD159"/>
          </a:solidFill>
          <a:ln w="9525">
            <a:solidFill>
              <a:srgbClr val="39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48656" y="2240280"/>
            <a:ext cx="20848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ECE6D8"/>
                </a:solidFill>
                <a:latin typeface="Segoe UI"/>
              </a:rPr>
              <a:t>HP 가득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6B6577"/>
                </a:solidFill>
                <a:latin typeface="Consolas"/>
              </a:rPr>
              <a:t>#4CD159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61504" y="1371600"/>
            <a:ext cx="2084831" cy="822960"/>
          </a:xfrm>
          <a:prstGeom prst="roundRect">
            <a:avLst>
              <a:gd name="adj" fmla="val 6000"/>
            </a:avLst>
          </a:prstGeom>
          <a:solidFill>
            <a:srgbClr val="F2C733"/>
          </a:solidFill>
          <a:ln w="9525">
            <a:solidFill>
              <a:srgbClr val="39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61504" y="2240280"/>
            <a:ext cx="20848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ECE6D8"/>
                </a:solidFill>
                <a:latin typeface="Segoe UI"/>
              </a:rPr>
              <a:t>HP 절반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6B6577"/>
                </a:solidFill>
                <a:latin typeface="Consolas"/>
              </a:rPr>
              <a:t>#F2C733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74352" y="1371600"/>
            <a:ext cx="2084831" cy="822960"/>
          </a:xfrm>
          <a:prstGeom prst="roundRect">
            <a:avLst>
              <a:gd name="adj" fmla="val 6000"/>
            </a:avLst>
          </a:prstGeom>
          <a:solidFill>
            <a:srgbClr val="E63836"/>
          </a:solidFill>
          <a:ln w="9525">
            <a:solidFill>
              <a:srgbClr val="39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2240280"/>
            <a:ext cx="20848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ECE6D8"/>
                </a:solidFill>
                <a:latin typeface="Segoe UI"/>
              </a:rPr>
              <a:t>HP 위험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6B6577"/>
                </a:solidFill>
                <a:latin typeface="Consolas"/>
              </a:rPr>
              <a:t>#E63836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017520"/>
            <a:ext cx="2084831" cy="822960"/>
          </a:xfrm>
          <a:prstGeom prst="roundRect">
            <a:avLst>
              <a:gd name="adj" fmla="val 6000"/>
            </a:avLst>
          </a:prstGeom>
          <a:solidFill>
            <a:srgbClr val="C74DFA"/>
          </a:solidFill>
          <a:ln w="9525">
            <a:solidFill>
              <a:srgbClr val="39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886200"/>
            <a:ext cx="20848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ECE6D8"/>
                </a:solidFill>
                <a:latin typeface="Segoe UI"/>
              </a:rPr>
              <a:t>MAX/심판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6B6577"/>
                </a:solidFill>
                <a:latin typeface="Consolas"/>
              </a:rPr>
              <a:t>#C74DFA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35808" y="3017520"/>
            <a:ext cx="2084831" cy="822960"/>
          </a:xfrm>
          <a:prstGeom prst="roundRect">
            <a:avLst>
              <a:gd name="adj" fmla="val 6000"/>
            </a:avLst>
          </a:prstGeom>
          <a:solidFill>
            <a:srgbClr val="FFD940"/>
          </a:solidFill>
          <a:ln w="9525">
            <a:solidFill>
              <a:srgbClr val="39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35808" y="3886200"/>
            <a:ext cx="20848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ECE6D8"/>
                </a:solidFill>
                <a:latin typeface="Segoe UI"/>
              </a:rPr>
              <a:t>정오 금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6B6577"/>
                </a:solidFill>
                <a:latin typeface="Consolas"/>
              </a:rPr>
              <a:t>#FFD940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48656" y="3017520"/>
            <a:ext cx="2084831" cy="822960"/>
          </a:xfrm>
          <a:prstGeom prst="roundRect">
            <a:avLst>
              <a:gd name="adj" fmla="val 6000"/>
            </a:avLst>
          </a:prstGeom>
          <a:solidFill>
            <a:srgbClr val="B89430"/>
          </a:solidFill>
          <a:ln w="9525">
            <a:solidFill>
              <a:srgbClr val="39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48656" y="3886200"/>
            <a:ext cx="20848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ECE6D8"/>
                </a:solidFill>
                <a:latin typeface="Segoe UI"/>
              </a:rPr>
              <a:t>충전 금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6B6577"/>
                </a:solidFill>
                <a:latin typeface="Consolas"/>
              </a:rPr>
              <a:t>#B89430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61504" y="3017520"/>
            <a:ext cx="2084831" cy="822960"/>
          </a:xfrm>
          <a:prstGeom prst="roundRect">
            <a:avLst>
              <a:gd name="adj" fmla="val 6000"/>
            </a:avLst>
          </a:prstGeom>
          <a:solidFill>
            <a:srgbClr val="1B1926"/>
          </a:solidFill>
          <a:ln w="9525">
            <a:solidFill>
              <a:srgbClr val="39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61504" y="3886200"/>
            <a:ext cx="20848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ECE6D8"/>
                </a:solidFill>
                <a:latin typeface="Segoe UI"/>
              </a:rPr>
              <a:t>글래스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6B6577"/>
                </a:solidFill>
                <a:latin typeface="Consolas"/>
              </a:rPr>
              <a:t>32~55% 검정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74352" y="3017520"/>
            <a:ext cx="2084831" cy="822960"/>
          </a:xfrm>
          <a:prstGeom prst="roundRect">
            <a:avLst>
              <a:gd name="adj" fmla="val 6000"/>
            </a:avLst>
          </a:prstGeom>
          <a:solidFill>
            <a:srgbClr val="ECE6D8"/>
          </a:solidFill>
          <a:ln w="9525">
            <a:solidFill>
              <a:srgbClr val="39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74352" y="3886200"/>
            <a:ext cx="20848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ECE6D8"/>
                </a:solidFill>
                <a:latin typeface="Segoe UI"/>
              </a:rPr>
              <a:t>잉크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6B6577"/>
                </a:solidFill>
                <a:latin typeface="Consolas"/>
              </a:rPr>
              <a:t>#ECE6D8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B8862E"/>
                </a:solidFill>
                <a:latin typeface="Consolas"/>
              </a:rPr>
              <a:t>03  </a:t>
            </a:r>
            <a:r>
              <a:rPr sz="2400" b="1">
                <a:solidFill>
                  <a:srgbClr val="ECE6D8"/>
                </a:solidFill>
                <a:latin typeface="Georgia"/>
              </a:rPr>
              <a:t>형태 언어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463040"/>
            <a:ext cx="5120640" cy="1737360"/>
          </a:xfrm>
          <a:prstGeom prst="roundRect">
            <a:avLst>
              <a:gd name="adj" fmla="val 6000"/>
            </a:avLst>
          </a:prstGeom>
          <a:solidFill>
            <a:srgbClr val="1B1926"/>
          </a:solidFill>
          <a:ln w="9525">
            <a:solidFill>
              <a:srgbClr val="39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463040"/>
            <a:ext cx="54864" cy="1737360"/>
          </a:xfrm>
          <a:prstGeom prst="roundRect">
            <a:avLst>
              <a:gd name="adj" fmla="val 0"/>
            </a:avLst>
          </a:prstGeom>
          <a:solidFill>
            <a:srgbClr val="FFC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719072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CC4D"/>
                </a:solidFill>
                <a:latin typeface="Segoe UI"/>
              </a:rPr>
              <a:t>글래스 패널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176272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9A93A6"/>
                </a:solidFill>
                <a:latin typeface="Segoe UI"/>
              </a:rPr>
              <a:t>반투명 다크(32~55%) + 상단 하이라이트 + 하단 그림자. 배경이 항상 비침 (원신 카드·명조 패널 질감).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1737360"/>
          </a:xfrm>
          <a:prstGeom prst="roundRect">
            <a:avLst>
              <a:gd name="adj" fmla="val 6000"/>
            </a:avLst>
          </a:prstGeom>
          <a:solidFill>
            <a:srgbClr val="1B1926"/>
          </a:solidFill>
          <a:ln w="9525">
            <a:solidFill>
              <a:srgbClr val="39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4864" cy="1737360"/>
          </a:xfrm>
          <a:prstGeom prst="roundRect">
            <a:avLst>
              <a:gd name="adj" fmla="val 0"/>
            </a:avLst>
          </a:prstGeom>
          <a:solidFill>
            <a:srgbClr val="FFC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719072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CC4D"/>
                </a:solidFill>
                <a:latin typeface="Segoe UI"/>
              </a:rPr>
              <a:t>얇은 금장 테두리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176272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9A93A6"/>
                </a:solidFill>
                <a:latin typeface="Segoe UI"/>
              </a:rPr>
              <a:t>1~2px 골드/청 라인 + 코너 필리그리(명조식 절삭 코너). 유물=금, 무기=청으로 출처를 색으로 즉시 구분.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474720"/>
            <a:ext cx="5120640" cy="1737360"/>
          </a:xfrm>
          <a:prstGeom prst="roundRect">
            <a:avLst>
              <a:gd name="adj" fmla="val 6000"/>
            </a:avLst>
          </a:prstGeom>
          <a:solidFill>
            <a:srgbClr val="1B1926"/>
          </a:solidFill>
          <a:ln w="9525">
            <a:solidFill>
              <a:srgbClr val="39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3474720"/>
            <a:ext cx="54864" cy="1737360"/>
          </a:xfrm>
          <a:prstGeom prst="roundRect">
            <a:avLst>
              <a:gd name="adj" fmla="val 0"/>
            </a:avLst>
          </a:prstGeom>
          <a:solidFill>
            <a:srgbClr val="FFC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730752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CC4D"/>
                </a:solidFill>
                <a:latin typeface="Segoe UI"/>
              </a:rPr>
              <a:t>소프트 글로우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87952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9A93A6"/>
                </a:solidFill>
                <a:latin typeface="Segoe UI"/>
              </a:rPr>
              <a:t>활성·절정 시 외곽 블룸. 색+형태 이중부호화(WCAG 1.4.1) — 색맹에도 프레임 형태로 구분.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474720"/>
            <a:ext cx="5120640" cy="1737360"/>
          </a:xfrm>
          <a:prstGeom prst="roundRect">
            <a:avLst>
              <a:gd name="adj" fmla="val 6000"/>
            </a:avLst>
          </a:prstGeom>
          <a:solidFill>
            <a:srgbClr val="1B1926"/>
          </a:solidFill>
          <a:ln w="9525">
            <a:solidFill>
              <a:srgbClr val="39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17920" y="3474720"/>
            <a:ext cx="54864" cy="1737360"/>
          </a:xfrm>
          <a:prstGeom prst="roundRect">
            <a:avLst>
              <a:gd name="adj" fmla="val 0"/>
            </a:avLst>
          </a:prstGeom>
          <a:solidFill>
            <a:srgbClr val="FFC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3730752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CC4D"/>
                </a:solidFill>
                <a:latin typeface="Segoe UI"/>
              </a:rPr>
              <a:t>위계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4187952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9A93A6"/>
                </a:solidFill>
                <a:latin typeface="Segoe UI"/>
              </a:rPr>
              <a:t>스킬 &gt; 무기 &gt; 액티브 순 크기. 궁극(R)이 가장 큼. 밝기·글로우로 시선을 스킬에 모음.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B8862E"/>
                </a:solidFill>
                <a:latin typeface="Consolas"/>
              </a:rPr>
              <a:t>04  </a:t>
            </a:r>
            <a:r>
              <a:rPr sz="2400" b="1">
                <a:solidFill>
                  <a:srgbClr val="ECE6D8"/>
                </a:solidFill>
                <a:latin typeface="Georgia"/>
              </a:rPr>
              <a:t>제작 리소스 (우선순위별)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325880"/>
            <a:ext cx="3429000" cy="2148840"/>
          </a:xfrm>
          <a:prstGeom prst="roundRect">
            <a:avLst>
              <a:gd name="adj" fmla="val 5000"/>
            </a:avLst>
          </a:prstGeom>
          <a:solidFill>
            <a:srgbClr val="1B1926"/>
          </a:solidFill>
          <a:ln w="9525">
            <a:solidFill>
              <a:srgbClr val="39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337560" y="1325880"/>
            <a:ext cx="914400" cy="310896"/>
          </a:xfrm>
          <a:prstGeom prst="roundRect">
            <a:avLst>
              <a:gd name="adj" fmla="val 0"/>
            </a:avLst>
          </a:prstGeom>
          <a:solidFill>
            <a:srgbClr val="FFC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337560" y="1325880"/>
            <a:ext cx="914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3121A"/>
                </a:solidFill>
                <a:latin typeface="Consolas"/>
              </a:rPr>
              <a:t>P0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709928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ECE6D8"/>
                </a:solidFill>
                <a:latin typeface="Segoe UI"/>
              </a:rPr>
              <a:t>스킬 포드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6577"/>
                </a:solidFill>
                <a:latin typeface="Consolas"/>
              </a:rPr>
              <a:t>118² 금 · 300×118 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404872"/>
            <a:ext cx="29260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9A93A6"/>
                </a:solidFill>
                <a:latin typeface="Segoe UI"/>
              </a:rPr>
              <a:t>› pod_frame_relic (9-slice, 코너 필리그리)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9A93A6"/>
                </a:solidFill>
                <a:latin typeface="Segoe UI"/>
              </a:rPr>
              <a:t>› pod_frame_weapon (E·R, R 큼)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9A93A6"/>
                </a:solidFill>
                <a:latin typeface="Segoe UI"/>
              </a:rPr>
              <a:t>› skill_slot_ring + cooldown_overlay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9A93A6"/>
                </a:solidFill>
                <a:latin typeface="Segoe UI"/>
              </a:rPr>
              <a:t>› pod_glow_* 맥동 글로우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6552" y="1325880"/>
            <a:ext cx="3429000" cy="2148840"/>
          </a:xfrm>
          <a:prstGeom prst="roundRect">
            <a:avLst>
              <a:gd name="adj" fmla="val 5000"/>
            </a:avLst>
          </a:prstGeom>
          <a:solidFill>
            <a:srgbClr val="1B1926"/>
          </a:solidFill>
          <a:ln w="9525">
            <a:solidFill>
              <a:srgbClr val="39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931152" y="1325880"/>
            <a:ext cx="914400" cy="310896"/>
          </a:xfrm>
          <a:prstGeom prst="roundRect">
            <a:avLst>
              <a:gd name="adj" fmla="val 0"/>
            </a:avLst>
          </a:prstGeom>
          <a:solidFill>
            <a:srgbClr val="FFC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31152" y="1325880"/>
            <a:ext cx="914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3121A"/>
                </a:solidFill>
                <a:latin typeface="Consolas"/>
              </a:rPr>
              <a:t>P0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0872" y="1709928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ECE6D8"/>
                </a:solidFill>
                <a:latin typeface="Segoe UI"/>
              </a:rPr>
              <a:t>유물 아이덴티티 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0872" y="2103120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6577"/>
                </a:solidFill>
                <a:latin typeface="Consolas"/>
              </a:rPr>
              <a:t>360×14 · HP 아래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0872" y="2404872"/>
            <a:ext cx="29260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9A93A6"/>
                </a:solidFill>
                <a:latin typeface="Segoe UI"/>
              </a:rPr>
              <a:t>› relic_bar_track (9-slice)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9A93A6"/>
                </a:solidFill>
                <a:latin typeface="Segoe UI"/>
              </a:rPr>
              <a:t>› relic_bar_fill (화이트 마스터)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9A93A6"/>
                </a:solidFill>
                <a:latin typeface="Segoe UI"/>
              </a:rPr>
              <a:t>› 단계 눈금(16/31/MAX·각인80%)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325880"/>
            <a:ext cx="3429000" cy="2148840"/>
          </a:xfrm>
          <a:prstGeom prst="roundRect">
            <a:avLst>
              <a:gd name="adj" fmla="val 5000"/>
            </a:avLst>
          </a:prstGeom>
          <a:solidFill>
            <a:srgbClr val="1B1926"/>
          </a:solidFill>
          <a:ln w="9525">
            <a:solidFill>
              <a:srgbClr val="39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524744" y="1325880"/>
            <a:ext cx="914400" cy="310896"/>
          </a:xfrm>
          <a:prstGeom prst="roundRect">
            <a:avLst>
              <a:gd name="adj" fmla="val 0"/>
            </a:avLst>
          </a:prstGeom>
          <a:solidFill>
            <a:srgbClr val="FFC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24744" y="1325880"/>
            <a:ext cx="914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3121A"/>
                </a:solidFill>
                <a:latin typeface="Consolas"/>
              </a:rPr>
              <a:t>P0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1709928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ECE6D8"/>
                </a:solidFill>
                <a:latin typeface="Segoe UI"/>
              </a:rPr>
              <a:t>HP 바 (얇은 모던)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4464" y="2103120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6577"/>
                </a:solidFill>
                <a:latin typeface="Consolas"/>
              </a:rPr>
              <a:t>520×16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4464" y="2404872"/>
            <a:ext cx="29260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9A93A6"/>
                </a:solidFill>
                <a:latin typeface="Segoe UI"/>
              </a:rPr>
              <a:t>› hp_track 다크글래스+금테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9A93A6"/>
                </a:solidFill>
                <a:latin typeface="Segoe UI"/>
              </a:rPr>
              <a:t>› hp_fill 화이트 마스터(색=코드)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9A93A6"/>
                </a:solidFill>
                <a:latin typeface="Segoe UI"/>
              </a:rPr>
              <a:t>› (선택) hp_endcap 보석 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3675888"/>
            <a:ext cx="3429000" cy="2148840"/>
          </a:xfrm>
          <a:prstGeom prst="roundRect">
            <a:avLst>
              <a:gd name="adj" fmla="val 5000"/>
            </a:avLst>
          </a:prstGeom>
          <a:solidFill>
            <a:srgbClr val="1B1926"/>
          </a:solidFill>
          <a:ln w="9525">
            <a:solidFill>
              <a:srgbClr val="39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337560" y="3675888"/>
            <a:ext cx="914400" cy="310896"/>
          </a:xfrm>
          <a:prstGeom prst="roundRect">
            <a:avLst>
              <a:gd name="adj" fmla="val 0"/>
            </a:avLst>
          </a:prstGeom>
          <a:solidFill>
            <a:srgbClr val="73B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37560" y="3675888"/>
            <a:ext cx="914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3121A"/>
                </a:solidFill>
                <a:latin typeface="Consolas"/>
              </a:rPr>
              <a:t>P1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059936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ECE6D8"/>
                </a:solidFill>
                <a:latin typeface="Segoe UI"/>
              </a:rPr>
              <a:t>무기 슬롯 ×2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453128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6577"/>
                </a:solidFill>
                <a:latin typeface="Consolas"/>
              </a:rPr>
              <a:t>78² · 활성 강조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754880"/>
            <a:ext cx="29260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9A93A6"/>
                </a:solidFill>
                <a:latin typeface="Segoe UI"/>
              </a:rPr>
              <a:t>› weapon_slot_frame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9A93A6"/>
                </a:solidFill>
                <a:latin typeface="Segoe UI"/>
              </a:rPr>
              <a:t>› weapon_slot_active 금테+글로우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9A93A6"/>
                </a:solidFill>
                <a:latin typeface="Segoe UI"/>
              </a:rPr>
              <a:t>› 타입 폴백 아이콘 리터치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16552" y="3675888"/>
            <a:ext cx="3429000" cy="2148840"/>
          </a:xfrm>
          <a:prstGeom prst="roundRect">
            <a:avLst>
              <a:gd name="adj" fmla="val 5000"/>
            </a:avLst>
          </a:prstGeom>
          <a:solidFill>
            <a:srgbClr val="1B1926"/>
          </a:solidFill>
          <a:ln w="9525">
            <a:solidFill>
              <a:srgbClr val="39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931152" y="3675888"/>
            <a:ext cx="914400" cy="310896"/>
          </a:xfrm>
          <a:prstGeom prst="roundRect">
            <a:avLst>
              <a:gd name="adj" fmla="val 0"/>
            </a:avLst>
          </a:prstGeom>
          <a:solidFill>
            <a:srgbClr val="73B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31152" y="3675888"/>
            <a:ext cx="914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3121A"/>
                </a:solidFill>
                <a:latin typeface="Consolas"/>
              </a:rPr>
              <a:t>P1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90872" y="4059936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ECE6D8"/>
                </a:solidFill>
                <a:latin typeface="Segoe UI"/>
              </a:rPr>
              <a:t>버프 셀 / 게이지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90872" y="4453128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6577"/>
                </a:solidFill>
                <a:latin typeface="Consolas"/>
              </a:rPr>
              <a:t>46² 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90872" y="4754880"/>
            <a:ext cx="29260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9A93A6"/>
                </a:solidFill>
                <a:latin typeface="Segoe UI"/>
              </a:rPr>
              <a:t>› buff_cell 다크글래스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9A93A6"/>
                </a:solidFill>
                <a:latin typeface="Segoe UI"/>
              </a:rPr>
              <a:t>› buff_cell_relic 금 첫셀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9A93A6"/>
                </a:solidFill>
                <a:latin typeface="Segoe UI"/>
              </a:rPr>
              <a:t>› buff_gauge_bar 잔여시간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10144" y="3675888"/>
            <a:ext cx="3429000" cy="2148840"/>
          </a:xfrm>
          <a:prstGeom prst="roundRect">
            <a:avLst>
              <a:gd name="adj" fmla="val 5000"/>
            </a:avLst>
          </a:prstGeom>
          <a:solidFill>
            <a:srgbClr val="1B1926"/>
          </a:solidFill>
          <a:ln w="9525">
            <a:solidFill>
              <a:srgbClr val="39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0524744" y="3675888"/>
            <a:ext cx="914400" cy="310896"/>
          </a:xfrm>
          <a:prstGeom prst="roundRect">
            <a:avLst>
              <a:gd name="adj" fmla="val 0"/>
            </a:avLst>
          </a:prstGeom>
          <a:solidFill>
            <a:srgbClr val="8A82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524744" y="3675888"/>
            <a:ext cx="914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3121A"/>
                </a:solidFill>
                <a:latin typeface="Consolas"/>
              </a:rPr>
              <a:t>P2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84464" y="4059936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ECE6D8"/>
                </a:solidFill>
                <a:latin typeface="Segoe UI"/>
              </a:rPr>
              <a:t>주변·연출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84464" y="4453128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6577"/>
                </a:solidFill>
                <a:latin typeface="Consolas"/>
              </a:rPr>
              <a:t>글래스 + 플래시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84464" y="4754880"/>
            <a:ext cx="29260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9A93A6"/>
                </a:solidFill>
                <a:latin typeface="Segoe UI"/>
              </a:rPr>
              <a:t>› minimap_frame / panel_glass_9slice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9A93A6"/>
                </a:solidFill>
                <a:latin typeface="Segoe UI"/>
              </a:rPr>
              <a:t>› center_backdrop 560×106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9A93A6"/>
                </a:solidFill>
                <a:latin typeface="Segoe UI"/>
              </a:rPr>
              <a:t>› 정오 진입·심판·무기스왑 연출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B8862E"/>
                </a:solidFill>
                <a:latin typeface="Consolas"/>
              </a:rPr>
              <a:t>05  </a:t>
            </a:r>
            <a:r>
              <a:rPr sz="2400" b="1">
                <a:solidFill>
                  <a:srgbClr val="ECE6D8"/>
                </a:solidFill>
                <a:latin typeface="Georgia"/>
              </a:rPr>
              <a:t>요소 앵커·크기 (구현 확정)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371600"/>
          <a:ext cx="10515600" cy="4754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1280160"/>
                <a:gridCol w="2743200"/>
                <a:gridCol w="1828800"/>
                <a:gridCol w="2286000"/>
              </a:tblGrid>
              <a:tr h="47548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B6577"/>
                          </a:solidFill>
                          <a:latin typeface="Consolas"/>
                        </a:rPr>
                        <a:t>요소</a:t>
                      </a:r>
                    </a:p>
                  </a:txBody>
                  <a:tcPr marL="82296" marT="27432" marB="27432" anchor="ctr">
                    <a:solidFill>
                      <a:srgbClr val="2220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B6577"/>
                          </a:solidFill>
                          <a:latin typeface="Consolas"/>
                        </a:rPr>
                        <a:t>앵커</a:t>
                      </a:r>
                    </a:p>
                  </a:txBody>
                  <a:tcPr marL="82296" marT="27432" marB="27432" anchor="ctr">
                    <a:solidFill>
                      <a:srgbClr val="2220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B6577"/>
                          </a:solidFill>
                          <a:latin typeface="Consolas"/>
                        </a:rPr>
                        <a:t>위치(x,y)</a:t>
                      </a:r>
                    </a:p>
                  </a:txBody>
                  <a:tcPr marL="82296" marT="27432" marB="27432" anchor="ctr">
                    <a:solidFill>
                      <a:srgbClr val="2220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B6577"/>
                          </a:solidFill>
                          <a:latin typeface="Consolas"/>
                        </a:rPr>
                        <a:t>크기</a:t>
                      </a:r>
                    </a:p>
                  </a:txBody>
                  <a:tcPr marL="82296" marT="27432" marB="27432" anchor="ctr">
                    <a:solidFill>
                      <a:srgbClr val="2220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B6577"/>
                          </a:solidFill>
                          <a:latin typeface="Consolas"/>
                        </a:rPr>
                        <a:t>비고</a:t>
                      </a:r>
                    </a:p>
                  </a:txBody>
                  <a:tcPr marL="82296" marT="27432" marB="27432" anchor="ctr">
                    <a:solidFill>
                      <a:srgbClr val="2220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ECE6D8"/>
                          </a:solidFill>
                          <a:latin typeface="Segoe UI"/>
                        </a:rPr>
                        <a:t>HP 바</a:t>
                      </a:r>
                    </a:p>
                  </a:txBody>
                  <a:tcPr marL="82296" marT="27432" marB="27432" anchor="ctr">
                    <a:solidFill>
                      <a:srgbClr val="1B19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A93A6"/>
                          </a:solidFill>
                          <a:latin typeface="Segoe UI"/>
                        </a:rPr>
                        <a:t>0.5,0</a:t>
                      </a:r>
                    </a:p>
                  </a:txBody>
                  <a:tcPr marL="82296" marT="27432" marB="27432" anchor="ctr">
                    <a:solidFill>
                      <a:srgbClr val="1B19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A93A6"/>
                          </a:solidFill>
                          <a:latin typeface="Segoe UI"/>
                        </a:rPr>
                        <a:t>0, 96</a:t>
                      </a:r>
                    </a:p>
                  </a:txBody>
                  <a:tcPr marL="82296" marT="27432" marB="27432" anchor="ctr">
                    <a:solidFill>
                      <a:srgbClr val="1B19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A93A6"/>
                          </a:solidFill>
                          <a:latin typeface="Segoe UI"/>
                        </a:rPr>
                        <a:t>520×16</a:t>
                      </a:r>
                    </a:p>
                  </a:txBody>
                  <a:tcPr marL="82296" marT="27432" marB="27432" anchor="ctr">
                    <a:solidFill>
                      <a:srgbClr val="1B19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A93A6"/>
                          </a:solidFill>
                          <a:latin typeface="Segoe UI"/>
                        </a:rPr>
                        <a:t>ATK/DEF 상단</a:t>
                      </a:r>
                    </a:p>
                  </a:txBody>
                  <a:tcPr marL="82296" marT="27432" marB="27432" anchor="ctr">
                    <a:solidFill>
                      <a:srgbClr val="1B192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ECE6D8"/>
                          </a:solidFill>
                          <a:latin typeface="Segoe UI"/>
                        </a:rPr>
                        <a:t>유물 바</a:t>
                      </a:r>
                    </a:p>
                  </a:txBody>
                  <a:tcPr marL="82296" marT="27432" marB="27432" anchor="ctr">
                    <a:solidFill>
                      <a:srgbClr val="1312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A93A6"/>
                          </a:solidFill>
                          <a:latin typeface="Segoe UI"/>
                        </a:rPr>
                        <a:t>0.5,0</a:t>
                      </a:r>
                    </a:p>
                  </a:txBody>
                  <a:tcPr marL="82296" marT="27432" marB="27432" anchor="ctr">
                    <a:solidFill>
                      <a:srgbClr val="1312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A93A6"/>
                          </a:solidFill>
                          <a:latin typeface="Segoe UI"/>
                        </a:rPr>
                        <a:t>0, 72</a:t>
                      </a:r>
                    </a:p>
                  </a:txBody>
                  <a:tcPr marL="82296" marT="27432" marB="27432" anchor="ctr">
                    <a:solidFill>
                      <a:srgbClr val="1312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A93A6"/>
                          </a:solidFill>
                          <a:latin typeface="Segoe UI"/>
                        </a:rPr>
                        <a:t>360×14</a:t>
                      </a:r>
                    </a:p>
                  </a:txBody>
                  <a:tcPr marL="82296" marT="27432" marB="27432" anchor="ctr">
                    <a:solidFill>
                      <a:srgbClr val="1312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A93A6"/>
                          </a:solidFill>
                          <a:latin typeface="Segoe UI"/>
                        </a:rPr>
                        <a:t>HP 바로 아래</a:t>
                      </a:r>
                    </a:p>
                  </a:txBody>
                  <a:tcPr marL="82296" marT="27432" marB="27432" anchor="ctr">
                    <a:solidFill>
                      <a:srgbClr val="13121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ECE6D8"/>
                          </a:solidFill>
                          <a:latin typeface="Segoe UI"/>
                        </a:rPr>
                        <a:t>유물 포드 Q</a:t>
                      </a:r>
                    </a:p>
                  </a:txBody>
                  <a:tcPr marL="82296" marT="27432" marB="27432" anchor="ctr">
                    <a:solidFill>
                      <a:srgbClr val="1B19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A93A6"/>
                          </a:solidFill>
                          <a:latin typeface="Segoe UI"/>
                        </a:rPr>
                        <a:t>1,0</a:t>
                      </a:r>
                    </a:p>
                  </a:txBody>
                  <a:tcPr marL="82296" marT="27432" marB="27432" anchor="ctr">
                    <a:solidFill>
                      <a:srgbClr val="1B19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A93A6"/>
                          </a:solidFill>
                          <a:latin typeface="Segoe UI"/>
                        </a:rPr>
                        <a:t>-336, 26</a:t>
                      </a:r>
                    </a:p>
                  </a:txBody>
                  <a:tcPr marL="82296" marT="27432" marB="27432" anchor="ctr">
                    <a:solidFill>
                      <a:srgbClr val="1B19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A93A6"/>
                          </a:solidFill>
                          <a:latin typeface="Segoe UI"/>
                        </a:rPr>
                        <a:t>118×118</a:t>
                      </a:r>
                    </a:p>
                  </a:txBody>
                  <a:tcPr marL="82296" marT="27432" marB="27432" anchor="ctr">
                    <a:solidFill>
                      <a:srgbClr val="1B19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A93A6"/>
                          </a:solidFill>
                          <a:latin typeface="Segoe UI"/>
                        </a:rPr>
                        <a:t>금 · Q 90²</a:t>
                      </a:r>
                    </a:p>
                  </a:txBody>
                  <a:tcPr marL="82296" marT="27432" marB="27432" anchor="ctr">
                    <a:solidFill>
                      <a:srgbClr val="1B192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ECE6D8"/>
                          </a:solidFill>
                          <a:latin typeface="Segoe UI"/>
                        </a:rPr>
                        <a:t>무기 포드 E·R</a:t>
                      </a:r>
                    </a:p>
                  </a:txBody>
                  <a:tcPr marL="82296" marT="27432" marB="27432" anchor="ctr">
                    <a:solidFill>
                      <a:srgbClr val="1312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A93A6"/>
                          </a:solidFill>
                          <a:latin typeface="Segoe UI"/>
                        </a:rPr>
                        <a:t>1,0</a:t>
                      </a:r>
                    </a:p>
                  </a:txBody>
                  <a:tcPr marL="82296" marT="27432" marB="27432" anchor="ctr">
                    <a:solidFill>
                      <a:srgbClr val="1312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A93A6"/>
                          </a:solidFill>
                          <a:latin typeface="Segoe UI"/>
                        </a:rPr>
                        <a:t>-24, 26</a:t>
                      </a:r>
                    </a:p>
                  </a:txBody>
                  <a:tcPr marL="82296" marT="27432" marB="27432" anchor="ctr">
                    <a:solidFill>
                      <a:srgbClr val="1312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A93A6"/>
                          </a:solidFill>
                          <a:latin typeface="Segoe UI"/>
                        </a:rPr>
                        <a:t>300×118</a:t>
                      </a:r>
                    </a:p>
                  </a:txBody>
                  <a:tcPr marL="82296" marT="27432" marB="27432" anchor="ctr">
                    <a:solidFill>
                      <a:srgbClr val="1312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A93A6"/>
                          </a:solidFill>
                          <a:latin typeface="Segoe UI"/>
                        </a:rPr>
                        <a:t>청 · E78 / R100</a:t>
                      </a:r>
                    </a:p>
                  </a:txBody>
                  <a:tcPr marL="82296" marT="27432" marB="27432" anchor="ctr">
                    <a:solidFill>
                      <a:srgbClr val="13121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ECE6D8"/>
                          </a:solidFill>
                          <a:latin typeface="Segoe UI"/>
                        </a:rPr>
                        <a:t>액티브 ①②③</a:t>
                      </a:r>
                    </a:p>
                  </a:txBody>
                  <a:tcPr marL="82296" marT="27432" marB="27432" anchor="ctr">
                    <a:solidFill>
                      <a:srgbClr val="1B19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A93A6"/>
                          </a:solidFill>
                          <a:latin typeface="Segoe UI"/>
                        </a:rPr>
                        <a:t>1,0</a:t>
                      </a:r>
                    </a:p>
                  </a:txBody>
                  <a:tcPr marL="82296" marT="27432" marB="27432" anchor="ctr">
                    <a:solidFill>
                      <a:srgbClr val="1B19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A93A6"/>
                          </a:solidFill>
                          <a:latin typeface="Segoe UI"/>
                        </a:rPr>
                        <a:t>-300/-346/-392,172</a:t>
                      </a:r>
                    </a:p>
                  </a:txBody>
                  <a:tcPr marL="82296" marT="27432" marB="27432" anchor="ctr">
                    <a:solidFill>
                      <a:srgbClr val="1B19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A93A6"/>
                          </a:solidFill>
                          <a:latin typeface="Segoe UI"/>
                        </a:rPr>
                        <a:t>46²</a:t>
                      </a:r>
                    </a:p>
                  </a:txBody>
                  <a:tcPr marL="82296" marT="27432" marB="27432" anchor="ctr">
                    <a:solidFill>
                      <a:srgbClr val="1B19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A93A6"/>
                          </a:solidFill>
                          <a:latin typeface="Segoe UI"/>
                        </a:rPr>
                        <a:t>스킬 위 행</a:t>
                      </a:r>
                    </a:p>
                  </a:txBody>
                  <a:tcPr marL="82296" marT="27432" marB="27432" anchor="ctr">
                    <a:solidFill>
                      <a:srgbClr val="1B192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ECE6D8"/>
                          </a:solidFill>
                          <a:latin typeface="Segoe UI"/>
                        </a:rPr>
                        <a:t>무기 슬롯</a:t>
                      </a:r>
                    </a:p>
                  </a:txBody>
                  <a:tcPr marL="82296" marT="27432" marB="27432" anchor="ctr">
                    <a:solidFill>
                      <a:srgbClr val="1312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A93A6"/>
                          </a:solidFill>
                          <a:latin typeface="Segoe UI"/>
                        </a:rPr>
                        <a:t>0,0</a:t>
                      </a:r>
                    </a:p>
                  </a:txBody>
                  <a:tcPr marL="82296" marT="27432" marB="27432" anchor="ctr">
                    <a:solidFill>
                      <a:srgbClr val="1312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A93A6"/>
                          </a:solidFill>
                          <a:latin typeface="Segoe UI"/>
                        </a:rPr>
                        <a:t>30, 60</a:t>
                      </a:r>
                    </a:p>
                  </a:txBody>
                  <a:tcPr marL="82296" marT="27432" marB="27432" anchor="ctr">
                    <a:solidFill>
                      <a:srgbClr val="1312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A93A6"/>
                          </a:solidFill>
                          <a:latin typeface="Segoe UI"/>
                        </a:rPr>
                        <a:t>170×78</a:t>
                      </a:r>
                    </a:p>
                  </a:txBody>
                  <a:tcPr marL="82296" marT="27432" marB="27432" anchor="ctr">
                    <a:solidFill>
                      <a:srgbClr val="1312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A93A6"/>
                          </a:solidFill>
                          <a:latin typeface="Segoe UI"/>
                        </a:rPr>
                        <a:t>활성 금테+1.15×</a:t>
                      </a:r>
                    </a:p>
                  </a:txBody>
                  <a:tcPr marL="82296" marT="27432" marB="27432" anchor="ctr">
                    <a:solidFill>
                      <a:srgbClr val="13121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ECE6D8"/>
                          </a:solidFill>
                          <a:latin typeface="Segoe UI"/>
                        </a:rPr>
                        <a:t>버프 그리드</a:t>
                      </a:r>
                    </a:p>
                  </a:txBody>
                  <a:tcPr marL="82296" marT="27432" marB="27432" anchor="ctr">
                    <a:solidFill>
                      <a:srgbClr val="1B19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A93A6"/>
                          </a:solidFill>
                          <a:latin typeface="Segoe UI"/>
                        </a:rPr>
                        <a:t>0,0.38</a:t>
                      </a:r>
                    </a:p>
                  </a:txBody>
                  <a:tcPr marL="82296" marT="27432" marB="27432" anchor="ctr">
                    <a:solidFill>
                      <a:srgbClr val="1B19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A93A6"/>
                          </a:solidFill>
                          <a:latin typeface="Segoe UI"/>
                        </a:rPr>
                        <a:t>16, ·</a:t>
                      </a:r>
                    </a:p>
                  </a:txBody>
                  <a:tcPr marL="82296" marT="27432" marB="27432" anchor="ctr">
                    <a:solidFill>
                      <a:srgbClr val="1B19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A93A6"/>
                          </a:solidFill>
                          <a:latin typeface="Segoe UI"/>
                        </a:rPr>
                        <a:t>셀 46²</a:t>
                      </a:r>
                    </a:p>
                  </a:txBody>
                  <a:tcPr marL="82296" marT="27432" marB="27432" anchor="ctr">
                    <a:solidFill>
                      <a:srgbClr val="1B19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A93A6"/>
                          </a:solidFill>
                          <a:latin typeface="Segoe UI"/>
                        </a:rPr>
                        <a:t>8열·유물 금첫셀</a:t>
                      </a:r>
                    </a:p>
                  </a:txBody>
                  <a:tcPr marL="82296" marT="27432" marB="27432" anchor="ctr">
                    <a:solidFill>
                      <a:srgbClr val="1B192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ECE6D8"/>
                          </a:solidFill>
                          <a:latin typeface="Segoe UI"/>
                        </a:rPr>
                        <a:t>서약</a:t>
                      </a:r>
                    </a:p>
                  </a:txBody>
                  <a:tcPr marL="82296" marT="27432" marB="27432" anchor="ctr">
                    <a:solidFill>
                      <a:srgbClr val="1312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A93A6"/>
                          </a:solidFill>
                          <a:latin typeface="Segoe UI"/>
                        </a:rPr>
                        <a:t>0,0.60</a:t>
                      </a:r>
                    </a:p>
                  </a:txBody>
                  <a:tcPr marL="82296" marT="27432" marB="27432" anchor="ctr">
                    <a:solidFill>
                      <a:srgbClr val="1312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A93A6"/>
                          </a:solidFill>
                          <a:latin typeface="Segoe UI"/>
                        </a:rPr>
                        <a:t>16, 0</a:t>
                      </a:r>
                    </a:p>
                  </a:txBody>
                  <a:tcPr marL="82296" marT="27432" marB="27432" anchor="ctr">
                    <a:solidFill>
                      <a:srgbClr val="1312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A93A6"/>
                          </a:solidFill>
                          <a:latin typeface="Segoe UI"/>
                        </a:rPr>
                        <a:t>220w</a:t>
                      </a:r>
                    </a:p>
                  </a:txBody>
                  <a:tcPr marL="82296" marT="27432" marB="27432" anchor="ctr">
                    <a:solidFill>
                      <a:srgbClr val="1312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A93A6"/>
                          </a:solidFill>
                          <a:latin typeface="Segoe UI"/>
                        </a:rPr>
                        <a:t>좌 세로</a:t>
                      </a:r>
                    </a:p>
                  </a:txBody>
                  <a:tcPr marL="82296" marT="27432" marB="27432" anchor="ctr">
                    <a:solidFill>
                      <a:srgbClr val="13121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ECE6D8"/>
                          </a:solidFill>
                          <a:latin typeface="Segoe UI"/>
                        </a:rPr>
                        <a:t>미니맵</a:t>
                      </a:r>
                    </a:p>
                  </a:txBody>
                  <a:tcPr marL="82296" marT="27432" marB="27432" anchor="ctr">
                    <a:solidFill>
                      <a:srgbClr val="1B19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A93A6"/>
                          </a:solidFill>
                          <a:latin typeface="Segoe UI"/>
                        </a:rPr>
                        <a:t>0,1</a:t>
                      </a:r>
                    </a:p>
                  </a:txBody>
                  <a:tcPr marL="82296" marT="27432" marB="27432" anchor="ctr">
                    <a:solidFill>
                      <a:srgbClr val="1B19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A93A6"/>
                          </a:solidFill>
                          <a:latin typeface="Segoe UI"/>
                        </a:rPr>
                        <a:t>16, -16</a:t>
                      </a:r>
                    </a:p>
                  </a:txBody>
                  <a:tcPr marL="82296" marT="27432" marB="27432" anchor="ctr">
                    <a:solidFill>
                      <a:srgbClr val="1B19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A93A6"/>
                          </a:solidFill>
                          <a:latin typeface="Segoe UI"/>
                        </a:rPr>
                        <a:t>136²</a:t>
                      </a:r>
                    </a:p>
                  </a:txBody>
                  <a:tcPr marL="82296" marT="27432" marB="27432" anchor="ctr">
                    <a:solidFill>
                      <a:srgbClr val="1B19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A93A6"/>
                          </a:solidFill>
                          <a:latin typeface="Segoe UI"/>
                        </a:rPr>
                        <a:t>좌상단</a:t>
                      </a:r>
                    </a:p>
                  </a:txBody>
                  <a:tcPr marL="82296" marT="27432" marB="27432" anchor="ctr">
                    <a:solidFill>
                      <a:srgbClr val="1B192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B8862E"/>
                </a:solidFill>
                <a:latin typeface="Consolas"/>
              </a:rPr>
              <a:t>06  </a:t>
            </a:r>
            <a:r>
              <a:rPr sz="2400" b="1">
                <a:solidFill>
                  <a:srgbClr val="ECE6D8"/>
                </a:solidFill>
                <a:latin typeface="Georgia"/>
              </a:rPr>
              <a:t>상태·연출 &amp; 전달 형식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371600"/>
          <a:ext cx="6675120" cy="3017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/>
                <a:gridCol w="2377440"/>
                <a:gridCol w="2011680"/>
              </a:tblGrid>
              <a:tr h="5029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B6577"/>
                          </a:solidFill>
                          <a:latin typeface="Consolas"/>
                        </a:rPr>
                        <a:t>연출</a:t>
                      </a:r>
                    </a:p>
                  </a:txBody>
                  <a:tcPr marL="82296" marT="18288" marB="18288" anchor="ctr">
                    <a:solidFill>
                      <a:srgbClr val="2220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B6577"/>
                          </a:solidFill>
                          <a:latin typeface="Consolas"/>
                        </a:rPr>
                        <a:t>현재 코드</a:t>
                      </a:r>
                    </a:p>
                  </a:txBody>
                  <a:tcPr marL="82296" marT="18288" marB="18288" anchor="ctr">
                    <a:solidFill>
                      <a:srgbClr val="2220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6B6577"/>
                          </a:solidFill>
                          <a:latin typeface="Consolas"/>
                        </a:rPr>
                        <a:t>아트 제작</a:t>
                      </a:r>
                    </a:p>
                  </a:txBody>
                  <a:tcPr marL="82296" marT="18288" marB="18288" anchor="ctr">
                    <a:solidFill>
                      <a:srgbClr val="2220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CE6D8"/>
                          </a:solidFill>
                          <a:latin typeface="Segoe UI"/>
                        </a:rPr>
                        <a:t>HP 감소</a:t>
                      </a:r>
                    </a:p>
                  </a:txBody>
                  <a:tcPr marL="82296" marT="18288" marB="18288" anchor="ctr">
                    <a:solidFill>
                      <a:srgbClr val="1B19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93A6"/>
                          </a:solidFill>
                          <a:latin typeface="Segoe UI"/>
                        </a:rPr>
                        <a:t>초록→빨강 + 고스트</a:t>
                      </a:r>
                    </a:p>
                  </a:txBody>
                  <a:tcPr marL="82296" marT="18288" marB="18288" anchor="ctr">
                    <a:solidFill>
                      <a:srgbClr val="1B19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93A6"/>
                          </a:solidFill>
                          <a:latin typeface="Segoe UI"/>
                        </a:rPr>
                        <a:t>fill 마스터 (+고스트)</a:t>
                      </a:r>
                    </a:p>
                  </a:txBody>
                  <a:tcPr marL="82296" marT="18288" marB="18288" anchor="ctr">
                    <a:solidFill>
                      <a:srgbClr val="1B192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CE6D8"/>
                          </a:solidFill>
                          <a:latin typeface="Segoe UI"/>
                        </a:rPr>
                        <a:t>유물 게이지 맥동</a:t>
                      </a:r>
                    </a:p>
                  </a:txBody>
                  <a:tcPr marL="82296" marT="18288" marB="18288" anchor="ctr">
                    <a:solidFill>
                      <a:srgbClr val="1312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93A6"/>
                          </a:solidFill>
                          <a:latin typeface="Segoe UI"/>
                        </a:rPr>
                        <a:t>fill² 외곽 글로우</a:t>
                      </a:r>
                    </a:p>
                  </a:txBody>
                  <a:tcPr marL="82296" marT="18288" marB="18288" anchor="ctr">
                    <a:solidFill>
                      <a:srgbClr val="1312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93A6"/>
                          </a:solidFill>
                          <a:latin typeface="Segoe UI"/>
                        </a:rPr>
                        <a:t>pod_glow·relic_bar 글로우</a:t>
                      </a:r>
                    </a:p>
                  </a:txBody>
                  <a:tcPr marL="82296" marT="18288" marB="18288" anchor="ctr">
                    <a:solidFill>
                      <a:srgbClr val="13121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CE6D8"/>
                          </a:solidFill>
                          <a:latin typeface="Segoe UI"/>
                        </a:rPr>
                        <a:t>가웨인 정오 진입</a:t>
                      </a:r>
                    </a:p>
                  </a:txBody>
                  <a:tcPr marL="82296" marT="18288" marB="18288" anchor="ctr">
                    <a:solidFill>
                      <a:srgbClr val="1B19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93A6"/>
                          </a:solidFill>
                          <a:latin typeface="Segoe UI"/>
                        </a:rPr>
                        <a:t>플래시+펀치+빠른맥동</a:t>
                      </a:r>
                    </a:p>
                  </a:txBody>
                  <a:tcPr marL="82296" marT="18288" marB="18288" anchor="ctr">
                    <a:solidFill>
                      <a:srgbClr val="1B19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93A6"/>
                          </a:solidFill>
                          <a:latin typeface="Segoe UI"/>
                        </a:rPr>
                        <a:t>버스트/링 플래시</a:t>
                      </a:r>
                    </a:p>
                  </a:txBody>
                  <a:tcPr marL="82296" marT="18288" marB="18288" anchor="ctr">
                    <a:solidFill>
                      <a:srgbClr val="1B192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CE6D8"/>
                          </a:solidFill>
                          <a:latin typeface="Segoe UI"/>
                        </a:rPr>
                        <a:t>랜슬롯 MAX(심판)</a:t>
                      </a:r>
                    </a:p>
                  </a:txBody>
                  <a:tcPr marL="82296" marT="18288" marB="18288" anchor="ctr">
                    <a:solidFill>
                      <a:srgbClr val="1312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93A6"/>
                          </a:solidFill>
                          <a:latin typeface="Segoe UI"/>
                        </a:rPr>
                        <a:t>보라 전환</a:t>
                      </a:r>
                    </a:p>
                  </a:txBody>
                  <a:tcPr marL="82296" marT="18288" marB="18288" anchor="ctr">
                    <a:solidFill>
                      <a:srgbClr val="1312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93A6"/>
                          </a:solidFill>
                          <a:latin typeface="Segoe UI"/>
                        </a:rPr>
                        <a:t>MAX 강조 프레임</a:t>
                      </a:r>
                    </a:p>
                  </a:txBody>
                  <a:tcPr marL="82296" marT="18288" marB="18288" anchor="ctr">
                    <a:solidFill>
                      <a:srgbClr val="13121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CE6D8"/>
                          </a:solidFill>
                          <a:latin typeface="Segoe UI"/>
                        </a:rPr>
                        <a:t>활성 무기</a:t>
                      </a:r>
                    </a:p>
                  </a:txBody>
                  <a:tcPr marL="82296" marT="18288" marB="18288" anchor="ctr">
                    <a:solidFill>
                      <a:srgbClr val="1B19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93A6"/>
                          </a:solidFill>
                          <a:latin typeface="Segoe UI"/>
                        </a:rPr>
                        <a:t>금테+1.15배</a:t>
                      </a:r>
                    </a:p>
                  </a:txBody>
                  <a:tcPr marL="82296" marT="18288" marB="18288" anchor="ctr">
                    <a:solidFill>
                      <a:srgbClr val="1B19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93A6"/>
                          </a:solidFill>
                          <a:latin typeface="Segoe UI"/>
                        </a:rPr>
                        <a:t>weapon_slot_active</a:t>
                      </a:r>
                    </a:p>
                  </a:txBody>
                  <a:tcPr marL="82296" marT="18288" marB="18288" anchor="ctr">
                    <a:solidFill>
                      <a:srgbClr val="1B1926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863840" y="1371600"/>
            <a:ext cx="3474720" cy="3017520"/>
          </a:xfrm>
          <a:prstGeom prst="roundRect">
            <a:avLst>
              <a:gd name="adj" fmla="val 5000"/>
            </a:avLst>
          </a:prstGeom>
          <a:solidFill>
            <a:srgbClr val="1B1926"/>
          </a:solidFill>
          <a:ln w="9525">
            <a:solidFill>
              <a:srgbClr val="39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38160" y="160020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CC4D"/>
                </a:solidFill>
                <a:latin typeface="Segoe UI"/>
              </a:rPr>
              <a:t>전달 형식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210312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ECE6D8"/>
                </a:solidFill>
                <a:latin typeface="Consolas"/>
              </a:rPr>
              <a:t>형식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9A93A6"/>
                </a:solidFill>
                <a:latin typeface="Segoe UI"/>
              </a:rPr>
              <a:t>PNG(투명,@2x) · 9-slice 경계 표기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2670048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ECE6D8"/>
                </a:solidFill>
                <a:latin typeface="Consolas"/>
              </a:rPr>
              <a:t>화이트 마스터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9A93A6"/>
                </a:solidFill>
                <a:latin typeface="Segoe UI"/>
              </a:rPr>
              <a:t>HP·유물fill·글로우는 무채색(색=코드)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3236976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ECE6D8"/>
                </a:solidFill>
                <a:latin typeface="Consolas"/>
              </a:rPr>
              <a:t>네이밍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9A93A6"/>
                </a:solidFill>
                <a:latin typeface="Segoe UI"/>
              </a:rPr>
              <a:t>hud_&lt;영역&gt;_&lt;요소&gt;_&lt;상태&gt;.png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3803904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ECE6D8"/>
                </a:solidFill>
                <a:latin typeface="Consolas"/>
              </a:rPr>
              <a:t>우선순위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9A93A6"/>
                </a:solidFill>
                <a:latin typeface="Segoe UI"/>
              </a:rPr>
              <a:t>P0 정체성 → P1 → P2 → P3 리터치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B8862E"/>
                </a:solidFill>
                <a:latin typeface="Consolas"/>
              </a:rPr>
              <a:t>07  </a:t>
            </a:r>
            <a:r>
              <a:rPr sz="2300" b="1">
                <a:solidFill>
                  <a:srgbClr val="ECE6D8"/>
                </a:solidFill>
                <a:latin typeface="Georgia"/>
              </a:rPr>
              <a:t>전체 UI 인벤토리 (임시 → 재디자인)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3429000" cy="1371600"/>
          </a:xfrm>
          <a:prstGeom prst="roundRect">
            <a:avLst>
              <a:gd name="adj" fmla="val 5000"/>
            </a:avLst>
          </a:prstGeom>
          <a:solidFill>
            <a:srgbClr val="1B1926"/>
          </a:solidFill>
          <a:ln w="9525">
            <a:solidFill>
              <a:srgbClr val="39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371600"/>
            <a:ext cx="54864" cy="1371600"/>
          </a:xfrm>
          <a:prstGeom prst="roundRect">
            <a:avLst>
              <a:gd name="adj" fmla="val 0"/>
            </a:avLst>
          </a:prstGeom>
          <a:solidFill>
            <a:srgbClr val="FFC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572768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CC4D"/>
                </a:solidFill>
                <a:latin typeface="Segoe UI"/>
              </a:rPr>
              <a:t>전투 HUD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975104"/>
            <a:ext cx="2971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9A93A6"/>
                </a:solidFill>
                <a:latin typeface="Segoe UI"/>
              </a:rPr>
              <a:t>HP·스킬·무기·버프·유물바 · 보스HP · 서약 · 미니맵 · 퀘스트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16552" y="1371600"/>
            <a:ext cx="3429000" cy="1371600"/>
          </a:xfrm>
          <a:prstGeom prst="roundRect">
            <a:avLst>
              <a:gd name="adj" fmla="val 5000"/>
            </a:avLst>
          </a:prstGeom>
          <a:solidFill>
            <a:srgbClr val="1B1926"/>
          </a:solidFill>
          <a:ln w="9525">
            <a:solidFill>
              <a:srgbClr val="39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416552" y="1371600"/>
            <a:ext cx="54864" cy="1371600"/>
          </a:xfrm>
          <a:prstGeom prst="roundRect">
            <a:avLst>
              <a:gd name="adj" fmla="val 0"/>
            </a:avLst>
          </a:prstGeom>
          <a:solidFill>
            <a:srgbClr val="FFC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90872" y="1572768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CC4D"/>
                </a:solidFill>
                <a:latin typeface="Segoe UI"/>
              </a:rPr>
              <a:t>모달 · 선택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0872" y="1975104"/>
            <a:ext cx="2971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9A93A6"/>
                </a:solidFill>
                <a:latin typeface="Segoe UI"/>
              </a:rPr>
              <a:t>대화창 · 서약 선택(3택) · 클리어 보상 · 무기 모루 · 무기 교체 · 일시정지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1371600"/>
            <a:ext cx="3429000" cy="1371600"/>
          </a:xfrm>
          <a:prstGeom prst="roundRect">
            <a:avLst>
              <a:gd name="adj" fmla="val 5000"/>
            </a:avLst>
          </a:prstGeom>
          <a:solidFill>
            <a:srgbClr val="1B1926"/>
          </a:solidFill>
          <a:ln w="9525">
            <a:solidFill>
              <a:srgbClr val="39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10144" y="1371600"/>
            <a:ext cx="54864" cy="1371600"/>
          </a:xfrm>
          <a:prstGeom prst="roundRect">
            <a:avLst>
              <a:gd name="adj" fmla="val 0"/>
            </a:avLst>
          </a:prstGeom>
          <a:solidFill>
            <a:srgbClr val="FFC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84464" y="1572768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CC4D"/>
                </a:solidFill>
                <a:latin typeface="Segoe UI"/>
              </a:rPr>
              <a:t>획득 · 결과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4464" y="1975104"/>
            <a:ext cx="2971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9A93A6"/>
                </a:solidFill>
                <a:latin typeface="Segoe UI"/>
              </a:rPr>
              <a:t>아이템 획득 리빌 · 클리어 결과(결산)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2944368"/>
            <a:ext cx="3429000" cy="1371600"/>
          </a:xfrm>
          <a:prstGeom prst="roundRect">
            <a:avLst>
              <a:gd name="adj" fmla="val 5000"/>
            </a:avLst>
          </a:prstGeom>
          <a:solidFill>
            <a:srgbClr val="1B1926"/>
          </a:solidFill>
          <a:ln w="9525">
            <a:solidFill>
              <a:srgbClr val="39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" y="2944368"/>
            <a:ext cx="54864" cy="1371600"/>
          </a:xfrm>
          <a:prstGeom prst="roundRect">
            <a:avLst>
              <a:gd name="adj" fmla="val 0"/>
            </a:avLst>
          </a:prstGeom>
          <a:solidFill>
            <a:srgbClr val="FFC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145536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CC4D"/>
                </a:solidFill>
                <a:latin typeface="Segoe UI"/>
              </a:rPr>
              <a:t>상점 · 성장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547872"/>
            <a:ext cx="2971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9A93A6"/>
                </a:solidFill>
                <a:latin typeface="Segoe UI"/>
              </a:rPr>
              <a:t>상점(구매·리롤) · 각성(노드 트리)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16552" y="2944368"/>
            <a:ext cx="3429000" cy="1371600"/>
          </a:xfrm>
          <a:prstGeom prst="roundRect">
            <a:avLst>
              <a:gd name="adj" fmla="val 5000"/>
            </a:avLst>
          </a:prstGeom>
          <a:solidFill>
            <a:srgbClr val="1B1926"/>
          </a:solidFill>
          <a:ln w="9525">
            <a:solidFill>
              <a:srgbClr val="39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416552" y="2944368"/>
            <a:ext cx="54864" cy="1371600"/>
          </a:xfrm>
          <a:prstGeom prst="roundRect">
            <a:avLst>
              <a:gd name="adj" fmla="val 0"/>
            </a:avLst>
          </a:prstGeom>
          <a:solidFill>
            <a:srgbClr val="FFC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90872" y="3145536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CC4D"/>
                </a:solidFill>
                <a:latin typeface="Segoe UI"/>
              </a:rPr>
              <a:t>룬 그리드 · 인벤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90872" y="3547872"/>
            <a:ext cx="2971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9A93A6"/>
                </a:solidFill>
                <a:latin typeface="Segoe UI"/>
              </a:rPr>
              <a:t>룬 그리드(속성존) · 보관함 · 아이템 정보 · 인벤·장비 슬롯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10144" y="2944368"/>
            <a:ext cx="3429000" cy="1371600"/>
          </a:xfrm>
          <a:prstGeom prst="roundRect">
            <a:avLst>
              <a:gd name="adj" fmla="val 5000"/>
            </a:avLst>
          </a:prstGeom>
          <a:solidFill>
            <a:srgbClr val="1B1926"/>
          </a:solidFill>
          <a:ln w="9525">
            <a:solidFill>
              <a:srgbClr val="39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10144" y="2944368"/>
            <a:ext cx="54864" cy="1371600"/>
          </a:xfrm>
          <a:prstGeom prst="roundRect">
            <a:avLst>
              <a:gd name="adj" fmla="val 0"/>
            </a:avLst>
          </a:prstGeom>
          <a:solidFill>
            <a:srgbClr val="FFC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84464" y="3145536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CC4D"/>
                </a:solidFill>
                <a:latin typeface="Segoe UI"/>
              </a:rPr>
              <a:t>월드 · 오버레이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4464" y="3547872"/>
            <a:ext cx="2971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9A93A6"/>
                </a:solidFill>
                <a:latin typeface="Segoe UI"/>
              </a:rPr>
              <a:t>몬스터 HP · 토스트 알림 · 페이드·로딩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4517136"/>
            <a:ext cx="3429000" cy="1371600"/>
          </a:xfrm>
          <a:prstGeom prst="roundRect">
            <a:avLst>
              <a:gd name="adj" fmla="val 5000"/>
            </a:avLst>
          </a:prstGeom>
          <a:solidFill>
            <a:srgbClr val="1B1926"/>
          </a:solidFill>
          <a:ln w="9525">
            <a:solidFill>
              <a:srgbClr val="39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22960" y="4517136"/>
            <a:ext cx="54864" cy="1371600"/>
          </a:xfrm>
          <a:prstGeom prst="roundRect">
            <a:avLst>
              <a:gd name="adj" fmla="val 0"/>
            </a:avLst>
          </a:prstGeom>
          <a:solidFill>
            <a:srgbClr val="FFC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4718303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CC4D"/>
                </a:solidFill>
                <a:latin typeface="Segoe UI"/>
              </a:rPr>
              <a:t>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120640"/>
            <a:ext cx="2971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9A93A6"/>
                </a:solidFill>
                <a:latin typeface="Segoe UI"/>
              </a:rPr>
              <a:t>로비(메인화면)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63550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6577"/>
                </a:solidFill>
                <a:latin typeface="Consolas"/>
              </a:rPr>
              <a:t>23개 UI 전체 · 모든 리소스 임시 → 통일 디자인 적용 대상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B8862E"/>
                </a:solidFill>
                <a:latin typeface="Consolas"/>
              </a:rPr>
              <a:t>08  </a:t>
            </a:r>
            <a:r>
              <a:rPr sz="2300" b="1">
                <a:solidFill>
                  <a:srgbClr val="ECE6D8"/>
                </a:solidFill>
                <a:latin typeface="Georgia"/>
              </a:rPr>
              <a:t>대중성 서브컬처 레퍼런스 (공통 컨벤션)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371600"/>
          <a:ext cx="10515600" cy="4663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/>
                <a:gridCol w="5486400"/>
                <a:gridCol w="2743200"/>
              </a:tblGrid>
              <a:tr h="5181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6B6577"/>
                          </a:solidFill>
                          <a:latin typeface="Consolas"/>
                        </a:rPr>
                        <a:t>UI 카테고리</a:t>
                      </a:r>
                    </a:p>
                  </a:txBody>
                  <a:tcPr marL="82296" marT="18288" marB="18288" anchor="ctr">
                    <a:solidFill>
                      <a:srgbClr val="2220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6B6577"/>
                          </a:solidFill>
                          <a:latin typeface="Consolas"/>
                        </a:rPr>
                        <a:t>대중 컨벤션 (공통점)</a:t>
                      </a:r>
                    </a:p>
                  </a:txBody>
                  <a:tcPr marL="82296" marT="18288" marB="18288" anchor="ctr">
                    <a:solidFill>
                      <a:srgbClr val="2220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6B6577"/>
                          </a:solidFill>
                          <a:latin typeface="Consolas"/>
                        </a:rPr>
                        <a:t>참고</a:t>
                      </a:r>
                    </a:p>
                  </a:txBody>
                  <a:tcPr marL="82296" marT="18288" marB="18288" anchor="ctr">
                    <a:solidFill>
                      <a:srgbClr val="22202E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CE6D8"/>
                          </a:solidFill>
                          <a:latin typeface="Segoe UI"/>
                        </a:rPr>
                        <a:t>모달 / 팝업</a:t>
                      </a:r>
                    </a:p>
                  </a:txBody>
                  <a:tcPr marL="82296" marT="18288" marB="18288" anchor="ctr">
                    <a:solidFill>
                      <a:srgbClr val="1B19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93A6"/>
                          </a:solidFill>
                          <a:latin typeface="Segoe UI"/>
                        </a:rPr>
                        <a:t>dim + 중앙 다크글래스 카드 + 골드 헤더 + 하단 CTA</a:t>
                      </a:r>
                    </a:p>
                  </a:txBody>
                  <a:tcPr marL="82296" marT="18288" marB="18288" anchor="ctr">
                    <a:solidFill>
                      <a:srgbClr val="1B19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93A6"/>
                          </a:solidFill>
                          <a:latin typeface="Segoe UI"/>
                        </a:rPr>
                        <a:t>원신 · HSR</a:t>
                      </a:r>
                    </a:p>
                  </a:txBody>
                  <a:tcPr marL="82296" marT="18288" marB="18288" anchor="ctr">
                    <a:solidFill>
                      <a:srgbClr val="1B1926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CE6D8"/>
                          </a:solidFill>
                          <a:latin typeface="Segoe UI"/>
                        </a:rPr>
                        <a:t>선택창</a:t>
                      </a:r>
                    </a:p>
                  </a:txBody>
                  <a:tcPr marL="82296" marT="18288" marB="18288" anchor="ctr">
                    <a:solidFill>
                      <a:srgbClr val="1312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93A6"/>
                          </a:solidFill>
                          <a:latin typeface="Segoe UI"/>
                        </a:rPr>
                        <a:t>3택 카드 병렬 + 등급 테두리 + 호버 상세 + 선택광</a:t>
                      </a:r>
                    </a:p>
                  </a:txBody>
                  <a:tcPr marL="82296" marT="18288" marB="18288" anchor="ctr">
                    <a:solidFill>
                      <a:srgbClr val="1312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93A6"/>
                          </a:solidFill>
                          <a:latin typeface="Segoe UI"/>
                        </a:rPr>
                        <a:t>하데스 · ZZZ</a:t>
                      </a:r>
                    </a:p>
                  </a:txBody>
                  <a:tcPr marL="82296" marT="18288" marB="18288" anchor="ctr">
                    <a:solidFill>
                      <a:srgbClr val="13121A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CE6D8"/>
                          </a:solidFill>
                          <a:latin typeface="Segoe UI"/>
                        </a:rPr>
                        <a:t>획득 연출</a:t>
                      </a:r>
                    </a:p>
                  </a:txBody>
                  <a:tcPr marL="82296" marT="18288" marB="18288" anchor="ctr">
                    <a:solidFill>
                      <a:srgbClr val="1B19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93A6"/>
                          </a:solidFill>
                          <a:latin typeface="Segoe UI"/>
                        </a:rPr>
                        <a:t>등급별 색광 리빌 + 카드 줌/플립 + 파티클</a:t>
                      </a:r>
                    </a:p>
                  </a:txBody>
                  <a:tcPr marL="82296" marT="18288" marB="18288" anchor="ctr">
                    <a:solidFill>
                      <a:srgbClr val="1B19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93A6"/>
                          </a:solidFill>
                          <a:latin typeface="Segoe UI"/>
                        </a:rPr>
                        <a:t>가챠 리빌</a:t>
                      </a:r>
                    </a:p>
                  </a:txBody>
                  <a:tcPr marL="82296" marT="18288" marB="18288" anchor="ctr">
                    <a:solidFill>
                      <a:srgbClr val="1B1926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CE6D8"/>
                          </a:solidFill>
                          <a:latin typeface="Segoe UI"/>
                        </a:rPr>
                        <a:t>결과창</a:t>
                      </a:r>
                    </a:p>
                  </a:txBody>
                  <a:tcPr marL="82296" marT="18288" marB="18288" anchor="ctr">
                    <a:solidFill>
                      <a:srgbClr val="1312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93A6"/>
                          </a:solidFill>
                          <a:latin typeface="Segoe UI"/>
                        </a:rPr>
                        <a:t>등급 스탬프 + 통계 + 보상 나열 + 연출</a:t>
                      </a:r>
                    </a:p>
                  </a:txBody>
                  <a:tcPr marL="82296" marT="18288" marB="18288" anchor="ctr">
                    <a:solidFill>
                      <a:srgbClr val="1312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93A6"/>
                          </a:solidFill>
                          <a:latin typeface="Segoe UI"/>
                        </a:rPr>
                        <a:t>원신 · HSR 결산</a:t>
                      </a:r>
                    </a:p>
                  </a:txBody>
                  <a:tcPr marL="82296" marT="18288" marB="18288" anchor="ctr">
                    <a:solidFill>
                      <a:srgbClr val="13121A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CE6D8"/>
                          </a:solidFill>
                          <a:latin typeface="Segoe UI"/>
                        </a:rPr>
                        <a:t>인벤 / 그리드</a:t>
                      </a:r>
                    </a:p>
                  </a:txBody>
                  <a:tcPr marL="82296" marT="18288" marB="18288" anchor="ctr">
                    <a:solidFill>
                      <a:srgbClr val="1B19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93A6"/>
                          </a:solidFill>
                          <a:latin typeface="Segoe UI"/>
                        </a:rPr>
                        <a:t>슬롯 + 등급 테두리색 + 드래그 + 우측 정보</a:t>
                      </a:r>
                    </a:p>
                  </a:txBody>
                  <a:tcPr marL="82296" marT="18288" marB="18288" anchor="ctr">
                    <a:solidFill>
                      <a:srgbClr val="1B19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93A6"/>
                          </a:solidFill>
                          <a:latin typeface="Segoe UI"/>
                        </a:rPr>
                        <a:t>원신 배낭 · PGR</a:t>
                      </a:r>
                    </a:p>
                  </a:txBody>
                  <a:tcPr marL="82296" marT="18288" marB="18288" anchor="ctr">
                    <a:solidFill>
                      <a:srgbClr val="1B1926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CE6D8"/>
                          </a:solidFill>
                          <a:latin typeface="Segoe UI"/>
                        </a:rPr>
                        <a:t>상점</a:t>
                      </a:r>
                    </a:p>
                  </a:txBody>
                  <a:tcPr marL="82296" marT="18288" marB="18288" anchor="ctr">
                    <a:solidFill>
                      <a:srgbClr val="1312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93A6"/>
                          </a:solidFill>
                          <a:latin typeface="Segoe UI"/>
                        </a:rPr>
                        <a:t>카드 격자 + 가격 리본 + 리롤 + 재화 상단</a:t>
                      </a:r>
                    </a:p>
                  </a:txBody>
                  <a:tcPr marL="82296" marT="18288" marB="18288" anchor="ctr">
                    <a:solidFill>
                      <a:srgbClr val="1312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93A6"/>
                          </a:solidFill>
                          <a:latin typeface="Segoe UI"/>
                        </a:rPr>
                        <a:t>원신 상점</a:t>
                      </a:r>
                    </a:p>
                  </a:txBody>
                  <a:tcPr marL="82296" marT="18288" marB="18288" anchor="ctr">
                    <a:solidFill>
                      <a:srgbClr val="13121A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CE6D8"/>
                          </a:solidFill>
                          <a:latin typeface="Segoe UI"/>
                        </a:rPr>
                        <a:t>로비 / 메인</a:t>
                      </a:r>
                    </a:p>
                  </a:txBody>
                  <a:tcPr marL="82296" marT="18288" marB="18288" anchor="ctr">
                    <a:solidFill>
                      <a:srgbClr val="1B19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93A6"/>
                          </a:solidFill>
                          <a:latin typeface="Segoe UI"/>
                        </a:rPr>
                        <a:t>캐릭터 스탠딩 + 메뉴 리본 + 재화 상단</a:t>
                      </a:r>
                    </a:p>
                  </a:txBody>
                  <a:tcPr marL="82296" marT="18288" marB="18288" anchor="ctr">
                    <a:solidFill>
                      <a:srgbClr val="1B19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93A6"/>
                          </a:solidFill>
                          <a:latin typeface="Segoe UI"/>
                        </a:rPr>
                        <a:t>원신 · 명조 메인</a:t>
                      </a:r>
                    </a:p>
                  </a:txBody>
                  <a:tcPr marL="82296" marT="18288" marB="18288" anchor="ctr">
                    <a:solidFill>
                      <a:srgbClr val="1B1926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CE6D8"/>
                          </a:solidFill>
                          <a:latin typeface="Segoe UI"/>
                        </a:rPr>
                        <a:t>월드 HP</a:t>
                      </a:r>
                    </a:p>
                  </a:txBody>
                  <a:tcPr marL="82296" marT="18288" marB="18288" anchor="ctr">
                    <a:solidFill>
                      <a:srgbClr val="1312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93A6"/>
                          </a:solidFill>
                          <a:latin typeface="Segoe UI"/>
                        </a:rPr>
                        <a:t>적=얇은바+이름 / 보스=상단 대형+페이즈 눈금</a:t>
                      </a:r>
                    </a:p>
                  </a:txBody>
                  <a:tcPr marL="82296" marT="18288" marB="18288" anchor="ctr">
                    <a:solidFill>
                      <a:srgbClr val="1312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93A6"/>
                          </a:solidFill>
                          <a:latin typeface="Segoe UI"/>
                        </a:rPr>
                        <a:t>공통</a:t>
                      </a:r>
                    </a:p>
                  </a:txBody>
                  <a:tcPr marL="82296" marT="18288" marB="18288" anchor="ctr">
                    <a:solidFill>
                      <a:srgbClr val="13121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B8862E"/>
                </a:solidFill>
                <a:latin typeface="Consolas"/>
              </a:rPr>
              <a:t>09  </a:t>
            </a:r>
            <a:r>
              <a:rPr sz="2300" b="1">
                <a:solidFill>
                  <a:srgbClr val="ECE6D8"/>
                </a:solidFill>
                <a:latin typeface="Georgia"/>
              </a:rPr>
              <a:t>등급 색 체계 + 통합 디자인 시스템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A93A6"/>
                </a:solidFill>
                <a:latin typeface="Segoe UI"/>
              </a:rPr>
              <a:t>등급 색 (아이템·서약·무기 — 슬롯 테두리·획득광 통일 = 대중 학습 코드)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08760"/>
            <a:ext cx="2011680" cy="640080"/>
          </a:xfrm>
          <a:prstGeom prst="roundRect">
            <a:avLst>
              <a:gd name="adj" fmla="val 6000"/>
            </a:avLst>
          </a:prstGeom>
          <a:solidFill>
            <a:srgbClr val="8E8B98"/>
          </a:solidFill>
          <a:ln w="9525">
            <a:solidFill>
              <a:srgbClr val="39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ECE6D8"/>
                </a:solidFill>
                <a:latin typeface="Segoe UI"/>
              </a:rPr>
              <a:t>일반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6B6577"/>
                </a:solidFill>
                <a:latin typeface="Consolas"/>
              </a:rPr>
              <a:t>#8E8B98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0" y="1508760"/>
            <a:ext cx="2011680" cy="640080"/>
          </a:xfrm>
          <a:prstGeom prst="roundRect">
            <a:avLst>
              <a:gd name="adj" fmla="val 6000"/>
            </a:avLst>
          </a:prstGeom>
          <a:solidFill>
            <a:srgbClr val="4CD159"/>
          </a:solidFill>
          <a:ln w="9525">
            <a:solidFill>
              <a:srgbClr val="39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17520" y="219456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ECE6D8"/>
                </a:solidFill>
                <a:latin typeface="Segoe UI"/>
              </a:rPr>
              <a:t>고급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6B6577"/>
                </a:solidFill>
                <a:latin typeface="Consolas"/>
              </a:rPr>
              <a:t>#4CD159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80" y="1508760"/>
            <a:ext cx="2011680" cy="640080"/>
          </a:xfrm>
          <a:prstGeom prst="roundRect">
            <a:avLst>
              <a:gd name="adj" fmla="val 6000"/>
            </a:avLst>
          </a:prstGeom>
          <a:solidFill>
            <a:srgbClr val="5AA9FF"/>
          </a:solidFill>
          <a:ln w="9525">
            <a:solidFill>
              <a:srgbClr val="39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0" y="219456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ECE6D8"/>
                </a:solidFill>
                <a:latin typeface="Segoe UI"/>
              </a:rPr>
              <a:t>희귀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6B6577"/>
                </a:solidFill>
                <a:latin typeface="Consolas"/>
              </a:rPr>
              <a:t>#5AA9FF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1508760"/>
            <a:ext cx="2011680" cy="640080"/>
          </a:xfrm>
          <a:prstGeom prst="roundRect">
            <a:avLst>
              <a:gd name="adj" fmla="val 6000"/>
            </a:avLst>
          </a:prstGeom>
          <a:solidFill>
            <a:srgbClr val="B265FF"/>
          </a:solidFill>
          <a:ln w="9525">
            <a:solidFill>
              <a:srgbClr val="39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0" y="219456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ECE6D8"/>
                </a:solidFill>
                <a:latin typeface="Segoe UI"/>
              </a:rPr>
              <a:t>영웅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6B6577"/>
                </a:solidFill>
                <a:latin typeface="Consolas"/>
              </a:rPr>
              <a:t>#B265FF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0" y="1508760"/>
            <a:ext cx="2011680" cy="640080"/>
          </a:xfrm>
          <a:prstGeom prst="roundRect">
            <a:avLst>
              <a:gd name="adj" fmla="val 6000"/>
            </a:avLst>
          </a:prstGeom>
          <a:solidFill>
            <a:srgbClr val="FFCC4D"/>
          </a:solidFill>
          <a:ln w="9525">
            <a:solidFill>
              <a:srgbClr val="39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0" y="219456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ECE6D8"/>
                </a:solidFill>
                <a:latin typeface="Segoe UI"/>
              </a:rPr>
              <a:t>전설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6B6577"/>
                </a:solidFill>
                <a:latin typeface="Consolas"/>
              </a:rPr>
              <a:t>#FFCC4D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200400"/>
            <a:ext cx="5120640" cy="1188720"/>
          </a:xfrm>
          <a:prstGeom prst="roundRect">
            <a:avLst>
              <a:gd name="adj" fmla="val 5000"/>
            </a:avLst>
          </a:prstGeom>
          <a:solidFill>
            <a:srgbClr val="1B1926"/>
          </a:solidFill>
          <a:ln w="9525">
            <a:solidFill>
              <a:srgbClr val="39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3200400"/>
            <a:ext cx="54864" cy="1188720"/>
          </a:xfrm>
          <a:prstGeom prst="roundRect">
            <a:avLst>
              <a:gd name="adj" fmla="val 0"/>
            </a:avLst>
          </a:prstGeom>
          <a:solidFill>
            <a:srgbClr val="FFC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3832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CC4D"/>
                </a:solidFill>
                <a:latin typeface="Segoe UI"/>
              </a:rPr>
              <a:t>팔레트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767328"/>
            <a:ext cx="45720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93A6"/>
                </a:solidFill>
                <a:latin typeface="Segoe UI"/>
              </a:rPr>
              <a:t>그라운드 #13121A · 골드 #FFCC4D(유물) · 청 #73B3FF(무기) · 잉크 #ECE6D8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200400"/>
            <a:ext cx="5120640" cy="1188720"/>
          </a:xfrm>
          <a:prstGeom prst="roundRect">
            <a:avLst>
              <a:gd name="adj" fmla="val 5000"/>
            </a:avLst>
          </a:prstGeom>
          <a:solidFill>
            <a:srgbClr val="1B1926"/>
          </a:solidFill>
          <a:ln w="9525">
            <a:solidFill>
              <a:srgbClr val="39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17920" y="3200400"/>
            <a:ext cx="54864" cy="1188720"/>
          </a:xfrm>
          <a:prstGeom prst="roundRect">
            <a:avLst>
              <a:gd name="adj" fmla="val 0"/>
            </a:avLst>
          </a:prstGeom>
          <a:solidFill>
            <a:srgbClr val="FFC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3832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CC4D"/>
                </a:solidFill>
                <a:latin typeface="Segoe UI"/>
              </a:rPr>
              <a:t>타이포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767328"/>
            <a:ext cx="45720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93A6"/>
                </a:solidFill>
                <a:latin typeface="Segoe UI"/>
              </a:rPr>
              <a:t>세리프 디스플레이(스토리북) + 산세리프 UI + 모노 데이터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617720"/>
            <a:ext cx="5120640" cy="1188720"/>
          </a:xfrm>
          <a:prstGeom prst="roundRect">
            <a:avLst>
              <a:gd name="adj" fmla="val 5000"/>
            </a:avLst>
          </a:prstGeom>
          <a:solidFill>
            <a:srgbClr val="1B1926"/>
          </a:solidFill>
          <a:ln w="9525">
            <a:solidFill>
              <a:srgbClr val="39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2960" y="4617720"/>
            <a:ext cx="54864" cy="1188720"/>
          </a:xfrm>
          <a:prstGeom prst="roundRect">
            <a:avLst>
              <a:gd name="adj" fmla="val 0"/>
            </a:avLst>
          </a:prstGeom>
          <a:solidFill>
            <a:srgbClr val="FFC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48006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CC4D"/>
                </a:solidFill>
                <a:latin typeface="Segoe UI"/>
              </a:rPr>
              <a:t>컴포넌트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184648"/>
            <a:ext cx="45720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93A6"/>
                </a:solidFill>
                <a:latin typeface="Segoe UI"/>
              </a:rPr>
              <a:t>글래스 패널 · 필리그리 프레임 · 등급 테두리 · Radial 쿨다운 · 골드 CTA · 재화 리본 · 카드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4617720"/>
            <a:ext cx="5120640" cy="1188720"/>
          </a:xfrm>
          <a:prstGeom prst="roundRect">
            <a:avLst>
              <a:gd name="adj" fmla="val 5000"/>
            </a:avLst>
          </a:prstGeom>
          <a:solidFill>
            <a:srgbClr val="1B1926"/>
          </a:solidFill>
          <a:ln w="9525">
            <a:solidFill>
              <a:srgbClr val="39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17920" y="4617720"/>
            <a:ext cx="54864" cy="1188720"/>
          </a:xfrm>
          <a:prstGeom prst="roundRect">
            <a:avLst>
              <a:gd name="adj" fmla="val 0"/>
            </a:avLst>
          </a:prstGeom>
          <a:solidFill>
            <a:srgbClr val="FFC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48006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CC4D"/>
                </a:solidFill>
                <a:latin typeface="Segoe UI"/>
              </a:rPr>
              <a:t>모션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5184648"/>
            <a:ext cx="45720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93A6"/>
                </a:solidFill>
                <a:latin typeface="Segoe UI"/>
              </a:rPr>
              <a:t>모달 페이드+스케일 · 획득 색광 리빌 · 호버 글로우 (과함 지양, 정갈 우선)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B8862E"/>
                </a:solidFill>
                <a:latin typeface="Consolas"/>
              </a:rPr>
              <a:t>10  </a:t>
            </a:r>
            <a:r>
              <a:rPr sz="2300" b="1">
                <a:solidFill>
                  <a:srgbClr val="ECE6D8"/>
                </a:solidFill>
                <a:latin typeface="Georgia"/>
              </a:rPr>
              <a:t>요소별 디자인 의뢰 (방향 + 레퍼런스)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371600"/>
          <a:ext cx="10515600" cy="4663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/>
                <a:gridCol w="5577840"/>
                <a:gridCol w="2834640"/>
              </a:tblGrid>
              <a:tr h="5181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6B6577"/>
                          </a:solidFill>
                          <a:latin typeface="Consolas"/>
                        </a:rPr>
                        <a:t>UI</a:t>
                      </a:r>
                    </a:p>
                  </a:txBody>
                  <a:tcPr marL="82296" marT="18288" marB="18288" anchor="ctr">
                    <a:solidFill>
                      <a:srgbClr val="2220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6B6577"/>
                          </a:solidFill>
                          <a:latin typeface="Consolas"/>
                        </a:rPr>
                        <a:t>목표 디자인 방향</a:t>
                      </a:r>
                    </a:p>
                  </a:txBody>
                  <a:tcPr marL="82296" marT="18288" marB="18288" anchor="ctr">
                    <a:solidFill>
                      <a:srgbClr val="2220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6B6577"/>
                          </a:solidFill>
                          <a:latin typeface="Consolas"/>
                        </a:rPr>
                        <a:t>레퍼런스</a:t>
                      </a:r>
                    </a:p>
                  </a:txBody>
                  <a:tcPr marL="82296" marT="18288" marB="18288" anchor="ctr">
                    <a:solidFill>
                      <a:srgbClr val="22202E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CE6D8"/>
                          </a:solidFill>
                          <a:latin typeface="Segoe UI"/>
                        </a:rPr>
                        <a:t>대화창</a:t>
                      </a:r>
                    </a:p>
                  </a:txBody>
                  <a:tcPr marL="82296" marT="18288" marB="18288" anchor="ctr">
                    <a:solidFill>
                      <a:srgbClr val="1B19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93A6"/>
                          </a:solidFill>
                          <a:latin typeface="Segoe UI"/>
                        </a:rPr>
                        <a:t>하단 대사 리본 + 화자 초상 프레임 + 선택 카드</a:t>
                      </a:r>
                    </a:p>
                  </a:txBody>
                  <a:tcPr marL="82296" marT="18288" marB="18288" anchor="ctr">
                    <a:solidFill>
                      <a:srgbClr val="1B19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93A6"/>
                          </a:solidFill>
                          <a:latin typeface="Segoe UI"/>
                        </a:rPr>
                        <a:t>원신 대화</a:t>
                      </a:r>
                    </a:p>
                  </a:txBody>
                  <a:tcPr marL="82296" marT="18288" marB="18288" anchor="ctr">
                    <a:solidFill>
                      <a:srgbClr val="1B1926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CE6D8"/>
                          </a:solidFill>
                          <a:latin typeface="Segoe UI"/>
                        </a:rPr>
                        <a:t>서약 선택</a:t>
                      </a:r>
                    </a:p>
                  </a:txBody>
                  <a:tcPr marL="82296" marT="18288" marB="18288" anchor="ctr">
                    <a:solidFill>
                      <a:srgbClr val="1312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93A6"/>
                          </a:solidFill>
                          <a:latin typeface="Segoe UI"/>
                        </a:rPr>
                        <a:t>3택 카드 + 등급 테두리 + 선택광</a:t>
                      </a:r>
                    </a:p>
                  </a:txBody>
                  <a:tcPr marL="82296" marT="18288" marB="18288" anchor="ctr">
                    <a:solidFill>
                      <a:srgbClr val="1312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93A6"/>
                          </a:solidFill>
                          <a:latin typeface="Segoe UI"/>
                        </a:rPr>
                        <a:t>하데스 축복</a:t>
                      </a:r>
                    </a:p>
                  </a:txBody>
                  <a:tcPr marL="82296" marT="18288" marB="18288" anchor="ctr">
                    <a:solidFill>
                      <a:srgbClr val="13121A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CE6D8"/>
                          </a:solidFill>
                          <a:latin typeface="Segoe UI"/>
                        </a:rPr>
                        <a:t>아이템 획득</a:t>
                      </a:r>
                    </a:p>
                  </a:txBody>
                  <a:tcPr marL="82296" marT="18288" marB="18288" anchor="ctr">
                    <a:solidFill>
                      <a:srgbClr val="1B19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93A6"/>
                          </a:solidFill>
                          <a:latin typeface="Segoe UI"/>
                        </a:rPr>
                        <a:t>등급 색광 리빌 + 카드 줌 + 파티클</a:t>
                      </a:r>
                    </a:p>
                  </a:txBody>
                  <a:tcPr marL="82296" marT="18288" marB="18288" anchor="ctr">
                    <a:solidFill>
                      <a:srgbClr val="1B19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93A6"/>
                          </a:solidFill>
                          <a:latin typeface="Segoe UI"/>
                        </a:rPr>
                        <a:t>가챠 리빌</a:t>
                      </a:r>
                    </a:p>
                  </a:txBody>
                  <a:tcPr marL="82296" marT="18288" marB="18288" anchor="ctr">
                    <a:solidFill>
                      <a:srgbClr val="1B1926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CE6D8"/>
                          </a:solidFill>
                          <a:latin typeface="Segoe UI"/>
                        </a:rPr>
                        <a:t>상점</a:t>
                      </a:r>
                    </a:p>
                  </a:txBody>
                  <a:tcPr marL="82296" marT="18288" marB="18288" anchor="ctr">
                    <a:solidFill>
                      <a:srgbClr val="1312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93A6"/>
                          </a:solidFill>
                          <a:latin typeface="Segoe UI"/>
                        </a:rPr>
                        <a:t>카드 격자 + 가격 리본 + 리롤 + 재화 상단</a:t>
                      </a:r>
                    </a:p>
                  </a:txBody>
                  <a:tcPr marL="82296" marT="18288" marB="18288" anchor="ctr">
                    <a:solidFill>
                      <a:srgbClr val="1312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93A6"/>
                          </a:solidFill>
                          <a:latin typeface="Segoe UI"/>
                        </a:rPr>
                        <a:t>원신 상점</a:t>
                      </a:r>
                    </a:p>
                  </a:txBody>
                  <a:tcPr marL="82296" marT="18288" marB="18288" anchor="ctr">
                    <a:solidFill>
                      <a:srgbClr val="13121A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CE6D8"/>
                          </a:solidFill>
                          <a:latin typeface="Segoe UI"/>
                        </a:rPr>
                        <a:t>무기 모루</a:t>
                      </a:r>
                    </a:p>
                  </a:txBody>
                  <a:tcPr marL="82296" marT="18288" marB="18288" anchor="ctr">
                    <a:solidFill>
                      <a:srgbClr val="1B19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93A6"/>
                          </a:solidFill>
                          <a:latin typeface="Segoe UI"/>
                        </a:rPr>
                        <a:t>무기 카드(근/원) + 스탯·스킬 미리보기</a:t>
                      </a:r>
                    </a:p>
                  </a:txBody>
                  <a:tcPr marL="82296" marT="18288" marB="18288" anchor="ctr">
                    <a:solidFill>
                      <a:srgbClr val="1B19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93A6"/>
                          </a:solidFill>
                          <a:latin typeface="Segoe UI"/>
                        </a:rPr>
                        <a:t>무기 강화 UI</a:t>
                      </a:r>
                    </a:p>
                  </a:txBody>
                  <a:tcPr marL="82296" marT="18288" marB="18288" anchor="ctr">
                    <a:solidFill>
                      <a:srgbClr val="1B1926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CE6D8"/>
                          </a:solidFill>
                          <a:latin typeface="Segoe UI"/>
                        </a:rPr>
                        <a:t>룬 그리드</a:t>
                      </a:r>
                    </a:p>
                  </a:txBody>
                  <a:tcPr marL="82296" marT="18288" marB="18288" anchor="ctr">
                    <a:solidFill>
                      <a:srgbClr val="1312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93A6"/>
                          </a:solidFill>
                          <a:latin typeface="Segoe UI"/>
                        </a:rPr>
                        <a:t>속성존 컬러 + 등급 슬롯 + 드래그 잔상 + 우측 정보</a:t>
                      </a:r>
                    </a:p>
                  </a:txBody>
                  <a:tcPr marL="82296" marT="18288" marB="18288" anchor="ctr">
                    <a:solidFill>
                      <a:srgbClr val="1312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93A6"/>
                          </a:solidFill>
                          <a:latin typeface="Segoe UI"/>
                        </a:rPr>
                        <a:t>퍼즐+인벤</a:t>
                      </a:r>
                    </a:p>
                  </a:txBody>
                  <a:tcPr marL="82296" marT="18288" marB="18288" anchor="ctr">
                    <a:solidFill>
                      <a:srgbClr val="13121A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CE6D8"/>
                          </a:solidFill>
                          <a:latin typeface="Segoe UI"/>
                        </a:rPr>
                        <a:t>각성</a:t>
                      </a:r>
                    </a:p>
                  </a:txBody>
                  <a:tcPr marL="82296" marT="18288" marB="18288" anchor="ctr">
                    <a:solidFill>
                      <a:srgbClr val="1B19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93A6"/>
                          </a:solidFill>
                          <a:latin typeface="Segoe UI"/>
                        </a:rPr>
                        <a:t>노드 트리 + 해금 연출 + 재화</a:t>
                      </a:r>
                    </a:p>
                  </a:txBody>
                  <a:tcPr marL="82296" marT="18288" marB="18288" anchor="ctr">
                    <a:solidFill>
                      <a:srgbClr val="1B19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93A6"/>
                          </a:solidFill>
                          <a:latin typeface="Segoe UI"/>
                        </a:rPr>
                        <a:t>원신 성흔/재능</a:t>
                      </a:r>
                    </a:p>
                  </a:txBody>
                  <a:tcPr marL="82296" marT="18288" marB="18288" anchor="ctr">
                    <a:solidFill>
                      <a:srgbClr val="1B1926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CE6D8"/>
                          </a:solidFill>
                          <a:latin typeface="Segoe UI"/>
                        </a:rPr>
                        <a:t>로비</a:t>
                      </a:r>
                    </a:p>
                  </a:txBody>
                  <a:tcPr marL="82296" marT="18288" marB="18288" anchor="ctr">
                    <a:solidFill>
                      <a:srgbClr val="1312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93A6"/>
                          </a:solidFill>
                          <a:latin typeface="Segoe UI"/>
                        </a:rPr>
                        <a:t>캐릭터 스탠딩 + 메뉴 리본 + 재화 상단</a:t>
                      </a:r>
                    </a:p>
                  </a:txBody>
                  <a:tcPr marL="82296" marT="18288" marB="18288" anchor="ctr">
                    <a:solidFill>
                      <a:srgbClr val="1312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93A6"/>
                          </a:solidFill>
                          <a:latin typeface="Segoe UI"/>
                        </a:rPr>
                        <a:t>원신·명조 메인</a:t>
                      </a:r>
                    </a:p>
                  </a:txBody>
                  <a:tcPr marL="82296" marT="18288" marB="18288" anchor="ctr">
                    <a:solidFill>
                      <a:srgbClr val="13121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
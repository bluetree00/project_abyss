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600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UI 디자인 의뢰 &amp; 제출 · HUD 외 전체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EDEDF0"/>
                </a:solidFill>
                <a:latin typeface="Georgia"/>
              </a:rPr>
              <a:t>RelicFairy UI 전체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D8C9A0"/>
                </a:solidFill>
                <a:latin typeface="Georgia"/>
              </a:rPr>
              <a:t>디자인 의뢰서 (모달·상점·그리드·로비 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9966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9A6"/>
                </a:solidFill>
                <a:latin typeface="Segoe UI"/>
              </a:rPr>
              <a:t>레이아웃·기능·요구 상태는 확정. </a:t>
            </a:r>
            <a:r>
              <a:rPr sz="1500" b="1">
                <a:solidFill>
                  <a:srgbClr val="EDEDF0"/>
                </a:solidFill>
                <a:latin typeface="Segoe UI"/>
              </a:rPr>
              <a:t>톤/컬러/재질은 디자이너 자유</a:t>
            </a:r>
            <a:r>
              <a:rPr sz="1500" b="0">
                <a:solidFill>
                  <a:srgbClr val="9A99A6"/>
                </a:solidFill>
                <a:latin typeface="Segoe UI"/>
              </a:rPr>
              <a:t> — 서브컬처 참고, 본인 톤으로 통일.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A77"/>
                </a:solidFill>
                <a:latin typeface="Segoe UI"/>
              </a:rPr>
              <a:t>HUD는 별도 문서(HUD_Design_Commission). 본 문서는 그 외 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01  </a:t>
            </a:r>
            <a:r>
              <a:rPr sz="2200" b="1">
                <a:solidFill>
                  <a:srgbClr val="EDEDF0"/>
                </a:solidFill>
                <a:latin typeface="Georgia"/>
              </a:rPr>
              <a:t>의뢰 개요 (HUD와 동일 원칙)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5819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확정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81912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화면 구성·기능·요소별 요구 상태(2~3종)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자유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16352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톤·팔레트·재질·프레임·모션 — 본인 색으로, 전 UI 한 톤 통일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5079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등급 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50791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아이템·서약·무기는 등급 구분(일반→고급→희귀→영웅→전설) 권장(대중 코드)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64008" cy="105156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2852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D8C9A0"/>
                </a:solidFill>
                <a:latin typeface="Segoe UI"/>
              </a:rPr>
              <a:t>제출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85232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9A6"/>
                </a:solidFill>
                <a:latin typeface="Segoe UI"/>
              </a:rPr>
              <a:t>UI 1개 = 요구 상태 이미지 + 완성 화면. 대시 박스에 붙여넣기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02  </a:t>
            </a:r>
            <a:r>
              <a:rPr sz="2200" b="1">
                <a:solidFill>
                  <a:srgbClr val="EDEDF0"/>
                </a:solidFill>
                <a:latin typeface="Georgia"/>
              </a:rPr>
              <a:t>의뢰 — 모달 · 선택 · 획득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105156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194560"/>
                <a:gridCol w="448056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UI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역할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요구 상태(2~3종)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참고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대화창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대사·화자·선택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대사 진행 / 화자 강조 / 선택지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원신 대화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일시정지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메뉴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기본 / 버튼 호버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공통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서약 선택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서약 택1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카드 / 호버 / 선택됨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하데스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클리어 보상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보상 택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카드 / 호버 / 선택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원신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아이템 획득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등급 리빌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일반 / 희귀 / 전설(등급광)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가챠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03  </a:t>
            </a:r>
            <a:r>
              <a:rPr sz="2200" b="1">
                <a:solidFill>
                  <a:srgbClr val="EDEDF0"/>
                </a:solidFill>
                <a:latin typeface="Georgia"/>
              </a:rPr>
              <a:t>의뢰 — 상점 · 성장 · 그리드 · 인벤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105156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011680"/>
                <a:gridCol w="4663440"/>
                <a:gridCol w="2011680"/>
              </a:tblGrid>
              <a:tr h="5600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UI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역할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요구 상태(2~3종)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참고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상점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구매·리롤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매대 / 아이템 호버 / 구매불가 / 리롤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원신 상점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무기 모루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무기 선택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카드(근/원) / 선택 / 스탯 비교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무기 UI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무기 교체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교체 확인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다이얼로그 / 신·구 비교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공통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각성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노드 트리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잠금 / 해금가능 / 해금됨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원신 성흔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룬 그리드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배치 퍼즐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빈슬롯 / 배치 / 드래그 하이라이트 / 시너지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퍼즐+인벤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인벤·보관함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아이템 슬롯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등급 슬롯 / 호버 / 선택 / 빈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원신 배낭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아이템 정보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상세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정보 패널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04  </a:t>
            </a:r>
            <a:r>
              <a:rPr sz="2200" b="1">
                <a:solidFill>
                  <a:srgbClr val="EDEDF0"/>
                </a:solidFill>
                <a:latin typeface="Georgia"/>
              </a:rPr>
              <a:t>의뢰 — 월드 · 오버레이 · 로비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10515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194560"/>
                <a:gridCol w="429768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UI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역할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요구 상태(2~3종)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A77"/>
                          </a:solidFill>
                          <a:latin typeface="Consolas"/>
                        </a:rPr>
                        <a:t>참고</a:t>
                      </a:r>
                    </a:p>
                  </a:txBody>
                  <a:tcPr marL="73152" marT="18288" marB="18288" anchor="ctr">
                    <a:solidFill>
                      <a:srgbClr val="2B2B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몬스터 HP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적 체력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일반 / 피격 / 처치 직전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공통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토스트 알림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획득·효과 알림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슬라이드 인 / 아웃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공통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페이드 / 로딩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전환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페이드 / 로딩 스피너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공통</a:t>
                      </a:r>
                    </a:p>
                  </a:txBody>
                  <a:tcPr marL="73152" marT="18288" marB="18288" anchor="ctr">
                    <a:solidFill>
                      <a:srgbClr val="2222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DEDF0"/>
                          </a:solidFill>
                          <a:latin typeface="Segoe UI"/>
                        </a:rPr>
                        <a:t>로비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메인화면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기본 / 메뉴 호버 / 재화 상단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9A6"/>
                          </a:solidFill>
                          <a:latin typeface="Segoe UI"/>
                        </a:rPr>
                        <a:t>원신·명조 메인</a:t>
                      </a:r>
                    </a:p>
                  </a:txBody>
                  <a:tcPr marL="73152" marT="18288" marB="18288" anchor="ctr"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05  </a:t>
            </a:r>
            <a:r>
              <a:rPr sz="2200" b="1">
                <a:solidFill>
                  <a:srgbClr val="EDEDF0"/>
                </a:solidFill>
                <a:latin typeface="Georgia"/>
              </a:rPr>
              <a:t>[제출] 대화 · 선택 · 획득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9344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대화창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대사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화자 강조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선택지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0048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서약 선택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>3택 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카드 기본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호버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선택됨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68496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06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클리어 보상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카드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호버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선택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266944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50468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아이템 획득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>등급 리빌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일반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희귀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전설(색광)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06  </a:t>
            </a:r>
            <a:r>
              <a:rPr sz="2200" b="1">
                <a:solidFill>
                  <a:srgbClr val="EDEDF0"/>
                </a:solidFill>
                <a:latin typeface="Georgia"/>
              </a:rPr>
              <a:t>[제출] 상점 · 무기 모루 · 각성 · 일시정지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9344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상점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매대 기본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아이템 호버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구매불가/리롤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0048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무기 모루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>근/원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카드 기본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스탯 비교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68496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06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각성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>노드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잠금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해금가능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해금됨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266944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50468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일시정지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메뉴 기본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버튼 호버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07  </a:t>
            </a:r>
            <a:r>
              <a:rPr sz="2200" b="1">
                <a:solidFill>
                  <a:srgbClr val="EDEDF0"/>
                </a:solidFill>
                <a:latin typeface="Georgia"/>
              </a:rPr>
              <a:t>[제출] 룬 그리드 · 인벤 · 월드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9344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룬 그리드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빈 슬롯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배치+드래그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371600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371600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시너지 완성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0048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인벤·보관함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>등급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등급 슬롯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호버/선택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670048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70048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68496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0624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몬스터 HP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일반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피격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968496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968496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처치 직전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266944"/>
            <a:ext cx="1828800" cy="1170432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504688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DEDF0"/>
                </a:solidFill>
                <a:latin typeface="Segoe UI"/>
              </a:rPr>
              <a:t>토스트·페이드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A77"/>
                </a:solidFill>
                <a:latin typeface="Consola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토스트 인/아웃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페이드/로딩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5266944"/>
            <a:ext cx="2743200" cy="1170432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5266944"/>
            <a:ext cx="27432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08  </a:t>
            </a:r>
            <a:r>
              <a:rPr sz="2200" b="1">
                <a:solidFill>
                  <a:srgbClr val="EDEDF0"/>
                </a:solidFill>
                <a:latin typeface="Georgia"/>
              </a:rPr>
              <a:t>[제출] 완성 화면 (전체 UI)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166360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로비 메인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B6A77"/>
                </a:solidFill>
                <a:latin typeface="Consolas"/>
              </a:rPr>
              <a:t>1920×1080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716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371600"/>
            <a:ext cx="5166360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상점 화면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B6A77"/>
                </a:solidFill>
                <a:latin typeface="Consolas"/>
              </a:rPr>
              <a:t>1920×1080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5166360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룬 그리드 화면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B6A77"/>
                </a:solidFill>
                <a:latin typeface="Consolas"/>
              </a:rPr>
              <a:t>1920×1080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86200"/>
            <a:ext cx="5166360" cy="2331720"/>
          </a:xfrm>
          <a:prstGeom prst="roundRect">
            <a:avLst>
              <a:gd name="adj" fmla="val 4000"/>
            </a:avLst>
          </a:prstGeom>
          <a:solidFill>
            <a:srgbClr val="1B1B22"/>
          </a:solidFill>
          <a:ln w="15240">
            <a:solidFill>
              <a:srgbClr val="5A5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886200"/>
            <a:ext cx="5166360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5A5A68"/>
                </a:solidFill>
                <a:latin typeface="Segoe UI"/>
              </a:rPr>
              <a:t>＋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9A99A6"/>
                </a:solidFill>
                <a:latin typeface="Consolas"/>
              </a:rPr>
              <a:t>각성 화면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B6A77"/>
                </a:solidFill>
                <a:latin typeface="Consolas"/>
              </a:rPr>
              <a:t>1920×1080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C9A0"/>
                </a:solidFill>
                <a:latin typeface="Consolas"/>
              </a:rPr>
              <a:t>09  </a:t>
            </a:r>
            <a:r>
              <a:rPr sz="2200" b="1">
                <a:solidFill>
                  <a:srgbClr val="EDEDF0"/>
                </a:solidFill>
                <a:latin typeface="Georgia"/>
              </a:rPr>
              <a:t>제출 가이드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제출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8424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UI 1개 = 요구 상태 이미지(2~3종) + 완성 화면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상태 필수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8424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기본 + 입력/호출 반응(호버·선택·리빌·피격 등)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4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등급 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0156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아이템·서약·무기는 등급 테두리색 통일(대중 코드)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0156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자유. 전 UI가 한 팔레트·프레임 언어로 통일되게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형식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1888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PNG 투명 @2x · 9-slice 경계 표기 · 레이어 분리(glow/파티클)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5196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22222B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4251960"/>
            <a:ext cx="54864" cy="1188720"/>
          </a:xfrm>
          <a:prstGeom prst="roundRect">
            <a:avLst>
              <a:gd name="adj" fmla="val 0"/>
            </a:avLst>
          </a:prstGeom>
          <a:solidFill>
            <a:srgbClr val="D8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C9A0"/>
                </a:solidFill>
                <a:latin typeface="Segoe UI"/>
              </a:rPr>
              <a:t>네이밍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1888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9A6"/>
                </a:solidFill>
                <a:latin typeface="Segoe UI"/>
              </a:rPr>
              <a:t>ui_&lt;화면&gt;_&lt;요소&gt;_&lt;상태&gt;.png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
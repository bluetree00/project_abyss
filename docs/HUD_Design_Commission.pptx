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600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HUD 디자인 의뢰 &amp;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EDEDF0"/>
                </a:solidFill>
                <a:latin typeface="Georgia"/>
              </a:rPr>
              <a:t>RelicFairy 전투 HUD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D8C9A0"/>
                </a:solidFill>
                <a:latin typeface="Georgia"/>
              </a:rPr>
              <a:t>디자인 의뢰서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9A6"/>
                </a:solidFill>
                <a:latin typeface="Segoe UI"/>
              </a:rPr>
              <a:t>레이아웃·기능·요소별 상태는 확정. </a:t>
            </a:r>
            <a:r>
              <a:rPr sz="1500" b="1">
                <a:solidFill>
                  <a:srgbClr val="EDEDF0"/>
                </a:solidFill>
                <a:latin typeface="Segoe UI"/>
              </a:rPr>
              <a:t>톤/컬러/재질은 디자이너 자유</a:t>
            </a:r>
            <a:r>
              <a:rPr sz="1500" b="0">
                <a:solidFill>
                  <a:srgbClr val="9A99A6"/>
                </a:solidFill>
                <a:latin typeface="Segoe UI"/>
              </a:rPr>
              <a:t> — 서브컬처를 참고해 본인 톤으로 구성.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A77"/>
                </a:solidFill>
                <a:latin typeface="Segoe UI"/>
              </a:rPr>
              <a:t>게임 정체성: 아서왕 동화 × 유물(시그니처) — 이 세계관에 어울리는 방향이면 OK.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01  </a:t>
            </a:r>
            <a:r>
              <a:rPr sz="2300" b="1">
                <a:solidFill>
                  <a:srgbClr val="EDEDF0"/>
                </a:solidFill>
                <a:latin typeface="Georgia"/>
              </a:rPr>
              <a:t>의뢰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819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확정(변경 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81912"/>
            <a:ext cx="7223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레이아웃·좌표·크기 · 요소 구성 · 요소별 요구 상태(2~3종) ·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163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자유(디자이너)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816352"/>
            <a:ext cx="7223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톤·팔레트·재질·프레임 스타일·모션 디테일 — 본인 색으로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507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게임 정체성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050791"/>
            <a:ext cx="7223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아서왕 동화 세계관 · 유물=캐릭터 시그니처 · 무기 2종(근/원) 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285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285232"/>
            <a:ext cx="7223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여러 서브컬처(가챠/액션) 참고해 대중성 있는 완성도. 강제 톤 없음.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02  </a:t>
            </a:r>
            <a:r>
              <a:rPr sz="2300" b="1">
                <a:solidFill>
                  <a:srgbClr val="EDEDF0"/>
                </a:solidFill>
                <a:latin typeface="Georgia"/>
              </a:rPr>
              <a:t>레이아웃 구조 &amp; 현재 임시 (배치·크기 확정 · 톤 교체 대상)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1188720"/>
            <a:ext cx="11430000" cy="4937760"/>
          </a:xfrm>
          <a:prstGeom prst="roundRect">
            <a:avLst>
              <a:gd name="adj" fmla="val 2000"/>
            </a:avLst>
          </a:prstGeom>
          <a:solidFill>
            <a:srgbClr val="3E372E"/>
          </a:solidFill>
          <a:ln w="12700">
            <a:solidFill>
              <a:srgbClr val="554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1336852"/>
            <a:ext cx="1143000" cy="987552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651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8347" y="1805940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CC4D"/>
                </a:solidFill>
                <a:latin typeface="Consolas"/>
              </a:rPr>
              <a:t>미니맵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28148" y="1336852"/>
            <a:ext cx="1371600" cy="345643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651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28148" y="1410919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CC4D"/>
                </a:solidFill>
                <a:latin typeface="Consolas"/>
              </a:rPr>
              <a:t>골드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731873"/>
            <a:ext cx="3657600" cy="222199"/>
          </a:xfrm>
          <a:prstGeom prst="roundRect">
            <a:avLst>
              <a:gd name="adj" fmla="val 30000"/>
            </a:avLst>
          </a:prstGeom>
          <a:solidFill>
            <a:srgbClr val="B0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43560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보스 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" y="3262579"/>
            <a:ext cx="1485900" cy="740664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" y="3558844"/>
            <a:ext cx="14859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3B3FF"/>
                </a:solidFill>
                <a:latin typeface="Consolas"/>
              </a:rPr>
              <a:t>서약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" y="4398264"/>
            <a:ext cx="434340" cy="296265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778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6998" y="4398264"/>
            <a:ext cx="434340" cy="296265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1348" y="4398264"/>
            <a:ext cx="434340" cy="296265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55698" y="4398264"/>
            <a:ext cx="434340" cy="296265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" y="4176064"/>
            <a:ext cx="2514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99A6"/>
                </a:solidFill>
                <a:latin typeface="Consolas"/>
              </a:rPr>
              <a:t>버프 (유물=금 첫셀)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" y="5138928"/>
            <a:ext cx="857250" cy="740664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2032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84198" y="5138928"/>
            <a:ext cx="857250" cy="740664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" y="590428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CC4D"/>
                </a:solidFill>
                <a:latin typeface="Consolas"/>
              </a:rPr>
              <a:t>무기 2슬롯 (활성=금)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3098" y="4941417"/>
            <a:ext cx="3771900" cy="1135684"/>
          </a:xfrm>
          <a:prstGeom prst="roundRect">
            <a:avLst>
              <a:gd name="adj" fmla="val 8000"/>
            </a:avLst>
          </a:prstGeom>
          <a:solidFill>
            <a:srgbClr val="0A0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4548" y="5015484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B27A"/>
                </a:solidFill>
                <a:latin typeface="Consolas"/>
              </a:rPr>
              <a:t>ATK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8" y="5015484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8FC0FF"/>
                </a:solidFill>
                <a:latin typeface="Consolas"/>
              </a:rPr>
              <a:t>DEF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3148" y="5361127"/>
            <a:ext cx="2971800" cy="246888"/>
          </a:xfrm>
          <a:prstGeom prst="roundRect">
            <a:avLst>
              <a:gd name="adj" fmla="val 40000"/>
            </a:avLst>
          </a:prstGeom>
          <a:solidFill>
            <a:srgbClr val="0E0D14"/>
          </a:solidFill>
          <a:ln w="1016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70298" y="5390753"/>
            <a:ext cx="2171700" cy="187634"/>
          </a:xfrm>
          <a:prstGeom prst="roundRect">
            <a:avLst>
              <a:gd name="adj" fmla="val 40000"/>
            </a:avLst>
          </a:prstGeom>
          <a:solidFill>
            <a:srgbClr val="4CD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3148" y="5361127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EAFFF0"/>
                </a:solidFill>
                <a:latin typeface="Consolas"/>
              </a:rPr>
              <a:t>HP 250/250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6048" y="5706770"/>
            <a:ext cx="2286000" cy="197510"/>
          </a:xfrm>
          <a:prstGeom prst="roundRect">
            <a:avLst>
              <a:gd name="adj" fmla="val 40000"/>
            </a:avLst>
          </a:prstGeom>
          <a:solidFill>
            <a:srgbClr val="0E0D14"/>
          </a:solidFill>
          <a:ln w="1016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3198" y="5731459"/>
            <a:ext cx="1257300" cy="148132"/>
          </a:xfrm>
          <a:prstGeom prst="roundRect">
            <a:avLst>
              <a:gd name="adj" fmla="val 4000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570677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3D8"/>
                </a:solidFill>
                <a:latin typeface="Consolas"/>
              </a:rPr>
              <a:t>유물 아이덴티티 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13648" y="4151376"/>
            <a:ext cx="457200" cy="197510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5148" y="4151376"/>
            <a:ext cx="457200" cy="197510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56648" y="4151376"/>
            <a:ext cx="457200" cy="197510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12700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397855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99A6"/>
                </a:solidFill>
                <a:latin typeface="Consolas"/>
              </a:rPr>
              <a:t>액티브 ①②③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5048" y="4842662"/>
            <a:ext cx="1028700" cy="1086307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2286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4694529"/>
            <a:ext cx="10287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CC4D"/>
                </a:solidFill>
                <a:latin typeface="Consolas"/>
              </a:rPr>
              <a:t>유물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5361127"/>
            <a:ext cx="10287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0898" y="4842662"/>
            <a:ext cx="2171700" cy="1086307"/>
          </a:xfrm>
          <a:prstGeom prst="roundRect">
            <a:avLst>
              <a:gd name="adj" fmla="val 8000"/>
            </a:avLst>
          </a:prstGeom>
          <a:solidFill>
            <a:srgbClr val="22202E"/>
          </a:solidFill>
          <a:ln w="22860">
            <a:solidFill>
              <a:srgbClr val="73B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0898" y="4694529"/>
            <a:ext cx="21717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3B3FF"/>
                </a:solidFill>
                <a:latin typeface="Consolas"/>
              </a:rPr>
              <a:t>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5361127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56748" y="5361127"/>
            <a:ext cx="10287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3B3FF"/>
                </a:solidFill>
                <a:latin typeface="Consolas"/>
              </a:rPr>
              <a:t>R 궁극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6181344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A77"/>
                </a:solidFill>
                <a:latin typeface="Segoe UI"/>
              </a:rPr>
              <a:t>현재 임시(프로그래머 아트) 그대로 렌더. </a:t>
            </a:r>
            <a:r>
              <a:rPr sz="1100" b="0">
                <a:solidFill>
                  <a:srgbClr val="9A99A6"/>
                </a:solidFill>
                <a:latin typeface="Segoe UI"/>
              </a:rPr>
              <a:t>배치·크기는 확정 · 색/재질/프레임만 본인 톤으로 교체.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03  </a:t>
            </a:r>
            <a:r>
              <a:rPr sz="2300" b="1">
                <a:solidFill>
                  <a:srgbClr val="EDEDF0"/>
                </a:solidFill>
                <a:latin typeface="Georgia"/>
              </a:rPr>
              <a:t>서브컬처 참고 (영감용 · 강제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9A6"/>
                </a:solidFill>
                <a:latin typeface="Segoe UI"/>
              </a:rPr>
              <a:t>아래 공통 컨벤션은 참고. 본인 톤으로 재해석해 주세요.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08760"/>
          <a:ext cx="1051560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5486400"/>
                <a:gridCol w="2834640"/>
              </a:tblGrid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요소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대중 컨벤션 (공통점)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참고 타이틀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DEDF0"/>
                          </a:solidFill>
                          <a:latin typeface="Segoe UI"/>
                        </a:rPr>
                        <a:t>스킬(Q/E/R)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우하단 클러스터 · 쿨 Radial · 궁극 크게+발광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원신·명조·PGR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DEDF0"/>
                          </a:solidFill>
                          <a:latin typeface="Segoe UI"/>
                        </a:rPr>
                        <a:t>시그니처/궁극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충전 게이지·에너지링 · 준비완료 발광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원신 폭발·명조 해방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DEDF0"/>
                          </a:solidFill>
                          <a:latin typeface="Segoe UI"/>
                        </a:rPr>
                        <a:t>무기 전환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슬롯 + 활성만 강조(테두리·확대)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ToF·ZZZ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DEDF0"/>
                          </a:solidFill>
                          <a:latin typeface="Segoe UI"/>
                        </a:rPr>
                        <a:t>HP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하단중앙/캐릭터 근처 · 색으로 위험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DEDF0"/>
                          </a:solidFill>
                          <a:latin typeface="Segoe UI"/>
                        </a:rPr>
                        <a:t>버프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작은 아이콘 + 타이머 + 스택 · 좌측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원신·붕괴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DEDF0"/>
                          </a:solidFill>
                          <a:latin typeface="Segoe UI"/>
                        </a:rPr>
                        <a:t>빌드/서약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코너 아이콘 리스트 · 호버 상세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9A6"/>
                          </a:solidFill>
                          <a:latin typeface="Segoe UI"/>
                        </a:rPr>
                        <a:t>하데스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04  </a:t>
            </a:r>
            <a:r>
              <a:rPr sz="2300" b="1">
                <a:solidFill>
                  <a:srgbClr val="EDEDF0"/>
                </a:solidFill>
                <a:latin typeface="Georgia"/>
              </a:rPr>
              <a:t>HUD 요소 &amp; 요구 상태 (요소당 2~3종)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9A6"/>
                </a:solidFill>
                <a:latin typeface="Segoe UI"/>
              </a:rPr>
              <a:t>각 요소는 '기본 + 입력/호출 반응 피드백'을 포함한 상태 2~3종을 제출.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08760"/>
          <a:ext cx="10515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5486400"/>
                <a:gridCol w="2377440"/>
              </a:tblGrid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요소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요구 상태 (트리거 → 피드백)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규격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HP 바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가득 / 피격감소+고스트 / 위험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520×16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유물 아이덴티티 바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충전 / 절정(맥동·플래시) / 침체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360×14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유물 포드 Q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기본 / 준비 발광 / 쿨다운 Radial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118²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무기 포드 E·R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기본 / 스킬 쿨 / R 궁극 발광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300×118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무기 슬롯 ×2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활성(스왑 강조) / 비활성 / 빈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78²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액티브 ×3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사용가능 / 쿨다운 / 빈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46²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버프 셀·게이지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일반 / 유물 강조 / 게이지 만료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46²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미니맵·보스·서약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기본 / 경고·페이즈·호버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05  </a:t>
            </a:r>
            <a:r>
              <a:rPr sz="2300" b="1">
                <a:solidFill>
                  <a:srgbClr val="EDEDF0"/>
                </a:solidFill>
                <a:latin typeface="Georgia"/>
              </a:rPr>
              <a:t>의뢰 상세 — HP · 유물 · 스킬 포드 (상태별)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926080"/>
                <a:gridCol w="4663440"/>
              </a:tblGrid>
              <a:tr h="38686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요소 · 상태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트리거(입력/호출)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피드백 변화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HP · 가득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초록 fill · 정갈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HP · 피격 감소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데미지 수신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빨강쪽 전환 + 고스트 트레일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HP · 위험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HP≤25%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빨강 fill + 경고 맥동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유물바 · 충전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게이지 상승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유물색 진행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유물바 · 절정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만땅·MAX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만땅 + 외곽 맥동 글로우 + 진입 플래시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유물바 · 침체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쿨/디버프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어두운색 · 글로우 없음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Q포드 · 기본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금 포드 + 슬롯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Q포드 · 준비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사용 가능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외곽 골드 발광 + 링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Q포드 · 쿨/게이팅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사용 후·조건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Radial dim + 어둡게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무기포드 · 기본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청 포드 + E·R 슬롯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무기포드 · 스킬 쿨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E/R 사용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해당 슬롯 Radial + 숫자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무기포드 · R 궁극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R 가능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R 슬롯 강한 청 발광·맥동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06  </a:t>
            </a:r>
            <a:r>
              <a:rPr sz="2300" b="1">
                <a:solidFill>
                  <a:srgbClr val="EDEDF0"/>
                </a:solidFill>
                <a:latin typeface="Georgia"/>
              </a:rPr>
              <a:t>의뢰 상세 — 무기 · 액티브 · 버프 · 주변 (상태별)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926080"/>
                <a:gridCol w="4663440"/>
              </a:tblGrid>
              <a:tr h="38686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요소 · 상태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트리거(입력/호출)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피드백 변화</a:t>
                      </a:r>
                    </a:p>
                  </a:txBody>
                  <a:tcPr marL="82296" marT="18288" marB="18288" anchor="ctr">
                    <a:solidFill>
                      <a:srgbClr val="2B2B36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무기슬롯 · 활성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무기 스왑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금테 + 글로우 + 1.15배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무기슬롯 · 비활성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비선택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다크 테두리 · 저채도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무기슬롯 · 빈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미장착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어두운 빈 홈(텍스트 없음)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액티브 · 사용가능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아이콘 슬롯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액티브 · 쿨다운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사용 후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Radial dim + 숫자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액티브 · 빈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미보유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어두운 빈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버프 · 일반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획득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다크 셀 + 아이콘 + 스택 숫자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버프 · 유물 패시브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금 강조 테두리(첫 셀)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버프 · 게이지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지속버프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잔여 바 감소 + 만료 깜빡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미니맵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상시/위험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프레임 (+경고 붉은 발광)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보스 HP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진입/페이즈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대형 바 + 눈금 + 페이즈 플래시</a:t>
                      </a:r>
                    </a:p>
                  </a:txBody>
                  <a:tcPr marL="82296" marT="18288" marB="18288" anchor="ctr">
                    <a:solidFill>
                      <a:srgbClr val="22222B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EDEDF0"/>
                          </a:solidFill>
                          <a:latin typeface="Segoe UI"/>
                        </a:rPr>
                        <a:t>서약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상시/호버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9A99A6"/>
                          </a:solidFill>
                          <a:latin typeface="Segoe UI"/>
                        </a:rPr>
                        <a:t>카드(등급) + 호버 상세</a:t>
                      </a:r>
                    </a:p>
                  </a:txBody>
                  <a:tcPr marL="82296" marT="18288" marB="18288" anchor="ctr"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07  </a:t>
            </a:r>
            <a:r>
              <a:rPr sz="2300" b="1">
                <a:solidFill>
                  <a:srgbClr val="EDEDF0"/>
                </a:solidFill>
                <a:latin typeface="Georgia"/>
              </a:rPr>
              <a:t>[제출] 완성 HUD — 여기에 삽입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0" cy="48463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완성된 전체 HUD 스크린샷/목업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6B6A77"/>
                </a:solidFill>
                <a:latin typeface="Consolas"/>
              </a:rPr>
              <a:t>1920×1080 · 전체 요소 조합 · PNG 또는 이미지 붙여넣기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08  </a:t>
            </a:r>
            <a:r>
              <a:rPr sz="2300" b="1">
                <a:solidFill>
                  <a:srgbClr val="EDEDF0"/>
                </a:solidFill>
                <a:latin typeface="Georgia"/>
              </a:rPr>
              <a:t>[제출] 요소별 — HP·유물·스킬 포드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7335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HP 바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520×16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41732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41732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가득(초록)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41732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41732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피격감소+고스트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1732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위험(빨강)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유물 바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360×14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83464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충전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83464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83464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절정(맥동·플래시)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83464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83464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침체(비활성)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0799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유물 포드 Q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118²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25196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425196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기본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25196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25196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준비 발광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425196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25196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쿨다운 Radial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6928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92531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무기 포드 E·R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300×118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66928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66928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기본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66928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66928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스킬 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66928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566928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R 궁극 발광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09  </a:t>
            </a:r>
            <a:r>
              <a:rPr sz="2300" b="1">
                <a:solidFill>
                  <a:srgbClr val="EDEDF0"/>
                </a:solidFill>
                <a:latin typeface="Georgia"/>
              </a:rPr>
              <a:t>[제출] 요소별 — 무기·액티브·버프·주변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7335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무기 슬롯 ×2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78²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41732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41732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활성(스왑 강조)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41732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41732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비활성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1732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빈 슬롯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액티브 ×3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46²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83464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사용가능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83464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83464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쿨다운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83464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83464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0799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버프 셀·게이지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46²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25196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425196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일반 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25196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25196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유물 강조 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425196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25196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게이지 만료깜빡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69280"/>
            <a:ext cx="1828800" cy="123444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92531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EDF0"/>
                </a:solidFill>
                <a:latin typeface="Segoe UI"/>
              </a:rPr>
              <a:t>미니맵·보스·서약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A77"/>
                </a:solidFill>
                <a:latin typeface="Consolas"/>
              </a:rPr>
              <a:t>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66928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66928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미니맵 프레임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66928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66928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보스 HP/페이즈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669280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875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566928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9A99A6"/>
                </a:solidFill>
                <a:latin typeface="Consolas"/>
              </a:rPr>
              <a:t>서약 카드/호버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10  </a:t>
            </a:r>
            <a:r>
              <a:rPr sz="2300" b="1">
                <a:solidFill>
                  <a:srgbClr val="EDEDF0"/>
                </a:solidFill>
                <a:latin typeface="Georgia"/>
              </a:rPr>
              <a:t>제출 가이드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제출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8424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요소 1개 = 미리보기 시트(상태 나란히) + 상태별 PNG(투명,@2x)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상태 필수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8424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기본 + 입력/호출 반응 피드백(발광·Radial·색전환·플래시) 포함 2~3종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레이어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0156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glow·Radial·플래시·고스트는 별도 레이어 파일로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0156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자유. 단, 전 요소가 한 톤으로 통일되게(같은 팔레트·프레임 언어)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네이밍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1888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hud_&lt;요소&gt;_&lt;상태&gt;.png / 9-slice는 경계 px 표기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5196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425196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완성본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1888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전 요소 조합한 완성 HUD 1장(05p 슬롯)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